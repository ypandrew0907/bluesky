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This slide places the two research questions before the formulas and adds concise working hypotheses for each question.
- Ashudeep Singh and Thorsten Joachims. Fairness of Exposure in Rankings. KDD 2018. DOI: 10.1145/3219819.3220088
- Yunqi Li et al. Fairness in Recommendation: Foundations, Methods, and Applications. ACM TIST 2023. DOI: 10.1145/3610302
- Meike Zehlike, Ke Yang, Julia Stoyanovich. Fairness in Ranking, Part I: Score-Based Ranking. ACM Computing Surveys 2022. DOI: 10.1145/3533379
- Meike Zehlike, Ke Yang, Julia Stoyanovich. Fairness in Ranking, Part II: Learning-to-Rank and Recommender Systems. ACM Computing Surveys 2022. DOI: 10.1145/3533380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Exposure as the scarce resource and the role of rank position follow Singh and Joachims.
- Ashudeep Singh and Thorsten Joachims. Fairness of Exposure in Rankings. KDD 2018. DOI: 10.1145/3219819.3220088
- Yunqi Li et al. Fairness in Recommendation: Foundations, Methods, and Applications. ACM TIST 2023. DOI: 10.1145/3610302
- Meike Zehlike, Ke Yang, Julia Stoyanovich. Fairness in Ranking, Part I: Score-Based Ranking. ACM Computing Surveys 2022. DOI: 10.1145/3533379
- Meike Zehlike, Ke Yang, Julia Stoyanovich. Fairness in Ranking, Part II: Learning-to-Rank and Recommender Systems. ACM Computing Surveys 2022. DOI: 10.1145/3533380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The local content-similarity cluster is a conservative comparison unit: similar enough to compete for the same monitored opportunity, without claiming exact event identity.
- Ashudeep Singh and Thorsten Joachims. Fairness of Exposure in Rankings. KDD 2018. DOI: 10.1145/3219819.3220088
- Yunqi Li et al. Fairness in Recommendation: Foundations, Methods, and Applications. ACM TIST 2023. DOI: 10.1145/3610302
- Meike Zehlike, Ke Yang, Julia Stoyanovich. Fairness in Ranking, Part I: Score-Based Ranking. ACM Computing Surveys 2022. DOI: 10.1145/3533379
- Meike Zehlike, Ke Yang, Julia Stoyanovich. Fairness in Ranking, Part II: Learning-to-Rank and Recommender Systems. ACM Computing Surveys 2022. DOI: 10.1145/3533380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The residual gap is presented as a distance between observed and model-implied shares, not as a direct point estimate of bias.
- Ashudeep Singh and Thorsten Joachims. Fairness of Exposure in Rankings. KDD 2018. DOI: 10.1145/3219819.3220088
- Yunqi Li et al. Fairness in Recommendation: Foundations, Methods, and Applications. ACM TIST 2023. DOI: 10.1145/3610302
- Meike Zehlike, Ke Yang, Julia Stoyanovich. Fairness in Ranking, Part I: Score-Based Ranking. ACM Computing Surveys 2022. DOI: 10.1145/3533379
- Meike Zehlike, Ke Yang, Julia Stoyanovich. Fairness in Ranking, Part II: Learning-to-Rank and Recommender Systems. ACM Computing Surveys 2022. DOI: 10.1145/3533380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The layered reading combines exposure-based fairness with the dynamic-pathway perspective from recommendation fairness. Early trajectory is treated as a secondary dynamic block rather than a primary merit signal.
- Ashudeep Singh and Thorsten Joachims. Fairness of Exposure in Rankings. KDD 2018. DOI: 10.1145/3219819.3220088
- Yunqi Li et al. Fairness in Recommendation: Foundations, Methods, and Applications. ACM TIST 2023. DOI: 10.1145/3610302
- Meike Zehlike, Ke Yang, Julia Stoyanovich. Fairness in Ranking, Part I: Score-Based Ranking. ACM Computing Surveys 2022. DOI: 10.1145/3533379
- Meike Zehlike, Ke Yang, Julia Stoyanovich. Fairness in Ranking, Part II: Learning-to-Rank and Recommender Systems. ACM Computing Surveys 2022. DOI: 10.1145/3533380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This bridge slide makes the structural parallel explicit: the exposure machinery stays fixed while the fairness unit changes from copies to frames.
- Ashudeep Singh and Thorsten Joachims. Fairness of Exposure in Rankings. KDD 2018. DOI: 10.1145/3219819.3220088
- Yunqi Li et al. Fairness in Recommendation: Foundations, Methods, and Applications. ACM TIST 2023. DOI: 10.1145/3610302
- Meike Zehlike, Ke Yang, Julia Stoyanovich. Fairness in Ranking, Part I: Score-Based Ranking. ACM Computing Surveys 2022. DOI: 10.1145/3533379
- Meike Zehlike, Ke Yang, Julia Stoyanovich. Fairness in Ranking, Part II: Learning-to-Rank and Recommender Systems. ACM Computing Surveys 2022. DOI: 10.1145/3533380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The supply-relative comparison is an extension of exposure-allocation logic to frame allocation inside an event cluster.
- Ashudeep Singh and Thorsten Joachims. Fairness of Exposure in Rankings. KDD 2018. DOI: 10.1145/3219819.3220088
- Yunqi Li et al. Fairness in Recommendation: Foundations, Methods, and Applications. ACM TIST 2023. DOI: 10.1145/3610302
- Meike Zehlike, Ke Yang, Julia Stoyanovich. Fairness in Ranking, Part I: Score-Based Ranking. ACM Computing Surveys 2022. DOI: 10.1145/3533379
- Meike Zehlike, Ke Yang, Julia Stoyanovich. Fairness in Ranking, Part II: Learning-to-Rank and Recommender Systems. ACM Computing Surveys 2022. DOI: 10.1145/3533380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The raw frame-gap and log-ratio diagnostics adapt exposure disparity logic to the frame-within-event setting.
- Ashudeep Singh and Thorsten Joachims. Fairness of Exposure in Rankings. KDD 2018. DOI: 10.1145/3219819.3220088
- Yunqi Li et al. Fairness in Recommendation: Foundations, Methods, and Applications. ACM TIST 2023. DOI: 10.1145/3610302
- Meike Zehlike, Ke Yang, Julia Stoyanovich. Fairness in Ranking, Part I: Score-Based Ranking. ACM Computing Surveys 2022. DOI: 10.1145/3533379
- Meike Zehlike, Ke Yang, Julia Stoyanovich. Fairness in Ranking, Part II: Learning-to-Rank and Recommender Systems. ACM Computing Surveys 2022. DOI: 10.1145/3533380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The adjusted frame baseline mirrors the layered logic of RQ1 while keeping the fairness unit at the frame-within-event level.
- Ashudeep Singh and Thorsten Joachims. Fairness of Exposure in Rankings. KDD 2018. DOI: 10.1145/3219819.3220088
- Yunqi Li et al. Fairness in Recommendation: Foundations, Methods, and Applications. ACM TIST 2023. DOI: 10.1145/3610302
- Meike Zehlike, Ke Yang, Julia Stoyanovich. Fairness in Ranking, Part I: Score-Based Ranking. ACM Computing Surveys 2022. DOI: 10.1145/3533379
- Meike Zehlike, Ke Yang, Julia Stoyanovich. Fairness in Ranking, Part II: Learning-to-Rank and Recommender Systems. ACM Computing Surveys 2022. DOI: 10.1145/3533380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This slide aggregates the local frame gap, stratifies it by surface bucket, and reuses the same four-share decomposition with explicit stacked fractions.
- Ashudeep Singh and Thorsten Joachims. Fairness of Exposure in Rankings. KDD 2018. DOI: 10.1145/3219819.3220088
- Yunqi Li et al. Fairness in Recommendation: Foundations, Methods, and Applications. ACM TIST 2023. DOI: 10.1145/3610302
- Meike Zehlike, Ke Yang, Julia Stoyanovich. Fairness in Ranking, Part I: Score-Based Ranking. ACM Computing Surveys 2022. DOI: 10.1145/3533379
- Meike Zehlike, Ke Yang, Julia Stoyanovich. Fairness in Ranking, Part II: Learning-to-Rank and Recommender Systems. ACM Computing Surveys 2022. DOI: 10.1145/3533380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The WYSIWYG / WAE interpretation follows Zehlike et al.; the caution about dynamic popularity and trajectory pathways follows Li et al.
- Ashudeep Singh and Thorsten Joachims. Fairness of Exposure in Rankings. KDD 2018. DOI: 10.1145/3219819.3220088
- Yunqi Li et al. Fairness in Recommendation: Foundations, Methods, and Applications. ACM TIST 2023. DOI: 10.1145/3610302
- Meike Zehlike, Ke Yang, Julia Stoyanovich. Fairness in Ranking, Part I: Score-Based Ranking. ACM Computing Surveys 2022. DOI: 10.1145/3533379
- Meike Zehlike, Ke Yang, Julia Stoyanovich. Fairness in Ranking, Part II: Learning-to-Rank and Recommender Systems. ACM Computing Surveys 2022. DOI: 10.1145/3533380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9808" y="182880"/>
            <a:ext cx="2743200" cy="118872"/>
          </a:xfrm>
          <a:prstGeom prst="rect">
            <a:avLst/>
          </a:prstGeom>
          <a:noFill/>
          <a:ln/>
        </p:spPr>
        <p:txBody>
          <a:bodyPr wrap="square" lIns="0" tIns="0" rIns="0" bIns="0" rtlCol="0" anchor="ctr"/>
          <a:lstStyle/>
          <a:p>
            <a:pPr indent="0" marL="0">
              <a:buNone/>
            </a:pPr>
            <a:r>
              <a:rPr lang="en-US" sz="1020" b="1" spc="75" kern="0" dirty="0">
                <a:solidFill>
                  <a:srgbClr val="666666"/>
                </a:solidFill>
                <a:latin typeface="Arial" pitchFamily="34" charset="0"/>
                <a:ea typeface="Arial" pitchFamily="34" charset="-122"/>
                <a:cs typeface="Arial" pitchFamily="34" charset="-120"/>
              </a:rPr>
              <a:t>OVERVIEW</a:t>
            </a:r>
            <a:endParaRPr lang="en-US" sz="1020" dirty="0"/>
          </a:p>
        </p:txBody>
      </p:sp>
      <p:sp>
        <p:nvSpPr>
          <p:cNvPr id="3" name="Text 1"/>
          <p:cNvSpPr/>
          <p:nvPr/>
        </p:nvSpPr>
        <p:spPr>
          <a:xfrm>
            <a:off x="749808" y="438912"/>
            <a:ext cx="10378440" cy="274320"/>
          </a:xfrm>
          <a:prstGeom prst="rect">
            <a:avLst/>
          </a:prstGeom>
          <a:noFill/>
          <a:ln/>
        </p:spPr>
        <p:txBody>
          <a:bodyPr wrap="square" lIns="0" tIns="0" rIns="0" bIns="0" rtlCol="0" anchor="ctr"/>
          <a:lstStyle/>
          <a:p>
            <a:pPr indent="0" marL="0">
              <a:buNone/>
            </a:pPr>
            <a:r>
              <a:rPr lang="en-US" sz="2600" dirty="0">
                <a:solidFill>
                  <a:srgbClr val="111111"/>
                </a:solidFill>
                <a:latin typeface="Georgia" pitchFamily="34" charset="0"/>
                <a:ea typeface="Georgia" pitchFamily="34" charset="-122"/>
                <a:cs typeface="Georgia" pitchFamily="34" charset="-120"/>
              </a:rPr>
              <a:t>Research questions</a:t>
            </a:r>
            <a:endParaRPr lang="en-US" sz="2600" dirty="0"/>
          </a:p>
        </p:txBody>
      </p:sp>
      <p:sp>
        <p:nvSpPr>
          <p:cNvPr id="4" name="Shape 2"/>
          <p:cNvSpPr/>
          <p:nvPr/>
        </p:nvSpPr>
        <p:spPr>
          <a:xfrm>
            <a:off x="749808" y="841248"/>
            <a:ext cx="10698480" cy="0"/>
          </a:xfrm>
          <a:prstGeom prst="line">
            <a:avLst/>
          </a:prstGeom>
          <a:noFill/>
          <a:ln w="12700">
            <a:solidFill>
              <a:srgbClr val="D7D7D7"/>
            </a:solidFill>
            <a:prstDash val="solid"/>
          </a:ln>
        </p:spPr>
      </p:sp>
      <p:sp>
        <p:nvSpPr>
          <p:cNvPr id="5" name="Text 3"/>
          <p:cNvSpPr/>
          <p:nvPr/>
        </p:nvSpPr>
        <p:spPr>
          <a:xfrm>
            <a:off x="11173968" y="283464"/>
            <a:ext cx="201168" cy="118872"/>
          </a:xfrm>
          <a:prstGeom prst="rect">
            <a:avLst/>
          </a:prstGeom>
          <a:noFill/>
          <a:ln/>
        </p:spPr>
        <p:txBody>
          <a:bodyPr wrap="square" lIns="0" tIns="0" rIns="0" bIns="0" rtlCol="0" anchor="ctr"/>
          <a:lstStyle/>
          <a:p>
            <a:pPr algn="r" indent="0" marL="0">
              <a:buNone/>
            </a:pPr>
            <a:r>
              <a:rPr lang="en-US" sz="1020" dirty="0">
                <a:solidFill>
                  <a:srgbClr val="666666"/>
                </a:solidFill>
                <a:latin typeface="Arial" pitchFamily="34" charset="0"/>
                <a:ea typeface="Arial" pitchFamily="34" charset="-122"/>
                <a:cs typeface="Arial" pitchFamily="34" charset="-120"/>
              </a:rPr>
              <a:t>1</a:t>
            </a:r>
            <a:endParaRPr lang="en-US" sz="1020" dirty="0"/>
          </a:p>
        </p:txBody>
      </p:sp>
      <p:sp>
        <p:nvSpPr>
          <p:cNvPr id="6" name="Shape 4"/>
          <p:cNvSpPr/>
          <p:nvPr/>
        </p:nvSpPr>
        <p:spPr>
          <a:xfrm>
            <a:off x="6089904" y="1051560"/>
            <a:ext cx="0" cy="5074920"/>
          </a:xfrm>
          <a:prstGeom prst="line">
            <a:avLst/>
          </a:prstGeom>
          <a:noFill/>
          <a:ln w="12700">
            <a:solidFill>
              <a:srgbClr val="D7D7D7"/>
            </a:solidFill>
            <a:prstDash val="solid"/>
          </a:ln>
        </p:spPr>
      </p:sp>
      <p:sp>
        <p:nvSpPr>
          <p:cNvPr id="7" name="Text 5"/>
          <p:cNvSpPr/>
          <p:nvPr/>
        </p:nvSpPr>
        <p:spPr>
          <a:xfrm>
            <a:off x="914400" y="1060704"/>
            <a:ext cx="91440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RQ1</a:t>
            </a:r>
            <a:endParaRPr lang="en-US" sz="1070" dirty="0"/>
          </a:p>
        </p:txBody>
      </p:sp>
      <p:sp>
        <p:nvSpPr>
          <p:cNvPr id="8" name="Shape 6"/>
          <p:cNvSpPr/>
          <p:nvPr/>
        </p:nvSpPr>
        <p:spPr>
          <a:xfrm>
            <a:off x="914400" y="1298448"/>
            <a:ext cx="4709160" cy="2670048"/>
          </a:xfrm>
          <a:prstGeom prst="rect">
            <a:avLst/>
          </a:prstGeom>
          <a:solidFill>
            <a:srgbClr val="FBFBFB"/>
          </a:solidFill>
          <a:ln w="10795">
            <a:solidFill>
              <a:srgbClr val="D7D7D7"/>
            </a:solidFill>
            <a:prstDash val="solid"/>
          </a:ln>
        </p:spPr>
      </p:sp>
      <p:sp>
        <p:nvSpPr>
          <p:cNvPr id="9" name="Text 7"/>
          <p:cNvSpPr/>
          <p:nvPr/>
        </p:nvSpPr>
        <p:spPr>
          <a:xfrm>
            <a:off x="1078992" y="1481328"/>
            <a:ext cx="4370832" cy="2286000"/>
          </a:xfrm>
          <a:prstGeom prst="rect">
            <a:avLst/>
          </a:prstGeom>
          <a:noFill/>
          <a:ln/>
        </p:spPr>
        <p:txBody>
          <a:bodyPr wrap="square" lIns="0" tIns="0" rIns="0" bIns="0" rtlCol="0" anchor="t">
            <a:normAutofit/>
          </a:bodyPr>
          <a:lstStyle/>
          <a:p>
            <a:pPr indent="0" marL="0">
              <a:buNone/>
            </a:pPr>
            <a:r>
              <a:rPr lang="en-US" sz="1550" dirty="0">
                <a:solidFill>
                  <a:srgbClr val="111111"/>
                </a:solidFill>
                <a:latin typeface="Arial" pitchFamily="34" charset="0"/>
                <a:ea typeface="Arial" pitchFamily="34" charset="-122"/>
                <a:cs typeface="Arial" pitchFamily="34" charset="-120"/>
              </a:rPr>
              <a:t>Within monitored Bluesky and custom-feed top-K panels, after timing and local panel context are accounted for, do near-duplicate post versions still receive systematically unequal observed exposure opportunities? If so, which remaining factors are consistent with declared objectives, and which are more consistent with contestable amplification?</a:t>
            </a:r>
            <a:endParaRPr lang="en-US" sz="1550" dirty="0"/>
          </a:p>
        </p:txBody>
      </p:sp>
      <p:sp>
        <p:nvSpPr>
          <p:cNvPr id="10" name="Text 8"/>
          <p:cNvSpPr/>
          <p:nvPr/>
        </p:nvSpPr>
        <p:spPr>
          <a:xfrm>
            <a:off x="914400" y="4169664"/>
            <a:ext cx="173736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WORKING HYPOTHESES</a:t>
            </a:r>
            <a:endParaRPr lang="en-US" sz="1070" dirty="0"/>
          </a:p>
        </p:txBody>
      </p:sp>
      <p:sp>
        <p:nvSpPr>
          <p:cNvPr id="11" name="Shape 9"/>
          <p:cNvSpPr/>
          <p:nvPr/>
        </p:nvSpPr>
        <p:spPr>
          <a:xfrm>
            <a:off x="914400" y="4407408"/>
            <a:ext cx="4709160" cy="1426464"/>
          </a:xfrm>
          <a:prstGeom prst="rect">
            <a:avLst/>
          </a:prstGeom>
          <a:solidFill>
            <a:srgbClr val="F7F7F7"/>
          </a:solidFill>
          <a:ln w="10795">
            <a:solidFill>
              <a:srgbClr val="D7D7D7"/>
            </a:solidFill>
            <a:prstDash val="solid"/>
          </a:ln>
        </p:spPr>
      </p:sp>
      <p:sp>
        <p:nvSpPr>
          <p:cNvPr id="12" name="Text 10"/>
          <p:cNvSpPr/>
          <p:nvPr/>
        </p:nvSpPr>
        <p:spPr>
          <a:xfrm>
            <a:off x="1078992" y="4608576"/>
            <a:ext cx="4389120" cy="1060704"/>
          </a:xfrm>
          <a:prstGeom prst="rect">
            <a:avLst/>
          </a:prstGeom>
          <a:noFill/>
          <a:ln/>
        </p:spPr>
        <p:txBody>
          <a:bodyPr wrap="square" lIns="0" tIns="0" rIns="0" bIns="0" rtlCol="0" anchor="t">
            <a:normAutofit/>
          </a:bodyPr>
          <a:lstStyle/>
          <a:p>
            <a:pPr indent="0" marL="0">
              <a:buNone/>
            </a:pPr>
            <a:r>
              <a:rPr lang="en-US" sz="1410" dirty="0">
                <a:solidFill>
                  <a:srgbClr val="111111"/>
                </a:solidFill>
                <a:latin typeface="Arial" pitchFamily="34" charset="0"/>
                <a:ea typeface="Arial" pitchFamily="34" charset="-122"/>
                <a:cs typeface="Arial" pitchFamily="34" charset="-120"/>
              </a:rPr>
              <a:t>H1. A residual duplicate gap remains after timing and context adjustment.</a:t>
            </a:r>
            <a:endParaRPr lang="en-US" sz="1410" dirty="0"/>
          </a:p>
          <a:p>
            <a:pPr indent="0" marL="0">
              <a:buNone/>
            </a:pPr>
            <a:r>
              <a:rPr lang="en-US" sz="1410" dirty="0">
                <a:solidFill>
                  <a:srgbClr val="111111"/>
                </a:solidFill>
                <a:latin typeface="Arial" pitchFamily="34" charset="0"/>
                <a:ea typeface="Arial" pitchFamily="34" charset="-122"/>
                <a:cs typeface="Arial" pitchFamily="34" charset="-120"/>
              </a:rPr>
              <a:t>H2. Early monitored trajectory explains more than simple author status.</a:t>
            </a:r>
            <a:endParaRPr lang="en-US" sz="1410" dirty="0"/>
          </a:p>
          <a:p>
            <a:pPr indent="0" marL="0">
              <a:buNone/>
            </a:pPr>
            <a:r>
              <a:rPr lang="en-US" sz="1410" dirty="0">
                <a:solidFill>
                  <a:srgbClr val="111111"/>
                </a:solidFill>
                <a:latin typeface="Arial" pitchFamily="34" charset="0"/>
                <a:ea typeface="Arial" pitchFamily="34" charset="-122"/>
                <a:cs typeface="Arial" pitchFamily="34" charset="-120"/>
              </a:rPr>
              <a:t>H3. Some duplicate-conditioned remainder persists even after observed-factor adjustment.</a:t>
            </a:r>
            <a:endParaRPr lang="en-US" sz="1410" dirty="0"/>
          </a:p>
        </p:txBody>
      </p:sp>
      <p:sp>
        <p:nvSpPr>
          <p:cNvPr id="13" name="Text 11"/>
          <p:cNvSpPr/>
          <p:nvPr/>
        </p:nvSpPr>
        <p:spPr>
          <a:xfrm>
            <a:off x="6400800" y="1060704"/>
            <a:ext cx="91440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RQ2</a:t>
            </a:r>
            <a:endParaRPr lang="en-US" sz="1070" dirty="0"/>
          </a:p>
        </p:txBody>
      </p:sp>
      <p:sp>
        <p:nvSpPr>
          <p:cNvPr id="14" name="Shape 12"/>
          <p:cNvSpPr/>
          <p:nvPr/>
        </p:nvSpPr>
        <p:spPr>
          <a:xfrm>
            <a:off x="6400800" y="1298448"/>
            <a:ext cx="4709160" cy="2670048"/>
          </a:xfrm>
          <a:prstGeom prst="rect">
            <a:avLst/>
          </a:prstGeom>
          <a:solidFill>
            <a:srgbClr val="FBFBFB"/>
          </a:solidFill>
          <a:ln w="10795">
            <a:solidFill>
              <a:srgbClr val="D7D7D7"/>
            </a:solidFill>
            <a:prstDash val="solid"/>
          </a:ln>
        </p:spPr>
      </p:sp>
      <p:sp>
        <p:nvSpPr>
          <p:cNvPr id="15" name="Text 13"/>
          <p:cNvSpPr/>
          <p:nvPr/>
        </p:nvSpPr>
        <p:spPr>
          <a:xfrm>
            <a:off x="6565392" y="1481328"/>
            <a:ext cx="4370832" cy="2286000"/>
          </a:xfrm>
          <a:prstGeom prst="rect">
            <a:avLst/>
          </a:prstGeom>
          <a:noFill/>
          <a:ln/>
        </p:spPr>
        <p:txBody>
          <a:bodyPr wrap="square" lIns="0" tIns="0" rIns="0" bIns="0" rtlCol="0" anchor="t">
            <a:normAutofit/>
          </a:bodyPr>
          <a:lstStyle/>
          <a:p>
            <a:pPr indent="0" marL="0">
              <a:buNone/>
            </a:pPr>
            <a:r>
              <a:rPr lang="en-US" sz="1550" dirty="0">
                <a:solidFill>
                  <a:srgbClr val="111111"/>
                </a:solidFill>
                <a:latin typeface="Arial" pitchFamily="34" charset="0"/>
                <a:ea typeface="Arial" pitchFamily="34" charset="-122"/>
                <a:cs typeface="Arial" pitchFamily="34" charset="-120"/>
              </a:rPr>
              <a:t>Within defined political topics and event clusters on Bluesky, do monitored top-K panels allocate rank-weighted exposure across frames in proportion to observed frame supply? If not, how much frame disparity remains after timing and declared objectives are taken into account, and how does that remainder differ across surfaces?</a:t>
            </a:r>
            <a:endParaRPr lang="en-US" sz="1550" dirty="0"/>
          </a:p>
        </p:txBody>
      </p:sp>
      <p:sp>
        <p:nvSpPr>
          <p:cNvPr id="16" name="Text 14"/>
          <p:cNvSpPr/>
          <p:nvPr/>
        </p:nvSpPr>
        <p:spPr>
          <a:xfrm>
            <a:off x="6400800" y="4169664"/>
            <a:ext cx="173736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WORKING HYPOTHESES</a:t>
            </a:r>
            <a:endParaRPr lang="en-US" sz="1070" dirty="0"/>
          </a:p>
        </p:txBody>
      </p:sp>
      <p:sp>
        <p:nvSpPr>
          <p:cNvPr id="17" name="Shape 15"/>
          <p:cNvSpPr/>
          <p:nvPr/>
        </p:nvSpPr>
        <p:spPr>
          <a:xfrm>
            <a:off x="6400800" y="4407408"/>
            <a:ext cx="4709160" cy="1426464"/>
          </a:xfrm>
          <a:prstGeom prst="rect">
            <a:avLst/>
          </a:prstGeom>
          <a:solidFill>
            <a:srgbClr val="F7F7F7"/>
          </a:solidFill>
          <a:ln w="10795">
            <a:solidFill>
              <a:srgbClr val="D7D7D7"/>
            </a:solidFill>
            <a:prstDash val="solid"/>
          </a:ln>
        </p:spPr>
      </p:sp>
      <p:sp>
        <p:nvSpPr>
          <p:cNvPr id="18" name="Text 16"/>
          <p:cNvSpPr/>
          <p:nvPr/>
        </p:nvSpPr>
        <p:spPr>
          <a:xfrm>
            <a:off x="6565392" y="4608576"/>
            <a:ext cx="4389120" cy="1060704"/>
          </a:xfrm>
          <a:prstGeom prst="rect">
            <a:avLst/>
          </a:prstGeom>
          <a:noFill/>
          <a:ln/>
        </p:spPr>
        <p:txBody>
          <a:bodyPr wrap="square" lIns="0" tIns="0" rIns="0" bIns="0" rtlCol="0" anchor="t">
            <a:normAutofit/>
          </a:bodyPr>
          <a:lstStyle/>
          <a:p>
            <a:pPr indent="0" marL="0">
              <a:buNone/>
            </a:pPr>
            <a:r>
              <a:rPr lang="en-US" sz="1410" dirty="0">
                <a:solidFill>
                  <a:srgbClr val="111111"/>
                </a:solidFill>
                <a:latin typeface="Arial" pitchFamily="34" charset="0"/>
                <a:ea typeface="Arial" pitchFamily="34" charset="-122"/>
                <a:cs typeface="Arial" pitchFamily="34" charset="-120"/>
              </a:rPr>
              <a:t>H1. Frame exposure differs from observed frame supply inside the same event.</a:t>
            </a:r>
            <a:endParaRPr lang="en-US" sz="1410" dirty="0"/>
          </a:p>
          <a:p>
            <a:pPr indent="0" marL="0">
              <a:buNone/>
            </a:pPr>
            <a:r>
              <a:rPr lang="en-US" sz="1410" dirty="0">
                <a:solidFill>
                  <a:srgbClr val="111111"/>
                </a:solidFill>
                <a:latin typeface="Arial" pitchFamily="34" charset="0"/>
                <a:ea typeface="Arial" pitchFamily="34" charset="-122"/>
                <a:cs typeface="Arial" pitchFamily="34" charset="-120"/>
              </a:rPr>
              <a:t>H2. Timing and declared objectives explain part, but not all, of that disparity.</a:t>
            </a:r>
            <a:endParaRPr lang="en-US" sz="1410" dirty="0"/>
          </a:p>
          <a:p>
            <a:pPr indent="0" marL="0">
              <a:buNone/>
            </a:pPr>
            <a:r>
              <a:rPr lang="en-US" sz="1410" dirty="0">
                <a:solidFill>
                  <a:srgbClr val="111111"/>
                </a:solidFill>
                <a:latin typeface="Arial" pitchFamily="34" charset="0"/>
                <a:ea typeface="Arial" pitchFamily="34" charset="-122"/>
                <a:cs typeface="Arial" pitchFamily="34" charset="-120"/>
              </a:rPr>
              <a:t>H3. The adjusted frame gap differs across surface conditions such as feed type or viewer mode.</a:t>
            </a:r>
            <a:endParaRPr lang="en-US" sz="1410" dirty="0"/>
          </a:p>
        </p:txBody>
      </p:sp>
      <p:sp>
        <p:nvSpPr>
          <p:cNvPr id="19" name="Shape 17"/>
          <p:cNvSpPr/>
          <p:nvPr/>
        </p:nvSpPr>
        <p:spPr>
          <a:xfrm>
            <a:off x="914400" y="6071616"/>
            <a:ext cx="10195560" cy="310896"/>
          </a:xfrm>
          <a:prstGeom prst="rect">
            <a:avLst/>
          </a:prstGeom>
          <a:solidFill>
            <a:srgbClr val="FBFBFB"/>
          </a:solidFill>
          <a:ln w="10795">
            <a:solidFill>
              <a:srgbClr val="D7D7D7"/>
            </a:solidFill>
            <a:prstDash val="solid"/>
          </a:ln>
        </p:spPr>
      </p:sp>
      <p:sp>
        <p:nvSpPr>
          <p:cNvPr id="20" name="Text 18"/>
          <p:cNvSpPr/>
          <p:nvPr/>
        </p:nvSpPr>
        <p:spPr>
          <a:xfrm>
            <a:off x="1078992" y="6153912"/>
            <a:ext cx="9875520" cy="128016"/>
          </a:xfrm>
          <a:prstGeom prst="rect">
            <a:avLst/>
          </a:prstGeom>
          <a:noFill/>
          <a:ln/>
        </p:spPr>
        <p:txBody>
          <a:bodyPr wrap="square" lIns="0" tIns="0" rIns="0" bIns="0" rtlCol="0" anchor="t">
            <a:normAutofit/>
          </a:bodyPr>
          <a:lstStyle/>
          <a:p>
            <a:pPr indent="0" marL="0">
              <a:buNone/>
            </a:pPr>
            <a:r>
              <a:rPr lang="en-US" sz="1480" dirty="0">
                <a:solidFill>
                  <a:srgbClr val="1F2937"/>
                </a:solidFill>
                <a:latin typeface="Arial" pitchFamily="34" charset="0"/>
                <a:ea typeface="Arial" pitchFamily="34" charset="-122"/>
                <a:cs typeface="Arial" pitchFamily="34" charset="-120"/>
              </a:rPr>
              <a:t>Roadmap: first define monitored exposure; then operationalize RQ1; then operationalize RQ2.</a:t>
            </a:r>
            <a:endParaRPr lang="en-US" sz="14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9808" y="182880"/>
            <a:ext cx="2743200" cy="118872"/>
          </a:xfrm>
          <a:prstGeom prst="rect">
            <a:avLst/>
          </a:prstGeom>
          <a:noFill/>
          <a:ln/>
        </p:spPr>
        <p:txBody>
          <a:bodyPr wrap="square" lIns="0" tIns="0" rIns="0" bIns="0" rtlCol="0" anchor="ctr"/>
          <a:lstStyle/>
          <a:p>
            <a:pPr indent="0" marL="0">
              <a:buNone/>
            </a:pPr>
            <a:r>
              <a:rPr lang="en-US" sz="1020" b="1" spc="75" kern="0" dirty="0">
                <a:solidFill>
                  <a:srgbClr val="666666"/>
                </a:solidFill>
                <a:latin typeface="Arial" pitchFamily="34" charset="0"/>
                <a:ea typeface="Arial" pitchFamily="34" charset="-122"/>
                <a:cs typeface="Arial" pitchFamily="34" charset="-120"/>
              </a:rPr>
              <a:t>STEP 1</a:t>
            </a:r>
            <a:endParaRPr lang="en-US" sz="1020" dirty="0"/>
          </a:p>
        </p:txBody>
      </p:sp>
      <p:sp>
        <p:nvSpPr>
          <p:cNvPr id="3" name="Text 1"/>
          <p:cNvSpPr/>
          <p:nvPr/>
        </p:nvSpPr>
        <p:spPr>
          <a:xfrm>
            <a:off x="749808" y="438912"/>
            <a:ext cx="10378440" cy="274320"/>
          </a:xfrm>
          <a:prstGeom prst="rect">
            <a:avLst/>
          </a:prstGeom>
          <a:noFill/>
          <a:ln/>
        </p:spPr>
        <p:txBody>
          <a:bodyPr wrap="square" lIns="0" tIns="0" rIns="0" bIns="0" rtlCol="0" anchor="ctr"/>
          <a:lstStyle/>
          <a:p>
            <a:pPr indent="0" marL="0">
              <a:buNone/>
            </a:pPr>
            <a:r>
              <a:rPr lang="en-US" sz="2600" dirty="0">
                <a:solidFill>
                  <a:srgbClr val="111111"/>
                </a:solidFill>
                <a:latin typeface="Georgia" pitchFamily="34" charset="0"/>
                <a:ea typeface="Georgia" pitchFamily="34" charset="-122"/>
                <a:cs typeface="Georgia" pitchFamily="34" charset="-120"/>
              </a:rPr>
              <a:t>What we mean by monitored exposure</a:t>
            </a:r>
            <a:endParaRPr lang="en-US" sz="2600" dirty="0"/>
          </a:p>
        </p:txBody>
      </p:sp>
      <p:sp>
        <p:nvSpPr>
          <p:cNvPr id="4" name="Shape 2"/>
          <p:cNvSpPr/>
          <p:nvPr/>
        </p:nvSpPr>
        <p:spPr>
          <a:xfrm>
            <a:off x="749808" y="841248"/>
            <a:ext cx="10698480" cy="0"/>
          </a:xfrm>
          <a:prstGeom prst="line">
            <a:avLst/>
          </a:prstGeom>
          <a:noFill/>
          <a:ln w="12700">
            <a:solidFill>
              <a:srgbClr val="D7D7D7"/>
            </a:solidFill>
            <a:prstDash val="solid"/>
          </a:ln>
        </p:spPr>
      </p:sp>
      <p:sp>
        <p:nvSpPr>
          <p:cNvPr id="5" name="Text 3"/>
          <p:cNvSpPr/>
          <p:nvPr/>
        </p:nvSpPr>
        <p:spPr>
          <a:xfrm>
            <a:off x="11173968" y="283464"/>
            <a:ext cx="201168" cy="118872"/>
          </a:xfrm>
          <a:prstGeom prst="rect">
            <a:avLst/>
          </a:prstGeom>
          <a:noFill/>
          <a:ln/>
        </p:spPr>
        <p:txBody>
          <a:bodyPr wrap="square" lIns="0" tIns="0" rIns="0" bIns="0" rtlCol="0" anchor="ctr"/>
          <a:lstStyle/>
          <a:p>
            <a:pPr algn="r" indent="0" marL="0">
              <a:buNone/>
            </a:pPr>
            <a:r>
              <a:rPr lang="en-US" sz="1020" dirty="0">
                <a:solidFill>
                  <a:srgbClr val="666666"/>
                </a:solidFill>
                <a:latin typeface="Arial" pitchFamily="34" charset="0"/>
                <a:ea typeface="Arial" pitchFamily="34" charset="-122"/>
                <a:cs typeface="Arial" pitchFamily="34" charset="-120"/>
              </a:rPr>
              <a:t>2</a:t>
            </a:r>
            <a:endParaRPr lang="en-US" sz="1020" dirty="0"/>
          </a:p>
        </p:txBody>
      </p:sp>
      <p:sp>
        <p:nvSpPr>
          <p:cNvPr id="6" name="Text 4"/>
          <p:cNvSpPr/>
          <p:nvPr/>
        </p:nvSpPr>
        <p:spPr>
          <a:xfrm>
            <a:off x="896112" y="1078992"/>
            <a:ext cx="10195560" cy="292608"/>
          </a:xfrm>
          <a:prstGeom prst="rect">
            <a:avLst/>
          </a:prstGeom>
          <a:noFill/>
          <a:ln/>
        </p:spPr>
        <p:txBody>
          <a:bodyPr wrap="square" lIns="0" tIns="0" rIns="0" bIns="0" rtlCol="0" anchor="t">
            <a:normAutofit/>
          </a:bodyPr>
          <a:lstStyle/>
          <a:p>
            <a:pPr indent="0" marL="0">
              <a:buNone/>
            </a:pPr>
            <a:r>
              <a:rPr lang="en-US" sz="1830" dirty="0">
                <a:solidFill>
                  <a:srgbClr val="1F2937"/>
                </a:solidFill>
                <a:latin typeface="Arial" pitchFamily="34" charset="0"/>
                <a:ea typeface="Arial" pitchFamily="34" charset="-122"/>
                <a:cs typeface="Arial" pitchFamily="34" charset="-120"/>
              </a:rPr>
              <a:t>A monitored top-K appearance is not a full impression log. It is an observed exposure opportunity, and rank determines how much attention that opportunity is worth.</a:t>
            </a:r>
            <a:endParaRPr lang="en-US" sz="1830" dirty="0"/>
          </a:p>
        </p:txBody>
      </p:sp>
      <p:sp>
        <p:nvSpPr>
          <p:cNvPr id="7" name="Shape 5"/>
          <p:cNvSpPr/>
          <p:nvPr/>
        </p:nvSpPr>
        <p:spPr>
          <a:xfrm>
            <a:off x="896112" y="1664208"/>
            <a:ext cx="3145536" cy="1499616"/>
          </a:xfrm>
          <a:prstGeom prst="rect">
            <a:avLst/>
          </a:prstGeom>
          <a:solidFill>
            <a:srgbClr val="FBFBFB"/>
          </a:solidFill>
          <a:ln w="10795">
            <a:solidFill>
              <a:srgbClr val="D7D7D7"/>
            </a:solidFill>
            <a:prstDash val="solid"/>
          </a:ln>
        </p:spPr>
      </p:sp>
      <p:sp>
        <p:nvSpPr>
          <p:cNvPr id="8" name="Shape 6"/>
          <p:cNvSpPr/>
          <p:nvPr/>
        </p:nvSpPr>
        <p:spPr>
          <a:xfrm>
            <a:off x="4526280" y="1664208"/>
            <a:ext cx="3145536" cy="1499616"/>
          </a:xfrm>
          <a:prstGeom prst="rect">
            <a:avLst/>
          </a:prstGeom>
          <a:solidFill>
            <a:srgbClr val="FBFBFB"/>
          </a:solidFill>
          <a:ln w="10795">
            <a:solidFill>
              <a:srgbClr val="D7D7D7"/>
            </a:solidFill>
            <a:prstDash val="solid"/>
          </a:ln>
        </p:spPr>
      </p:sp>
      <p:sp>
        <p:nvSpPr>
          <p:cNvPr id="9" name="Shape 7"/>
          <p:cNvSpPr/>
          <p:nvPr/>
        </p:nvSpPr>
        <p:spPr>
          <a:xfrm>
            <a:off x="8156448" y="1664208"/>
            <a:ext cx="3145536" cy="1499616"/>
          </a:xfrm>
          <a:prstGeom prst="rect">
            <a:avLst/>
          </a:prstGeom>
          <a:solidFill>
            <a:srgbClr val="FBFBFB"/>
          </a:solidFill>
          <a:ln w="10795">
            <a:solidFill>
              <a:srgbClr val="D7D7D7"/>
            </a:solidFill>
            <a:prstDash val="solid"/>
          </a:ln>
        </p:spPr>
      </p:sp>
      <p:sp>
        <p:nvSpPr>
          <p:cNvPr id="10" name="Text 8"/>
          <p:cNvSpPr/>
          <p:nvPr/>
        </p:nvSpPr>
        <p:spPr>
          <a:xfrm>
            <a:off x="1005840" y="1810512"/>
            <a:ext cx="173736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POSITION WEIGHT</a:t>
            </a:r>
            <a:endParaRPr lang="en-US" sz="1070" dirty="0"/>
          </a:p>
        </p:txBody>
      </p:sp>
      <p:sp>
        <p:nvSpPr>
          <p:cNvPr id="11" name="Text 9"/>
          <p:cNvSpPr/>
          <p:nvPr/>
        </p:nvSpPr>
        <p:spPr>
          <a:xfrm>
            <a:off x="1005840" y="2221992"/>
            <a:ext cx="914400"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w</a:t>
            </a:r>
            <a:pPr algn="l" indent="0" marL="0">
              <a:buNone/>
            </a:pPr>
            <a:r>
              <a:rPr lang="en-US" sz="2200" dirty="0">
                <a:solidFill>
                  <a:srgbClr val="111111"/>
                </a:solidFill>
                <a:latin typeface="Cambria Math" pitchFamily="34" charset="0"/>
                <a:ea typeface="Cambria Math" pitchFamily="34" charset="-122"/>
                <a:cs typeface="Cambria Math" pitchFamily="34" charset="-120"/>
              </a:rPr>
              <a:t>(</a:t>
            </a:r>
            <a:pPr algn="l" indent="0" marL="0">
              <a:buNone/>
            </a:pPr>
            <a:r>
              <a:rPr lang="en-US" sz="2200" i="1" dirty="0">
                <a:solidFill>
                  <a:srgbClr val="111111"/>
                </a:solidFill>
                <a:latin typeface="Cambria Math" pitchFamily="34" charset="0"/>
                <a:ea typeface="Cambria Math" pitchFamily="34" charset="-122"/>
                <a:cs typeface="Cambria Math" pitchFamily="34" charset="-120"/>
              </a:rPr>
              <a:t>r</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endParaRPr lang="en-US" sz="2220" dirty="0"/>
          </a:p>
        </p:txBody>
      </p:sp>
      <p:sp>
        <p:nvSpPr>
          <p:cNvPr id="12" name="Text 10"/>
          <p:cNvSpPr/>
          <p:nvPr/>
        </p:nvSpPr>
        <p:spPr>
          <a:xfrm>
            <a:off x="1993392" y="2084832"/>
            <a:ext cx="1847088" cy="237744"/>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1</a:t>
            </a:r>
            <a:endParaRPr lang="en-US" sz="2220" dirty="0"/>
          </a:p>
        </p:txBody>
      </p:sp>
      <p:sp>
        <p:nvSpPr>
          <p:cNvPr id="13" name="Shape 11"/>
          <p:cNvSpPr/>
          <p:nvPr/>
        </p:nvSpPr>
        <p:spPr>
          <a:xfrm>
            <a:off x="2011680" y="2336292"/>
            <a:ext cx="1810512" cy="0"/>
          </a:xfrm>
          <a:prstGeom prst="line">
            <a:avLst/>
          </a:prstGeom>
          <a:noFill/>
          <a:ln w="11430">
            <a:solidFill>
              <a:srgbClr val="111111"/>
            </a:solidFill>
            <a:prstDash val="solid"/>
          </a:ln>
        </p:spPr>
      </p:sp>
      <p:sp>
        <p:nvSpPr>
          <p:cNvPr id="14" name="Text 12"/>
          <p:cNvSpPr/>
          <p:nvPr/>
        </p:nvSpPr>
        <p:spPr>
          <a:xfrm>
            <a:off x="1993392" y="2363724"/>
            <a:ext cx="1847088" cy="237744"/>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log</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2</a:t>
            </a:r>
            <a:pPr algn="ctr" indent="0" marL="0">
              <a:buNone/>
            </a:pPr>
            <a:r>
              <a:rPr lang="en-US" sz="2200" dirty="0">
                <a:solidFill>
                  <a:srgbClr val="111111"/>
                </a:solidFill>
                <a:latin typeface="Cambria Math" pitchFamily="34" charset="0"/>
                <a:ea typeface="Cambria Math" pitchFamily="34" charset="-122"/>
                <a:cs typeface="Cambria Math" pitchFamily="34" charset="-120"/>
              </a:rPr>
              <a:t>(1 + </a:t>
            </a:r>
            <a:pPr algn="ctr" indent="0" marL="0">
              <a:buNone/>
            </a:pPr>
            <a:r>
              <a:rPr lang="en-US" sz="2200" i="1" dirty="0">
                <a:solidFill>
                  <a:srgbClr val="111111"/>
                </a:solidFill>
                <a:latin typeface="Cambria Math" pitchFamily="34" charset="0"/>
                <a:ea typeface="Cambria Math" pitchFamily="34" charset="-122"/>
                <a:cs typeface="Cambria Math" pitchFamily="34" charset="-120"/>
              </a:rPr>
              <a:t>r</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2220" dirty="0"/>
          </a:p>
        </p:txBody>
      </p:sp>
      <p:sp>
        <p:nvSpPr>
          <p:cNvPr id="15" name="Text 13"/>
          <p:cNvSpPr/>
          <p:nvPr/>
        </p:nvSpPr>
        <p:spPr>
          <a:xfrm>
            <a:off x="1060704" y="2871216"/>
            <a:ext cx="2724912" cy="128016"/>
          </a:xfrm>
          <a:prstGeom prst="rect">
            <a:avLst/>
          </a:prstGeom>
          <a:noFill/>
          <a:ln/>
        </p:spPr>
        <p:txBody>
          <a:bodyPr wrap="square" lIns="0" tIns="0" rIns="0" bIns="0" rtlCol="0" anchor="t">
            <a:normAutofit/>
          </a:bodyPr>
          <a:lstStyle/>
          <a:p>
            <a:pPr algn="ctr" indent="0" marL="0">
              <a:buNone/>
            </a:pPr>
            <a:r>
              <a:rPr lang="en-US" sz="1280" dirty="0">
                <a:solidFill>
                  <a:srgbClr val="666666"/>
                </a:solidFill>
                <a:latin typeface="Arial" pitchFamily="34" charset="0"/>
                <a:ea typeface="Arial" pitchFamily="34" charset="-122"/>
                <a:cs typeface="Arial" pitchFamily="34" charset="-120"/>
              </a:rPr>
              <a:t>Higher ranks carry more attention.</a:t>
            </a:r>
            <a:endParaRPr lang="en-US" sz="1280" dirty="0"/>
          </a:p>
        </p:txBody>
      </p:sp>
      <p:sp>
        <p:nvSpPr>
          <p:cNvPr id="16" name="Text 14"/>
          <p:cNvSpPr/>
          <p:nvPr/>
        </p:nvSpPr>
        <p:spPr>
          <a:xfrm>
            <a:off x="4645152" y="1810512"/>
            <a:ext cx="137160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POST TOTAL</a:t>
            </a:r>
            <a:endParaRPr lang="en-US" sz="1070" dirty="0"/>
          </a:p>
        </p:txBody>
      </p:sp>
      <p:sp>
        <p:nvSpPr>
          <p:cNvPr id="17" name="Text 15"/>
          <p:cNvSpPr/>
          <p:nvPr/>
        </p:nvSpPr>
        <p:spPr>
          <a:xfrm>
            <a:off x="4626864" y="2212848"/>
            <a:ext cx="2944368" cy="256032"/>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E</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i</a:t>
            </a:r>
            <a:pPr algn="ctr" indent="0" marL="0">
              <a:buNone/>
            </a:pPr>
            <a:r>
              <a:rPr lang="en-US" sz="2200" dirty="0">
                <a:solidFill>
                  <a:srgbClr val="111111"/>
                </a:solidFill>
                <a:latin typeface="Cambria Math" pitchFamily="34" charset="0"/>
                <a:ea typeface="Cambria Math" pitchFamily="34" charset="-122"/>
                <a:cs typeface="Cambria Math" pitchFamily="34" charset="-120"/>
              </a:rPr>
              <a:t> = ∑</a:t>
            </a:r>
            <a:pPr algn="ctr" indent="0" marL="0">
              <a:buNone/>
            </a:pPr>
            <a:r>
              <a:rPr lang="en-US" sz="1500" i="1" baseline="-40000" dirty="0">
                <a:solidFill>
                  <a:srgbClr val="111111"/>
                </a:solidFill>
                <a:latin typeface="Cambria Math" pitchFamily="34" charset="0"/>
                <a:ea typeface="Cambria Math" pitchFamily="34" charset="-122"/>
                <a:cs typeface="Cambria Math" pitchFamily="34" charset="-120"/>
              </a:rPr>
              <a:t>m∈M</a:t>
            </a:r>
            <a:pPr algn="ctr" indent="0" marL="0">
              <a:buNone/>
            </a:pPr>
            <a:r>
              <a:rPr lang="en-US" sz="1500" i="1" baseline="-40000" dirty="0">
                <a:solidFill>
                  <a:srgbClr val="111111"/>
                </a:solidFill>
                <a:latin typeface="Cambria Math" pitchFamily="34" charset="0"/>
                <a:ea typeface="Cambria Math" pitchFamily="34" charset="-122"/>
                <a:cs typeface="Cambria Math" pitchFamily="34" charset="-120"/>
              </a:rPr>
              <a:t>i</a:t>
            </a:r>
            <a:pPr algn="ctr" indent="0" marL="0">
              <a:buNone/>
            </a:pPr>
            <a:r>
              <a:rPr lang="en-US" sz="2200" dirty="0">
                <a:solidFill>
                  <a:srgbClr val="111111"/>
                </a:solidFill>
                <a:latin typeface="Cambria Math" pitchFamily="34" charset="0"/>
                <a:ea typeface="Cambria Math" pitchFamily="34" charset="-122"/>
                <a:cs typeface="Cambria Math" pitchFamily="34" charset="-120"/>
              </a:rPr>
              <a:t> </a:t>
            </a:r>
            <a:pPr algn="ctr" indent="0" marL="0">
              <a:buNone/>
            </a:pPr>
            <a:r>
              <a:rPr lang="en-US" sz="2200" i="1" dirty="0">
                <a:solidFill>
                  <a:srgbClr val="111111"/>
                </a:solidFill>
                <a:latin typeface="Cambria Math" pitchFamily="34" charset="0"/>
                <a:ea typeface="Cambria Math" pitchFamily="34" charset="-122"/>
                <a:cs typeface="Cambria Math" pitchFamily="34" charset="-120"/>
              </a:rPr>
              <a:t>w</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r</a:t>
            </a:r>
            <a:pPr algn="ctr" indent="0" marL="0">
              <a:buNone/>
            </a:pPr>
            <a:r>
              <a:rPr lang="en-US" sz="1500" i="1" baseline="-40000" dirty="0">
                <a:solidFill>
                  <a:srgbClr val="111111"/>
                </a:solidFill>
                <a:latin typeface="Cambria Math" pitchFamily="34" charset="0"/>
                <a:ea typeface="Cambria Math" pitchFamily="34" charset="-122"/>
                <a:cs typeface="Cambria Math" pitchFamily="34" charset="-120"/>
              </a:rPr>
              <a:t>m</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2400" dirty="0"/>
          </a:p>
        </p:txBody>
      </p:sp>
      <p:sp>
        <p:nvSpPr>
          <p:cNvPr id="18" name="Text 16"/>
          <p:cNvSpPr/>
          <p:nvPr/>
        </p:nvSpPr>
        <p:spPr>
          <a:xfrm>
            <a:off x="4681728" y="2871216"/>
            <a:ext cx="2816352" cy="128016"/>
          </a:xfrm>
          <a:prstGeom prst="rect">
            <a:avLst/>
          </a:prstGeom>
          <a:noFill/>
          <a:ln/>
        </p:spPr>
        <p:txBody>
          <a:bodyPr wrap="square" lIns="0" tIns="0" rIns="0" bIns="0" rtlCol="0" anchor="t">
            <a:normAutofit/>
          </a:bodyPr>
          <a:lstStyle/>
          <a:p>
            <a:pPr algn="ctr" indent="0" marL="0">
              <a:buNone/>
            </a:pPr>
            <a:r>
              <a:rPr lang="en-US" sz="1280" dirty="0">
                <a:solidFill>
                  <a:srgbClr val="666666"/>
                </a:solidFill>
                <a:latin typeface="Arial" pitchFamily="34" charset="0"/>
                <a:ea typeface="Arial" pitchFamily="34" charset="-122"/>
                <a:cs typeface="Arial" pitchFamily="34" charset="-120"/>
              </a:rPr>
              <a:t>Add every monitored appearance of post i.</a:t>
            </a:r>
            <a:endParaRPr lang="en-US" sz="1280" dirty="0"/>
          </a:p>
        </p:txBody>
      </p:sp>
      <p:sp>
        <p:nvSpPr>
          <p:cNvPr id="19" name="Text 17"/>
          <p:cNvSpPr/>
          <p:nvPr/>
        </p:nvSpPr>
        <p:spPr>
          <a:xfrm>
            <a:off x="8211312" y="1810512"/>
            <a:ext cx="182880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POST WITHIN CONTEXT</a:t>
            </a:r>
            <a:endParaRPr lang="en-US" sz="1070" dirty="0"/>
          </a:p>
        </p:txBody>
      </p:sp>
      <p:sp>
        <p:nvSpPr>
          <p:cNvPr id="20" name="Text 18"/>
          <p:cNvSpPr/>
          <p:nvPr/>
        </p:nvSpPr>
        <p:spPr>
          <a:xfrm>
            <a:off x="8211312" y="2212848"/>
            <a:ext cx="2999232" cy="256032"/>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y</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pPr algn="ctr" indent="0" marL="0">
              <a:buNone/>
            </a:pPr>
            <a:r>
              <a:rPr lang="en-US" sz="2200" dirty="0">
                <a:solidFill>
                  <a:srgbClr val="111111"/>
                </a:solidFill>
                <a:latin typeface="Cambria Math" pitchFamily="34" charset="0"/>
                <a:ea typeface="Cambria Math" pitchFamily="34" charset="-122"/>
                <a:cs typeface="Cambria Math" pitchFamily="34" charset="-120"/>
              </a:rPr>
              <a:t> = ∑</a:t>
            </a:r>
            <a:pPr algn="ctr" indent="0" marL="0">
              <a:buNone/>
            </a:pPr>
            <a:r>
              <a:rPr lang="en-US" sz="1500" i="1" baseline="-40000" dirty="0">
                <a:solidFill>
                  <a:srgbClr val="111111"/>
                </a:solidFill>
                <a:latin typeface="Cambria Math" pitchFamily="34" charset="0"/>
                <a:ea typeface="Cambria Math" pitchFamily="34" charset="-122"/>
                <a:cs typeface="Cambria Math" pitchFamily="34" charset="-120"/>
              </a:rPr>
              <a:t>m∈M</a:t>
            </a:r>
            <a:pPr algn="ctr" indent="0" marL="0">
              <a:buNone/>
            </a:pPr>
            <a:r>
              <a:rPr lang="en-US" sz="1500" i="1" baseline="-40000" dirty="0">
                <a:solidFill>
                  <a:srgbClr val="111111"/>
                </a:solidFill>
                <a:latin typeface="Cambria Math" pitchFamily="34" charset="0"/>
                <a:ea typeface="Cambria Math" pitchFamily="34" charset="-122"/>
                <a:cs typeface="Cambria Math" pitchFamily="34" charset="-120"/>
              </a:rPr>
              <a:t>ig</a:t>
            </a:r>
            <a:pPr algn="ctr" indent="0" marL="0">
              <a:buNone/>
            </a:pPr>
            <a:r>
              <a:rPr lang="en-US" sz="2200" dirty="0">
                <a:solidFill>
                  <a:srgbClr val="111111"/>
                </a:solidFill>
                <a:latin typeface="Cambria Math" pitchFamily="34" charset="0"/>
                <a:ea typeface="Cambria Math" pitchFamily="34" charset="-122"/>
                <a:cs typeface="Cambria Math" pitchFamily="34" charset="-120"/>
              </a:rPr>
              <a:t> </a:t>
            </a:r>
            <a:pPr algn="ctr" indent="0" marL="0">
              <a:buNone/>
            </a:pPr>
            <a:r>
              <a:rPr lang="en-US" sz="2200" i="1" dirty="0">
                <a:solidFill>
                  <a:srgbClr val="111111"/>
                </a:solidFill>
                <a:latin typeface="Cambria Math" pitchFamily="34" charset="0"/>
                <a:ea typeface="Cambria Math" pitchFamily="34" charset="-122"/>
                <a:cs typeface="Cambria Math" pitchFamily="34" charset="-120"/>
              </a:rPr>
              <a:t>w</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r</a:t>
            </a:r>
            <a:pPr algn="ctr" indent="0" marL="0">
              <a:buNone/>
            </a:pPr>
            <a:r>
              <a:rPr lang="en-US" sz="1500" i="1" baseline="-40000" dirty="0">
                <a:solidFill>
                  <a:srgbClr val="111111"/>
                </a:solidFill>
                <a:latin typeface="Cambria Math" pitchFamily="34" charset="0"/>
                <a:ea typeface="Cambria Math" pitchFamily="34" charset="-122"/>
                <a:cs typeface="Cambria Math" pitchFamily="34" charset="-120"/>
              </a:rPr>
              <a:t>m</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2400" dirty="0"/>
          </a:p>
        </p:txBody>
      </p:sp>
      <p:sp>
        <p:nvSpPr>
          <p:cNvPr id="21" name="Text 19"/>
          <p:cNvSpPr/>
          <p:nvPr/>
        </p:nvSpPr>
        <p:spPr>
          <a:xfrm>
            <a:off x="8266176" y="2871216"/>
            <a:ext cx="2907792" cy="128016"/>
          </a:xfrm>
          <a:prstGeom prst="rect">
            <a:avLst/>
          </a:prstGeom>
          <a:noFill/>
          <a:ln/>
        </p:spPr>
        <p:txBody>
          <a:bodyPr wrap="square" lIns="0" tIns="0" rIns="0" bIns="0" rtlCol="0" anchor="t">
            <a:normAutofit/>
          </a:bodyPr>
          <a:lstStyle/>
          <a:p>
            <a:pPr algn="ctr" indent="0" marL="0">
              <a:buNone/>
            </a:pPr>
            <a:r>
              <a:rPr lang="en-US" sz="1280" dirty="0">
                <a:solidFill>
                  <a:srgbClr val="666666"/>
                </a:solidFill>
                <a:latin typeface="Arial" pitchFamily="34" charset="0"/>
                <a:ea typeface="Arial" pitchFamily="34" charset="-122"/>
                <a:cs typeface="Arial" pitchFamily="34" charset="-120"/>
              </a:rPr>
              <a:t>Keep only the appearances inside one context g.</a:t>
            </a:r>
            <a:endParaRPr lang="en-US" sz="1280" dirty="0"/>
          </a:p>
        </p:txBody>
      </p:sp>
      <p:sp>
        <p:nvSpPr>
          <p:cNvPr id="22" name="Shape 20"/>
          <p:cNvSpPr/>
          <p:nvPr/>
        </p:nvSpPr>
        <p:spPr>
          <a:xfrm>
            <a:off x="896112" y="3749040"/>
            <a:ext cx="10387584" cy="1188720"/>
          </a:xfrm>
          <a:prstGeom prst="rect">
            <a:avLst/>
          </a:prstGeom>
          <a:solidFill>
            <a:srgbClr val="F7F7F7"/>
          </a:solidFill>
          <a:ln w="10795">
            <a:solidFill>
              <a:srgbClr val="D7D7D7"/>
            </a:solidFill>
            <a:prstDash val="solid"/>
          </a:ln>
        </p:spPr>
      </p:sp>
      <p:sp>
        <p:nvSpPr>
          <p:cNvPr id="23" name="Text 21"/>
          <p:cNvSpPr/>
          <p:nvPr/>
        </p:nvSpPr>
        <p:spPr>
          <a:xfrm>
            <a:off x="1060704" y="3895344"/>
            <a:ext cx="201168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PLAIN-LANGUAGE READING</a:t>
            </a:r>
            <a:endParaRPr lang="en-US" sz="1070" dirty="0"/>
          </a:p>
        </p:txBody>
      </p:sp>
      <p:sp>
        <p:nvSpPr>
          <p:cNvPr id="24" name="Text 22"/>
          <p:cNvSpPr/>
          <p:nvPr/>
        </p:nvSpPr>
        <p:spPr>
          <a:xfrm>
            <a:off x="1078992" y="4133088"/>
            <a:ext cx="6355080" cy="603504"/>
          </a:xfrm>
          <a:prstGeom prst="rect">
            <a:avLst/>
          </a:prstGeom>
          <a:noFill/>
          <a:ln/>
        </p:spPr>
        <p:txBody>
          <a:bodyPr wrap="square" lIns="0" tIns="0" rIns="0" bIns="0" rtlCol="0" anchor="t">
            <a:normAutofit/>
          </a:bodyPr>
          <a:lstStyle/>
          <a:p>
            <a:pPr indent="0" marL="0">
              <a:buNone/>
            </a:pPr>
            <a:r>
              <a:rPr lang="en-US" sz="1800" dirty="0">
                <a:solidFill>
                  <a:srgbClr val="111111"/>
                </a:solidFill>
                <a:latin typeface="Arial" pitchFamily="34" charset="0"/>
                <a:ea typeface="Arial" pitchFamily="34" charset="-122"/>
                <a:cs typeface="Arial" pitchFamily="34" charset="-120"/>
              </a:rPr>
              <a:t>Appear once → gain some monitored exposure.</a:t>
            </a:r>
            <a:endParaRPr lang="en-US" sz="1800" dirty="0"/>
          </a:p>
          <a:p>
            <a:pPr indent="0" marL="0">
              <a:buNone/>
            </a:pPr>
            <a:r>
              <a:rPr lang="en-US" sz="1800" dirty="0">
                <a:solidFill>
                  <a:srgbClr val="111111"/>
                </a:solidFill>
                <a:latin typeface="Arial" pitchFamily="34" charset="0"/>
                <a:ea typeface="Arial" pitchFamily="34" charset="-122"/>
                <a:cs typeface="Arial" pitchFamily="34" charset="-120"/>
              </a:rPr>
              <a:t>Appear higher → gain more monitored exposure.</a:t>
            </a:r>
            <a:endParaRPr lang="en-US" sz="1800" dirty="0"/>
          </a:p>
          <a:p>
            <a:pPr indent="0" marL="0">
              <a:buNone/>
            </a:pPr>
            <a:r>
              <a:rPr lang="en-US" sz="1800" dirty="0">
                <a:solidFill>
                  <a:srgbClr val="111111"/>
                </a:solidFill>
                <a:latin typeface="Arial" pitchFamily="34" charset="0"/>
                <a:ea typeface="Arial" pitchFamily="34" charset="-122"/>
                <a:cs typeface="Arial" pitchFamily="34" charset="-120"/>
              </a:rPr>
              <a:t>Use the same accounting object for posts, duplicate versions, and frames.</a:t>
            </a:r>
            <a:endParaRPr lang="en-US" sz="1800" dirty="0"/>
          </a:p>
        </p:txBody>
      </p:sp>
      <p:sp>
        <p:nvSpPr>
          <p:cNvPr id="25" name="Text 23"/>
          <p:cNvSpPr/>
          <p:nvPr/>
        </p:nvSpPr>
        <p:spPr>
          <a:xfrm>
            <a:off x="7863840" y="4261104"/>
            <a:ext cx="3017520" cy="201168"/>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g</a:t>
            </a:r>
            <a:pPr algn="l" indent="0" marL="0">
              <a:buNone/>
            </a:pPr>
            <a:r>
              <a:rPr lang="en-US" sz="2200" dirty="0">
                <a:solidFill>
                  <a:srgbClr val="111111"/>
                </a:solidFill>
                <a:latin typeface="Cambria Math" pitchFamily="34" charset="0"/>
                <a:ea typeface="Cambria Math" pitchFamily="34" charset="-122"/>
                <a:cs typeface="Cambria Math" pitchFamily="34" charset="-120"/>
              </a:rPr>
              <a:t> = (feed, hour, viewer, vantage)</a:t>
            </a:r>
            <a:endParaRPr lang="en-US" sz="1920" dirty="0"/>
          </a:p>
        </p:txBody>
      </p:sp>
      <p:sp>
        <p:nvSpPr>
          <p:cNvPr id="26" name="Text 24"/>
          <p:cNvSpPr/>
          <p:nvPr/>
        </p:nvSpPr>
        <p:spPr>
          <a:xfrm>
            <a:off x="7863840" y="4590288"/>
            <a:ext cx="2907792" cy="146304"/>
          </a:xfrm>
          <a:prstGeom prst="rect">
            <a:avLst/>
          </a:prstGeom>
          <a:noFill/>
          <a:ln/>
        </p:spPr>
        <p:txBody>
          <a:bodyPr wrap="square" lIns="0" tIns="0" rIns="0" bIns="0" rtlCol="0" anchor="t">
            <a:normAutofit/>
          </a:bodyPr>
          <a:lstStyle/>
          <a:p>
            <a:pPr indent="0" marL="0">
              <a:buNone/>
            </a:pPr>
            <a:r>
              <a:rPr lang="en-US" sz="1300" dirty="0">
                <a:solidFill>
                  <a:srgbClr val="666666"/>
                </a:solidFill>
                <a:latin typeface="Arial" pitchFamily="34" charset="0"/>
                <a:ea typeface="Arial" pitchFamily="34" charset="-122"/>
                <a:cs typeface="Arial" pitchFamily="34" charset="-120"/>
              </a:rPr>
              <a:t>Keep comparisons local rather than mixing every scene together.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9808" y="182880"/>
            <a:ext cx="2743200" cy="118872"/>
          </a:xfrm>
          <a:prstGeom prst="rect">
            <a:avLst/>
          </a:prstGeom>
          <a:noFill/>
          <a:ln/>
        </p:spPr>
        <p:txBody>
          <a:bodyPr wrap="square" lIns="0" tIns="0" rIns="0" bIns="0" rtlCol="0" anchor="ctr"/>
          <a:lstStyle/>
          <a:p>
            <a:pPr indent="0" marL="0">
              <a:buNone/>
            </a:pPr>
            <a:r>
              <a:rPr lang="en-US" sz="1020" b="1" spc="75" kern="0" dirty="0">
                <a:solidFill>
                  <a:srgbClr val="666666"/>
                </a:solidFill>
                <a:latin typeface="Arial" pitchFamily="34" charset="0"/>
                <a:ea typeface="Arial" pitchFamily="34" charset="-122"/>
                <a:cs typeface="Arial" pitchFamily="34" charset="-120"/>
              </a:rPr>
              <a:t>STEP 2A</a:t>
            </a:r>
            <a:endParaRPr lang="en-US" sz="1020" dirty="0"/>
          </a:p>
        </p:txBody>
      </p:sp>
      <p:sp>
        <p:nvSpPr>
          <p:cNvPr id="3" name="Text 1"/>
          <p:cNvSpPr/>
          <p:nvPr/>
        </p:nvSpPr>
        <p:spPr>
          <a:xfrm>
            <a:off x="749808" y="438912"/>
            <a:ext cx="10378440" cy="274320"/>
          </a:xfrm>
          <a:prstGeom prst="rect">
            <a:avLst/>
          </a:prstGeom>
          <a:noFill/>
          <a:ln/>
        </p:spPr>
        <p:txBody>
          <a:bodyPr wrap="square" lIns="0" tIns="0" rIns="0" bIns="0" rtlCol="0" anchor="ctr"/>
          <a:lstStyle/>
          <a:p>
            <a:pPr indent="0" marL="0">
              <a:buNone/>
            </a:pPr>
            <a:r>
              <a:rPr lang="en-US" sz="2600" dirty="0">
                <a:solidFill>
                  <a:srgbClr val="111111"/>
                </a:solidFill>
                <a:latin typeface="Georgia" pitchFamily="34" charset="0"/>
                <a:ea typeface="Georgia" pitchFamily="34" charset="-122"/>
                <a:cs typeface="Georgia" pitchFamily="34" charset="-120"/>
              </a:rPr>
              <a:t>RQ1 starts with a local content-similarity comparison</a:t>
            </a:r>
            <a:endParaRPr lang="en-US" sz="2600" dirty="0"/>
          </a:p>
        </p:txBody>
      </p:sp>
      <p:sp>
        <p:nvSpPr>
          <p:cNvPr id="4" name="Shape 2"/>
          <p:cNvSpPr/>
          <p:nvPr/>
        </p:nvSpPr>
        <p:spPr>
          <a:xfrm>
            <a:off x="749808" y="841248"/>
            <a:ext cx="10698480" cy="0"/>
          </a:xfrm>
          <a:prstGeom prst="line">
            <a:avLst/>
          </a:prstGeom>
          <a:noFill/>
          <a:ln w="12700">
            <a:solidFill>
              <a:srgbClr val="D7D7D7"/>
            </a:solidFill>
            <a:prstDash val="solid"/>
          </a:ln>
        </p:spPr>
      </p:sp>
      <p:sp>
        <p:nvSpPr>
          <p:cNvPr id="5" name="Text 3"/>
          <p:cNvSpPr/>
          <p:nvPr/>
        </p:nvSpPr>
        <p:spPr>
          <a:xfrm>
            <a:off x="11173968" y="283464"/>
            <a:ext cx="201168" cy="118872"/>
          </a:xfrm>
          <a:prstGeom prst="rect">
            <a:avLst/>
          </a:prstGeom>
          <a:noFill/>
          <a:ln/>
        </p:spPr>
        <p:txBody>
          <a:bodyPr wrap="square" lIns="0" tIns="0" rIns="0" bIns="0" rtlCol="0" anchor="ctr"/>
          <a:lstStyle/>
          <a:p>
            <a:pPr algn="r" indent="0" marL="0">
              <a:buNone/>
            </a:pPr>
            <a:r>
              <a:rPr lang="en-US" sz="1020" dirty="0">
                <a:solidFill>
                  <a:srgbClr val="666666"/>
                </a:solidFill>
                <a:latin typeface="Arial" pitchFamily="34" charset="0"/>
                <a:ea typeface="Arial" pitchFamily="34" charset="-122"/>
                <a:cs typeface="Arial" pitchFamily="34" charset="-120"/>
              </a:rPr>
              <a:t>3</a:t>
            </a:r>
            <a:endParaRPr lang="en-US" sz="1020" dirty="0"/>
          </a:p>
        </p:txBody>
      </p:sp>
      <p:sp>
        <p:nvSpPr>
          <p:cNvPr id="6" name="Text 4"/>
          <p:cNvSpPr/>
          <p:nvPr/>
        </p:nvSpPr>
        <p:spPr>
          <a:xfrm>
            <a:off x="914400" y="1078992"/>
            <a:ext cx="182880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COMPARISON PRINCIPLE</a:t>
            </a:r>
            <a:endParaRPr lang="en-US" sz="1070" dirty="0"/>
          </a:p>
        </p:txBody>
      </p:sp>
      <p:sp>
        <p:nvSpPr>
          <p:cNvPr id="7" name="Shape 5"/>
          <p:cNvSpPr/>
          <p:nvPr/>
        </p:nvSpPr>
        <p:spPr>
          <a:xfrm>
            <a:off x="914400" y="1316736"/>
            <a:ext cx="4736592" cy="3511296"/>
          </a:xfrm>
          <a:prstGeom prst="rect">
            <a:avLst/>
          </a:prstGeom>
          <a:solidFill>
            <a:srgbClr val="FBFBFB"/>
          </a:solidFill>
          <a:ln w="10795">
            <a:solidFill>
              <a:srgbClr val="D7D7D7"/>
            </a:solidFill>
            <a:prstDash val="solid"/>
          </a:ln>
        </p:spPr>
      </p:sp>
      <p:sp>
        <p:nvSpPr>
          <p:cNvPr id="8" name="Text 6"/>
          <p:cNvSpPr/>
          <p:nvPr/>
        </p:nvSpPr>
        <p:spPr>
          <a:xfrm>
            <a:off x="1078992" y="1517904"/>
            <a:ext cx="4407408" cy="658368"/>
          </a:xfrm>
          <a:prstGeom prst="rect">
            <a:avLst/>
          </a:prstGeom>
          <a:noFill/>
          <a:ln/>
        </p:spPr>
        <p:txBody>
          <a:bodyPr wrap="square" lIns="0" tIns="0" rIns="0" bIns="0" rtlCol="0" anchor="t">
            <a:normAutofit/>
          </a:bodyPr>
          <a:lstStyle/>
          <a:p>
            <a:pPr indent="0" marL="0">
              <a:buNone/>
            </a:pPr>
            <a:r>
              <a:rPr lang="en-US" sz="1830" dirty="0">
                <a:solidFill>
                  <a:srgbClr val="111111"/>
                </a:solidFill>
                <a:latin typeface="Arial" pitchFamily="34" charset="0"/>
                <a:ea typeface="Arial" pitchFamily="34" charset="-122"/>
                <a:cs typeface="Arial" pitchFamily="34" charset="-120"/>
              </a:rPr>
              <a:t>We do not try to infer whether posts discuss the same real-world event. We use a weaker and more defensible unit: a local content-similarity cluster.</a:t>
            </a:r>
            <a:endParaRPr lang="en-US" sz="1830" dirty="0"/>
          </a:p>
        </p:txBody>
      </p:sp>
      <p:sp>
        <p:nvSpPr>
          <p:cNvPr id="9" name="Text 7"/>
          <p:cNvSpPr/>
          <p:nvPr/>
        </p:nvSpPr>
        <p:spPr>
          <a:xfrm>
            <a:off x="1078992" y="2377440"/>
            <a:ext cx="4407408" cy="493776"/>
          </a:xfrm>
          <a:prstGeom prst="rect">
            <a:avLst/>
          </a:prstGeom>
          <a:noFill/>
          <a:ln/>
        </p:spPr>
        <p:txBody>
          <a:bodyPr wrap="square" lIns="0" tIns="0" rIns="0" bIns="0" rtlCol="0" anchor="t">
            <a:normAutofit/>
          </a:bodyPr>
          <a:lstStyle/>
          <a:p>
            <a:pPr indent="0" marL="0">
              <a:buNone/>
            </a:pPr>
            <a:r>
              <a:rPr lang="en-US" sz="1760" dirty="0">
                <a:solidFill>
                  <a:srgbClr val="111111"/>
                </a:solidFill>
                <a:latin typeface="Arial" pitchFamily="34" charset="0"/>
                <a:ea typeface="Arial" pitchFamily="34" charset="-122"/>
                <a:cs typeface="Arial" pitchFamily="34" charset="-120"/>
              </a:rPr>
              <a:t>Main analysis: exact duplicates.</a:t>
            </a:r>
            <a:endParaRPr lang="en-US" sz="1760" dirty="0"/>
          </a:p>
          <a:p>
            <a:pPr indent="0" marL="0">
              <a:buNone/>
            </a:pPr>
            <a:r>
              <a:rPr lang="en-US" sz="1760" dirty="0">
                <a:solidFill>
                  <a:srgbClr val="111111"/>
                </a:solidFill>
                <a:latin typeface="Arial" pitchFamily="34" charset="0"/>
                <a:ea typeface="Arial" pitchFamily="34" charset="-122"/>
                <a:cs typeface="Arial" pitchFamily="34" charset="-120"/>
              </a:rPr>
              <a:t>Robustness tiers: same-link duplicates and near-text duplicates.</a:t>
            </a:r>
            <a:endParaRPr lang="en-US" sz="1760" dirty="0"/>
          </a:p>
        </p:txBody>
      </p:sp>
      <p:sp>
        <p:nvSpPr>
          <p:cNvPr id="10" name="Shape 8"/>
          <p:cNvSpPr/>
          <p:nvPr/>
        </p:nvSpPr>
        <p:spPr>
          <a:xfrm>
            <a:off x="1078992" y="3163824"/>
            <a:ext cx="1792224" cy="237744"/>
          </a:xfrm>
          <a:prstGeom prst="roundRect">
            <a:avLst>
              <a:gd name="adj" fmla="val 30769"/>
            </a:avLst>
          </a:prstGeom>
          <a:solidFill>
            <a:srgbClr val="F7F7F7"/>
          </a:solidFill>
          <a:ln w="9525">
            <a:solidFill>
              <a:srgbClr val="D7D7D7"/>
            </a:solidFill>
            <a:prstDash val="solid"/>
          </a:ln>
        </p:spPr>
      </p:sp>
      <p:sp>
        <p:nvSpPr>
          <p:cNvPr id="11" name="Text 9"/>
          <p:cNvSpPr/>
          <p:nvPr/>
        </p:nvSpPr>
        <p:spPr>
          <a:xfrm>
            <a:off x="1133856" y="3204972"/>
            <a:ext cx="1682496" cy="137160"/>
          </a:xfrm>
          <a:prstGeom prst="rect">
            <a:avLst/>
          </a:prstGeom>
          <a:noFill/>
          <a:ln/>
        </p:spPr>
        <p:txBody>
          <a:bodyPr wrap="square" lIns="0" tIns="0" rIns="0" bIns="0" rtlCol="0" anchor="ctr"/>
          <a:lstStyle/>
          <a:p>
            <a:pPr algn="ctr" indent="0" marL="0">
              <a:buNone/>
            </a:pPr>
            <a:r>
              <a:rPr lang="en-US" sz="1130" b="1" dirty="0">
                <a:solidFill>
                  <a:srgbClr val="666666"/>
                </a:solidFill>
                <a:latin typeface="Arial" pitchFamily="34" charset="0"/>
                <a:ea typeface="Arial" pitchFamily="34" charset="-122"/>
                <a:cs typeface="Arial" pitchFamily="34" charset="-120"/>
              </a:rPr>
              <a:t>same content family</a:t>
            </a:r>
            <a:endParaRPr lang="en-US" sz="1130" dirty="0"/>
          </a:p>
        </p:txBody>
      </p:sp>
      <p:sp>
        <p:nvSpPr>
          <p:cNvPr id="12" name="Shape 10"/>
          <p:cNvSpPr/>
          <p:nvPr/>
        </p:nvSpPr>
        <p:spPr>
          <a:xfrm>
            <a:off x="2980944" y="3163824"/>
            <a:ext cx="987552" cy="237744"/>
          </a:xfrm>
          <a:prstGeom prst="roundRect">
            <a:avLst>
              <a:gd name="adj" fmla="val 30769"/>
            </a:avLst>
          </a:prstGeom>
          <a:solidFill>
            <a:srgbClr val="F7F7F7"/>
          </a:solidFill>
          <a:ln w="9525">
            <a:solidFill>
              <a:srgbClr val="D7D7D7"/>
            </a:solidFill>
            <a:prstDash val="solid"/>
          </a:ln>
        </p:spPr>
      </p:sp>
      <p:sp>
        <p:nvSpPr>
          <p:cNvPr id="13" name="Text 11"/>
          <p:cNvSpPr/>
          <p:nvPr/>
        </p:nvSpPr>
        <p:spPr>
          <a:xfrm>
            <a:off x="3035808" y="3204972"/>
            <a:ext cx="877824" cy="137160"/>
          </a:xfrm>
          <a:prstGeom prst="rect">
            <a:avLst/>
          </a:prstGeom>
          <a:noFill/>
          <a:ln/>
        </p:spPr>
        <p:txBody>
          <a:bodyPr wrap="square" lIns="0" tIns="0" rIns="0" bIns="0" rtlCol="0" anchor="ctr"/>
          <a:lstStyle/>
          <a:p>
            <a:pPr algn="ctr" indent="0" marL="0">
              <a:buNone/>
            </a:pPr>
            <a:r>
              <a:rPr lang="en-US" sz="1130" b="1" dirty="0">
                <a:solidFill>
                  <a:srgbClr val="666666"/>
                </a:solidFill>
                <a:latin typeface="Arial" pitchFamily="34" charset="0"/>
                <a:ea typeface="Arial" pitchFamily="34" charset="-122"/>
                <a:cs typeface="Arial" pitchFamily="34" charset="-120"/>
              </a:rPr>
              <a:t>same feed</a:t>
            </a:r>
            <a:endParaRPr lang="en-US" sz="1130" dirty="0"/>
          </a:p>
        </p:txBody>
      </p:sp>
      <p:sp>
        <p:nvSpPr>
          <p:cNvPr id="14" name="Shape 12"/>
          <p:cNvSpPr/>
          <p:nvPr/>
        </p:nvSpPr>
        <p:spPr>
          <a:xfrm>
            <a:off x="4096512" y="3163824"/>
            <a:ext cx="1499616" cy="237744"/>
          </a:xfrm>
          <a:prstGeom prst="roundRect">
            <a:avLst>
              <a:gd name="adj" fmla="val 30769"/>
            </a:avLst>
          </a:prstGeom>
          <a:solidFill>
            <a:srgbClr val="F7F7F7"/>
          </a:solidFill>
          <a:ln w="9525">
            <a:solidFill>
              <a:srgbClr val="D7D7D7"/>
            </a:solidFill>
            <a:prstDash val="solid"/>
          </a:ln>
        </p:spPr>
      </p:sp>
      <p:sp>
        <p:nvSpPr>
          <p:cNvPr id="15" name="Text 13"/>
          <p:cNvSpPr/>
          <p:nvPr/>
        </p:nvSpPr>
        <p:spPr>
          <a:xfrm>
            <a:off x="4151376" y="3204972"/>
            <a:ext cx="1389888" cy="137160"/>
          </a:xfrm>
          <a:prstGeom prst="rect">
            <a:avLst/>
          </a:prstGeom>
          <a:noFill/>
          <a:ln/>
        </p:spPr>
        <p:txBody>
          <a:bodyPr wrap="square" lIns="0" tIns="0" rIns="0" bIns="0" rtlCol="0" anchor="ctr"/>
          <a:lstStyle/>
          <a:p>
            <a:pPr algn="ctr" indent="0" marL="0">
              <a:buNone/>
            </a:pPr>
            <a:r>
              <a:rPr lang="en-US" sz="1130" b="1" dirty="0">
                <a:solidFill>
                  <a:srgbClr val="666666"/>
                </a:solidFill>
                <a:latin typeface="Arial" pitchFamily="34" charset="0"/>
                <a:ea typeface="Arial" pitchFamily="34" charset="-122"/>
                <a:cs typeface="Arial" pitchFamily="34" charset="-120"/>
              </a:rPr>
              <a:t>same capture window</a:t>
            </a:r>
            <a:endParaRPr lang="en-US" sz="1130" dirty="0"/>
          </a:p>
        </p:txBody>
      </p:sp>
      <p:sp>
        <p:nvSpPr>
          <p:cNvPr id="16" name="Text 14"/>
          <p:cNvSpPr/>
          <p:nvPr/>
        </p:nvSpPr>
        <p:spPr>
          <a:xfrm>
            <a:off x="1078992" y="3803904"/>
            <a:ext cx="4425696" cy="493776"/>
          </a:xfrm>
          <a:prstGeom prst="rect">
            <a:avLst/>
          </a:prstGeom>
          <a:noFill/>
          <a:ln/>
        </p:spPr>
        <p:txBody>
          <a:bodyPr wrap="square" lIns="0" tIns="0" rIns="0" bIns="0" rtlCol="0" anchor="t">
            <a:normAutofit/>
          </a:bodyPr>
          <a:lstStyle/>
          <a:p>
            <a:pPr indent="0" marL="0">
              <a:buNone/>
            </a:pPr>
            <a:r>
              <a:rPr lang="en-US" sz="1820" dirty="0">
                <a:solidFill>
                  <a:srgbClr val="1F2937"/>
                </a:solidFill>
                <a:latin typeface="Arial" pitchFamily="34" charset="0"/>
                <a:ea typeface="Arial" pitchFamily="34" charset="-122"/>
                <a:cs typeface="Arial" pitchFamily="34" charset="-120"/>
              </a:rPr>
              <a:t>Only compare versions that could plausibly have competed for the same monitored exposure opportunity.</a:t>
            </a:r>
            <a:endParaRPr lang="en-US" sz="1820" dirty="0"/>
          </a:p>
        </p:txBody>
      </p:sp>
      <p:sp>
        <p:nvSpPr>
          <p:cNvPr id="17" name="Shape 15"/>
          <p:cNvSpPr/>
          <p:nvPr/>
        </p:nvSpPr>
        <p:spPr>
          <a:xfrm>
            <a:off x="6016752" y="1115568"/>
            <a:ext cx="0" cy="4590288"/>
          </a:xfrm>
          <a:prstGeom prst="line">
            <a:avLst/>
          </a:prstGeom>
          <a:noFill/>
          <a:ln w="12700">
            <a:solidFill>
              <a:srgbClr val="D7D7D7"/>
            </a:solidFill>
            <a:prstDash val="solid"/>
          </a:ln>
        </p:spPr>
      </p:sp>
      <p:sp>
        <p:nvSpPr>
          <p:cNvPr id="18" name="Text 16"/>
          <p:cNvSpPr/>
          <p:nvPr/>
        </p:nvSpPr>
        <p:spPr>
          <a:xfrm>
            <a:off x="6327648" y="1078992"/>
            <a:ext cx="128016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FORMAL SETUP</a:t>
            </a:r>
            <a:endParaRPr lang="en-US" sz="1070" dirty="0"/>
          </a:p>
        </p:txBody>
      </p:sp>
      <p:sp>
        <p:nvSpPr>
          <p:cNvPr id="19" name="Text 17"/>
          <p:cNvSpPr/>
          <p:nvPr/>
        </p:nvSpPr>
        <p:spPr>
          <a:xfrm>
            <a:off x="6327648" y="1444752"/>
            <a:ext cx="4709160" cy="237744"/>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g</a:t>
            </a:r>
            <a:pPr algn="l" indent="0" marL="0">
              <a:buNone/>
            </a:pPr>
            <a:r>
              <a:rPr lang="en-US" sz="2200" dirty="0">
                <a:solidFill>
                  <a:srgbClr val="111111"/>
                </a:solidFill>
                <a:latin typeface="Cambria Math" pitchFamily="34" charset="0"/>
                <a:ea typeface="Cambria Math" pitchFamily="34" charset="-122"/>
                <a:cs typeface="Cambria Math" pitchFamily="34" charset="-120"/>
              </a:rPr>
              <a:t> = (feed, capture time </a:t>
            </a:r>
            <a:pPr algn="l" indent="0" marL="0">
              <a:buNone/>
            </a:pPr>
            <a:r>
              <a:rPr lang="en-US" sz="2200" i="1" dirty="0">
                <a:solidFill>
                  <a:srgbClr val="111111"/>
                </a:solidFill>
                <a:latin typeface="Cambria Math" pitchFamily="34" charset="0"/>
                <a:ea typeface="Cambria Math" pitchFamily="34" charset="-122"/>
                <a:cs typeface="Cambria Math" pitchFamily="34" charset="-120"/>
              </a:rPr>
              <a:t>τ</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g</a:t>
            </a:r>
            <a:pPr algn="l"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2230" dirty="0"/>
          </a:p>
        </p:txBody>
      </p:sp>
      <p:sp>
        <p:nvSpPr>
          <p:cNvPr id="20" name="Text 18"/>
          <p:cNvSpPr/>
          <p:nvPr/>
        </p:nvSpPr>
        <p:spPr>
          <a:xfrm>
            <a:off x="6327648" y="1993392"/>
            <a:ext cx="4992624" cy="512064"/>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R</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cg</a:t>
            </a:r>
            <a:pPr algn="l" indent="0" marL="0">
              <a:buNone/>
            </a:pPr>
            <a:r>
              <a:rPr lang="en-US" sz="2200" dirty="0">
                <a:solidFill>
                  <a:srgbClr val="111111"/>
                </a:solidFill>
                <a:latin typeface="Cambria Math" pitchFamily="34" charset="0"/>
                <a:ea typeface="Cambria Math" pitchFamily="34" charset="-122"/>
                <a:cs typeface="Cambria Math" pitchFamily="34" charset="-120"/>
              </a:rPr>
              <a:t> = { </a:t>
            </a:r>
            <a:pPr algn="l" indent="0" marL="0">
              <a:buNone/>
            </a:pPr>
            <a:r>
              <a:rPr lang="en-US" sz="2200" i="1" dirty="0">
                <a:solidFill>
                  <a:srgbClr val="111111"/>
                </a:solidFill>
                <a:latin typeface="Cambria Math" pitchFamily="34" charset="0"/>
                <a:ea typeface="Cambria Math" pitchFamily="34" charset="-122"/>
                <a:cs typeface="Cambria Math" pitchFamily="34" charset="-120"/>
              </a:rPr>
              <a:t>i</a:t>
            </a:r>
            <a:pPr algn="l" indent="0" marL="0">
              <a:buNone/>
            </a:pPr>
            <a:r>
              <a:rPr lang="en-US" sz="2200" dirty="0">
                <a:solidFill>
                  <a:srgbClr val="111111"/>
                </a:solidFill>
                <a:latin typeface="Cambria Math" pitchFamily="34" charset="0"/>
                <a:ea typeface="Cambria Math" pitchFamily="34" charset="-122"/>
                <a:cs typeface="Cambria Math" pitchFamily="34" charset="-120"/>
              </a:rPr>
              <a:t> : </a:t>
            </a:r>
            <a:pPr algn="l" indent="0" marL="0">
              <a:buNone/>
            </a:pPr>
            <a:r>
              <a:rPr lang="en-US" sz="2200" i="1" dirty="0">
                <a:solidFill>
                  <a:srgbClr val="111111"/>
                </a:solidFill>
                <a:latin typeface="Cambria Math" pitchFamily="34" charset="0"/>
                <a:ea typeface="Cambria Math" pitchFamily="34" charset="-122"/>
                <a:cs typeface="Cambria Math" pitchFamily="34" charset="-120"/>
              </a:rPr>
              <a:t>c</a:t>
            </a:r>
            <a:pPr algn="l" indent="0" marL="0">
              <a:buNone/>
            </a:pPr>
            <a:r>
              <a:rPr lang="en-US" sz="2200" dirty="0">
                <a:solidFill>
                  <a:srgbClr val="111111"/>
                </a:solidFill>
                <a:latin typeface="Cambria Math" pitchFamily="34" charset="0"/>
                <a:ea typeface="Cambria Math" pitchFamily="34" charset="-122"/>
                <a:cs typeface="Cambria Math" pitchFamily="34" charset="-120"/>
              </a:rPr>
              <a:t>(</a:t>
            </a:r>
            <a:pPr algn="l" indent="0" marL="0">
              <a:buNone/>
            </a:pPr>
            <a:r>
              <a:rPr lang="en-US" sz="2200" i="1" dirty="0">
                <a:solidFill>
                  <a:srgbClr val="111111"/>
                </a:solidFill>
                <a:latin typeface="Cambria Math" pitchFamily="34" charset="0"/>
                <a:ea typeface="Cambria Math" pitchFamily="34" charset="-122"/>
                <a:cs typeface="Cambria Math" pitchFamily="34" charset="-120"/>
              </a:rPr>
              <a:t>i</a:t>
            </a:r>
            <a:pPr algn="l" indent="0" marL="0">
              <a:buNone/>
            </a:pPr>
            <a:r>
              <a:rPr lang="en-US" sz="2200" dirty="0">
                <a:solidFill>
                  <a:srgbClr val="111111"/>
                </a:solidFill>
                <a:latin typeface="Cambria Math" pitchFamily="34" charset="0"/>
                <a:ea typeface="Cambria Math" pitchFamily="34" charset="-122"/>
                <a:cs typeface="Cambria Math" pitchFamily="34" charset="-120"/>
              </a:rPr>
              <a:t>) = c, </a:t>
            </a:r>
            <a:pPr algn="l" indent="0" marL="0">
              <a:buNone/>
            </a:pPr>
            <a:r>
              <a:rPr lang="en-US" sz="2200" i="1" dirty="0">
                <a:solidFill>
                  <a:srgbClr val="111111"/>
                </a:solidFill>
                <a:latin typeface="Cambria Math" pitchFamily="34" charset="0"/>
                <a:ea typeface="Cambria Math" pitchFamily="34" charset="-122"/>
                <a:cs typeface="Cambria Math" pitchFamily="34" charset="-120"/>
              </a:rPr>
              <a:t>t</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a:t>
            </a:r>
            <a:pPr algn="l" indent="0" marL="0">
              <a:buNone/>
            </a:pPr>
            <a:r>
              <a:rPr lang="en-US" sz="2200" dirty="0">
                <a:solidFill>
                  <a:srgbClr val="111111"/>
                </a:solidFill>
                <a:latin typeface="Cambria Math" pitchFamily="34" charset="0"/>
                <a:ea typeface="Cambria Math" pitchFamily="34" charset="-122"/>
                <a:cs typeface="Cambria Math" pitchFamily="34" charset="-120"/>
              </a:rPr>
              <a:t> ≤ </a:t>
            </a:r>
            <a:pPr algn="l" indent="0" marL="0">
              <a:buNone/>
            </a:pPr>
            <a:r>
              <a:rPr lang="en-US" sz="2200" i="1" dirty="0">
                <a:solidFill>
                  <a:srgbClr val="111111"/>
                </a:solidFill>
                <a:latin typeface="Cambria Math" pitchFamily="34" charset="0"/>
                <a:ea typeface="Cambria Math" pitchFamily="34" charset="-122"/>
                <a:cs typeface="Cambria Math" pitchFamily="34" charset="-120"/>
              </a:rPr>
              <a:t>τ</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g</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pPr algn="l" indent="0" marL="0">
              <a:buNone/>
            </a:pPr>
            <a:r>
              <a:rPr lang="en-US" sz="2200" i="1" dirty="0">
                <a:solidFill>
                  <a:srgbClr val="111111"/>
                </a:solidFill>
                <a:latin typeface="Cambria Math" pitchFamily="34" charset="0"/>
                <a:ea typeface="Cambria Math" pitchFamily="34" charset="-122"/>
                <a:cs typeface="Cambria Math" pitchFamily="34" charset="-120"/>
              </a:rPr>
              <a:t>τ</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g</a:t>
            </a:r>
            <a:pPr algn="l" indent="0" marL="0">
              <a:buNone/>
            </a:pPr>
            <a:r>
              <a:rPr lang="en-US" sz="2200" dirty="0">
                <a:solidFill>
                  <a:srgbClr val="111111"/>
                </a:solidFill>
                <a:latin typeface="Cambria Math" pitchFamily="34" charset="0"/>
                <a:ea typeface="Cambria Math" pitchFamily="34" charset="-122"/>
                <a:cs typeface="Cambria Math" pitchFamily="34" charset="-120"/>
              </a:rPr>
              <a:t> − </a:t>
            </a:r>
            <a:pPr algn="l" indent="0" marL="0">
              <a:buNone/>
            </a:pPr>
            <a:r>
              <a:rPr lang="en-US" sz="2200" i="1" dirty="0">
                <a:solidFill>
                  <a:srgbClr val="111111"/>
                </a:solidFill>
                <a:latin typeface="Cambria Math" pitchFamily="34" charset="0"/>
                <a:ea typeface="Cambria Math" pitchFamily="34" charset="-122"/>
                <a:cs typeface="Cambria Math" pitchFamily="34" charset="-120"/>
              </a:rPr>
              <a:t>t</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a:t>
            </a:r>
            <a:pPr algn="l" indent="0" marL="0">
              <a:buNone/>
            </a:pPr>
            <a:r>
              <a:rPr lang="en-US" sz="2200" dirty="0">
                <a:solidFill>
                  <a:srgbClr val="111111"/>
                </a:solidFill>
                <a:latin typeface="Cambria Math" pitchFamily="34" charset="0"/>
                <a:ea typeface="Cambria Math" pitchFamily="34" charset="-122"/>
                <a:cs typeface="Cambria Math" pitchFamily="34" charset="-120"/>
              </a:rPr>
              <a:t> ≤ H }</a:t>
            </a:r>
            <a:endParaRPr lang="en-US" sz="2110" dirty="0"/>
          </a:p>
        </p:txBody>
      </p:sp>
      <p:sp>
        <p:nvSpPr>
          <p:cNvPr id="21" name="Text 19"/>
          <p:cNvSpPr/>
          <p:nvPr/>
        </p:nvSpPr>
        <p:spPr>
          <a:xfrm>
            <a:off x="6364224" y="2560320"/>
            <a:ext cx="4572000" cy="182880"/>
          </a:xfrm>
          <a:prstGeom prst="rect">
            <a:avLst/>
          </a:prstGeom>
          <a:noFill/>
          <a:ln/>
        </p:spPr>
        <p:txBody>
          <a:bodyPr wrap="square" lIns="0" tIns="0" rIns="0" bIns="0" rtlCol="0" anchor="t">
            <a:normAutofit/>
          </a:bodyPr>
          <a:lstStyle/>
          <a:p>
            <a:pPr indent="0" marL="0">
              <a:buNone/>
            </a:pPr>
            <a:r>
              <a:rPr lang="en-US" sz="1300" dirty="0">
                <a:solidFill>
                  <a:srgbClr val="666666"/>
                </a:solidFill>
                <a:latin typeface="Arial" pitchFamily="34" charset="0"/>
                <a:ea typeface="Arial" pitchFamily="34" charset="-122"/>
                <a:cs typeface="Arial" pitchFamily="34" charset="-120"/>
              </a:rPr>
              <a:t>Risk set: every duplicate version that was already available and still inside the comparison horizon H.</a:t>
            </a:r>
            <a:endParaRPr lang="en-US" sz="1300" dirty="0"/>
          </a:p>
        </p:txBody>
      </p:sp>
      <p:sp>
        <p:nvSpPr>
          <p:cNvPr id="22" name="Text 20"/>
          <p:cNvSpPr/>
          <p:nvPr/>
        </p:nvSpPr>
        <p:spPr>
          <a:xfrm>
            <a:off x="6364224" y="3410712"/>
            <a:ext cx="868680"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q</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endParaRPr lang="en-US" sz="2200" dirty="0"/>
          </a:p>
        </p:txBody>
      </p:sp>
      <p:sp>
        <p:nvSpPr>
          <p:cNvPr id="23" name="Text 21"/>
          <p:cNvSpPr/>
          <p:nvPr/>
        </p:nvSpPr>
        <p:spPr>
          <a:xfrm>
            <a:off x="7306056" y="3273552"/>
            <a:ext cx="3355848" cy="219456"/>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E</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endParaRPr lang="en-US" sz="2200" dirty="0"/>
          </a:p>
        </p:txBody>
      </p:sp>
      <p:sp>
        <p:nvSpPr>
          <p:cNvPr id="24" name="Shape 22"/>
          <p:cNvSpPr/>
          <p:nvPr/>
        </p:nvSpPr>
        <p:spPr>
          <a:xfrm>
            <a:off x="7324344" y="3506724"/>
            <a:ext cx="3319272" cy="0"/>
          </a:xfrm>
          <a:prstGeom prst="line">
            <a:avLst/>
          </a:prstGeom>
          <a:noFill/>
          <a:ln w="11430">
            <a:solidFill>
              <a:srgbClr val="111111"/>
            </a:solidFill>
            <a:prstDash val="solid"/>
          </a:ln>
        </p:spPr>
      </p:sp>
      <p:sp>
        <p:nvSpPr>
          <p:cNvPr id="25" name="Text 23"/>
          <p:cNvSpPr/>
          <p:nvPr/>
        </p:nvSpPr>
        <p:spPr>
          <a:xfrm>
            <a:off x="7306056" y="3534156"/>
            <a:ext cx="3355848" cy="219456"/>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u∈Rcg</a:t>
            </a:r>
            <a:pPr algn="ctr" indent="0" marL="0">
              <a:buNone/>
            </a:pPr>
            <a:r>
              <a:rPr lang="en-US" sz="2200" i="1" dirty="0">
                <a:solidFill>
                  <a:srgbClr val="111111"/>
                </a:solidFill>
                <a:latin typeface="Cambria Math" pitchFamily="34" charset="0"/>
                <a:ea typeface="Cambria Math" pitchFamily="34" charset="-122"/>
                <a:cs typeface="Cambria Math" pitchFamily="34" charset="-120"/>
              </a:rPr>
              <a:t>E</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ug</a:t>
            </a:r>
            <a:endParaRPr lang="en-US" sz="2200" dirty="0"/>
          </a:p>
        </p:txBody>
      </p:sp>
      <p:sp>
        <p:nvSpPr>
          <p:cNvPr id="26" name="Text 24"/>
          <p:cNvSpPr/>
          <p:nvPr/>
        </p:nvSpPr>
        <p:spPr>
          <a:xfrm>
            <a:off x="6364224" y="4443984"/>
            <a:ext cx="4572000" cy="182880"/>
          </a:xfrm>
          <a:prstGeom prst="rect">
            <a:avLst/>
          </a:prstGeom>
          <a:noFill/>
          <a:ln/>
        </p:spPr>
        <p:txBody>
          <a:bodyPr wrap="square" lIns="0" tIns="0" rIns="0" bIns="0" rtlCol="0" anchor="t">
            <a:normAutofit/>
          </a:bodyPr>
          <a:lstStyle/>
          <a:p>
            <a:pPr indent="0" marL="0">
              <a:buNone/>
            </a:pPr>
            <a:r>
              <a:rPr lang="en-US" sz="1300" dirty="0">
                <a:solidFill>
                  <a:srgbClr val="666666"/>
                </a:solidFill>
                <a:latin typeface="Arial" pitchFamily="34" charset="0"/>
                <a:ea typeface="Arial" pitchFamily="34" charset="-122"/>
                <a:cs typeface="Arial" pitchFamily="34" charset="-120"/>
              </a:rPr>
              <a:t>Observed exposure share for version i inside the duplicate-local risk set.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9808" y="182880"/>
            <a:ext cx="2743200" cy="118872"/>
          </a:xfrm>
          <a:prstGeom prst="rect">
            <a:avLst/>
          </a:prstGeom>
          <a:noFill/>
          <a:ln/>
        </p:spPr>
        <p:txBody>
          <a:bodyPr wrap="square" lIns="0" tIns="0" rIns="0" bIns="0" rtlCol="0" anchor="ctr"/>
          <a:lstStyle/>
          <a:p>
            <a:pPr indent="0" marL="0">
              <a:buNone/>
            </a:pPr>
            <a:r>
              <a:rPr lang="en-US" sz="1020" b="1" spc="75" kern="0" dirty="0">
                <a:solidFill>
                  <a:srgbClr val="666666"/>
                </a:solidFill>
                <a:latin typeface="Arial" pitchFamily="34" charset="0"/>
                <a:ea typeface="Arial" pitchFamily="34" charset="-122"/>
                <a:cs typeface="Arial" pitchFamily="34" charset="-120"/>
              </a:rPr>
              <a:t>RQ1 TARGET</a:t>
            </a:r>
            <a:endParaRPr lang="en-US" sz="1020" dirty="0"/>
          </a:p>
        </p:txBody>
      </p:sp>
      <p:sp>
        <p:nvSpPr>
          <p:cNvPr id="3" name="Text 1"/>
          <p:cNvSpPr/>
          <p:nvPr/>
        </p:nvSpPr>
        <p:spPr>
          <a:xfrm>
            <a:off x="749808" y="438912"/>
            <a:ext cx="10378440" cy="274320"/>
          </a:xfrm>
          <a:prstGeom prst="rect">
            <a:avLst/>
          </a:prstGeom>
          <a:noFill/>
          <a:ln/>
        </p:spPr>
        <p:txBody>
          <a:bodyPr wrap="square" lIns="0" tIns="0" rIns="0" bIns="0" rtlCol="0" anchor="ctr"/>
          <a:lstStyle/>
          <a:p>
            <a:pPr indent="0" marL="0">
              <a:buNone/>
            </a:pPr>
            <a:r>
              <a:rPr lang="en-US" sz="2600" dirty="0">
                <a:solidFill>
                  <a:srgbClr val="111111"/>
                </a:solidFill>
                <a:latin typeface="Georgia" pitchFamily="34" charset="0"/>
                <a:ea typeface="Georgia" pitchFamily="34" charset="-122"/>
                <a:cs typeface="Georgia" pitchFamily="34" charset="-120"/>
              </a:rPr>
              <a:t>How far is the observed split from a baseline?</a:t>
            </a:r>
            <a:endParaRPr lang="en-US" sz="2600" dirty="0"/>
          </a:p>
        </p:txBody>
      </p:sp>
      <p:sp>
        <p:nvSpPr>
          <p:cNvPr id="4" name="Shape 2"/>
          <p:cNvSpPr/>
          <p:nvPr/>
        </p:nvSpPr>
        <p:spPr>
          <a:xfrm>
            <a:off x="749808" y="841248"/>
            <a:ext cx="10698480" cy="0"/>
          </a:xfrm>
          <a:prstGeom prst="line">
            <a:avLst/>
          </a:prstGeom>
          <a:noFill/>
          <a:ln w="12700">
            <a:solidFill>
              <a:srgbClr val="D7D7D7"/>
            </a:solidFill>
            <a:prstDash val="solid"/>
          </a:ln>
        </p:spPr>
      </p:sp>
      <p:sp>
        <p:nvSpPr>
          <p:cNvPr id="5" name="Text 3"/>
          <p:cNvSpPr/>
          <p:nvPr/>
        </p:nvSpPr>
        <p:spPr>
          <a:xfrm>
            <a:off x="11173968" y="283464"/>
            <a:ext cx="201168" cy="118872"/>
          </a:xfrm>
          <a:prstGeom prst="rect">
            <a:avLst/>
          </a:prstGeom>
          <a:noFill/>
          <a:ln/>
        </p:spPr>
        <p:txBody>
          <a:bodyPr wrap="square" lIns="0" tIns="0" rIns="0" bIns="0" rtlCol="0" anchor="ctr"/>
          <a:lstStyle/>
          <a:p>
            <a:pPr algn="r" indent="0" marL="0">
              <a:buNone/>
            </a:pPr>
            <a:r>
              <a:rPr lang="en-US" sz="1020" dirty="0">
                <a:solidFill>
                  <a:srgbClr val="666666"/>
                </a:solidFill>
                <a:latin typeface="Arial" pitchFamily="34" charset="0"/>
                <a:ea typeface="Arial" pitchFamily="34" charset="-122"/>
                <a:cs typeface="Arial" pitchFamily="34" charset="-120"/>
              </a:rPr>
              <a:t>4</a:t>
            </a:r>
            <a:endParaRPr lang="en-US" sz="1020" dirty="0"/>
          </a:p>
        </p:txBody>
      </p:sp>
      <p:sp>
        <p:nvSpPr>
          <p:cNvPr id="6" name="Text 4"/>
          <p:cNvSpPr/>
          <p:nvPr/>
        </p:nvSpPr>
        <p:spPr>
          <a:xfrm>
            <a:off x="914400" y="1078992"/>
            <a:ext cx="10149840" cy="237744"/>
          </a:xfrm>
          <a:prstGeom prst="rect">
            <a:avLst/>
          </a:prstGeom>
          <a:noFill/>
          <a:ln/>
        </p:spPr>
        <p:txBody>
          <a:bodyPr wrap="square" lIns="0" tIns="0" rIns="0" bIns="0" rtlCol="0" anchor="t">
            <a:normAutofit/>
          </a:bodyPr>
          <a:lstStyle/>
          <a:p>
            <a:pPr indent="0" marL="0">
              <a:buNone/>
            </a:pPr>
            <a:r>
              <a:rPr lang="en-US" sz="1820" dirty="0">
                <a:solidFill>
                  <a:srgbClr val="1F2937"/>
                </a:solidFill>
                <a:latin typeface="Arial" pitchFamily="34" charset="0"/>
                <a:ea typeface="Arial" pitchFamily="34" charset="-122"/>
                <a:cs typeface="Arial" pitchFamily="34" charset="-120"/>
              </a:rPr>
              <a:t>Within one duplicate-local comparison, we ask how different the observed exposure split is from the split implied by a baseline.</a:t>
            </a:r>
            <a:endParaRPr lang="en-US" sz="1820" dirty="0"/>
          </a:p>
        </p:txBody>
      </p:sp>
      <p:sp>
        <p:nvSpPr>
          <p:cNvPr id="7" name="Shape 5"/>
          <p:cNvSpPr/>
          <p:nvPr/>
        </p:nvSpPr>
        <p:spPr>
          <a:xfrm>
            <a:off x="914400" y="1664208"/>
            <a:ext cx="10222992" cy="1316736"/>
          </a:xfrm>
          <a:prstGeom prst="rect">
            <a:avLst/>
          </a:prstGeom>
          <a:solidFill>
            <a:srgbClr val="F7F7F7"/>
          </a:solidFill>
          <a:ln w="10795">
            <a:solidFill>
              <a:srgbClr val="D7D7D7"/>
            </a:solidFill>
            <a:prstDash val="solid"/>
          </a:ln>
        </p:spPr>
      </p:sp>
      <p:sp>
        <p:nvSpPr>
          <p:cNvPr id="8" name="Text 6"/>
          <p:cNvSpPr/>
          <p:nvPr/>
        </p:nvSpPr>
        <p:spPr>
          <a:xfrm>
            <a:off x="1280160" y="2057400"/>
            <a:ext cx="1417320"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D</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M</a:t>
            </a:r>
            <a:pPr algn="l" indent="0" marL="0">
              <a:buNone/>
            </a:pPr>
            <a:r>
              <a:rPr lang="en-US" sz="2200" dirty="0">
                <a:solidFill>
                  <a:srgbClr val="111111"/>
                </a:solidFill>
                <a:latin typeface="Cambria Math" pitchFamily="34" charset="0"/>
                <a:ea typeface="Cambria Math" pitchFamily="34" charset="-122"/>
                <a:cs typeface="Cambria Math" pitchFamily="34" charset="-120"/>
              </a:rPr>
              <a:t>(c, g) =</a:t>
            </a:r>
            <a:endParaRPr lang="en-US" sz="2500" dirty="0"/>
          </a:p>
        </p:txBody>
      </p:sp>
      <p:sp>
        <p:nvSpPr>
          <p:cNvPr id="9" name="Text 7"/>
          <p:cNvSpPr/>
          <p:nvPr/>
        </p:nvSpPr>
        <p:spPr>
          <a:xfrm>
            <a:off x="2770632" y="1920240"/>
            <a:ext cx="8065008" cy="274320"/>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i∈Rcg</a:t>
            </a:r>
            <a:pPr algn="ctr" indent="0" marL="0">
              <a:buNone/>
            </a:pPr>
            <a:r>
              <a:rPr lang="en-US" sz="2200" dirty="0">
                <a:solidFill>
                  <a:srgbClr val="111111"/>
                </a:solidFill>
                <a:latin typeface="Cambria Math" pitchFamily="34" charset="0"/>
                <a:ea typeface="Cambria Math" pitchFamily="34" charset="-122"/>
                <a:cs typeface="Cambria Math" pitchFamily="34" charset="-120"/>
              </a:rPr>
              <a:t> | </a:t>
            </a:r>
            <a:pPr algn="ctr" indent="0" marL="0">
              <a:buNone/>
            </a:pPr>
            <a:r>
              <a:rPr lang="en-US" sz="2200" i="1" dirty="0">
                <a:solidFill>
                  <a:srgbClr val="111111"/>
                </a:solidFill>
                <a:latin typeface="Cambria Math" pitchFamily="34" charset="0"/>
                <a:ea typeface="Cambria Math" pitchFamily="34" charset="-122"/>
                <a:cs typeface="Cambria Math" pitchFamily="34" charset="-120"/>
              </a:rPr>
              <a:t>q</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pPr algn="ctr" indent="0" marL="0">
              <a:buNone/>
            </a:pPr>
            <a:r>
              <a:rPr lang="en-US" sz="2200" dirty="0">
                <a:solidFill>
                  <a:srgbClr val="111111"/>
                </a:solidFill>
                <a:latin typeface="Cambria Math" pitchFamily="34" charset="0"/>
                <a:ea typeface="Cambria Math" pitchFamily="34" charset="-122"/>
                <a:cs typeface="Cambria Math" pitchFamily="34" charset="-120"/>
              </a:rPr>
              <a:t> − </a:t>
            </a:r>
            <a:pPr algn="ctr" indent="0" marL="0">
              <a:buNone/>
            </a:pPr>
            <a:r>
              <a:rPr lang="en-US" sz="2200" i="1" dirty="0">
                <a:solidFill>
                  <a:srgbClr val="111111"/>
                </a:solidFill>
                <a:latin typeface="Cambria Math" pitchFamily="34" charset="0"/>
                <a:ea typeface="Cambria Math" pitchFamily="34" charset="-122"/>
                <a:cs typeface="Cambria Math" pitchFamily="34" charset="-120"/>
              </a:rPr>
              <a:t>π</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pPr algn="ctr" indent="0" marL="0">
              <a:buNone/>
            </a:pPr>
            <a:r>
              <a:rPr lang="en-US" sz="2200" dirty="0">
                <a:solidFill>
                  <a:srgbClr val="111111"/>
                </a:solidFill>
                <a:latin typeface="Cambria Math" pitchFamily="34" charset="0"/>
                <a:ea typeface="Cambria Math" pitchFamily="34" charset="-122"/>
                <a:cs typeface="Cambria Math" pitchFamily="34" charset="-120"/>
              </a:rPr>
              <a:t>(M) |</a:t>
            </a:r>
            <a:endParaRPr lang="en-US" sz="2500" dirty="0"/>
          </a:p>
        </p:txBody>
      </p:sp>
      <p:sp>
        <p:nvSpPr>
          <p:cNvPr id="10" name="Shape 8"/>
          <p:cNvSpPr/>
          <p:nvPr/>
        </p:nvSpPr>
        <p:spPr>
          <a:xfrm>
            <a:off x="2788920" y="2208276"/>
            <a:ext cx="8028432" cy="0"/>
          </a:xfrm>
          <a:prstGeom prst="line">
            <a:avLst/>
          </a:prstGeom>
          <a:noFill/>
          <a:ln w="11430">
            <a:solidFill>
              <a:srgbClr val="111111"/>
            </a:solidFill>
            <a:prstDash val="solid"/>
          </a:ln>
        </p:spPr>
      </p:sp>
      <p:sp>
        <p:nvSpPr>
          <p:cNvPr id="11" name="Text 9"/>
          <p:cNvSpPr/>
          <p:nvPr/>
        </p:nvSpPr>
        <p:spPr>
          <a:xfrm>
            <a:off x="2770632" y="2235708"/>
            <a:ext cx="8065008" cy="201168"/>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2</a:t>
            </a:r>
            <a:endParaRPr lang="en-US" sz="2500" dirty="0"/>
          </a:p>
        </p:txBody>
      </p:sp>
      <p:sp>
        <p:nvSpPr>
          <p:cNvPr id="12" name="Text 10"/>
          <p:cNvSpPr/>
          <p:nvPr/>
        </p:nvSpPr>
        <p:spPr>
          <a:xfrm>
            <a:off x="1115568" y="2596896"/>
            <a:ext cx="9875520" cy="146304"/>
          </a:xfrm>
          <a:prstGeom prst="rect">
            <a:avLst/>
          </a:prstGeom>
          <a:noFill/>
          <a:ln/>
        </p:spPr>
        <p:txBody>
          <a:bodyPr wrap="square" lIns="0" tIns="0" rIns="0" bIns="0" rtlCol="0" anchor="t">
            <a:normAutofit/>
          </a:bodyPr>
          <a:lstStyle/>
          <a:p>
            <a:pPr algn="ctr" indent="0" marL="0">
              <a:buNone/>
            </a:pPr>
            <a:r>
              <a:rPr lang="en-US" sz="1320" dirty="0">
                <a:solidFill>
                  <a:srgbClr val="666666"/>
                </a:solidFill>
                <a:latin typeface="Arial" pitchFamily="34" charset="0"/>
                <a:ea typeface="Arial" pitchFamily="34" charset="-122"/>
                <a:cs typeface="Arial" pitchFamily="34" charset="-120"/>
              </a:rPr>
              <a:t>D_M(c,g) = 0 means the observed split matches the baseline exactly.</a:t>
            </a:r>
            <a:endParaRPr lang="en-US" sz="1320" dirty="0"/>
          </a:p>
        </p:txBody>
      </p:sp>
      <p:sp>
        <p:nvSpPr>
          <p:cNvPr id="13" name="Text 11"/>
          <p:cNvSpPr/>
          <p:nvPr/>
        </p:nvSpPr>
        <p:spPr>
          <a:xfrm>
            <a:off x="914400" y="3529584"/>
            <a:ext cx="137160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BASELINE SHARE</a:t>
            </a:r>
            <a:endParaRPr lang="en-US" sz="1070" dirty="0"/>
          </a:p>
        </p:txBody>
      </p:sp>
      <p:sp>
        <p:nvSpPr>
          <p:cNvPr id="14" name="Text 12"/>
          <p:cNvSpPr/>
          <p:nvPr/>
        </p:nvSpPr>
        <p:spPr>
          <a:xfrm>
            <a:off x="914400" y="3822192"/>
            <a:ext cx="3977640" cy="237744"/>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π</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pPr algn="l" indent="0" marL="0">
              <a:buNone/>
            </a:pPr>
            <a:r>
              <a:rPr lang="en-US" sz="2200" dirty="0">
                <a:solidFill>
                  <a:srgbClr val="111111"/>
                </a:solidFill>
                <a:latin typeface="Cambria Math" pitchFamily="34" charset="0"/>
                <a:ea typeface="Cambria Math" pitchFamily="34" charset="-122"/>
                <a:cs typeface="Cambria Math" pitchFamily="34" charset="-120"/>
              </a:rPr>
              <a:t>(M) ∝ exp(</a:t>
            </a:r>
            <a:pPr algn="l" indent="0" marL="0">
              <a:buNone/>
            </a:pPr>
            <a:r>
              <a:rPr lang="en-US" sz="2200" i="1" dirty="0">
                <a:solidFill>
                  <a:srgbClr val="111111"/>
                </a:solidFill>
                <a:latin typeface="Cambria Math" pitchFamily="34" charset="0"/>
                <a:ea typeface="Cambria Math" pitchFamily="34" charset="-122"/>
                <a:cs typeface="Cambria Math" pitchFamily="34" charset="-120"/>
              </a:rPr>
              <a:t>η</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pPr algn="l" indent="0" marL="0">
              <a:buNone/>
            </a:pPr>
            <a:r>
              <a:rPr lang="en-US" sz="2200" dirty="0">
                <a:solidFill>
                  <a:srgbClr val="111111"/>
                </a:solidFill>
                <a:latin typeface="Cambria Math" pitchFamily="34" charset="0"/>
                <a:ea typeface="Cambria Math" pitchFamily="34" charset="-122"/>
                <a:cs typeface="Cambria Math" pitchFamily="34" charset="-120"/>
              </a:rPr>
              <a:t>(M))</a:t>
            </a:r>
            <a:endParaRPr lang="en-US" sz="2200" dirty="0"/>
          </a:p>
        </p:txBody>
      </p:sp>
      <p:sp>
        <p:nvSpPr>
          <p:cNvPr id="15" name="Text 13"/>
          <p:cNvSpPr/>
          <p:nvPr/>
        </p:nvSpPr>
        <p:spPr>
          <a:xfrm>
            <a:off x="914400" y="4169664"/>
            <a:ext cx="4389120" cy="146304"/>
          </a:xfrm>
          <a:prstGeom prst="rect">
            <a:avLst/>
          </a:prstGeom>
          <a:noFill/>
          <a:ln/>
        </p:spPr>
        <p:txBody>
          <a:bodyPr wrap="square" lIns="0" tIns="0" rIns="0" bIns="0" rtlCol="0" anchor="t">
            <a:normAutofit/>
          </a:bodyPr>
          <a:lstStyle/>
          <a:p>
            <a:pPr indent="0" marL="0">
              <a:buNone/>
            </a:pPr>
            <a:r>
              <a:rPr lang="en-US" sz="1300" dirty="0">
                <a:solidFill>
                  <a:srgbClr val="666666"/>
                </a:solidFill>
                <a:latin typeface="Arial" pitchFamily="34" charset="0"/>
                <a:ea typeface="Arial" pitchFamily="34" charset="-122"/>
                <a:cs typeface="Arial" pitchFamily="34" charset="-120"/>
              </a:rPr>
              <a:t>The baseline turns observed covariates into a model-implied share.</a:t>
            </a:r>
            <a:endParaRPr lang="en-US" sz="1300" dirty="0"/>
          </a:p>
        </p:txBody>
      </p:sp>
      <p:sp>
        <p:nvSpPr>
          <p:cNvPr id="16" name="Text 14"/>
          <p:cNvSpPr/>
          <p:nvPr/>
        </p:nvSpPr>
        <p:spPr>
          <a:xfrm>
            <a:off x="6254496" y="3529584"/>
            <a:ext cx="182880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PLAIN-LANGUAGE READING</a:t>
            </a:r>
            <a:endParaRPr lang="en-US" sz="1070" dirty="0"/>
          </a:p>
        </p:txBody>
      </p:sp>
      <p:sp>
        <p:nvSpPr>
          <p:cNvPr id="17" name="Text 15"/>
          <p:cNvSpPr/>
          <p:nvPr/>
        </p:nvSpPr>
        <p:spPr>
          <a:xfrm>
            <a:off x="6254496" y="3803904"/>
            <a:ext cx="4663440" cy="859536"/>
          </a:xfrm>
          <a:prstGeom prst="rect">
            <a:avLst/>
          </a:prstGeom>
          <a:noFill/>
          <a:ln/>
        </p:spPr>
        <p:txBody>
          <a:bodyPr wrap="square" lIns="0" tIns="0" rIns="0" bIns="0" rtlCol="0" anchor="t">
            <a:normAutofit/>
          </a:bodyPr>
          <a:lstStyle/>
          <a:p>
            <a:pPr indent="0" marL="0">
              <a:buNone/>
            </a:pPr>
            <a:r>
              <a:rPr lang="en-US" sz="1800" dirty="0">
                <a:solidFill>
                  <a:srgbClr val="111111"/>
                </a:solidFill>
                <a:latin typeface="Arial" pitchFamily="34" charset="0"/>
                <a:ea typeface="Arial" pitchFamily="34" charset="-122"/>
                <a:cs typeface="Arial" pitchFamily="34" charset="-120"/>
              </a:rPr>
              <a:t>q_ig tells us what share version i actually received.</a:t>
            </a:r>
            <a:endParaRPr lang="en-US" sz="1800" dirty="0"/>
          </a:p>
          <a:p>
            <a:pPr indent="0" marL="0">
              <a:buNone/>
            </a:pPr>
            <a:r>
              <a:rPr lang="en-US" sz="1800" dirty="0">
                <a:solidFill>
                  <a:srgbClr val="111111"/>
                </a:solidFill>
                <a:latin typeface="Arial" pitchFamily="34" charset="0"/>
                <a:ea typeface="Arial" pitchFamily="34" charset="-122"/>
                <a:cs typeface="Arial" pitchFamily="34" charset="-120"/>
              </a:rPr>
              <a:t>π_ig(M) tells us what share the baseline says it should receive.</a:t>
            </a:r>
            <a:endParaRPr lang="en-US" sz="1800" dirty="0"/>
          </a:p>
          <a:p>
            <a:pPr indent="0" marL="0">
              <a:buNone/>
            </a:pPr>
            <a:r>
              <a:rPr lang="en-US" sz="1800" dirty="0">
                <a:solidFill>
                  <a:srgbClr val="111111"/>
                </a:solidFill>
                <a:latin typeface="Arial" pitchFamily="34" charset="0"/>
                <a:ea typeface="Arial" pitchFamily="34" charset="-122"/>
                <a:cs typeface="Arial" pitchFamily="34" charset="-120"/>
              </a:rPr>
              <a:t>The distance between them is the residual exposure gap.</a:t>
            </a:r>
            <a:endParaRPr lang="en-US" sz="1800" dirty="0"/>
          </a:p>
        </p:txBody>
      </p:sp>
      <p:sp>
        <p:nvSpPr>
          <p:cNvPr id="18" name="Shape 16"/>
          <p:cNvSpPr/>
          <p:nvPr/>
        </p:nvSpPr>
        <p:spPr>
          <a:xfrm>
            <a:off x="914400" y="5596128"/>
            <a:ext cx="10222992" cy="402336"/>
          </a:xfrm>
          <a:prstGeom prst="rect">
            <a:avLst/>
          </a:prstGeom>
          <a:solidFill>
            <a:srgbClr val="FBFBFB"/>
          </a:solidFill>
          <a:ln w="10795">
            <a:solidFill>
              <a:srgbClr val="D7D7D7"/>
            </a:solidFill>
            <a:prstDash val="solid"/>
          </a:ln>
        </p:spPr>
      </p:sp>
      <p:sp>
        <p:nvSpPr>
          <p:cNvPr id="19" name="Text 17"/>
          <p:cNvSpPr/>
          <p:nvPr/>
        </p:nvSpPr>
        <p:spPr>
          <a:xfrm>
            <a:off x="1078992" y="5687568"/>
            <a:ext cx="9875520" cy="146304"/>
          </a:xfrm>
          <a:prstGeom prst="rect">
            <a:avLst/>
          </a:prstGeom>
          <a:noFill/>
          <a:ln/>
        </p:spPr>
        <p:txBody>
          <a:bodyPr wrap="square" lIns="0" tIns="0" rIns="0" bIns="0" rtlCol="0" anchor="t">
            <a:normAutofit/>
          </a:bodyPr>
          <a:lstStyle/>
          <a:p>
            <a:pPr indent="0" marL="0">
              <a:buNone/>
            </a:pPr>
            <a:r>
              <a:rPr lang="en-US" sz="1680" dirty="0">
                <a:solidFill>
                  <a:srgbClr val="1F2937"/>
                </a:solidFill>
                <a:latin typeface="Arial" pitchFamily="34" charset="0"/>
                <a:ea typeface="Arial" pitchFamily="34" charset="-122"/>
                <a:cs typeface="Arial" pitchFamily="34" charset="-120"/>
              </a:rPr>
              <a:t>This is the central object for RQ1: a duplicate-conditioned residual exposure gap.</a:t>
            </a:r>
            <a:endParaRPr lang="en-US" sz="1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9808" y="182880"/>
            <a:ext cx="2743200" cy="118872"/>
          </a:xfrm>
          <a:prstGeom prst="rect">
            <a:avLst/>
          </a:prstGeom>
          <a:noFill/>
          <a:ln/>
        </p:spPr>
        <p:txBody>
          <a:bodyPr wrap="square" lIns="0" tIns="0" rIns="0" bIns="0" rtlCol="0" anchor="ctr"/>
          <a:lstStyle/>
          <a:p>
            <a:pPr indent="0" marL="0">
              <a:buNone/>
            </a:pPr>
            <a:r>
              <a:rPr lang="en-US" sz="1020" b="1" spc="75" kern="0" dirty="0">
                <a:solidFill>
                  <a:srgbClr val="666666"/>
                </a:solidFill>
                <a:latin typeface="Arial" pitchFamily="34" charset="0"/>
                <a:ea typeface="Arial" pitchFamily="34" charset="-122"/>
                <a:cs typeface="Arial" pitchFamily="34" charset="-120"/>
              </a:rPr>
              <a:t>RQ1 DECOMPOSITION</a:t>
            </a:r>
            <a:endParaRPr lang="en-US" sz="1020" dirty="0"/>
          </a:p>
        </p:txBody>
      </p:sp>
      <p:sp>
        <p:nvSpPr>
          <p:cNvPr id="3" name="Text 1"/>
          <p:cNvSpPr/>
          <p:nvPr/>
        </p:nvSpPr>
        <p:spPr>
          <a:xfrm>
            <a:off x="749808" y="438912"/>
            <a:ext cx="10378440" cy="274320"/>
          </a:xfrm>
          <a:prstGeom prst="rect">
            <a:avLst/>
          </a:prstGeom>
          <a:noFill/>
          <a:ln/>
        </p:spPr>
        <p:txBody>
          <a:bodyPr wrap="square" lIns="0" tIns="0" rIns="0" bIns="0" rtlCol="0" anchor="ctr"/>
          <a:lstStyle/>
          <a:p>
            <a:pPr indent="0" marL="0">
              <a:buNone/>
            </a:pPr>
            <a:r>
              <a:rPr lang="en-US" sz="2600" dirty="0">
                <a:solidFill>
                  <a:srgbClr val="111111"/>
                </a:solidFill>
                <a:latin typeface="Georgia" pitchFamily="34" charset="0"/>
                <a:ea typeface="Georgia" pitchFamily="34" charset="-122"/>
                <a:cs typeface="Georgia" pitchFamily="34" charset="-120"/>
              </a:rPr>
              <a:t>Timing first, then aligned, then dynamic / contestable</a:t>
            </a:r>
            <a:endParaRPr lang="en-US" sz="2600" dirty="0"/>
          </a:p>
        </p:txBody>
      </p:sp>
      <p:sp>
        <p:nvSpPr>
          <p:cNvPr id="4" name="Shape 2"/>
          <p:cNvSpPr/>
          <p:nvPr/>
        </p:nvSpPr>
        <p:spPr>
          <a:xfrm>
            <a:off x="749808" y="841248"/>
            <a:ext cx="10698480" cy="0"/>
          </a:xfrm>
          <a:prstGeom prst="line">
            <a:avLst/>
          </a:prstGeom>
          <a:noFill/>
          <a:ln w="12700">
            <a:solidFill>
              <a:srgbClr val="D7D7D7"/>
            </a:solidFill>
            <a:prstDash val="solid"/>
          </a:ln>
        </p:spPr>
      </p:sp>
      <p:sp>
        <p:nvSpPr>
          <p:cNvPr id="5" name="Text 3"/>
          <p:cNvSpPr/>
          <p:nvPr/>
        </p:nvSpPr>
        <p:spPr>
          <a:xfrm>
            <a:off x="11173968" y="283464"/>
            <a:ext cx="201168" cy="118872"/>
          </a:xfrm>
          <a:prstGeom prst="rect">
            <a:avLst/>
          </a:prstGeom>
          <a:noFill/>
          <a:ln/>
        </p:spPr>
        <p:txBody>
          <a:bodyPr wrap="square" lIns="0" tIns="0" rIns="0" bIns="0" rtlCol="0" anchor="ctr"/>
          <a:lstStyle/>
          <a:p>
            <a:pPr algn="r" indent="0" marL="0">
              <a:buNone/>
            </a:pPr>
            <a:r>
              <a:rPr lang="en-US" sz="1020" dirty="0">
                <a:solidFill>
                  <a:srgbClr val="666666"/>
                </a:solidFill>
                <a:latin typeface="Arial" pitchFamily="34" charset="0"/>
                <a:ea typeface="Arial" pitchFamily="34" charset="-122"/>
                <a:cs typeface="Arial" pitchFamily="34" charset="-120"/>
              </a:rPr>
              <a:t>5</a:t>
            </a:r>
            <a:endParaRPr lang="en-US" sz="1020" dirty="0"/>
          </a:p>
        </p:txBody>
      </p:sp>
      <p:sp>
        <p:nvSpPr>
          <p:cNvPr id="6" name="Text 4"/>
          <p:cNvSpPr/>
          <p:nvPr/>
        </p:nvSpPr>
        <p:spPr>
          <a:xfrm>
            <a:off x="914400" y="1078992"/>
            <a:ext cx="128016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MODEL LADDER</a:t>
            </a:r>
            <a:endParaRPr lang="en-US" sz="1070" dirty="0"/>
          </a:p>
        </p:txBody>
      </p:sp>
      <p:sp>
        <p:nvSpPr>
          <p:cNvPr id="7" name="Shape 5"/>
          <p:cNvSpPr/>
          <p:nvPr/>
        </p:nvSpPr>
        <p:spPr>
          <a:xfrm>
            <a:off x="914400" y="1316736"/>
            <a:ext cx="4892040" cy="3895344"/>
          </a:xfrm>
          <a:prstGeom prst="rect">
            <a:avLst/>
          </a:prstGeom>
          <a:solidFill>
            <a:srgbClr val="FBFBFB"/>
          </a:solidFill>
          <a:ln w="10795">
            <a:solidFill>
              <a:srgbClr val="D7D7D7"/>
            </a:solidFill>
            <a:prstDash val="solid"/>
          </a:ln>
        </p:spPr>
      </p:sp>
      <p:sp>
        <p:nvSpPr>
          <p:cNvPr id="8" name="Text 6"/>
          <p:cNvSpPr/>
          <p:nvPr/>
        </p:nvSpPr>
        <p:spPr>
          <a:xfrm>
            <a:off x="1078992" y="1609344"/>
            <a:ext cx="4517136" cy="237744"/>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η</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(0)</a:t>
            </a:r>
            <a:pPr algn="l" indent="0" marL="0">
              <a:buNone/>
            </a:pPr>
            <a:r>
              <a:rPr lang="en-US" sz="2200" dirty="0">
                <a:solidFill>
                  <a:srgbClr val="111111"/>
                </a:solidFill>
                <a:latin typeface="Cambria Math" pitchFamily="34" charset="0"/>
                <a:ea typeface="Cambria Math" pitchFamily="34" charset="-122"/>
                <a:cs typeface="Cambria Math" pitchFamily="34" charset="-120"/>
              </a:rPr>
              <a:t> = f(</a:t>
            </a:r>
            <a:pPr algn="l" indent="0" marL="0">
              <a:buNone/>
            </a:pPr>
            <a:r>
              <a:rPr lang="en-US" sz="2200" i="1" dirty="0">
                <a:solidFill>
                  <a:srgbClr val="111111"/>
                </a:solidFill>
                <a:latin typeface="Cambria Math" pitchFamily="34" charset="0"/>
                <a:ea typeface="Cambria Math" pitchFamily="34" charset="-122"/>
                <a:cs typeface="Cambria Math" pitchFamily="34" charset="-120"/>
              </a:rPr>
              <a:t>τ</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g</a:t>
            </a:r>
            <a:pPr algn="l" indent="0" marL="0">
              <a:buNone/>
            </a:pPr>
            <a:r>
              <a:rPr lang="en-US" sz="2200" dirty="0">
                <a:solidFill>
                  <a:srgbClr val="111111"/>
                </a:solidFill>
                <a:latin typeface="Cambria Math" pitchFamily="34" charset="0"/>
                <a:ea typeface="Cambria Math" pitchFamily="34" charset="-122"/>
                <a:cs typeface="Cambria Math" pitchFamily="34" charset="-120"/>
              </a:rPr>
              <a:t> − </a:t>
            </a:r>
            <a:pPr algn="l" indent="0" marL="0">
              <a:buNone/>
            </a:pPr>
            <a:r>
              <a:rPr lang="en-US" sz="2200" i="1" dirty="0">
                <a:solidFill>
                  <a:srgbClr val="111111"/>
                </a:solidFill>
                <a:latin typeface="Cambria Math" pitchFamily="34" charset="0"/>
                <a:ea typeface="Cambria Math" pitchFamily="34" charset="-122"/>
                <a:cs typeface="Cambria Math" pitchFamily="34" charset="-120"/>
              </a:rPr>
              <a:t>t</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a:t>
            </a:r>
            <a:pPr algn="l"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2180" dirty="0"/>
          </a:p>
        </p:txBody>
      </p:sp>
      <p:sp>
        <p:nvSpPr>
          <p:cNvPr id="9" name="Text 7"/>
          <p:cNvSpPr/>
          <p:nvPr/>
        </p:nvSpPr>
        <p:spPr>
          <a:xfrm>
            <a:off x="1078992" y="2029968"/>
            <a:ext cx="4608576" cy="237744"/>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η</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(A)</a:t>
            </a:r>
            <a:pPr algn="l" indent="0" marL="0">
              <a:buNone/>
            </a:pPr>
            <a:r>
              <a:rPr lang="en-US" sz="2200" dirty="0">
                <a:solidFill>
                  <a:srgbClr val="111111"/>
                </a:solidFill>
                <a:latin typeface="Cambria Math" pitchFamily="34" charset="0"/>
                <a:ea typeface="Cambria Math" pitchFamily="34" charset="-122"/>
                <a:cs typeface="Cambria Math" pitchFamily="34" charset="-120"/>
              </a:rPr>
              <a:t> = </a:t>
            </a:r>
            <a:pPr algn="l" indent="0" marL="0">
              <a:buNone/>
            </a:pPr>
            <a:r>
              <a:rPr lang="en-US" sz="2200" i="1" dirty="0">
                <a:solidFill>
                  <a:srgbClr val="111111"/>
                </a:solidFill>
                <a:latin typeface="Cambria Math" pitchFamily="34" charset="0"/>
                <a:ea typeface="Cambria Math" pitchFamily="34" charset="-122"/>
                <a:cs typeface="Cambria Math" pitchFamily="34" charset="-120"/>
              </a:rPr>
              <a:t>η</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(0)</a:t>
            </a:r>
            <a:pPr algn="l" indent="0" marL="0">
              <a:buNone/>
            </a:pPr>
            <a:r>
              <a:rPr lang="en-US" sz="2200" dirty="0">
                <a:solidFill>
                  <a:srgbClr val="111111"/>
                </a:solidFill>
                <a:latin typeface="Cambria Math" pitchFamily="34" charset="0"/>
                <a:ea typeface="Cambria Math" pitchFamily="34" charset="-122"/>
                <a:cs typeface="Cambria Math" pitchFamily="34" charset="-120"/>
              </a:rPr>
              <a:t> + </a:t>
            </a:r>
            <a:pPr algn="l" indent="0" marL="0">
              <a:buNone/>
            </a:pPr>
            <a:r>
              <a:rPr lang="en-US" sz="2200" i="1" dirty="0">
                <a:solidFill>
                  <a:srgbClr val="111111"/>
                </a:solidFill>
                <a:latin typeface="Cambria Math" pitchFamily="34" charset="0"/>
                <a:ea typeface="Cambria Math" pitchFamily="34" charset="-122"/>
                <a:cs typeface="Cambria Math" pitchFamily="34" charset="-120"/>
              </a:rPr>
              <a:t>β</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A</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a:t>
            </a:r>
            <a:pPr algn="l" indent="0" marL="0">
              <a:buNone/>
            </a:pPr>
            <a:r>
              <a:rPr lang="en-US" sz="2200" dirty="0">
                <a:solidFill>
                  <a:srgbClr val="111111"/>
                </a:solidFill>
                <a:latin typeface="Cambria Math" pitchFamily="34" charset="0"/>
                <a:ea typeface="Cambria Math" pitchFamily="34" charset="-122"/>
                <a:cs typeface="Cambria Math" pitchFamily="34" charset="-120"/>
              </a:rPr>
              <a:t> X</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A</a:t>
            </a:r>
            <a:endParaRPr lang="en-US" sz="2180" dirty="0"/>
          </a:p>
        </p:txBody>
      </p:sp>
      <p:sp>
        <p:nvSpPr>
          <p:cNvPr id="10" name="Text 8"/>
          <p:cNvSpPr/>
          <p:nvPr/>
        </p:nvSpPr>
        <p:spPr>
          <a:xfrm>
            <a:off x="1078992" y="2450592"/>
            <a:ext cx="4608576" cy="237744"/>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η</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(D)</a:t>
            </a:r>
            <a:pPr algn="l" indent="0" marL="0">
              <a:buNone/>
            </a:pPr>
            <a:r>
              <a:rPr lang="en-US" sz="2200" dirty="0">
                <a:solidFill>
                  <a:srgbClr val="111111"/>
                </a:solidFill>
                <a:latin typeface="Cambria Math" pitchFamily="34" charset="0"/>
                <a:ea typeface="Cambria Math" pitchFamily="34" charset="-122"/>
                <a:cs typeface="Cambria Math" pitchFamily="34" charset="-120"/>
              </a:rPr>
              <a:t> = </a:t>
            </a:r>
            <a:pPr algn="l" indent="0" marL="0">
              <a:buNone/>
            </a:pPr>
            <a:r>
              <a:rPr lang="en-US" sz="2200" i="1" dirty="0">
                <a:solidFill>
                  <a:srgbClr val="111111"/>
                </a:solidFill>
                <a:latin typeface="Cambria Math" pitchFamily="34" charset="0"/>
                <a:ea typeface="Cambria Math" pitchFamily="34" charset="-122"/>
                <a:cs typeface="Cambria Math" pitchFamily="34" charset="-120"/>
              </a:rPr>
              <a:t>η</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(A)</a:t>
            </a:r>
            <a:pPr algn="l" indent="0" marL="0">
              <a:buNone/>
            </a:pPr>
            <a:r>
              <a:rPr lang="en-US" sz="2200" dirty="0">
                <a:solidFill>
                  <a:srgbClr val="111111"/>
                </a:solidFill>
                <a:latin typeface="Cambria Math" pitchFamily="34" charset="0"/>
                <a:ea typeface="Cambria Math" pitchFamily="34" charset="-122"/>
                <a:cs typeface="Cambria Math" pitchFamily="34" charset="-120"/>
              </a:rPr>
              <a:t> + </a:t>
            </a:r>
            <a:pPr algn="l" indent="0" marL="0">
              <a:buNone/>
            </a:pPr>
            <a:r>
              <a:rPr lang="en-US" sz="2200" i="1" dirty="0">
                <a:solidFill>
                  <a:srgbClr val="111111"/>
                </a:solidFill>
                <a:latin typeface="Cambria Math" pitchFamily="34" charset="0"/>
                <a:ea typeface="Cambria Math" pitchFamily="34" charset="-122"/>
                <a:cs typeface="Cambria Math" pitchFamily="34" charset="-120"/>
              </a:rPr>
              <a:t>β</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D</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a:t>
            </a:r>
            <a:pPr algn="l" indent="0" marL="0">
              <a:buNone/>
            </a:pPr>
            <a:r>
              <a:rPr lang="en-US" sz="2200" dirty="0">
                <a:solidFill>
                  <a:srgbClr val="111111"/>
                </a:solidFill>
                <a:latin typeface="Cambria Math" pitchFamily="34" charset="0"/>
                <a:ea typeface="Cambria Math" pitchFamily="34" charset="-122"/>
                <a:cs typeface="Cambria Math" pitchFamily="34" charset="-120"/>
              </a:rPr>
              <a:t> X</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D</a:t>
            </a:r>
            <a:endParaRPr lang="en-US" sz="2180" dirty="0"/>
          </a:p>
        </p:txBody>
      </p:sp>
      <p:sp>
        <p:nvSpPr>
          <p:cNvPr id="11" name="Text 9"/>
          <p:cNvSpPr/>
          <p:nvPr/>
        </p:nvSpPr>
        <p:spPr>
          <a:xfrm>
            <a:off x="1078992" y="2926080"/>
            <a:ext cx="2743200" cy="128016"/>
          </a:xfrm>
          <a:prstGeom prst="rect">
            <a:avLst/>
          </a:prstGeom>
          <a:noFill/>
          <a:ln/>
        </p:spPr>
        <p:txBody>
          <a:bodyPr wrap="square" lIns="0" tIns="0" rIns="0" bIns="0" rtlCol="0" anchor="t">
            <a:normAutofit/>
          </a:bodyPr>
          <a:lstStyle/>
          <a:p>
            <a:pPr indent="0" marL="0">
              <a:buNone/>
            </a:pPr>
            <a:r>
              <a:rPr lang="en-US" sz="1300" dirty="0">
                <a:solidFill>
                  <a:srgbClr val="666666"/>
                </a:solidFill>
                <a:latin typeface="Arial" pitchFamily="34" charset="0"/>
                <a:ea typeface="Arial" pitchFamily="34" charset="-122"/>
                <a:cs typeface="Arial" pitchFamily="34" charset="-120"/>
              </a:rPr>
              <a:t>X^A = declared-objective factors</a:t>
            </a:r>
            <a:endParaRPr lang="en-US" sz="1300" dirty="0"/>
          </a:p>
        </p:txBody>
      </p:sp>
      <p:sp>
        <p:nvSpPr>
          <p:cNvPr id="12" name="Text 10"/>
          <p:cNvSpPr/>
          <p:nvPr/>
        </p:nvSpPr>
        <p:spPr>
          <a:xfrm>
            <a:off x="1243584" y="3108960"/>
            <a:ext cx="4023360" cy="128016"/>
          </a:xfrm>
          <a:prstGeom prst="rect">
            <a:avLst/>
          </a:prstGeom>
          <a:noFill/>
          <a:ln/>
        </p:spPr>
        <p:txBody>
          <a:bodyPr wrap="square" lIns="0" tIns="0" rIns="0" bIns="0" rtlCol="0" anchor="t">
            <a:normAutofit/>
          </a:bodyPr>
          <a:lstStyle/>
          <a:p>
            <a:pPr indent="0" marL="0">
              <a:buNone/>
            </a:pPr>
            <a:r>
              <a:rPr lang="en-US" sz="1300" dirty="0">
                <a:solidFill>
                  <a:srgbClr val="666666"/>
                </a:solidFill>
                <a:latin typeface="Arial" pitchFamily="34" charset="0"/>
                <a:ea typeface="Arial" pitchFamily="34" charset="-122"/>
                <a:cs typeface="Arial" pitchFamily="34" charset="-120"/>
              </a:rPr>
              <a:t>(freshness, topic fit, moderation eligibility)</a:t>
            </a:r>
            <a:endParaRPr lang="en-US" sz="1300" dirty="0"/>
          </a:p>
        </p:txBody>
      </p:sp>
      <p:sp>
        <p:nvSpPr>
          <p:cNvPr id="13" name="Text 11"/>
          <p:cNvSpPr/>
          <p:nvPr/>
        </p:nvSpPr>
        <p:spPr>
          <a:xfrm>
            <a:off x="1078992" y="3493008"/>
            <a:ext cx="3108960" cy="128016"/>
          </a:xfrm>
          <a:prstGeom prst="rect">
            <a:avLst/>
          </a:prstGeom>
          <a:noFill/>
          <a:ln/>
        </p:spPr>
        <p:txBody>
          <a:bodyPr wrap="square" lIns="0" tIns="0" rIns="0" bIns="0" rtlCol="0" anchor="t">
            <a:normAutofit/>
          </a:bodyPr>
          <a:lstStyle/>
          <a:p>
            <a:pPr indent="0" marL="0">
              <a:buNone/>
            </a:pPr>
            <a:r>
              <a:rPr lang="en-US" sz="1300" dirty="0">
                <a:solidFill>
                  <a:srgbClr val="666666"/>
                </a:solidFill>
                <a:latin typeface="Arial" pitchFamily="34" charset="0"/>
                <a:ea typeface="Arial" pitchFamily="34" charset="-122"/>
                <a:cs typeface="Arial" pitchFamily="34" charset="-120"/>
              </a:rPr>
              <a:t>X^D = dynamic / contestable factors</a:t>
            </a:r>
            <a:endParaRPr lang="en-US" sz="1300" dirty="0"/>
          </a:p>
        </p:txBody>
      </p:sp>
      <p:sp>
        <p:nvSpPr>
          <p:cNvPr id="14" name="Text 12"/>
          <p:cNvSpPr/>
          <p:nvPr/>
        </p:nvSpPr>
        <p:spPr>
          <a:xfrm>
            <a:off x="1243584" y="3675888"/>
            <a:ext cx="4206240" cy="128016"/>
          </a:xfrm>
          <a:prstGeom prst="rect">
            <a:avLst/>
          </a:prstGeom>
          <a:noFill/>
          <a:ln/>
        </p:spPr>
        <p:txBody>
          <a:bodyPr wrap="square" lIns="0" tIns="0" rIns="0" bIns="0" rtlCol="0" anchor="t">
            <a:normAutofit/>
          </a:bodyPr>
          <a:lstStyle/>
          <a:p>
            <a:pPr indent="0" marL="0">
              <a:buNone/>
            </a:pPr>
            <a:r>
              <a:rPr lang="en-US" sz="1300" dirty="0">
                <a:solidFill>
                  <a:srgbClr val="666666"/>
                </a:solidFill>
                <a:latin typeface="Arial" pitchFamily="34" charset="0"/>
                <a:ea typeface="Arial" pitchFamily="34" charset="-122"/>
                <a:cs typeface="Arial" pitchFamily="34" charset="-120"/>
              </a:rPr>
              <a:t>(early trajectory, prior visibility, author or source status)</a:t>
            </a:r>
            <a:endParaRPr lang="en-US" sz="1300" dirty="0"/>
          </a:p>
        </p:txBody>
      </p:sp>
      <p:sp>
        <p:nvSpPr>
          <p:cNvPr id="15" name="Text 13"/>
          <p:cNvSpPr/>
          <p:nvPr/>
        </p:nvSpPr>
        <p:spPr>
          <a:xfrm>
            <a:off x="1078992" y="4169664"/>
            <a:ext cx="4498848" cy="640080"/>
          </a:xfrm>
          <a:prstGeom prst="rect">
            <a:avLst/>
          </a:prstGeom>
          <a:noFill/>
          <a:ln/>
        </p:spPr>
        <p:txBody>
          <a:bodyPr wrap="square" lIns="0" tIns="0" rIns="0" bIns="0" rtlCol="0" anchor="t">
            <a:normAutofit/>
          </a:bodyPr>
          <a:lstStyle/>
          <a:p>
            <a:pPr indent="0" marL="0">
              <a:buNone/>
            </a:pPr>
            <a:r>
              <a:rPr lang="en-US" sz="1620" dirty="0">
                <a:solidFill>
                  <a:srgbClr val="1F2937"/>
                </a:solidFill>
                <a:latin typeface="Arial" pitchFamily="34" charset="0"/>
                <a:ea typeface="Arial" pitchFamily="34" charset="-122"/>
                <a:cs typeface="Arial" pitchFamily="34" charset="-120"/>
              </a:rPr>
              <a:t>These layers operationalize the RQ1 hypotheses about residual inequality, dynamic pathways, and what remains after adjustment.</a:t>
            </a:r>
            <a:endParaRPr lang="en-US" sz="1620" dirty="0"/>
          </a:p>
        </p:txBody>
      </p:sp>
      <p:sp>
        <p:nvSpPr>
          <p:cNvPr id="16" name="Text 14"/>
          <p:cNvSpPr/>
          <p:nvPr/>
        </p:nvSpPr>
        <p:spPr>
          <a:xfrm>
            <a:off x="6327648" y="1078992"/>
            <a:ext cx="128016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WHAT WE REPORT</a:t>
            </a:r>
            <a:endParaRPr lang="en-US" sz="1070" dirty="0"/>
          </a:p>
        </p:txBody>
      </p:sp>
      <p:sp>
        <p:nvSpPr>
          <p:cNvPr id="17" name="Shape 15"/>
          <p:cNvSpPr/>
          <p:nvPr/>
        </p:nvSpPr>
        <p:spPr>
          <a:xfrm>
            <a:off x="6327648" y="1316736"/>
            <a:ext cx="2286000" cy="1517904"/>
          </a:xfrm>
          <a:prstGeom prst="rect">
            <a:avLst/>
          </a:prstGeom>
          <a:solidFill>
            <a:srgbClr val="FBFBFB"/>
          </a:solidFill>
          <a:ln w="10795">
            <a:solidFill>
              <a:srgbClr val="D7D7D7"/>
            </a:solidFill>
            <a:prstDash val="solid"/>
          </a:ln>
        </p:spPr>
      </p:sp>
      <p:sp>
        <p:nvSpPr>
          <p:cNvPr id="18" name="Text 16"/>
          <p:cNvSpPr/>
          <p:nvPr/>
        </p:nvSpPr>
        <p:spPr>
          <a:xfrm>
            <a:off x="6419088" y="1655064"/>
            <a:ext cx="475488"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S</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T</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endParaRPr lang="en-US" sz="1500" dirty="0"/>
          </a:p>
        </p:txBody>
      </p:sp>
      <p:sp>
        <p:nvSpPr>
          <p:cNvPr id="19" name="Text 17"/>
          <p:cNvSpPr/>
          <p:nvPr/>
        </p:nvSpPr>
        <p:spPr>
          <a:xfrm>
            <a:off x="6967728" y="1517904"/>
            <a:ext cx="1554480" cy="201168"/>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equal</a:t>
            </a:r>
            <a:pPr algn="ctr" indent="0" marL="0">
              <a:buNone/>
            </a:pPr>
            <a:r>
              <a:rPr lang="en-US" sz="2200" dirty="0">
                <a:solidFill>
                  <a:srgbClr val="111111"/>
                </a:solidFill>
                <a:latin typeface="Cambria Math" pitchFamily="34" charset="0"/>
                <a:ea typeface="Cambria Math" pitchFamily="34" charset="-122"/>
                <a:cs typeface="Cambria Math" pitchFamily="34" charset="-120"/>
              </a:rPr>
              <a:t>) − </a:t>
            </a:r>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0</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380" dirty="0"/>
          </a:p>
        </p:txBody>
      </p:sp>
      <p:sp>
        <p:nvSpPr>
          <p:cNvPr id="20" name="Shape 18"/>
          <p:cNvSpPr/>
          <p:nvPr/>
        </p:nvSpPr>
        <p:spPr>
          <a:xfrm>
            <a:off x="6986016" y="1732788"/>
            <a:ext cx="1517904" cy="0"/>
          </a:xfrm>
          <a:prstGeom prst="line">
            <a:avLst/>
          </a:prstGeom>
          <a:noFill/>
          <a:ln w="11430">
            <a:solidFill>
              <a:srgbClr val="111111"/>
            </a:solidFill>
            <a:prstDash val="solid"/>
          </a:ln>
        </p:spPr>
      </p:sp>
      <p:sp>
        <p:nvSpPr>
          <p:cNvPr id="21" name="Text 19"/>
          <p:cNvSpPr/>
          <p:nvPr/>
        </p:nvSpPr>
        <p:spPr>
          <a:xfrm>
            <a:off x="6967728" y="1760220"/>
            <a:ext cx="1554480" cy="182880"/>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equal</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380" dirty="0"/>
          </a:p>
        </p:txBody>
      </p:sp>
      <p:sp>
        <p:nvSpPr>
          <p:cNvPr id="22" name="Text 20"/>
          <p:cNvSpPr/>
          <p:nvPr/>
        </p:nvSpPr>
        <p:spPr>
          <a:xfrm>
            <a:off x="6419088" y="2532888"/>
            <a:ext cx="2103120" cy="109728"/>
          </a:xfrm>
          <a:prstGeom prst="rect">
            <a:avLst/>
          </a:prstGeom>
          <a:noFill/>
          <a:ln/>
        </p:spPr>
        <p:txBody>
          <a:bodyPr wrap="square" lIns="0" tIns="0" rIns="0" bIns="0" rtlCol="0" anchor="t">
            <a:normAutofit/>
          </a:bodyPr>
          <a:lstStyle/>
          <a:p>
            <a:pPr algn="ctr" indent="0" marL="0">
              <a:buNone/>
            </a:pPr>
            <a:r>
              <a:rPr lang="en-US" sz="1200" dirty="0">
                <a:solidFill>
                  <a:srgbClr val="666666"/>
                </a:solidFill>
                <a:latin typeface="Arial" pitchFamily="34" charset="0"/>
                <a:ea typeface="Arial" pitchFamily="34" charset="-122"/>
                <a:cs typeface="Arial" pitchFamily="34" charset="-120"/>
              </a:rPr>
              <a:t>timing share</a:t>
            </a:r>
            <a:endParaRPr lang="en-US" sz="1200" dirty="0"/>
          </a:p>
        </p:txBody>
      </p:sp>
      <p:sp>
        <p:nvSpPr>
          <p:cNvPr id="23" name="Shape 21"/>
          <p:cNvSpPr/>
          <p:nvPr/>
        </p:nvSpPr>
        <p:spPr>
          <a:xfrm>
            <a:off x="8814816" y="1316736"/>
            <a:ext cx="2286000" cy="1517904"/>
          </a:xfrm>
          <a:prstGeom prst="rect">
            <a:avLst/>
          </a:prstGeom>
          <a:solidFill>
            <a:srgbClr val="FBFBFB"/>
          </a:solidFill>
          <a:ln w="10795">
            <a:solidFill>
              <a:srgbClr val="D7D7D7"/>
            </a:solidFill>
            <a:prstDash val="solid"/>
          </a:ln>
        </p:spPr>
      </p:sp>
      <p:sp>
        <p:nvSpPr>
          <p:cNvPr id="24" name="Text 22"/>
          <p:cNvSpPr/>
          <p:nvPr/>
        </p:nvSpPr>
        <p:spPr>
          <a:xfrm>
            <a:off x="8906256" y="1655064"/>
            <a:ext cx="475488"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S</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A</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endParaRPr lang="en-US" sz="1500" dirty="0"/>
          </a:p>
        </p:txBody>
      </p:sp>
      <p:sp>
        <p:nvSpPr>
          <p:cNvPr id="25" name="Text 23"/>
          <p:cNvSpPr/>
          <p:nvPr/>
        </p:nvSpPr>
        <p:spPr>
          <a:xfrm>
            <a:off x="9454896" y="1517904"/>
            <a:ext cx="1554480" cy="201168"/>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0</a:t>
            </a:r>
            <a:pPr algn="ctr" indent="0" marL="0">
              <a:buNone/>
            </a:pPr>
            <a:r>
              <a:rPr lang="en-US" sz="2200" dirty="0">
                <a:solidFill>
                  <a:srgbClr val="111111"/>
                </a:solidFill>
                <a:latin typeface="Cambria Math" pitchFamily="34" charset="0"/>
                <a:ea typeface="Cambria Math" pitchFamily="34" charset="-122"/>
                <a:cs typeface="Cambria Math" pitchFamily="34" charset="-120"/>
              </a:rPr>
              <a:t>) − </a:t>
            </a:r>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A</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380" dirty="0"/>
          </a:p>
        </p:txBody>
      </p:sp>
      <p:sp>
        <p:nvSpPr>
          <p:cNvPr id="26" name="Shape 24"/>
          <p:cNvSpPr/>
          <p:nvPr/>
        </p:nvSpPr>
        <p:spPr>
          <a:xfrm>
            <a:off x="9473184" y="1732788"/>
            <a:ext cx="1517904" cy="0"/>
          </a:xfrm>
          <a:prstGeom prst="line">
            <a:avLst/>
          </a:prstGeom>
          <a:noFill/>
          <a:ln w="11430">
            <a:solidFill>
              <a:srgbClr val="111111"/>
            </a:solidFill>
            <a:prstDash val="solid"/>
          </a:ln>
        </p:spPr>
      </p:sp>
      <p:sp>
        <p:nvSpPr>
          <p:cNvPr id="27" name="Text 25"/>
          <p:cNvSpPr/>
          <p:nvPr/>
        </p:nvSpPr>
        <p:spPr>
          <a:xfrm>
            <a:off x="9454896" y="1760220"/>
            <a:ext cx="1554480" cy="182880"/>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equal</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380" dirty="0"/>
          </a:p>
        </p:txBody>
      </p:sp>
      <p:sp>
        <p:nvSpPr>
          <p:cNvPr id="28" name="Text 26"/>
          <p:cNvSpPr/>
          <p:nvPr/>
        </p:nvSpPr>
        <p:spPr>
          <a:xfrm>
            <a:off x="8906256" y="2532888"/>
            <a:ext cx="2103120" cy="109728"/>
          </a:xfrm>
          <a:prstGeom prst="rect">
            <a:avLst/>
          </a:prstGeom>
          <a:noFill/>
          <a:ln/>
        </p:spPr>
        <p:txBody>
          <a:bodyPr wrap="square" lIns="0" tIns="0" rIns="0" bIns="0" rtlCol="0" anchor="t">
            <a:normAutofit/>
          </a:bodyPr>
          <a:lstStyle/>
          <a:p>
            <a:pPr algn="ctr" indent="0" marL="0">
              <a:buNone/>
            </a:pPr>
            <a:r>
              <a:rPr lang="en-US" sz="1200" dirty="0">
                <a:solidFill>
                  <a:srgbClr val="666666"/>
                </a:solidFill>
                <a:latin typeface="Arial" pitchFamily="34" charset="0"/>
                <a:ea typeface="Arial" pitchFamily="34" charset="-122"/>
                <a:cs typeface="Arial" pitchFamily="34" charset="-120"/>
              </a:rPr>
              <a:t>aligned share</a:t>
            </a:r>
            <a:endParaRPr lang="en-US" sz="1200" dirty="0"/>
          </a:p>
        </p:txBody>
      </p:sp>
      <p:sp>
        <p:nvSpPr>
          <p:cNvPr id="29" name="Shape 27"/>
          <p:cNvSpPr/>
          <p:nvPr/>
        </p:nvSpPr>
        <p:spPr>
          <a:xfrm>
            <a:off x="6327648" y="3035808"/>
            <a:ext cx="2286000" cy="1517904"/>
          </a:xfrm>
          <a:prstGeom prst="rect">
            <a:avLst/>
          </a:prstGeom>
          <a:solidFill>
            <a:srgbClr val="FBFBFB"/>
          </a:solidFill>
          <a:ln w="10795">
            <a:solidFill>
              <a:srgbClr val="D7D7D7"/>
            </a:solidFill>
            <a:prstDash val="solid"/>
          </a:ln>
        </p:spPr>
      </p:sp>
      <p:sp>
        <p:nvSpPr>
          <p:cNvPr id="30" name="Text 28"/>
          <p:cNvSpPr/>
          <p:nvPr/>
        </p:nvSpPr>
        <p:spPr>
          <a:xfrm>
            <a:off x="6419088" y="3374136"/>
            <a:ext cx="475488"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S</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D</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endParaRPr lang="en-US" sz="1500" dirty="0"/>
          </a:p>
        </p:txBody>
      </p:sp>
      <p:sp>
        <p:nvSpPr>
          <p:cNvPr id="31" name="Text 29"/>
          <p:cNvSpPr/>
          <p:nvPr/>
        </p:nvSpPr>
        <p:spPr>
          <a:xfrm>
            <a:off x="6967728" y="3236976"/>
            <a:ext cx="1554480" cy="201168"/>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A</a:t>
            </a:r>
            <a:pPr algn="ctr" indent="0" marL="0">
              <a:buNone/>
            </a:pPr>
            <a:r>
              <a:rPr lang="en-US" sz="2200" dirty="0">
                <a:solidFill>
                  <a:srgbClr val="111111"/>
                </a:solidFill>
                <a:latin typeface="Cambria Math" pitchFamily="34" charset="0"/>
                <a:ea typeface="Cambria Math" pitchFamily="34" charset="-122"/>
                <a:cs typeface="Cambria Math" pitchFamily="34" charset="-120"/>
              </a:rPr>
              <a:t>) − </a:t>
            </a:r>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D</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380" dirty="0"/>
          </a:p>
        </p:txBody>
      </p:sp>
      <p:sp>
        <p:nvSpPr>
          <p:cNvPr id="32" name="Shape 30"/>
          <p:cNvSpPr/>
          <p:nvPr/>
        </p:nvSpPr>
        <p:spPr>
          <a:xfrm>
            <a:off x="6986016" y="3451860"/>
            <a:ext cx="1517904" cy="0"/>
          </a:xfrm>
          <a:prstGeom prst="line">
            <a:avLst/>
          </a:prstGeom>
          <a:noFill/>
          <a:ln w="11430">
            <a:solidFill>
              <a:srgbClr val="111111"/>
            </a:solidFill>
            <a:prstDash val="solid"/>
          </a:ln>
        </p:spPr>
      </p:sp>
      <p:sp>
        <p:nvSpPr>
          <p:cNvPr id="33" name="Text 31"/>
          <p:cNvSpPr/>
          <p:nvPr/>
        </p:nvSpPr>
        <p:spPr>
          <a:xfrm>
            <a:off x="6967728" y="3479292"/>
            <a:ext cx="1554480" cy="182880"/>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equal</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380" dirty="0"/>
          </a:p>
        </p:txBody>
      </p:sp>
      <p:sp>
        <p:nvSpPr>
          <p:cNvPr id="34" name="Text 32"/>
          <p:cNvSpPr/>
          <p:nvPr/>
        </p:nvSpPr>
        <p:spPr>
          <a:xfrm>
            <a:off x="6419088" y="4251960"/>
            <a:ext cx="2103120" cy="109728"/>
          </a:xfrm>
          <a:prstGeom prst="rect">
            <a:avLst/>
          </a:prstGeom>
          <a:noFill/>
          <a:ln/>
        </p:spPr>
        <p:txBody>
          <a:bodyPr wrap="square" lIns="0" tIns="0" rIns="0" bIns="0" rtlCol="0" anchor="t">
            <a:normAutofit/>
          </a:bodyPr>
          <a:lstStyle/>
          <a:p>
            <a:pPr algn="ctr" indent="0" marL="0">
              <a:buNone/>
            </a:pPr>
            <a:r>
              <a:rPr lang="en-US" sz="1200" dirty="0">
                <a:solidFill>
                  <a:srgbClr val="666666"/>
                </a:solidFill>
                <a:latin typeface="Arial" pitchFamily="34" charset="0"/>
                <a:ea typeface="Arial" pitchFamily="34" charset="-122"/>
                <a:cs typeface="Arial" pitchFamily="34" charset="-120"/>
              </a:rPr>
              <a:t>dynamic / contestable share</a:t>
            </a:r>
            <a:endParaRPr lang="en-US" sz="1200" dirty="0"/>
          </a:p>
        </p:txBody>
      </p:sp>
      <p:sp>
        <p:nvSpPr>
          <p:cNvPr id="35" name="Shape 33"/>
          <p:cNvSpPr/>
          <p:nvPr/>
        </p:nvSpPr>
        <p:spPr>
          <a:xfrm>
            <a:off x="8814816" y="3035808"/>
            <a:ext cx="2286000" cy="1517904"/>
          </a:xfrm>
          <a:prstGeom prst="rect">
            <a:avLst/>
          </a:prstGeom>
          <a:solidFill>
            <a:srgbClr val="FBFBFB"/>
          </a:solidFill>
          <a:ln w="10795">
            <a:solidFill>
              <a:srgbClr val="D7D7D7"/>
            </a:solidFill>
            <a:prstDash val="solid"/>
          </a:ln>
        </p:spPr>
      </p:sp>
      <p:sp>
        <p:nvSpPr>
          <p:cNvPr id="36" name="Text 34"/>
          <p:cNvSpPr/>
          <p:nvPr/>
        </p:nvSpPr>
        <p:spPr>
          <a:xfrm>
            <a:off x="8906256" y="3374136"/>
            <a:ext cx="475488"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S</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U</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endParaRPr lang="en-US" sz="1500" dirty="0"/>
          </a:p>
        </p:txBody>
      </p:sp>
      <p:sp>
        <p:nvSpPr>
          <p:cNvPr id="37" name="Text 35"/>
          <p:cNvSpPr/>
          <p:nvPr/>
        </p:nvSpPr>
        <p:spPr>
          <a:xfrm>
            <a:off x="9454896" y="3236976"/>
            <a:ext cx="1554480" cy="201168"/>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D</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380" dirty="0"/>
          </a:p>
        </p:txBody>
      </p:sp>
      <p:sp>
        <p:nvSpPr>
          <p:cNvPr id="38" name="Shape 36"/>
          <p:cNvSpPr/>
          <p:nvPr/>
        </p:nvSpPr>
        <p:spPr>
          <a:xfrm>
            <a:off x="9473184" y="3451860"/>
            <a:ext cx="1517904" cy="0"/>
          </a:xfrm>
          <a:prstGeom prst="line">
            <a:avLst/>
          </a:prstGeom>
          <a:noFill/>
          <a:ln w="11430">
            <a:solidFill>
              <a:srgbClr val="111111"/>
            </a:solidFill>
            <a:prstDash val="solid"/>
          </a:ln>
        </p:spPr>
      </p:sp>
      <p:sp>
        <p:nvSpPr>
          <p:cNvPr id="39" name="Text 37"/>
          <p:cNvSpPr/>
          <p:nvPr/>
        </p:nvSpPr>
        <p:spPr>
          <a:xfrm>
            <a:off x="9454896" y="3479292"/>
            <a:ext cx="1554480" cy="182880"/>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equal</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380" dirty="0"/>
          </a:p>
        </p:txBody>
      </p:sp>
      <p:sp>
        <p:nvSpPr>
          <p:cNvPr id="40" name="Text 38"/>
          <p:cNvSpPr/>
          <p:nvPr/>
        </p:nvSpPr>
        <p:spPr>
          <a:xfrm>
            <a:off x="8906256" y="4251960"/>
            <a:ext cx="2103120" cy="109728"/>
          </a:xfrm>
          <a:prstGeom prst="rect">
            <a:avLst/>
          </a:prstGeom>
          <a:noFill/>
          <a:ln/>
        </p:spPr>
        <p:txBody>
          <a:bodyPr wrap="square" lIns="0" tIns="0" rIns="0" bIns="0" rtlCol="0" anchor="t">
            <a:normAutofit/>
          </a:bodyPr>
          <a:lstStyle/>
          <a:p>
            <a:pPr algn="ctr" indent="0" marL="0">
              <a:buNone/>
            </a:pPr>
            <a:r>
              <a:rPr lang="en-US" sz="1200" dirty="0">
                <a:solidFill>
                  <a:srgbClr val="666666"/>
                </a:solidFill>
                <a:latin typeface="Arial" pitchFamily="34" charset="0"/>
                <a:ea typeface="Arial" pitchFamily="34" charset="-122"/>
                <a:cs typeface="Arial" pitchFamily="34" charset="-120"/>
              </a:rPr>
              <a:t>unexplained share</a:t>
            </a:r>
            <a:endParaRPr lang="en-US" sz="1200" dirty="0"/>
          </a:p>
        </p:txBody>
      </p:sp>
      <p:sp>
        <p:nvSpPr>
          <p:cNvPr id="41" name="Shape 39"/>
          <p:cNvSpPr/>
          <p:nvPr/>
        </p:nvSpPr>
        <p:spPr>
          <a:xfrm>
            <a:off x="914400" y="5559552"/>
            <a:ext cx="10222992" cy="512064"/>
          </a:xfrm>
          <a:prstGeom prst="rect">
            <a:avLst/>
          </a:prstGeom>
          <a:solidFill>
            <a:srgbClr val="FBFBFB"/>
          </a:solidFill>
          <a:ln w="10795">
            <a:solidFill>
              <a:srgbClr val="D7D7D7"/>
            </a:solidFill>
            <a:prstDash val="solid"/>
          </a:ln>
        </p:spPr>
      </p:sp>
      <p:sp>
        <p:nvSpPr>
          <p:cNvPr id="42" name="Text 40"/>
          <p:cNvSpPr/>
          <p:nvPr/>
        </p:nvSpPr>
        <p:spPr>
          <a:xfrm>
            <a:off x="1078992" y="5669280"/>
            <a:ext cx="9875520" cy="219456"/>
          </a:xfrm>
          <a:prstGeom prst="rect">
            <a:avLst/>
          </a:prstGeom>
          <a:noFill/>
          <a:ln/>
        </p:spPr>
        <p:txBody>
          <a:bodyPr wrap="square" lIns="0" tIns="0" rIns="0" bIns="0" rtlCol="0" anchor="t">
            <a:normAutofit/>
          </a:bodyPr>
          <a:lstStyle/>
          <a:p>
            <a:pPr indent="0" marL="0">
              <a:buNone/>
            </a:pPr>
            <a:r>
              <a:rPr lang="en-US" sz="1640" dirty="0">
                <a:solidFill>
                  <a:srgbClr val="1F2937"/>
                </a:solidFill>
                <a:latin typeface="Arial" pitchFamily="34" charset="0"/>
                <a:ea typeface="Arial" pitchFamily="34" charset="-122"/>
                <a:cs typeface="Arial" pitchFamily="34" charset="-120"/>
              </a:rPr>
              <a:t>Important reading rule: early trajectory is not treated as pure merit. A large S_D is evidence of a dynamic amplification pathway, not a free pass.</a:t>
            </a:r>
            <a:endParaRPr lang="en-US" sz="16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9808" y="182880"/>
            <a:ext cx="2743200" cy="118872"/>
          </a:xfrm>
          <a:prstGeom prst="rect">
            <a:avLst/>
          </a:prstGeom>
          <a:noFill/>
          <a:ln/>
        </p:spPr>
        <p:txBody>
          <a:bodyPr wrap="square" lIns="0" tIns="0" rIns="0" bIns="0" rtlCol="0" anchor="ctr"/>
          <a:lstStyle/>
          <a:p>
            <a:pPr indent="0" marL="0">
              <a:buNone/>
            </a:pPr>
            <a:r>
              <a:rPr lang="en-US" sz="1020" b="1" spc="75" kern="0" dirty="0">
                <a:solidFill>
                  <a:srgbClr val="666666"/>
                </a:solidFill>
                <a:latin typeface="Arial" pitchFamily="34" charset="0"/>
                <a:ea typeface="Arial" pitchFamily="34" charset="-122"/>
                <a:cs typeface="Arial" pitchFamily="34" charset="-120"/>
              </a:rPr>
              <a:t>BRIDGE</a:t>
            </a:r>
            <a:endParaRPr lang="en-US" sz="1020" dirty="0"/>
          </a:p>
        </p:txBody>
      </p:sp>
      <p:sp>
        <p:nvSpPr>
          <p:cNvPr id="3" name="Text 1"/>
          <p:cNvSpPr/>
          <p:nvPr/>
        </p:nvSpPr>
        <p:spPr>
          <a:xfrm>
            <a:off x="749808" y="438912"/>
            <a:ext cx="10378440" cy="274320"/>
          </a:xfrm>
          <a:prstGeom prst="rect">
            <a:avLst/>
          </a:prstGeom>
          <a:noFill/>
          <a:ln/>
        </p:spPr>
        <p:txBody>
          <a:bodyPr wrap="square" lIns="0" tIns="0" rIns="0" bIns="0" rtlCol="0" anchor="ctr"/>
          <a:lstStyle/>
          <a:p>
            <a:pPr indent="0" marL="0">
              <a:buNone/>
            </a:pPr>
            <a:r>
              <a:rPr lang="en-US" sz="2600" dirty="0">
                <a:solidFill>
                  <a:srgbClr val="111111"/>
                </a:solidFill>
                <a:latin typeface="Georgia" pitchFamily="34" charset="0"/>
                <a:ea typeface="Georgia" pitchFamily="34" charset="-122"/>
                <a:cs typeface="Georgia" pitchFamily="34" charset="-120"/>
              </a:rPr>
              <a:t>Same exposure engine, new comparison object</a:t>
            </a:r>
            <a:endParaRPr lang="en-US" sz="2600" dirty="0"/>
          </a:p>
        </p:txBody>
      </p:sp>
      <p:sp>
        <p:nvSpPr>
          <p:cNvPr id="4" name="Shape 2"/>
          <p:cNvSpPr/>
          <p:nvPr/>
        </p:nvSpPr>
        <p:spPr>
          <a:xfrm>
            <a:off x="749808" y="841248"/>
            <a:ext cx="10698480" cy="0"/>
          </a:xfrm>
          <a:prstGeom prst="line">
            <a:avLst/>
          </a:prstGeom>
          <a:noFill/>
          <a:ln w="12700">
            <a:solidFill>
              <a:srgbClr val="D7D7D7"/>
            </a:solidFill>
            <a:prstDash val="solid"/>
          </a:ln>
        </p:spPr>
      </p:sp>
      <p:sp>
        <p:nvSpPr>
          <p:cNvPr id="5" name="Text 3"/>
          <p:cNvSpPr/>
          <p:nvPr/>
        </p:nvSpPr>
        <p:spPr>
          <a:xfrm>
            <a:off x="11173968" y="283464"/>
            <a:ext cx="201168" cy="118872"/>
          </a:xfrm>
          <a:prstGeom prst="rect">
            <a:avLst/>
          </a:prstGeom>
          <a:noFill/>
          <a:ln/>
        </p:spPr>
        <p:txBody>
          <a:bodyPr wrap="square" lIns="0" tIns="0" rIns="0" bIns="0" rtlCol="0" anchor="ctr"/>
          <a:lstStyle/>
          <a:p>
            <a:pPr algn="r" indent="0" marL="0">
              <a:buNone/>
            </a:pPr>
            <a:r>
              <a:rPr lang="en-US" sz="1020" dirty="0">
                <a:solidFill>
                  <a:srgbClr val="666666"/>
                </a:solidFill>
                <a:latin typeface="Arial" pitchFamily="34" charset="0"/>
                <a:ea typeface="Arial" pitchFamily="34" charset="-122"/>
                <a:cs typeface="Arial" pitchFamily="34" charset="-120"/>
              </a:rPr>
              <a:t>6</a:t>
            </a:r>
            <a:endParaRPr lang="en-US" sz="1020" dirty="0"/>
          </a:p>
        </p:txBody>
      </p:sp>
      <p:sp>
        <p:nvSpPr>
          <p:cNvPr id="6" name="Shape 4"/>
          <p:cNvSpPr/>
          <p:nvPr/>
        </p:nvSpPr>
        <p:spPr>
          <a:xfrm>
            <a:off x="6089904" y="1097280"/>
            <a:ext cx="0" cy="4526280"/>
          </a:xfrm>
          <a:prstGeom prst="line">
            <a:avLst/>
          </a:prstGeom>
          <a:noFill/>
          <a:ln w="12700">
            <a:solidFill>
              <a:srgbClr val="D7D7D7"/>
            </a:solidFill>
            <a:prstDash val="solid"/>
          </a:ln>
        </p:spPr>
      </p:sp>
      <p:sp>
        <p:nvSpPr>
          <p:cNvPr id="7" name="Text 5"/>
          <p:cNvSpPr/>
          <p:nvPr/>
        </p:nvSpPr>
        <p:spPr>
          <a:xfrm>
            <a:off x="969264" y="1078992"/>
            <a:ext cx="91440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RQ1</a:t>
            </a:r>
            <a:endParaRPr lang="en-US" sz="1070" dirty="0"/>
          </a:p>
        </p:txBody>
      </p:sp>
      <p:sp>
        <p:nvSpPr>
          <p:cNvPr id="8" name="Text 6"/>
          <p:cNvSpPr/>
          <p:nvPr/>
        </p:nvSpPr>
        <p:spPr>
          <a:xfrm>
            <a:off x="969264" y="1408176"/>
            <a:ext cx="4480560" cy="201168"/>
          </a:xfrm>
          <a:prstGeom prst="rect">
            <a:avLst/>
          </a:prstGeom>
          <a:noFill/>
          <a:ln/>
        </p:spPr>
        <p:txBody>
          <a:bodyPr wrap="square" lIns="0" tIns="0" rIns="0" bIns="0" rtlCol="0" anchor="t">
            <a:normAutofit/>
          </a:bodyPr>
          <a:lstStyle/>
          <a:p>
            <a:pPr indent="0" marL="0">
              <a:buNone/>
            </a:pPr>
            <a:r>
              <a:rPr lang="en-US" sz="1840" dirty="0">
                <a:solidFill>
                  <a:srgbClr val="1F2937"/>
                </a:solidFill>
                <a:latin typeface="Arial" pitchFamily="34" charset="0"/>
                <a:ea typeface="Arial" pitchFamily="34" charset="-122"/>
                <a:cs typeface="Arial" pitchFamily="34" charset="-120"/>
              </a:rPr>
              <a:t>Compare copies inside one duplicate cluster.</a:t>
            </a:r>
            <a:endParaRPr lang="en-US" sz="1840" dirty="0"/>
          </a:p>
        </p:txBody>
      </p:sp>
      <p:sp>
        <p:nvSpPr>
          <p:cNvPr id="9" name="Shape 7"/>
          <p:cNvSpPr/>
          <p:nvPr/>
        </p:nvSpPr>
        <p:spPr>
          <a:xfrm>
            <a:off x="1005840" y="1847088"/>
            <a:ext cx="4334256" cy="1408176"/>
          </a:xfrm>
          <a:prstGeom prst="rect">
            <a:avLst/>
          </a:prstGeom>
          <a:solidFill>
            <a:srgbClr val="FBFBFB"/>
          </a:solidFill>
          <a:ln w="10795">
            <a:solidFill>
              <a:srgbClr val="D7D7D7"/>
            </a:solidFill>
            <a:prstDash val="solid"/>
          </a:ln>
        </p:spPr>
      </p:sp>
      <p:sp>
        <p:nvSpPr>
          <p:cNvPr id="10" name="Text 8"/>
          <p:cNvSpPr/>
          <p:nvPr/>
        </p:nvSpPr>
        <p:spPr>
          <a:xfrm>
            <a:off x="1152144" y="2276856"/>
            <a:ext cx="868680"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q</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endParaRPr lang="en-US" sz="2140" dirty="0"/>
          </a:p>
        </p:txBody>
      </p:sp>
      <p:sp>
        <p:nvSpPr>
          <p:cNvPr id="11" name="Text 9"/>
          <p:cNvSpPr/>
          <p:nvPr/>
        </p:nvSpPr>
        <p:spPr>
          <a:xfrm>
            <a:off x="2093976" y="2139696"/>
            <a:ext cx="3044952" cy="219456"/>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E</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endParaRPr lang="en-US" sz="2140" dirty="0"/>
          </a:p>
        </p:txBody>
      </p:sp>
      <p:sp>
        <p:nvSpPr>
          <p:cNvPr id="12" name="Shape 10"/>
          <p:cNvSpPr/>
          <p:nvPr/>
        </p:nvSpPr>
        <p:spPr>
          <a:xfrm>
            <a:off x="2112264" y="2372868"/>
            <a:ext cx="3008376" cy="0"/>
          </a:xfrm>
          <a:prstGeom prst="line">
            <a:avLst/>
          </a:prstGeom>
          <a:noFill/>
          <a:ln w="11430">
            <a:solidFill>
              <a:srgbClr val="111111"/>
            </a:solidFill>
            <a:prstDash val="solid"/>
          </a:ln>
        </p:spPr>
      </p:sp>
      <p:sp>
        <p:nvSpPr>
          <p:cNvPr id="13" name="Text 11"/>
          <p:cNvSpPr/>
          <p:nvPr/>
        </p:nvSpPr>
        <p:spPr>
          <a:xfrm>
            <a:off x="2093976" y="2400300"/>
            <a:ext cx="3044952" cy="219456"/>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u∈Rcg</a:t>
            </a:r>
            <a:pPr algn="ctr" indent="0" marL="0">
              <a:buNone/>
            </a:pPr>
            <a:r>
              <a:rPr lang="en-US" sz="2200" i="1" dirty="0">
                <a:solidFill>
                  <a:srgbClr val="111111"/>
                </a:solidFill>
                <a:latin typeface="Cambria Math" pitchFamily="34" charset="0"/>
                <a:ea typeface="Cambria Math" pitchFamily="34" charset="-122"/>
                <a:cs typeface="Cambria Math" pitchFamily="34" charset="-120"/>
              </a:rPr>
              <a:t>E</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ug</a:t>
            </a:r>
            <a:endParaRPr lang="en-US" sz="2140" dirty="0"/>
          </a:p>
        </p:txBody>
      </p:sp>
      <p:sp>
        <p:nvSpPr>
          <p:cNvPr id="14" name="Text 12"/>
          <p:cNvSpPr/>
          <p:nvPr/>
        </p:nvSpPr>
        <p:spPr>
          <a:xfrm>
            <a:off x="1133856" y="2852928"/>
            <a:ext cx="4069080" cy="164592"/>
          </a:xfrm>
          <a:prstGeom prst="rect">
            <a:avLst/>
          </a:prstGeom>
          <a:noFill/>
          <a:ln/>
        </p:spPr>
        <p:txBody>
          <a:bodyPr wrap="square" lIns="0" tIns="0" rIns="0" bIns="0" rtlCol="0" anchor="t">
            <a:normAutofit/>
          </a:bodyPr>
          <a:lstStyle/>
          <a:p>
            <a:pPr algn="ctr" indent="0" marL="0">
              <a:buNone/>
            </a:pPr>
            <a:r>
              <a:rPr lang="en-US" sz="1310" dirty="0">
                <a:solidFill>
                  <a:srgbClr val="666666"/>
                </a:solidFill>
                <a:latin typeface="Arial" pitchFamily="34" charset="0"/>
                <a:ea typeface="Arial" pitchFamily="34" charset="-122"/>
                <a:cs typeface="Arial" pitchFamily="34" charset="-120"/>
              </a:rPr>
              <a:t>post-version exposure share within one duplicate-local risk set</a:t>
            </a:r>
            <a:endParaRPr lang="en-US" sz="1310" dirty="0"/>
          </a:p>
        </p:txBody>
      </p:sp>
      <p:sp>
        <p:nvSpPr>
          <p:cNvPr id="15" name="Text 13"/>
          <p:cNvSpPr/>
          <p:nvPr/>
        </p:nvSpPr>
        <p:spPr>
          <a:xfrm>
            <a:off x="1024128" y="3749040"/>
            <a:ext cx="4480560" cy="219456"/>
          </a:xfrm>
          <a:prstGeom prst="rect">
            <a:avLst/>
          </a:prstGeom>
          <a:noFill/>
          <a:ln/>
        </p:spPr>
        <p:txBody>
          <a:bodyPr wrap="square" lIns="0" tIns="0" rIns="0" bIns="0" rtlCol="0" anchor="t">
            <a:normAutofit/>
          </a:bodyPr>
          <a:lstStyle/>
          <a:p>
            <a:pPr indent="0" marL="0">
              <a:buNone/>
            </a:pPr>
            <a:r>
              <a:rPr lang="en-US" sz="1900" dirty="0">
                <a:solidFill>
                  <a:srgbClr val="111111"/>
                </a:solidFill>
                <a:latin typeface="Arial" pitchFamily="34" charset="0"/>
                <a:ea typeface="Arial" pitchFamily="34" charset="-122"/>
                <a:cs typeface="Arial" pitchFamily="34" charset="-120"/>
              </a:rPr>
              <a:t>Question: does the system prefer one copy?</a:t>
            </a:r>
            <a:endParaRPr lang="en-US" sz="1900" dirty="0"/>
          </a:p>
        </p:txBody>
      </p:sp>
      <p:sp>
        <p:nvSpPr>
          <p:cNvPr id="16" name="Text 14"/>
          <p:cNvSpPr/>
          <p:nvPr/>
        </p:nvSpPr>
        <p:spPr>
          <a:xfrm>
            <a:off x="6419088" y="1078992"/>
            <a:ext cx="91440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RQ2</a:t>
            </a:r>
            <a:endParaRPr lang="en-US" sz="1070" dirty="0"/>
          </a:p>
        </p:txBody>
      </p:sp>
      <p:sp>
        <p:nvSpPr>
          <p:cNvPr id="17" name="Text 15"/>
          <p:cNvSpPr/>
          <p:nvPr/>
        </p:nvSpPr>
        <p:spPr>
          <a:xfrm>
            <a:off x="6419088" y="1408176"/>
            <a:ext cx="4572000" cy="201168"/>
          </a:xfrm>
          <a:prstGeom prst="rect">
            <a:avLst/>
          </a:prstGeom>
          <a:noFill/>
          <a:ln/>
        </p:spPr>
        <p:txBody>
          <a:bodyPr wrap="square" lIns="0" tIns="0" rIns="0" bIns="0" rtlCol="0" anchor="t">
            <a:normAutofit/>
          </a:bodyPr>
          <a:lstStyle/>
          <a:p>
            <a:pPr indent="0" marL="0">
              <a:buNone/>
            </a:pPr>
            <a:r>
              <a:rPr lang="en-US" sz="1840" dirty="0">
                <a:solidFill>
                  <a:srgbClr val="1F2937"/>
                </a:solidFill>
                <a:latin typeface="Arial" pitchFamily="34" charset="0"/>
                <a:ea typeface="Arial" pitchFamily="34" charset="-122"/>
                <a:cs typeface="Arial" pitchFamily="34" charset="-120"/>
              </a:rPr>
              <a:t>Compare frames inside one event or topic cluster.</a:t>
            </a:r>
            <a:endParaRPr lang="en-US" sz="1840" dirty="0"/>
          </a:p>
        </p:txBody>
      </p:sp>
      <p:sp>
        <p:nvSpPr>
          <p:cNvPr id="18" name="Shape 16"/>
          <p:cNvSpPr/>
          <p:nvPr/>
        </p:nvSpPr>
        <p:spPr>
          <a:xfrm>
            <a:off x="6455664" y="1847088"/>
            <a:ext cx="4334256" cy="1408176"/>
          </a:xfrm>
          <a:prstGeom prst="rect">
            <a:avLst/>
          </a:prstGeom>
          <a:solidFill>
            <a:srgbClr val="FBFBFB"/>
          </a:solidFill>
          <a:ln w="10795">
            <a:solidFill>
              <a:srgbClr val="D7D7D7"/>
            </a:solidFill>
            <a:prstDash val="solid"/>
          </a:ln>
        </p:spPr>
      </p:sp>
      <p:sp>
        <p:nvSpPr>
          <p:cNvPr id="19" name="Text 17"/>
          <p:cNvSpPr/>
          <p:nvPr/>
        </p:nvSpPr>
        <p:spPr>
          <a:xfrm>
            <a:off x="6583680" y="2276856"/>
            <a:ext cx="960120"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x</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endParaRPr lang="en-US" sz="2120" dirty="0"/>
          </a:p>
        </p:txBody>
      </p:sp>
      <p:sp>
        <p:nvSpPr>
          <p:cNvPr id="20" name="Text 18"/>
          <p:cNvSpPr/>
          <p:nvPr/>
        </p:nvSpPr>
        <p:spPr>
          <a:xfrm>
            <a:off x="7616952" y="2139696"/>
            <a:ext cx="2971800" cy="219456"/>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Y</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endParaRPr lang="en-US" sz="2120" dirty="0"/>
          </a:p>
        </p:txBody>
      </p:sp>
      <p:sp>
        <p:nvSpPr>
          <p:cNvPr id="21" name="Shape 19"/>
          <p:cNvSpPr/>
          <p:nvPr/>
        </p:nvSpPr>
        <p:spPr>
          <a:xfrm>
            <a:off x="7635240" y="2372868"/>
            <a:ext cx="2935224" cy="0"/>
          </a:xfrm>
          <a:prstGeom prst="line">
            <a:avLst/>
          </a:prstGeom>
          <a:noFill/>
          <a:ln w="11430">
            <a:solidFill>
              <a:srgbClr val="111111"/>
            </a:solidFill>
            <a:prstDash val="solid"/>
          </a:ln>
        </p:spPr>
      </p:sp>
      <p:sp>
        <p:nvSpPr>
          <p:cNvPr id="22" name="Text 20"/>
          <p:cNvSpPr/>
          <p:nvPr/>
        </p:nvSpPr>
        <p:spPr>
          <a:xfrm>
            <a:off x="7616952" y="2400300"/>
            <a:ext cx="2971800" cy="219456"/>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u</a:t>
            </a:r>
            <a:pPr algn="ctr" indent="0" marL="0">
              <a:buNone/>
            </a:pPr>
            <a:r>
              <a:rPr lang="en-US" sz="2200" i="1" dirty="0">
                <a:solidFill>
                  <a:srgbClr val="111111"/>
                </a:solidFill>
                <a:latin typeface="Cambria Math" pitchFamily="34" charset="0"/>
                <a:ea typeface="Cambria Math" pitchFamily="34" charset="-122"/>
                <a:cs typeface="Cambria Math" pitchFamily="34" charset="-120"/>
              </a:rPr>
              <a:t>Y</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uhg</a:t>
            </a:r>
            <a:endParaRPr lang="en-US" sz="2120" dirty="0"/>
          </a:p>
        </p:txBody>
      </p:sp>
      <p:sp>
        <p:nvSpPr>
          <p:cNvPr id="23" name="Text 21"/>
          <p:cNvSpPr/>
          <p:nvPr/>
        </p:nvSpPr>
        <p:spPr>
          <a:xfrm>
            <a:off x="6565392" y="2852928"/>
            <a:ext cx="4096512" cy="164592"/>
          </a:xfrm>
          <a:prstGeom prst="rect">
            <a:avLst/>
          </a:prstGeom>
          <a:noFill/>
          <a:ln/>
        </p:spPr>
        <p:txBody>
          <a:bodyPr wrap="square" lIns="0" tIns="0" rIns="0" bIns="0" rtlCol="0" anchor="t">
            <a:normAutofit/>
          </a:bodyPr>
          <a:lstStyle/>
          <a:p>
            <a:pPr algn="ctr" indent="0" marL="0">
              <a:buNone/>
            </a:pPr>
            <a:r>
              <a:rPr lang="en-US" sz="1310" dirty="0">
                <a:solidFill>
                  <a:srgbClr val="666666"/>
                </a:solidFill>
                <a:latin typeface="Arial" pitchFamily="34" charset="0"/>
                <a:ea typeface="Arial" pitchFamily="34" charset="-122"/>
                <a:cs typeface="Arial" pitchFamily="34" charset="-120"/>
              </a:rPr>
              <a:t>frame exposure share within one event h and context g</a:t>
            </a:r>
            <a:endParaRPr lang="en-US" sz="1310" dirty="0"/>
          </a:p>
        </p:txBody>
      </p:sp>
      <p:sp>
        <p:nvSpPr>
          <p:cNvPr id="24" name="Text 22"/>
          <p:cNvSpPr/>
          <p:nvPr/>
        </p:nvSpPr>
        <p:spPr>
          <a:xfrm>
            <a:off x="6473952" y="3749040"/>
            <a:ext cx="4526280" cy="219456"/>
          </a:xfrm>
          <a:prstGeom prst="rect">
            <a:avLst/>
          </a:prstGeom>
          <a:noFill/>
          <a:ln/>
        </p:spPr>
        <p:txBody>
          <a:bodyPr wrap="square" lIns="0" tIns="0" rIns="0" bIns="0" rtlCol="0" anchor="t">
            <a:normAutofit/>
          </a:bodyPr>
          <a:lstStyle/>
          <a:p>
            <a:pPr indent="0" marL="0">
              <a:buNone/>
            </a:pPr>
            <a:r>
              <a:rPr lang="en-US" sz="1900" dirty="0">
                <a:solidFill>
                  <a:srgbClr val="111111"/>
                </a:solidFill>
                <a:latin typeface="Arial" pitchFamily="34" charset="0"/>
                <a:ea typeface="Arial" pitchFamily="34" charset="-122"/>
                <a:cs typeface="Arial" pitchFamily="34" charset="-120"/>
              </a:rPr>
              <a:t>Question: does the system prefer one narrative?</a:t>
            </a:r>
            <a:endParaRPr lang="en-US" sz="1900" dirty="0"/>
          </a:p>
        </p:txBody>
      </p:sp>
      <p:sp>
        <p:nvSpPr>
          <p:cNvPr id="25" name="Shape 23"/>
          <p:cNvSpPr/>
          <p:nvPr/>
        </p:nvSpPr>
        <p:spPr>
          <a:xfrm>
            <a:off x="914400" y="5577840"/>
            <a:ext cx="10222992" cy="457200"/>
          </a:xfrm>
          <a:prstGeom prst="rect">
            <a:avLst/>
          </a:prstGeom>
          <a:solidFill>
            <a:srgbClr val="FBFBFB"/>
          </a:solidFill>
          <a:ln w="10795">
            <a:solidFill>
              <a:srgbClr val="D7D7D7"/>
            </a:solidFill>
            <a:prstDash val="solid"/>
          </a:ln>
        </p:spPr>
      </p:sp>
      <p:sp>
        <p:nvSpPr>
          <p:cNvPr id="26" name="Text 24"/>
          <p:cNvSpPr/>
          <p:nvPr/>
        </p:nvSpPr>
        <p:spPr>
          <a:xfrm>
            <a:off x="1078992" y="5687568"/>
            <a:ext cx="9875520" cy="164592"/>
          </a:xfrm>
          <a:prstGeom prst="rect">
            <a:avLst/>
          </a:prstGeom>
          <a:noFill/>
          <a:ln/>
        </p:spPr>
        <p:txBody>
          <a:bodyPr wrap="square" lIns="0" tIns="0" rIns="0" bIns="0" rtlCol="0" anchor="t">
            <a:normAutofit/>
          </a:bodyPr>
          <a:lstStyle/>
          <a:p>
            <a:pPr indent="0" marL="0">
              <a:buNone/>
            </a:pPr>
            <a:r>
              <a:rPr lang="en-US" sz="1650" dirty="0">
                <a:solidFill>
                  <a:srgbClr val="1F2937"/>
                </a:solidFill>
                <a:latin typeface="Arial" pitchFamily="34" charset="0"/>
                <a:ea typeface="Arial" pitchFamily="34" charset="-122"/>
                <a:cs typeface="Arial" pitchFamily="34" charset="-120"/>
              </a:rPr>
              <a:t>RQ2 does not ask which frame is correct. It asks how monitored top-K exposure is split across frames within the same event.</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9808" y="182880"/>
            <a:ext cx="2743200" cy="118872"/>
          </a:xfrm>
          <a:prstGeom prst="rect">
            <a:avLst/>
          </a:prstGeom>
          <a:noFill/>
          <a:ln/>
        </p:spPr>
        <p:txBody>
          <a:bodyPr wrap="square" lIns="0" tIns="0" rIns="0" bIns="0" rtlCol="0" anchor="ctr"/>
          <a:lstStyle/>
          <a:p>
            <a:pPr indent="0" marL="0">
              <a:buNone/>
            </a:pPr>
            <a:r>
              <a:rPr lang="en-US" sz="1020" b="1" spc="75" kern="0" dirty="0">
                <a:solidFill>
                  <a:srgbClr val="666666"/>
                </a:solidFill>
                <a:latin typeface="Arial" pitchFamily="34" charset="0"/>
                <a:ea typeface="Arial" pitchFamily="34" charset="-122"/>
                <a:cs typeface="Arial" pitchFamily="34" charset="-120"/>
              </a:rPr>
              <a:t>STEP 2B</a:t>
            </a:r>
            <a:endParaRPr lang="en-US" sz="1020" dirty="0"/>
          </a:p>
        </p:txBody>
      </p:sp>
      <p:sp>
        <p:nvSpPr>
          <p:cNvPr id="3" name="Text 1"/>
          <p:cNvSpPr/>
          <p:nvPr/>
        </p:nvSpPr>
        <p:spPr>
          <a:xfrm>
            <a:off x="749808" y="438912"/>
            <a:ext cx="10378440" cy="274320"/>
          </a:xfrm>
          <a:prstGeom prst="rect">
            <a:avLst/>
          </a:prstGeom>
          <a:noFill/>
          <a:ln/>
        </p:spPr>
        <p:txBody>
          <a:bodyPr wrap="square" lIns="0" tIns="0" rIns="0" bIns="0" rtlCol="0" anchor="ctr"/>
          <a:lstStyle/>
          <a:p>
            <a:pPr indent="0" marL="0">
              <a:buNone/>
            </a:pPr>
            <a:r>
              <a:rPr lang="en-US" sz="2600" dirty="0">
                <a:solidFill>
                  <a:srgbClr val="111111"/>
                </a:solidFill>
                <a:latin typeface="Georgia" pitchFamily="34" charset="0"/>
                <a:ea typeface="Georgia" pitchFamily="34" charset="-122"/>
                <a:cs typeface="Georgia" pitchFamily="34" charset="-120"/>
              </a:rPr>
              <a:t>Inside one event: frame exposure share and frame supply share</a:t>
            </a:r>
            <a:endParaRPr lang="en-US" sz="2600" dirty="0"/>
          </a:p>
        </p:txBody>
      </p:sp>
      <p:sp>
        <p:nvSpPr>
          <p:cNvPr id="4" name="Shape 2"/>
          <p:cNvSpPr/>
          <p:nvPr/>
        </p:nvSpPr>
        <p:spPr>
          <a:xfrm>
            <a:off x="749808" y="841248"/>
            <a:ext cx="10698480" cy="0"/>
          </a:xfrm>
          <a:prstGeom prst="line">
            <a:avLst/>
          </a:prstGeom>
          <a:noFill/>
          <a:ln w="12700">
            <a:solidFill>
              <a:srgbClr val="D7D7D7"/>
            </a:solidFill>
            <a:prstDash val="solid"/>
          </a:ln>
        </p:spPr>
      </p:sp>
      <p:sp>
        <p:nvSpPr>
          <p:cNvPr id="5" name="Text 3"/>
          <p:cNvSpPr/>
          <p:nvPr/>
        </p:nvSpPr>
        <p:spPr>
          <a:xfrm>
            <a:off x="11173968" y="283464"/>
            <a:ext cx="201168" cy="118872"/>
          </a:xfrm>
          <a:prstGeom prst="rect">
            <a:avLst/>
          </a:prstGeom>
          <a:noFill/>
          <a:ln/>
        </p:spPr>
        <p:txBody>
          <a:bodyPr wrap="square" lIns="0" tIns="0" rIns="0" bIns="0" rtlCol="0" anchor="ctr"/>
          <a:lstStyle/>
          <a:p>
            <a:pPr algn="r" indent="0" marL="0">
              <a:buNone/>
            </a:pPr>
            <a:r>
              <a:rPr lang="en-US" sz="1020" dirty="0">
                <a:solidFill>
                  <a:srgbClr val="666666"/>
                </a:solidFill>
                <a:latin typeface="Arial" pitchFamily="34" charset="0"/>
                <a:ea typeface="Arial" pitchFamily="34" charset="-122"/>
                <a:cs typeface="Arial" pitchFamily="34" charset="-120"/>
              </a:rPr>
              <a:t>7</a:t>
            </a:r>
            <a:endParaRPr lang="en-US" sz="1020" dirty="0"/>
          </a:p>
        </p:txBody>
      </p:sp>
      <p:sp>
        <p:nvSpPr>
          <p:cNvPr id="6" name="Shape 4"/>
          <p:cNvSpPr/>
          <p:nvPr/>
        </p:nvSpPr>
        <p:spPr>
          <a:xfrm>
            <a:off x="6053328" y="1097280"/>
            <a:ext cx="0" cy="4535424"/>
          </a:xfrm>
          <a:prstGeom prst="line">
            <a:avLst/>
          </a:prstGeom>
          <a:noFill/>
          <a:ln w="12700">
            <a:solidFill>
              <a:srgbClr val="D7D7D7"/>
            </a:solidFill>
            <a:prstDash val="solid"/>
          </a:ln>
        </p:spPr>
      </p:sp>
      <p:sp>
        <p:nvSpPr>
          <p:cNvPr id="7" name="Text 5"/>
          <p:cNvSpPr/>
          <p:nvPr/>
        </p:nvSpPr>
        <p:spPr>
          <a:xfrm>
            <a:off x="914400" y="1078992"/>
            <a:ext cx="182880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EVENT-LEVEL FRAME MAP</a:t>
            </a:r>
            <a:endParaRPr lang="en-US" sz="1070" dirty="0"/>
          </a:p>
        </p:txBody>
      </p:sp>
      <p:sp>
        <p:nvSpPr>
          <p:cNvPr id="8" name="Shape 6"/>
          <p:cNvSpPr/>
          <p:nvPr/>
        </p:nvSpPr>
        <p:spPr>
          <a:xfrm>
            <a:off x="914400" y="1316736"/>
            <a:ext cx="4828032" cy="3749040"/>
          </a:xfrm>
          <a:prstGeom prst="rect">
            <a:avLst/>
          </a:prstGeom>
          <a:solidFill>
            <a:srgbClr val="FBFBFB"/>
          </a:solidFill>
          <a:ln w="10795">
            <a:solidFill>
              <a:srgbClr val="D7D7D7"/>
            </a:solidFill>
            <a:prstDash val="solid"/>
          </a:ln>
        </p:spPr>
      </p:sp>
      <p:sp>
        <p:nvSpPr>
          <p:cNvPr id="9" name="Text 7"/>
          <p:cNvSpPr/>
          <p:nvPr/>
        </p:nvSpPr>
        <p:spPr>
          <a:xfrm>
            <a:off x="1060704" y="1627632"/>
            <a:ext cx="1207008" cy="219456"/>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z</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a:t>
            </a:r>
            <a:pPr algn="l" indent="0" marL="0">
              <a:buNone/>
            </a:pPr>
            <a:r>
              <a:rPr lang="en-US" sz="2200" dirty="0">
                <a:solidFill>
                  <a:srgbClr val="111111"/>
                </a:solidFill>
                <a:latin typeface="Cambria Math" pitchFamily="34" charset="0"/>
                <a:ea typeface="Cambria Math" pitchFamily="34" charset="-122"/>
                <a:cs typeface="Cambria Math" pitchFamily="34" charset="-120"/>
              </a:rPr>
              <a:t> ∈ ℱ</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h</a:t>
            </a:r>
            <a:endParaRPr lang="en-US" sz="2200" dirty="0"/>
          </a:p>
        </p:txBody>
      </p:sp>
      <p:sp>
        <p:nvSpPr>
          <p:cNvPr id="10" name="Text 8"/>
          <p:cNvSpPr/>
          <p:nvPr/>
        </p:nvSpPr>
        <p:spPr>
          <a:xfrm>
            <a:off x="2487168" y="1664208"/>
            <a:ext cx="2944368" cy="128016"/>
          </a:xfrm>
          <a:prstGeom prst="rect">
            <a:avLst/>
          </a:prstGeom>
          <a:noFill/>
          <a:ln/>
        </p:spPr>
        <p:txBody>
          <a:bodyPr wrap="square" lIns="0" tIns="0" rIns="0" bIns="0" rtlCol="0" anchor="t">
            <a:normAutofit/>
          </a:bodyPr>
          <a:lstStyle/>
          <a:p>
            <a:pPr indent="0" marL="0">
              <a:buNone/>
            </a:pPr>
            <a:r>
              <a:rPr lang="en-US" sz="1300" dirty="0">
                <a:solidFill>
                  <a:srgbClr val="666666"/>
                </a:solidFill>
                <a:latin typeface="Arial" pitchFamily="34" charset="0"/>
                <a:ea typeface="Arial" pitchFamily="34" charset="-122"/>
                <a:cs typeface="Arial" pitchFamily="34" charset="-120"/>
              </a:rPr>
              <a:t>Frame label of post i inside event cluster h.</a:t>
            </a:r>
            <a:endParaRPr lang="en-US" sz="1300" dirty="0"/>
          </a:p>
        </p:txBody>
      </p:sp>
      <p:sp>
        <p:nvSpPr>
          <p:cNvPr id="11" name="Text 9"/>
          <p:cNvSpPr/>
          <p:nvPr/>
        </p:nvSpPr>
        <p:spPr>
          <a:xfrm>
            <a:off x="1060704" y="2231136"/>
            <a:ext cx="4535424" cy="256032"/>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Y</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pPr algn="l" indent="0" marL="0">
              <a:buNone/>
            </a:pPr>
            <a:r>
              <a:rPr lang="en-US" sz="2200" dirty="0">
                <a:solidFill>
                  <a:srgbClr val="111111"/>
                </a:solidFill>
                <a:latin typeface="Cambria Math" pitchFamily="34" charset="0"/>
                <a:ea typeface="Cambria Math" pitchFamily="34" charset="-122"/>
                <a:cs typeface="Cambria Math" pitchFamily="34" charset="-120"/>
              </a:rPr>
              <a:t> = ∑</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 : hᵢ = h, zᵢ = f</a:t>
            </a:r>
            <a:pPr algn="l" indent="0" marL="0">
              <a:buNone/>
            </a:pPr>
            <a:r>
              <a:rPr lang="en-US" sz="2200" i="1" dirty="0">
                <a:solidFill>
                  <a:srgbClr val="111111"/>
                </a:solidFill>
                <a:latin typeface="Cambria Math" pitchFamily="34" charset="0"/>
                <a:ea typeface="Cambria Math" pitchFamily="34" charset="-122"/>
                <a:cs typeface="Cambria Math" pitchFamily="34" charset="-120"/>
              </a:rPr>
              <a:t>y</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ig</a:t>
            </a:r>
            <a:endParaRPr lang="en-US" sz="2100" dirty="0"/>
          </a:p>
        </p:txBody>
      </p:sp>
      <p:sp>
        <p:nvSpPr>
          <p:cNvPr id="12" name="Text 10"/>
          <p:cNvSpPr/>
          <p:nvPr/>
        </p:nvSpPr>
        <p:spPr>
          <a:xfrm>
            <a:off x="1078992" y="2596896"/>
            <a:ext cx="4572000" cy="164592"/>
          </a:xfrm>
          <a:prstGeom prst="rect">
            <a:avLst/>
          </a:prstGeom>
          <a:noFill/>
          <a:ln/>
        </p:spPr>
        <p:txBody>
          <a:bodyPr wrap="square" lIns="0" tIns="0" rIns="0" bIns="0" rtlCol="0" anchor="t">
            <a:normAutofit/>
          </a:bodyPr>
          <a:lstStyle/>
          <a:p>
            <a:pPr indent="0" marL="0">
              <a:buNone/>
            </a:pPr>
            <a:r>
              <a:rPr lang="en-US" sz="1300" dirty="0">
                <a:solidFill>
                  <a:srgbClr val="666666"/>
                </a:solidFill>
                <a:latin typeface="Arial" pitchFamily="34" charset="0"/>
                <a:ea typeface="Arial" pitchFamily="34" charset="-122"/>
                <a:cs typeface="Arial" pitchFamily="34" charset="-120"/>
              </a:rPr>
              <a:t>Total monitored exposure received by frame f inside event h and context g.</a:t>
            </a:r>
            <a:endParaRPr lang="en-US" sz="1300" dirty="0"/>
          </a:p>
        </p:txBody>
      </p:sp>
      <p:sp>
        <p:nvSpPr>
          <p:cNvPr id="13" name="Text 11"/>
          <p:cNvSpPr/>
          <p:nvPr/>
        </p:nvSpPr>
        <p:spPr>
          <a:xfrm>
            <a:off x="1060704" y="3282696"/>
            <a:ext cx="960120"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x</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endParaRPr lang="en-US" sz="2120" dirty="0"/>
          </a:p>
        </p:txBody>
      </p:sp>
      <p:sp>
        <p:nvSpPr>
          <p:cNvPr id="14" name="Text 12"/>
          <p:cNvSpPr/>
          <p:nvPr/>
        </p:nvSpPr>
        <p:spPr>
          <a:xfrm>
            <a:off x="2093976" y="3145536"/>
            <a:ext cx="3246120" cy="219456"/>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Y</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endParaRPr lang="en-US" sz="2120" dirty="0"/>
          </a:p>
        </p:txBody>
      </p:sp>
      <p:sp>
        <p:nvSpPr>
          <p:cNvPr id="15" name="Shape 13"/>
          <p:cNvSpPr/>
          <p:nvPr/>
        </p:nvSpPr>
        <p:spPr>
          <a:xfrm>
            <a:off x="2112264" y="3378708"/>
            <a:ext cx="3209544" cy="0"/>
          </a:xfrm>
          <a:prstGeom prst="line">
            <a:avLst/>
          </a:prstGeom>
          <a:noFill/>
          <a:ln w="11430">
            <a:solidFill>
              <a:srgbClr val="111111"/>
            </a:solidFill>
            <a:prstDash val="solid"/>
          </a:ln>
        </p:spPr>
      </p:sp>
      <p:sp>
        <p:nvSpPr>
          <p:cNvPr id="16" name="Text 14"/>
          <p:cNvSpPr/>
          <p:nvPr/>
        </p:nvSpPr>
        <p:spPr>
          <a:xfrm>
            <a:off x="2093976" y="3406140"/>
            <a:ext cx="3246120" cy="219456"/>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u</a:t>
            </a:r>
            <a:pPr algn="ctr" indent="0" marL="0">
              <a:buNone/>
            </a:pPr>
            <a:r>
              <a:rPr lang="en-US" sz="2200" i="1" dirty="0">
                <a:solidFill>
                  <a:srgbClr val="111111"/>
                </a:solidFill>
                <a:latin typeface="Cambria Math" pitchFamily="34" charset="0"/>
                <a:ea typeface="Cambria Math" pitchFamily="34" charset="-122"/>
                <a:cs typeface="Cambria Math" pitchFamily="34" charset="-120"/>
              </a:rPr>
              <a:t>Y</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uhg</a:t>
            </a:r>
            <a:endParaRPr lang="en-US" sz="2120" dirty="0"/>
          </a:p>
        </p:txBody>
      </p:sp>
      <p:sp>
        <p:nvSpPr>
          <p:cNvPr id="17" name="Text 15"/>
          <p:cNvSpPr/>
          <p:nvPr/>
        </p:nvSpPr>
        <p:spPr>
          <a:xfrm>
            <a:off x="1078992" y="3877056"/>
            <a:ext cx="4297680" cy="128016"/>
          </a:xfrm>
          <a:prstGeom prst="rect">
            <a:avLst/>
          </a:prstGeom>
          <a:noFill/>
          <a:ln/>
        </p:spPr>
        <p:txBody>
          <a:bodyPr wrap="square" lIns="0" tIns="0" rIns="0" bIns="0" rtlCol="0" anchor="t">
            <a:normAutofit/>
          </a:bodyPr>
          <a:lstStyle/>
          <a:p>
            <a:pPr algn="ctr" indent="0" marL="0">
              <a:buNone/>
            </a:pPr>
            <a:r>
              <a:rPr lang="en-US" sz="1280" dirty="0">
                <a:solidFill>
                  <a:srgbClr val="666666"/>
                </a:solidFill>
                <a:latin typeface="Arial" pitchFamily="34" charset="0"/>
                <a:ea typeface="Arial" pitchFamily="34" charset="-122"/>
                <a:cs typeface="Arial" pitchFamily="34" charset="-120"/>
              </a:rPr>
              <a:t>Frame exposure share</a:t>
            </a:r>
            <a:endParaRPr lang="en-US" sz="1280" dirty="0"/>
          </a:p>
        </p:txBody>
      </p:sp>
      <p:sp>
        <p:nvSpPr>
          <p:cNvPr id="18" name="Text 16"/>
          <p:cNvSpPr/>
          <p:nvPr/>
        </p:nvSpPr>
        <p:spPr>
          <a:xfrm>
            <a:off x="6364224" y="1078992"/>
            <a:ext cx="182880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OBSERVED FRAME SUPPLY</a:t>
            </a:r>
            <a:endParaRPr lang="en-US" sz="1070" dirty="0"/>
          </a:p>
        </p:txBody>
      </p:sp>
      <p:sp>
        <p:nvSpPr>
          <p:cNvPr id="19" name="Shape 17"/>
          <p:cNvSpPr/>
          <p:nvPr/>
        </p:nvSpPr>
        <p:spPr>
          <a:xfrm>
            <a:off x="6364224" y="1316736"/>
            <a:ext cx="4828032" cy="3749040"/>
          </a:xfrm>
          <a:prstGeom prst="rect">
            <a:avLst/>
          </a:prstGeom>
          <a:solidFill>
            <a:srgbClr val="FBFBFB"/>
          </a:solidFill>
          <a:ln w="10795">
            <a:solidFill>
              <a:srgbClr val="D7D7D7"/>
            </a:solidFill>
            <a:prstDash val="solid"/>
          </a:ln>
        </p:spPr>
      </p:sp>
      <p:sp>
        <p:nvSpPr>
          <p:cNvPr id="20" name="Text 18"/>
          <p:cNvSpPr/>
          <p:nvPr/>
        </p:nvSpPr>
        <p:spPr>
          <a:xfrm>
            <a:off x="6510528" y="1773936"/>
            <a:ext cx="4498848" cy="512064"/>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N</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pPr algn="l" indent="0" marL="0">
              <a:buNone/>
            </a:pPr>
            <a:r>
              <a:rPr lang="en-US" sz="2200" dirty="0">
                <a:solidFill>
                  <a:srgbClr val="111111"/>
                </a:solidFill>
                <a:latin typeface="Cambria Math" pitchFamily="34" charset="0"/>
                <a:ea typeface="Cambria Math" pitchFamily="34" charset="-122"/>
                <a:cs typeface="Cambria Math" pitchFamily="34" charset="-120"/>
              </a:rPr>
              <a:t> = | { i : hᵢ = h, zᵢ = f, i observed in (h, g) } |</a:t>
            </a:r>
            <a:endParaRPr lang="en-US" sz="2000" dirty="0"/>
          </a:p>
        </p:txBody>
      </p:sp>
      <p:sp>
        <p:nvSpPr>
          <p:cNvPr id="21" name="Text 19"/>
          <p:cNvSpPr/>
          <p:nvPr/>
        </p:nvSpPr>
        <p:spPr>
          <a:xfrm>
            <a:off x="6528816" y="2377440"/>
            <a:ext cx="4553712" cy="164592"/>
          </a:xfrm>
          <a:prstGeom prst="rect">
            <a:avLst/>
          </a:prstGeom>
          <a:noFill/>
          <a:ln/>
        </p:spPr>
        <p:txBody>
          <a:bodyPr wrap="square" lIns="0" tIns="0" rIns="0" bIns="0" rtlCol="0" anchor="t">
            <a:normAutofit/>
          </a:bodyPr>
          <a:lstStyle/>
          <a:p>
            <a:pPr indent="0" marL="0">
              <a:buNone/>
            </a:pPr>
            <a:r>
              <a:rPr lang="en-US" sz="1300" dirty="0">
                <a:solidFill>
                  <a:srgbClr val="666666"/>
                </a:solidFill>
                <a:latin typeface="Arial" pitchFamily="34" charset="0"/>
                <a:ea typeface="Arial" pitchFamily="34" charset="-122"/>
                <a:cs typeface="Arial" pitchFamily="34" charset="-120"/>
              </a:rPr>
              <a:t>Observed candidate count for frame f inside the same event and context.</a:t>
            </a:r>
            <a:endParaRPr lang="en-US" sz="1300" dirty="0"/>
          </a:p>
        </p:txBody>
      </p:sp>
      <p:sp>
        <p:nvSpPr>
          <p:cNvPr id="22" name="Text 20"/>
          <p:cNvSpPr/>
          <p:nvPr/>
        </p:nvSpPr>
        <p:spPr>
          <a:xfrm>
            <a:off x="6510528" y="3282696"/>
            <a:ext cx="960120"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s</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endParaRPr lang="en-US" sz="2120" dirty="0"/>
          </a:p>
        </p:txBody>
      </p:sp>
      <p:sp>
        <p:nvSpPr>
          <p:cNvPr id="23" name="Text 21"/>
          <p:cNvSpPr/>
          <p:nvPr/>
        </p:nvSpPr>
        <p:spPr>
          <a:xfrm>
            <a:off x="7543800" y="3145536"/>
            <a:ext cx="3264408" cy="219456"/>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N</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endParaRPr lang="en-US" sz="2120" dirty="0"/>
          </a:p>
        </p:txBody>
      </p:sp>
      <p:sp>
        <p:nvSpPr>
          <p:cNvPr id="24" name="Shape 22"/>
          <p:cNvSpPr/>
          <p:nvPr/>
        </p:nvSpPr>
        <p:spPr>
          <a:xfrm>
            <a:off x="7562088" y="3378708"/>
            <a:ext cx="3227832" cy="0"/>
          </a:xfrm>
          <a:prstGeom prst="line">
            <a:avLst/>
          </a:prstGeom>
          <a:noFill/>
          <a:ln w="11430">
            <a:solidFill>
              <a:srgbClr val="111111"/>
            </a:solidFill>
            <a:prstDash val="solid"/>
          </a:ln>
        </p:spPr>
      </p:sp>
      <p:sp>
        <p:nvSpPr>
          <p:cNvPr id="25" name="Text 23"/>
          <p:cNvSpPr/>
          <p:nvPr/>
        </p:nvSpPr>
        <p:spPr>
          <a:xfrm>
            <a:off x="7543800" y="3406140"/>
            <a:ext cx="3264408" cy="219456"/>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u</a:t>
            </a:r>
            <a:pPr algn="ctr" indent="0" marL="0">
              <a:buNone/>
            </a:pPr>
            <a:r>
              <a:rPr lang="en-US" sz="2200" i="1" dirty="0">
                <a:solidFill>
                  <a:srgbClr val="111111"/>
                </a:solidFill>
                <a:latin typeface="Cambria Math" pitchFamily="34" charset="0"/>
                <a:ea typeface="Cambria Math" pitchFamily="34" charset="-122"/>
                <a:cs typeface="Cambria Math" pitchFamily="34" charset="-120"/>
              </a:rPr>
              <a:t>N</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uhg</a:t>
            </a:r>
            <a:endParaRPr lang="en-US" sz="2120" dirty="0"/>
          </a:p>
        </p:txBody>
      </p:sp>
      <p:sp>
        <p:nvSpPr>
          <p:cNvPr id="26" name="Text 24"/>
          <p:cNvSpPr/>
          <p:nvPr/>
        </p:nvSpPr>
        <p:spPr>
          <a:xfrm>
            <a:off x="6547104" y="3877056"/>
            <a:ext cx="4206240" cy="128016"/>
          </a:xfrm>
          <a:prstGeom prst="rect">
            <a:avLst/>
          </a:prstGeom>
          <a:noFill/>
          <a:ln/>
        </p:spPr>
        <p:txBody>
          <a:bodyPr wrap="square" lIns="0" tIns="0" rIns="0" bIns="0" rtlCol="0" anchor="t">
            <a:normAutofit/>
          </a:bodyPr>
          <a:lstStyle/>
          <a:p>
            <a:pPr algn="ctr" indent="0" marL="0">
              <a:buNone/>
            </a:pPr>
            <a:r>
              <a:rPr lang="en-US" sz="1280" dirty="0">
                <a:solidFill>
                  <a:srgbClr val="666666"/>
                </a:solidFill>
                <a:latin typeface="Arial" pitchFamily="34" charset="0"/>
                <a:ea typeface="Arial" pitchFamily="34" charset="-122"/>
                <a:cs typeface="Arial" pitchFamily="34" charset="-120"/>
              </a:rPr>
              <a:t>Frame supply share</a:t>
            </a:r>
            <a:endParaRPr lang="en-US" sz="1280" dirty="0"/>
          </a:p>
        </p:txBody>
      </p:sp>
      <p:sp>
        <p:nvSpPr>
          <p:cNvPr id="27" name="Shape 25"/>
          <p:cNvSpPr/>
          <p:nvPr/>
        </p:nvSpPr>
        <p:spPr>
          <a:xfrm>
            <a:off x="914400" y="5559552"/>
            <a:ext cx="10277856" cy="457200"/>
          </a:xfrm>
          <a:prstGeom prst="rect">
            <a:avLst/>
          </a:prstGeom>
          <a:solidFill>
            <a:srgbClr val="FBFBFB"/>
          </a:solidFill>
          <a:ln w="10795">
            <a:solidFill>
              <a:srgbClr val="D7D7D7"/>
            </a:solidFill>
            <a:prstDash val="solid"/>
          </a:ln>
        </p:spPr>
      </p:sp>
      <p:sp>
        <p:nvSpPr>
          <p:cNvPr id="28" name="Text 26"/>
          <p:cNvSpPr/>
          <p:nvPr/>
        </p:nvSpPr>
        <p:spPr>
          <a:xfrm>
            <a:off x="1078992" y="5669280"/>
            <a:ext cx="9875520" cy="164592"/>
          </a:xfrm>
          <a:prstGeom prst="rect">
            <a:avLst/>
          </a:prstGeom>
          <a:noFill/>
          <a:ln/>
        </p:spPr>
        <p:txBody>
          <a:bodyPr wrap="square" lIns="0" tIns="0" rIns="0" bIns="0" rtlCol="0" anchor="t">
            <a:normAutofit/>
          </a:bodyPr>
          <a:lstStyle/>
          <a:p>
            <a:pPr indent="0" marL="0">
              <a:buNone/>
            </a:pPr>
            <a:r>
              <a:rPr lang="en-US" sz="1650" dirty="0">
                <a:solidFill>
                  <a:srgbClr val="1F2937"/>
                </a:solidFill>
                <a:latin typeface="Arial" pitchFamily="34" charset="0"/>
                <a:ea typeface="Arial" pitchFamily="34" charset="-122"/>
                <a:cs typeface="Arial" pitchFamily="34" charset="-120"/>
              </a:rPr>
              <a:t>If x_fhg = s_fhg, monitored exposure mirrors observed frame supply inside event h and context g.</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9808" y="182880"/>
            <a:ext cx="2743200" cy="118872"/>
          </a:xfrm>
          <a:prstGeom prst="rect">
            <a:avLst/>
          </a:prstGeom>
          <a:noFill/>
          <a:ln/>
        </p:spPr>
        <p:txBody>
          <a:bodyPr wrap="square" lIns="0" tIns="0" rIns="0" bIns="0" rtlCol="0" anchor="ctr"/>
          <a:lstStyle/>
          <a:p>
            <a:pPr indent="0" marL="0">
              <a:buNone/>
            </a:pPr>
            <a:r>
              <a:rPr lang="en-US" sz="1020" b="1" spc="75" kern="0" dirty="0">
                <a:solidFill>
                  <a:srgbClr val="666666"/>
                </a:solidFill>
                <a:latin typeface="Arial" pitchFamily="34" charset="0"/>
                <a:ea typeface="Arial" pitchFamily="34" charset="-122"/>
                <a:cs typeface="Arial" pitchFamily="34" charset="-120"/>
              </a:rPr>
              <a:t>RQ2 RAW DISPARITY</a:t>
            </a:r>
            <a:endParaRPr lang="en-US" sz="1020" dirty="0"/>
          </a:p>
        </p:txBody>
      </p:sp>
      <p:sp>
        <p:nvSpPr>
          <p:cNvPr id="3" name="Text 1"/>
          <p:cNvSpPr/>
          <p:nvPr/>
        </p:nvSpPr>
        <p:spPr>
          <a:xfrm>
            <a:off x="749808" y="438912"/>
            <a:ext cx="10378440" cy="274320"/>
          </a:xfrm>
          <a:prstGeom prst="rect">
            <a:avLst/>
          </a:prstGeom>
          <a:noFill/>
          <a:ln/>
        </p:spPr>
        <p:txBody>
          <a:bodyPr wrap="square" lIns="0" tIns="0" rIns="0" bIns="0" rtlCol="0" anchor="ctr"/>
          <a:lstStyle/>
          <a:p>
            <a:pPr indent="0" marL="0">
              <a:buNone/>
            </a:pPr>
            <a:r>
              <a:rPr lang="en-US" sz="2600" dirty="0">
                <a:solidFill>
                  <a:srgbClr val="111111"/>
                </a:solidFill>
                <a:latin typeface="Georgia" pitchFamily="34" charset="0"/>
                <a:ea typeface="Georgia" pitchFamily="34" charset="-122"/>
                <a:cs typeface="Georgia" pitchFamily="34" charset="-120"/>
              </a:rPr>
              <a:t>Frame exposure versus frame supply, before adjustment</a:t>
            </a:r>
            <a:endParaRPr lang="en-US" sz="2600" dirty="0"/>
          </a:p>
        </p:txBody>
      </p:sp>
      <p:sp>
        <p:nvSpPr>
          <p:cNvPr id="4" name="Shape 2"/>
          <p:cNvSpPr/>
          <p:nvPr/>
        </p:nvSpPr>
        <p:spPr>
          <a:xfrm>
            <a:off x="749808" y="841248"/>
            <a:ext cx="10698480" cy="0"/>
          </a:xfrm>
          <a:prstGeom prst="line">
            <a:avLst/>
          </a:prstGeom>
          <a:noFill/>
          <a:ln w="12700">
            <a:solidFill>
              <a:srgbClr val="D7D7D7"/>
            </a:solidFill>
            <a:prstDash val="solid"/>
          </a:ln>
        </p:spPr>
      </p:sp>
      <p:sp>
        <p:nvSpPr>
          <p:cNvPr id="5" name="Text 3"/>
          <p:cNvSpPr/>
          <p:nvPr/>
        </p:nvSpPr>
        <p:spPr>
          <a:xfrm>
            <a:off x="11173968" y="283464"/>
            <a:ext cx="201168" cy="118872"/>
          </a:xfrm>
          <a:prstGeom prst="rect">
            <a:avLst/>
          </a:prstGeom>
          <a:noFill/>
          <a:ln/>
        </p:spPr>
        <p:txBody>
          <a:bodyPr wrap="square" lIns="0" tIns="0" rIns="0" bIns="0" rtlCol="0" anchor="ctr"/>
          <a:lstStyle/>
          <a:p>
            <a:pPr algn="r" indent="0" marL="0">
              <a:buNone/>
            </a:pPr>
            <a:r>
              <a:rPr lang="en-US" sz="1020" dirty="0">
                <a:solidFill>
                  <a:srgbClr val="666666"/>
                </a:solidFill>
                <a:latin typeface="Arial" pitchFamily="34" charset="0"/>
                <a:ea typeface="Arial" pitchFamily="34" charset="-122"/>
                <a:cs typeface="Arial" pitchFamily="34" charset="-120"/>
              </a:rPr>
              <a:t>8</a:t>
            </a:r>
            <a:endParaRPr lang="en-US" sz="1020" dirty="0"/>
          </a:p>
        </p:txBody>
      </p:sp>
      <p:sp>
        <p:nvSpPr>
          <p:cNvPr id="6" name="Shape 4"/>
          <p:cNvSpPr/>
          <p:nvPr/>
        </p:nvSpPr>
        <p:spPr>
          <a:xfrm>
            <a:off x="914400" y="1645920"/>
            <a:ext cx="10241280" cy="1316736"/>
          </a:xfrm>
          <a:prstGeom prst="rect">
            <a:avLst/>
          </a:prstGeom>
          <a:solidFill>
            <a:srgbClr val="F7F7F7"/>
          </a:solidFill>
          <a:ln w="10795">
            <a:solidFill>
              <a:srgbClr val="D7D7D7"/>
            </a:solidFill>
            <a:prstDash val="solid"/>
          </a:ln>
        </p:spPr>
      </p:sp>
      <p:sp>
        <p:nvSpPr>
          <p:cNvPr id="7" name="Text 5"/>
          <p:cNvSpPr/>
          <p:nvPr/>
        </p:nvSpPr>
        <p:spPr>
          <a:xfrm>
            <a:off x="1316736" y="2057400"/>
            <a:ext cx="1719072"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D</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supply</a:t>
            </a:r>
            <a:pPr algn="l" indent="0" marL="0">
              <a:buNone/>
            </a:pPr>
            <a:r>
              <a:rPr lang="en-US" sz="2200" dirty="0">
                <a:solidFill>
                  <a:srgbClr val="111111"/>
                </a:solidFill>
                <a:latin typeface="Cambria Math" pitchFamily="34" charset="0"/>
                <a:ea typeface="Cambria Math" pitchFamily="34" charset="-122"/>
                <a:cs typeface="Cambria Math" pitchFamily="34" charset="-120"/>
              </a:rPr>
              <a:t>(h, g) =</a:t>
            </a:r>
            <a:endParaRPr lang="en-US" sz="2480" dirty="0"/>
          </a:p>
        </p:txBody>
      </p:sp>
      <p:sp>
        <p:nvSpPr>
          <p:cNvPr id="8" name="Text 6"/>
          <p:cNvSpPr/>
          <p:nvPr/>
        </p:nvSpPr>
        <p:spPr>
          <a:xfrm>
            <a:off x="3108960" y="1920240"/>
            <a:ext cx="7626096" cy="274320"/>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f∈ℱh</a:t>
            </a:r>
            <a:pPr algn="ctr" indent="0" marL="0">
              <a:buNone/>
            </a:pPr>
            <a:r>
              <a:rPr lang="en-US" sz="2200" dirty="0">
                <a:solidFill>
                  <a:srgbClr val="111111"/>
                </a:solidFill>
                <a:latin typeface="Cambria Math" pitchFamily="34" charset="0"/>
                <a:ea typeface="Cambria Math" pitchFamily="34" charset="-122"/>
                <a:cs typeface="Cambria Math" pitchFamily="34" charset="-120"/>
              </a:rPr>
              <a:t> | </a:t>
            </a:r>
            <a:pPr algn="ctr" indent="0" marL="0">
              <a:buNone/>
            </a:pPr>
            <a:r>
              <a:rPr lang="en-US" sz="2200" i="1" dirty="0">
                <a:solidFill>
                  <a:srgbClr val="111111"/>
                </a:solidFill>
                <a:latin typeface="Cambria Math" pitchFamily="34" charset="0"/>
                <a:ea typeface="Cambria Math" pitchFamily="34" charset="-122"/>
                <a:cs typeface="Cambria Math" pitchFamily="34" charset="-120"/>
              </a:rPr>
              <a:t>x</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pPr algn="ctr" indent="0" marL="0">
              <a:buNone/>
            </a:pPr>
            <a:r>
              <a:rPr lang="en-US" sz="2200" dirty="0">
                <a:solidFill>
                  <a:srgbClr val="111111"/>
                </a:solidFill>
                <a:latin typeface="Cambria Math" pitchFamily="34" charset="0"/>
                <a:ea typeface="Cambria Math" pitchFamily="34" charset="-122"/>
                <a:cs typeface="Cambria Math" pitchFamily="34" charset="-120"/>
              </a:rPr>
              <a:t> − </a:t>
            </a:r>
            <a:pPr algn="ctr" indent="0" marL="0">
              <a:buNone/>
            </a:pPr>
            <a:r>
              <a:rPr lang="en-US" sz="2200" i="1" dirty="0">
                <a:solidFill>
                  <a:srgbClr val="111111"/>
                </a:solidFill>
                <a:latin typeface="Cambria Math" pitchFamily="34" charset="0"/>
                <a:ea typeface="Cambria Math" pitchFamily="34" charset="-122"/>
                <a:cs typeface="Cambria Math" pitchFamily="34" charset="-120"/>
              </a:rPr>
              <a:t>s</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pPr algn="ctr" indent="0" marL="0">
              <a:buNone/>
            </a:pPr>
            <a:r>
              <a:rPr lang="en-US" sz="2200" dirty="0">
                <a:solidFill>
                  <a:srgbClr val="111111"/>
                </a:solidFill>
                <a:latin typeface="Cambria Math" pitchFamily="34" charset="0"/>
                <a:ea typeface="Cambria Math" pitchFamily="34" charset="-122"/>
                <a:cs typeface="Cambria Math" pitchFamily="34" charset="-120"/>
              </a:rPr>
              <a:t> |</a:t>
            </a:r>
            <a:endParaRPr lang="en-US" sz="2480" dirty="0"/>
          </a:p>
        </p:txBody>
      </p:sp>
      <p:sp>
        <p:nvSpPr>
          <p:cNvPr id="9" name="Shape 7"/>
          <p:cNvSpPr/>
          <p:nvPr/>
        </p:nvSpPr>
        <p:spPr>
          <a:xfrm>
            <a:off x="3127248" y="2208276"/>
            <a:ext cx="7589520" cy="0"/>
          </a:xfrm>
          <a:prstGeom prst="line">
            <a:avLst/>
          </a:prstGeom>
          <a:noFill/>
          <a:ln w="11430">
            <a:solidFill>
              <a:srgbClr val="111111"/>
            </a:solidFill>
            <a:prstDash val="solid"/>
          </a:ln>
        </p:spPr>
      </p:sp>
      <p:sp>
        <p:nvSpPr>
          <p:cNvPr id="10" name="Text 8"/>
          <p:cNvSpPr/>
          <p:nvPr/>
        </p:nvSpPr>
        <p:spPr>
          <a:xfrm>
            <a:off x="3108960" y="2235708"/>
            <a:ext cx="7626096" cy="201168"/>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2</a:t>
            </a:r>
            <a:endParaRPr lang="en-US" sz="2480" dirty="0"/>
          </a:p>
        </p:txBody>
      </p:sp>
      <p:sp>
        <p:nvSpPr>
          <p:cNvPr id="11" name="Text 9"/>
          <p:cNvSpPr/>
          <p:nvPr/>
        </p:nvSpPr>
        <p:spPr>
          <a:xfrm>
            <a:off x="1097280" y="2596896"/>
            <a:ext cx="9875520" cy="146304"/>
          </a:xfrm>
          <a:prstGeom prst="rect">
            <a:avLst/>
          </a:prstGeom>
          <a:noFill/>
          <a:ln/>
        </p:spPr>
        <p:txBody>
          <a:bodyPr wrap="square" lIns="0" tIns="0" rIns="0" bIns="0" rtlCol="0" anchor="t">
            <a:normAutofit/>
          </a:bodyPr>
          <a:lstStyle/>
          <a:p>
            <a:pPr algn="ctr" indent="0" marL="0">
              <a:buNone/>
            </a:pPr>
            <a:r>
              <a:rPr lang="en-US" sz="1320" dirty="0">
                <a:solidFill>
                  <a:srgbClr val="666666"/>
                </a:solidFill>
                <a:latin typeface="Arial" pitchFamily="34" charset="0"/>
                <a:ea typeface="Arial" pitchFamily="34" charset="-122"/>
                <a:cs typeface="Arial" pitchFamily="34" charset="-120"/>
              </a:rPr>
              <a:t>D_supply(h,g) = 0 means frame exposure matches frame supply exactly inside (h,g).</a:t>
            </a:r>
            <a:endParaRPr lang="en-US" sz="1320" dirty="0"/>
          </a:p>
        </p:txBody>
      </p:sp>
      <p:sp>
        <p:nvSpPr>
          <p:cNvPr id="12" name="Text 10"/>
          <p:cNvSpPr/>
          <p:nvPr/>
        </p:nvSpPr>
        <p:spPr>
          <a:xfrm>
            <a:off x="914400" y="3456432"/>
            <a:ext cx="155448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PER-FRAME READING</a:t>
            </a:r>
            <a:endParaRPr lang="en-US" sz="1070" dirty="0"/>
          </a:p>
        </p:txBody>
      </p:sp>
      <p:sp>
        <p:nvSpPr>
          <p:cNvPr id="13" name="Shape 11"/>
          <p:cNvSpPr/>
          <p:nvPr/>
        </p:nvSpPr>
        <p:spPr>
          <a:xfrm>
            <a:off x="914400" y="3694176"/>
            <a:ext cx="5029200" cy="1298448"/>
          </a:xfrm>
          <a:prstGeom prst="rect">
            <a:avLst/>
          </a:prstGeom>
          <a:solidFill>
            <a:srgbClr val="FBFBFB"/>
          </a:solidFill>
          <a:ln w="10795">
            <a:solidFill>
              <a:srgbClr val="D7D7D7"/>
            </a:solidFill>
            <a:prstDash val="solid"/>
          </a:ln>
        </p:spPr>
      </p:sp>
      <p:sp>
        <p:nvSpPr>
          <p:cNvPr id="14" name="Text 12"/>
          <p:cNvSpPr/>
          <p:nvPr/>
        </p:nvSpPr>
        <p:spPr>
          <a:xfrm>
            <a:off x="1078992" y="4105656"/>
            <a:ext cx="1691640" cy="256032"/>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L</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pPr algn="l" indent="0" marL="0">
              <a:buNone/>
            </a:pPr>
            <a:r>
              <a:rPr lang="en-US" sz="2200" dirty="0">
                <a:solidFill>
                  <a:srgbClr val="111111"/>
                </a:solidFill>
                <a:latin typeface="Cambria Math" pitchFamily="34" charset="0"/>
                <a:ea typeface="Cambria Math" pitchFamily="34" charset="-122"/>
                <a:cs typeface="Cambria Math" pitchFamily="34" charset="-120"/>
              </a:rPr>
              <a:t> = log [</a:t>
            </a:r>
            <a:endParaRPr lang="en-US" sz="1920" dirty="0"/>
          </a:p>
        </p:txBody>
      </p:sp>
      <p:sp>
        <p:nvSpPr>
          <p:cNvPr id="15" name="Text 13"/>
          <p:cNvSpPr/>
          <p:nvPr/>
        </p:nvSpPr>
        <p:spPr>
          <a:xfrm>
            <a:off x="2825496" y="3986784"/>
            <a:ext cx="2624328" cy="182880"/>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x</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pPr algn="ctr" indent="0" marL="0">
              <a:buNone/>
            </a:pPr>
            <a:r>
              <a:rPr lang="en-US" sz="2200" dirty="0">
                <a:solidFill>
                  <a:srgbClr val="111111"/>
                </a:solidFill>
                <a:latin typeface="Cambria Math" pitchFamily="34" charset="0"/>
                <a:ea typeface="Cambria Math" pitchFamily="34" charset="-122"/>
                <a:cs typeface="Cambria Math" pitchFamily="34" charset="-120"/>
              </a:rPr>
              <a:t> + ε</a:t>
            </a:r>
            <a:endParaRPr lang="en-US" sz="1780" dirty="0"/>
          </a:p>
        </p:txBody>
      </p:sp>
      <p:sp>
        <p:nvSpPr>
          <p:cNvPr id="16" name="Shape 14"/>
          <p:cNvSpPr/>
          <p:nvPr/>
        </p:nvSpPr>
        <p:spPr>
          <a:xfrm>
            <a:off x="2843784" y="4178808"/>
            <a:ext cx="2587752" cy="0"/>
          </a:xfrm>
          <a:prstGeom prst="line">
            <a:avLst/>
          </a:prstGeom>
          <a:noFill/>
          <a:ln w="11430">
            <a:solidFill>
              <a:srgbClr val="111111"/>
            </a:solidFill>
            <a:prstDash val="solid"/>
          </a:ln>
        </p:spPr>
      </p:sp>
      <p:sp>
        <p:nvSpPr>
          <p:cNvPr id="17" name="Text 15"/>
          <p:cNvSpPr/>
          <p:nvPr/>
        </p:nvSpPr>
        <p:spPr>
          <a:xfrm>
            <a:off x="2825496" y="4206240"/>
            <a:ext cx="2624328" cy="182880"/>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s</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pPr algn="ctr" indent="0" marL="0">
              <a:buNone/>
            </a:pPr>
            <a:r>
              <a:rPr lang="en-US" sz="2200" dirty="0">
                <a:solidFill>
                  <a:srgbClr val="111111"/>
                </a:solidFill>
                <a:latin typeface="Cambria Math" pitchFamily="34" charset="0"/>
                <a:ea typeface="Cambria Math" pitchFamily="34" charset="-122"/>
                <a:cs typeface="Cambria Math" pitchFamily="34" charset="-120"/>
              </a:rPr>
              <a:t> + ε</a:t>
            </a:r>
            <a:endParaRPr lang="en-US" sz="1780" dirty="0"/>
          </a:p>
        </p:txBody>
      </p:sp>
      <p:sp>
        <p:nvSpPr>
          <p:cNvPr id="18" name="Text 16"/>
          <p:cNvSpPr/>
          <p:nvPr/>
        </p:nvSpPr>
        <p:spPr>
          <a:xfrm>
            <a:off x="5458968" y="4096512"/>
            <a:ext cx="164592" cy="219456"/>
          </a:xfrm>
          <a:prstGeom prst="rect">
            <a:avLst/>
          </a:prstGeom>
          <a:noFill/>
          <a:ln/>
        </p:spPr>
        <p:txBody>
          <a:bodyPr wrap="square" lIns="0" tIns="0" rIns="0" bIns="0" rtlCol="0" anchor="ctr">
            <a:normAutofit/>
          </a:bodyPr>
          <a:lstStyle/>
          <a:p>
            <a:pPr algn="l"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780" dirty="0"/>
          </a:p>
        </p:txBody>
      </p:sp>
      <p:sp>
        <p:nvSpPr>
          <p:cNvPr id="19" name="Text 17"/>
          <p:cNvSpPr/>
          <p:nvPr/>
        </p:nvSpPr>
        <p:spPr>
          <a:xfrm>
            <a:off x="1078992" y="4608576"/>
            <a:ext cx="4572000" cy="164592"/>
          </a:xfrm>
          <a:prstGeom prst="rect">
            <a:avLst/>
          </a:prstGeom>
          <a:noFill/>
          <a:ln/>
        </p:spPr>
        <p:txBody>
          <a:bodyPr wrap="square" lIns="0" tIns="0" rIns="0" bIns="0" rtlCol="0" anchor="t">
            <a:normAutofit/>
          </a:bodyPr>
          <a:lstStyle/>
          <a:p>
            <a:pPr indent="0" marL="0">
              <a:buNone/>
            </a:pPr>
            <a:r>
              <a:rPr lang="en-US" sz="1300" dirty="0">
                <a:solidFill>
                  <a:srgbClr val="666666"/>
                </a:solidFill>
                <a:latin typeface="Arial" pitchFamily="34" charset="0"/>
                <a:ea typeface="Arial" pitchFamily="34" charset="-122"/>
                <a:cs typeface="Arial" pitchFamily="34" charset="-120"/>
              </a:rPr>
              <a:t>A signed frame-level readout is often easier to interpret than the aggregate gap alone.</a:t>
            </a:r>
            <a:endParaRPr lang="en-US" sz="1300" dirty="0"/>
          </a:p>
        </p:txBody>
      </p:sp>
      <p:sp>
        <p:nvSpPr>
          <p:cNvPr id="20" name="Text 18"/>
          <p:cNvSpPr/>
          <p:nvPr/>
        </p:nvSpPr>
        <p:spPr>
          <a:xfrm>
            <a:off x="6510528" y="3456432"/>
            <a:ext cx="137160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SIGN OF L_FHG</a:t>
            </a:r>
            <a:endParaRPr lang="en-US" sz="1070" dirty="0"/>
          </a:p>
        </p:txBody>
      </p:sp>
      <p:sp>
        <p:nvSpPr>
          <p:cNvPr id="21" name="Shape 19"/>
          <p:cNvSpPr/>
          <p:nvPr/>
        </p:nvSpPr>
        <p:spPr>
          <a:xfrm>
            <a:off x="6510528" y="3694176"/>
            <a:ext cx="4297680" cy="1298448"/>
          </a:xfrm>
          <a:prstGeom prst="rect">
            <a:avLst/>
          </a:prstGeom>
          <a:solidFill>
            <a:srgbClr val="FBFBFB"/>
          </a:solidFill>
          <a:ln w="10795">
            <a:solidFill>
              <a:srgbClr val="D7D7D7"/>
            </a:solidFill>
            <a:prstDash val="solid"/>
          </a:ln>
        </p:spPr>
      </p:sp>
      <p:sp>
        <p:nvSpPr>
          <p:cNvPr id="22" name="Text 20"/>
          <p:cNvSpPr/>
          <p:nvPr/>
        </p:nvSpPr>
        <p:spPr>
          <a:xfrm>
            <a:off x="6693408" y="3877056"/>
            <a:ext cx="3931920" cy="201168"/>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L</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pPr algn="l" indent="0" marL="0">
              <a:buNone/>
            </a:pPr>
            <a:r>
              <a:rPr lang="en-US" sz="2200" dirty="0">
                <a:solidFill>
                  <a:srgbClr val="111111"/>
                </a:solidFill>
                <a:latin typeface="Cambria Math" pitchFamily="34" charset="0"/>
                <a:ea typeface="Cambria Math" pitchFamily="34" charset="-122"/>
                <a:cs typeface="Cambria Math" pitchFamily="34" charset="-120"/>
              </a:rPr>
              <a:t> &gt; 0  →  over-exposed</a:t>
            </a:r>
            <a:endParaRPr lang="en-US" sz="1820" dirty="0"/>
          </a:p>
        </p:txBody>
      </p:sp>
      <p:sp>
        <p:nvSpPr>
          <p:cNvPr id="23" name="Text 21"/>
          <p:cNvSpPr/>
          <p:nvPr/>
        </p:nvSpPr>
        <p:spPr>
          <a:xfrm>
            <a:off x="6693408" y="4206240"/>
            <a:ext cx="3931920" cy="201168"/>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L</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pPr algn="l" indent="0" marL="0">
              <a:buNone/>
            </a:pPr>
            <a:r>
              <a:rPr lang="en-US" sz="2200" dirty="0">
                <a:solidFill>
                  <a:srgbClr val="111111"/>
                </a:solidFill>
                <a:latin typeface="Cambria Math" pitchFamily="34" charset="0"/>
                <a:ea typeface="Cambria Math" pitchFamily="34" charset="-122"/>
                <a:cs typeface="Cambria Math" pitchFamily="34" charset="-120"/>
              </a:rPr>
              <a:t> &lt; 0  →  under-exposed</a:t>
            </a:r>
            <a:endParaRPr lang="en-US" sz="1820" dirty="0"/>
          </a:p>
        </p:txBody>
      </p:sp>
      <p:sp>
        <p:nvSpPr>
          <p:cNvPr id="24" name="Text 22"/>
          <p:cNvSpPr/>
          <p:nvPr/>
        </p:nvSpPr>
        <p:spPr>
          <a:xfrm>
            <a:off x="6693408" y="4535424"/>
            <a:ext cx="3931920" cy="201168"/>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L</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pPr algn="l" indent="0" marL="0">
              <a:buNone/>
            </a:pPr>
            <a:r>
              <a:rPr lang="en-US" sz="2200" dirty="0">
                <a:solidFill>
                  <a:srgbClr val="111111"/>
                </a:solidFill>
                <a:latin typeface="Cambria Math" pitchFamily="34" charset="0"/>
                <a:ea typeface="Cambria Math" pitchFamily="34" charset="-122"/>
                <a:cs typeface="Cambria Math" pitchFamily="34" charset="-120"/>
              </a:rPr>
              <a:t> = 0  →  supply-matched</a:t>
            </a:r>
            <a:endParaRPr lang="en-US" sz="1820" dirty="0"/>
          </a:p>
        </p:txBody>
      </p:sp>
      <p:sp>
        <p:nvSpPr>
          <p:cNvPr id="25" name="Shape 23"/>
          <p:cNvSpPr/>
          <p:nvPr/>
        </p:nvSpPr>
        <p:spPr>
          <a:xfrm>
            <a:off x="914400" y="5577840"/>
            <a:ext cx="10222992" cy="457200"/>
          </a:xfrm>
          <a:prstGeom prst="rect">
            <a:avLst/>
          </a:prstGeom>
          <a:solidFill>
            <a:srgbClr val="FBFBFB"/>
          </a:solidFill>
          <a:ln w="10795">
            <a:solidFill>
              <a:srgbClr val="D7D7D7"/>
            </a:solidFill>
            <a:prstDash val="solid"/>
          </a:ln>
        </p:spPr>
      </p:sp>
      <p:sp>
        <p:nvSpPr>
          <p:cNvPr id="26" name="Text 24"/>
          <p:cNvSpPr/>
          <p:nvPr/>
        </p:nvSpPr>
        <p:spPr>
          <a:xfrm>
            <a:off x="1078992" y="5687568"/>
            <a:ext cx="9875520" cy="164592"/>
          </a:xfrm>
          <a:prstGeom prst="rect">
            <a:avLst/>
          </a:prstGeom>
          <a:noFill/>
          <a:ln/>
        </p:spPr>
        <p:txBody>
          <a:bodyPr wrap="square" lIns="0" tIns="0" rIns="0" bIns="0" rtlCol="0" anchor="t">
            <a:normAutofit/>
          </a:bodyPr>
          <a:lstStyle/>
          <a:p>
            <a:pPr indent="0" marL="0">
              <a:buNone/>
            </a:pPr>
            <a:r>
              <a:rPr lang="en-US" sz="1650" dirty="0">
                <a:solidFill>
                  <a:srgbClr val="1F2937"/>
                </a:solidFill>
                <a:latin typeface="Arial" pitchFamily="34" charset="0"/>
                <a:ea typeface="Arial" pitchFamily="34" charset="-122"/>
                <a:cs typeface="Arial" pitchFamily="34" charset="-120"/>
              </a:rPr>
              <a:t>This is the cleanest first-pass answer to RQ2, before letting any adjusted baseline explain away part of the disparity.</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9808" y="182880"/>
            <a:ext cx="2743200" cy="118872"/>
          </a:xfrm>
          <a:prstGeom prst="rect">
            <a:avLst/>
          </a:prstGeom>
          <a:noFill/>
          <a:ln/>
        </p:spPr>
        <p:txBody>
          <a:bodyPr wrap="square" lIns="0" tIns="0" rIns="0" bIns="0" rtlCol="0" anchor="ctr"/>
          <a:lstStyle/>
          <a:p>
            <a:pPr indent="0" marL="0">
              <a:buNone/>
            </a:pPr>
            <a:r>
              <a:rPr lang="en-US" sz="1020" b="1" spc="75" kern="0" dirty="0">
                <a:solidFill>
                  <a:srgbClr val="666666"/>
                </a:solidFill>
                <a:latin typeface="Arial" pitchFamily="34" charset="0"/>
                <a:ea typeface="Arial" pitchFamily="34" charset="-122"/>
                <a:cs typeface="Arial" pitchFamily="34" charset="-120"/>
              </a:rPr>
              <a:t>RQ2 ADJUSTED BASELINE</a:t>
            </a:r>
            <a:endParaRPr lang="en-US" sz="1020" dirty="0"/>
          </a:p>
        </p:txBody>
      </p:sp>
      <p:sp>
        <p:nvSpPr>
          <p:cNvPr id="3" name="Text 1"/>
          <p:cNvSpPr/>
          <p:nvPr/>
        </p:nvSpPr>
        <p:spPr>
          <a:xfrm>
            <a:off x="749808" y="438912"/>
            <a:ext cx="10378440" cy="274320"/>
          </a:xfrm>
          <a:prstGeom prst="rect">
            <a:avLst/>
          </a:prstGeom>
          <a:noFill/>
          <a:ln/>
        </p:spPr>
        <p:txBody>
          <a:bodyPr wrap="square" lIns="0" tIns="0" rIns="0" bIns="0" rtlCol="0" anchor="ctr"/>
          <a:lstStyle/>
          <a:p>
            <a:pPr indent="0" marL="0">
              <a:buNone/>
            </a:pPr>
            <a:r>
              <a:rPr lang="en-US" sz="2600" dirty="0">
                <a:solidFill>
                  <a:srgbClr val="111111"/>
                </a:solidFill>
                <a:latin typeface="Georgia" pitchFamily="34" charset="0"/>
                <a:ea typeface="Georgia" pitchFamily="34" charset="-122"/>
                <a:cs typeface="Georgia" pitchFamily="34" charset="-120"/>
              </a:rPr>
              <a:t>Apply the same layered logic at the frame level</a:t>
            </a:r>
            <a:endParaRPr lang="en-US" sz="2600" dirty="0"/>
          </a:p>
        </p:txBody>
      </p:sp>
      <p:sp>
        <p:nvSpPr>
          <p:cNvPr id="4" name="Shape 2"/>
          <p:cNvSpPr/>
          <p:nvPr/>
        </p:nvSpPr>
        <p:spPr>
          <a:xfrm>
            <a:off x="749808" y="841248"/>
            <a:ext cx="10698480" cy="0"/>
          </a:xfrm>
          <a:prstGeom prst="line">
            <a:avLst/>
          </a:prstGeom>
          <a:noFill/>
          <a:ln w="12700">
            <a:solidFill>
              <a:srgbClr val="D7D7D7"/>
            </a:solidFill>
            <a:prstDash val="solid"/>
          </a:ln>
        </p:spPr>
      </p:sp>
      <p:sp>
        <p:nvSpPr>
          <p:cNvPr id="5" name="Text 3"/>
          <p:cNvSpPr/>
          <p:nvPr/>
        </p:nvSpPr>
        <p:spPr>
          <a:xfrm>
            <a:off x="11173968" y="283464"/>
            <a:ext cx="201168" cy="118872"/>
          </a:xfrm>
          <a:prstGeom prst="rect">
            <a:avLst/>
          </a:prstGeom>
          <a:noFill/>
          <a:ln/>
        </p:spPr>
        <p:txBody>
          <a:bodyPr wrap="square" lIns="0" tIns="0" rIns="0" bIns="0" rtlCol="0" anchor="ctr"/>
          <a:lstStyle/>
          <a:p>
            <a:pPr algn="r" indent="0" marL="0">
              <a:buNone/>
            </a:pPr>
            <a:r>
              <a:rPr lang="en-US" sz="1020" dirty="0">
                <a:solidFill>
                  <a:srgbClr val="666666"/>
                </a:solidFill>
                <a:latin typeface="Arial" pitchFamily="34" charset="0"/>
                <a:ea typeface="Arial" pitchFamily="34" charset="-122"/>
                <a:cs typeface="Arial" pitchFamily="34" charset="-120"/>
              </a:rPr>
              <a:t>9</a:t>
            </a:r>
            <a:endParaRPr lang="en-US" sz="1020" dirty="0"/>
          </a:p>
        </p:txBody>
      </p:sp>
      <p:sp>
        <p:nvSpPr>
          <p:cNvPr id="6" name="Text 4"/>
          <p:cNvSpPr/>
          <p:nvPr/>
        </p:nvSpPr>
        <p:spPr>
          <a:xfrm>
            <a:off x="914400" y="1078992"/>
            <a:ext cx="192024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MODEL-IMPLIED FRAME SHARE</a:t>
            </a:r>
            <a:endParaRPr lang="en-US" sz="1070" dirty="0"/>
          </a:p>
        </p:txBody>
      </p:sp>
      <p:sp>
        <p:nvSpPr>
          <p:cNvPr id="7" name="Shape 5"/>
          <p:cNvSpPr/>
          <p:nvPr/>
        </p:nvSpPr>
        <p:spPr>
          <a:xfrm>
            <a:off x="914400" y="1316736"/>
            <a:ext cx="10222992" cy="1536192"/>
          </a:xfrm>
          <a:prstGeom prst="rect">
            <a:avLst/>
          </a:prstGeom>
          <a:solidFill>
            <a:srgbClr val="F7F7F7"/>
          </a:solidFill>
          <a:ln w="10795">
            <a:solidFill>
              <a:srgbClr val="D7D7D7"/>
            </a:solidFill>
            <a:prstDash val="solid"/>
          </a:ln>
        </p:spPr>
      </p:sp>
      <p:sp>
        <p:nvSpPr>
          <p:cNvPr id="8" name="Text 6"/>
          <p:cNvSpPr/>
          <p:nvPr/>
        </p:nvSpPr>
        <p:spPr>
          <a:xfrm>
            <a:off x="1097280" y="1801368"/>
            <a:ext cx="1417320"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π</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pPr algn="l" indent="0" marL="0">
              <a:buNone/>
            </a:pPr>
            <a:r>
              <a:rPr lang="en-US" sz="2200" dirty="0">
                <a:solidFill>
                  <a:srgbClr val="111111"/>
                </a:solidFill>
                <a:latin typeface="Cambria Math" pitchFamily="34" charset="0"/>
                <a:ea typeface="Cambria Math" pitchFamily="34" charset="-122"/>
                <a:cs typeface="Cambria Math" pitchFamily="34" charset="-120"/>
              </a:rPr>
              <a:t>(M) =</a:t>
            </a:r>
            <a:endParaRPr lang="en-US" sz="2280" dirty="0"/>
          </a:p>
        </p:txBody>
      </p:sp>
      <p:sp>
        <p:nvSpPr>
          <p:cNvPr id="9" name="Text 7"/>
          <p:cNvSpPr/>
          <p:nvPr/>
        </p:nvSpPr>
        <p:spPr>
          <a:xfrm>
            <a:off x="2587752" y="1664208"/>
            <a:ext cx="8293608" cy="274320"/>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i∈(f,h,g)</a:t>
            </a:r>
            <a:pPr algn="ctr" indent="0" marL="0">
              <a:buNone/>
            </a:pPr>
            <a:r>
              <a:rPr lang="en-US" sz="2200" dirty="0">
                <a:solidFill>
                  <a:srgbClr val="111111"/>
                </a:solidFill>
                <a:latin typeface="Cambria Math" pitchFamily="34" charset="0"/>
                <a:ea typeface="Cambria Math" pitchFamily="34" charset="-122"/>
                <a:cs typeface="Cambria Math" pitchFamily="34" charset="-120"/>
              </a:rPr>
              <a:t> exp(</a:t>
            </a:r>
            <a:pPr algn="ctr" indent="0" marL="0">
              <a:buNone/>
            </a:pPr>
            <a:r>
              <a:rPr lang="en-US" sz="2200" i="1" dirty="0">
                <a:solidFill>
                  <a:srgbClr val="111111"/>
                </a:solidFill>
                <a:latin typeface="Cambria Math" pitchFamily="34" charset="0"/>
                <a:ea typeface="Cambria Math" pitchFamily="34" charset="-122"/>
                <a:cs typeface="Cambria Math" pitchFamily="34" charset="-120"/>
              </a:rPr>
              <a:t>η</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i</a:t>
            </a:r>
            <a:pPr algn="ctr" indent="0" marL="0">
              <a:buNone/>
            </a:pPr>
            <a:r>
              <a:rPr lang="en-US" sz="1500" baseline="30000" dirty="0">
                <a:solidFill>
                  <a:srgbClr val="111111"/>
                </a:solidFill>
                <a:latin typeface="Cambria Math" pitchFamily="34" charset="0"/>
                <a:ea typeface="Cambria Math" pitchFamily="34" charset="-122"/>
                <a:cs typeface="Cambria Math" pitchFamily="34" charset="-120"/>
              </a:rPr>
              <a:t>(M)</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2280" dirty="0"/>
          </a:p>
        </p:txBody>
      </p:sp>
      <p:sp>
        <p:nvSpPr>
          <p:cNvPr id="10" name="Shape 8"/>
          <p:cNvSpPr/>
          <p:nvPr/>
        </p:nvSpPr>
        <p:spPr>
          <a:xfrm>
            <a:off x="2606040" y="1952244"/>
            <a:ext cx="8257032" cy="0"/>
          </a:xfrm>
          <a:prstGeom prst="line">
            <a:avLst/>
          </a:prstGeom>
          <a:noFill/>
          <a:ln w="11430">
            <a:solidFill>
              <a:srgbClr val="111111"/>
            </a:solidFill>
            <a:prstDash val="solid"/>
          </a:ln>
        </p:spPr>
      </p:sp>
      <p:sp>
        <p:nvSpPr>
          <p:cNvPr id="11" name="Text 9"/>
          <p:cNvSpPr/>
          <p:nvPr/>
        </p:nvSpPr>
        <p:spPr>
          <a:xfrm>
            <a:off x="2587752" y="1979676"/>
            <a:ext cx="8293608" cy="274320"/>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u</a:t>
            </a:r>
            <a:pPr algn="ctr" indent="0" marL="0">
              <a:buNone/>
            </a:pPr>
            <a:r>
              <a:rPr lang="en-US" sz="2200" dirty="0">
                <a:solidFill>
                  <a:srgbClr val="111111"/>
                </a:solidFill>
                <a:latin typeface="Cambria Math" pitchFamily="34" charset="0"/>
                <a:ea typeface="Cambria Math" pitchFamily="34" charset="-122"/>
                <a:cs typeface="Cambria Math" pitchFamily="34" charset="-120"/>
              </a:rPr>
              <a:t> ∑</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j∈(u,h,g)</a:t>
            </a:r>
            <a:pPr algn="ctr" indent="0" marL="0">
              <a:buNone/>
            </a:pPr>
            <a:r>
              <a:rPr lang="en-US" sz="2200" dirty="0">
                <a:solidFill>
                  <a:srgbClr val="111111"/>
                </a:solidFill>
                <a:latin typeface="Cambria Math" pitchFamily="34" charset="0"/>
                <a:ea typeface="Cambria Math" pitchFamily="34" charset="-122"/>
                <a:cs typeface="Cambria Math" pitchFamily="34" charset="-120"/>
              </a:rPr>
              <a:t> exp(</a:t>
            </a:r>
            <a:pPr algn="ctr" indent="0" marL="0">
              <a:buNone/>
            </a:pPr>
            <a:r>
              <a:rPr lang="en-US" sz="2200" i="1" dirty="0">
                <a:solidFill>
                  <a:srgbClr val="111111"/>
                </a:solidFill>
                <a:latin typeface="Cambria Math" pitchFamily="34" charset="0"/>
                <a:ea typeface="Cambria Math" pitchFamily="34" charset="-122"/>
                <a:cs typeface="Cambria Math" pitchFamily="34" charset="-120"/>
              </a:rPr>
              <a:t>η</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j</a:t>
            </a:r>
            <a:pPr algn="ctr" indent="0" marL="0">
              <a:buNone/>
            </a:pPr>
            <a:r>
              <a:rPr lang="en-US" sz="1500" baseline="30000" dirty="0">
                <a:solidFill>
                  <a:srgbClr val="111111"/>
                </a:solidFill>
                <a:latin typeface="Cambria Math" pitchFamily="34" charset="0"/>
                <a:ea typeface="Cambria Math" pitchFamily="34" charset="-122"/>
                <a:cs typeface="Cambria Math" pitchFamily="34" charset="-120"/>
              </a:rPr>
              <a:t>(M)</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2280" dirty="0"/>
          </a:p>
        </p:txBody>
      </p:sp>
      <p:sp>
        <p:nvSpPr>
          <p:cNvPr id="12" name="Text 10"/>
          <p:cNvSpPr/>
          <p:nvPr/>
        </p:nvSpPr>
        <p:spPr>
          <a:xfrm>
            <a:off x="914400" y="3182112"/>
            <a:ext cx="182880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FRAME-LEVEL RESIDUAL GAP</a:t>
            </a:r>
            <a:endParaRPr lang="en-US" sz="1070" dirty="0"/>
          </a:p>
        </p:txBody>
      </p:sp>
      <p:sp>
        <p:nvSpPr>
          <p:cNvPr id="13" name="Shape 11"/>
          <p:cNvSpPr/>
          <p:nvPr/>
        </p:nvSpPr>
        <p:spPr>
          <a:xfrm>
            <a:off x="914400" y="3419856"/>
            <a:ext cx="5138928" cy="1389888"/>
          </a:xfrm>
          <a:prstGeom prst="rect">
            <a:avLst/>
          </a:prstGeom>
          <a:solidFill>
            <a:srgbClr val="FBFBFB"/>
          </a:solidFill>
          <a:ln w="10795">
            <a:solidFill>
              <a:srgbClr val="D7D7D7"/>
            </a:solidFill>
            <a:prstDash val="solid"/>
          </a:ln>
        </p:spPr>
      </p:sp>
      <p:sp>
        <p:nvSpPr>
          <p:cNvPr id="14" name="Text 12"/>
          <p:cNvSpPr/>
          <p:nvPr/>
        </p:nvSpPr>
        <p:spPr>
          <a:xfrm>
            <a:off x="1078992" y="3867912"/>
            <a:ext cx="1572768"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D</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M</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frame</a:t>
            </a:r>
            <a:pPr algn="l" indent="0" marL="0">
              <a:buNone/>
            </a:pPr>
            <a:r>
              <a:rPr lang="en-US" sz="2200" dirty="0">
                <a:solidFill>
                  <a:srgbClr val="111111"/>
                </a:solidFill>
                <a:latin typeface="Cambria Math" pitchFamily="34" charset="0"/>
                <a:ea typeface="Cambria Math" pitchFamily="34" charset="-122"/>
                <a:cs typeface="Cambria Math" pitchFamily="34" charset="-120"/>
              </a:rPr>
              <a:t>(h, g) =</a:t>
            </a:r>
            <a:endParaRPr lang="en-US" sz="2080" dirty="0"/>
          </a:p>
        </p:txBody>
      </p:sp>
      <p:sp>
        <p:nvSpPr>
          <p:cNvPr id="15" name="Text 13"/>
          <p:cNvSpPr/>
          <p:nvPr/>
        </p:nvSpPr>
        <p:spPr>
          <a:xfrm>
            <a:off x="2724912" y="3730752"/>
            <a:ext cx="3127248" cy="237744"/>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a:t>
            </a:r>
            <a:pPr algn="ctr" indent="0" marL="0">
              <a:buNone/>
            </a:pPr>
            <a:r>
              <a:rPr lang="en-US" sz="2200" dirty="0">
                <a:solidFill>
                  <a:srgbClr val="111111"/>
                </a:solidFill>
                <a:latin typeface="Cambria Math" pitchFamily="34" charset="0"/>
                <a:ea typeface="Cambria Math" pitchFamily="34" charset="-122"/>
                <a:cs typeface="Cambria Math" pitchFamily="34" charset="-120"/>
              </a:rPr>
              <a:t> | </a:t>
            </a:r>
            <a:pPr algn="ctr" indent="0" marL="0">
              <a:buNone/>
            </a:pPr>
            <a:r>
              <a:rPr lang="en-US" sz="2200" i="1" dirty="0">
                <a:solidFill>
                  <a:srgbClr val="111111"/>
                </a:solidFill>
                <a:latin typeface="Cambria Math" pitchFamily="34" charset="0"/>
                <a:ea typeface="Cambria Math" pitchFamily="34" charset="-122"/>
                <a:cs typeface="Cambria Math" pitchFamily="34" charset="-120"/>
              </a:rPr>
              <a:t>x</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pPr algn="ctr" indent="0" marL="0">
              <a:buNone/>
            </a:pPr>
            <a:r>
              <a:rPr lang="en-US" sz="2200" dirty="0">
                <a:solidFill>
                  <a:srgbClr val="111111"/>
                </a:solidFill>
                <a:latin typeface="Cambria Math" pitchFamily="34" charset="0"/>
                <a:ea typeface="Cambria Math" pitchFamily="34" charset="-122"/>
                <a:cs typeface="Cambria Math" pitchFamily="34" charset="-120"/>
              </a:rPr>
              <a:t> − </a:t>
            </a:r>
            <a:pPr algn="ctr" indent="0" marL="0">
              <a:buNone/>
            </a:pPr>
            <a:r>
              <a:rPr lang="en-US" sz="2200" i="1" dirty="0">
                <a:solidFill>
                  <a:srgbClr val="111111"/>
                </a:solidFill>
                <a:latin typeface="Cambria Math" pitchFamily="34" charset="0"/>
                <a:ea typeface="Cambria Math" pitchFamily="34" charset="-122"/>
                <a:cs typeface="Cambria Math" pitchFamily="34" charset="-120"/>
              </a:rPr>
              <a:t>π</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fhg</a:t>
            </a:r>
            <a:pPr algn="ctr" indent="0" marL="0">
              <a:buNone/>
            </a:pPr>
            <a:r>
              <a:rPr lang="en-US" sz="2200" dirty="0">
                <a:solidFill>
                  <a:srgbClr val="111111"/>
                </a:solidFill>
                <a:latin typeface="Cambria Math" pitchFamily="34" charset="0"/>
                <a:ea typeface="Cambria Math" pitchFamily="34" charset="-122"/>
                <a:cs typeface="Cambria Math" pitchFamily="34" charset="-120"/>
              </a:rPr>
              <a:t>(M) |</a:t>
            </a:r>
            <a:endParaRPr lang="en-US" sz="2080" dirty="0"/>
          </a:p>
        </p:txBody>
      </p:sp>
      <p:sp>
        <p:nvSpPr>
          <p:cNvPr id="16" name="Shape 14"/>
          <p:cNvSpPr/>
          <p:nvPr/>
        </p:nvSpPr>
        <p:spPr>
          <a:xfrm>
            <a:off x="2743200" y="3982212"/>
            <a:ext cx="3090672" cy="0"/>
          </a:xfrm>
          <a:prstGeom prst="line">
            <a:avLst/>
          </a:prstGeom>
          <a:noFill/>
          <a:ln w="11430">
            <a:solidFill>
              <a:srgbClr val="111111"/>
            </a:solidFill>
            <a:prstDash val="solid"/>
          </a:ln>
        </p:spPr>
      </p:sp>
      <p:sp>
        <p:nvSpPr>
          <p:cNvPr id="17" name="Text 15"/>
          <p:cNvSpPr/>
          <p:nvPr/>
        </p:nvSpPr>
        <p:spPr>
          <a:xfrm>
            <a:off x="2724912" y="4009644"/>
            <a:ext cx="3127248" cy="201168"/>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2</a:t>
            </a:r>
            <a:endParaRPr lang="en-US" sz="2080" dirty="0"/>
          </a:p>
        </p:txBody>
      </p:sp>
      <p:sp>
        <p:nvSpPr>
          <p:cNvPr id="18" name="Text 16"/>
          <p:cNvSpPr/>
          <p:nvPr/>
        </p:nvSpPr>
        <p:spPr>
          <a:xfrm>
            <a:off x="6419088" y="3182112"/>
            <a:ext cx="164592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SAME LADDER AS RQ1</a:t>
            </a:r>
            <a:endParaRPr lang="en-US" sz="1070" dirty="0"/>
          </a:p>
        </p:txBody>
      </p:sp>
      <p:sp>
        <p:nvSpPr>
          <p:cNvPr id="19" name="Shape 17"/>
          <p:cNvSpPr/>
          <p:nvPr/>
        </p:nvSpPr>
        <p:spPr>
          <a:xfrm>
            <a:off x="6419088" y="3419856"/>
            <a:ext cx="4718304" cy="1389888"/>
          </a:xfrm>
          <a:prstGeom prst="rect">
            <a:avLst/>
          </a:prstGeom>
          <a:solidFill>
            <a:srgbClr val="FBFBFB"/>
          </a:solidFill>
          <a:ln w="10795">
            <a:solidFill>
              <a:srgbClr val="D7D7D7"/>
            </a:solidFill>
            <a:prstDash val="solid"/>
          </a:ln>
        </p:spPr>
      </p:sp>
      <p:sp>
        <p:nvSpPr>
          <p:cNvPr id="20" name="Text 18"/>
          <p:cNvSpPr/>
          <p:nvPr/>
        </p:nvSpPr>
        <p:spPr>
          <a:xfrm>
            <a:off x="6565392" y="3639312"/>
            <a:ext cx="4407408" cy="18288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η</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(0)</a:t>
            </a:r>
            <a:pPr algn="l" indent="0" marL="0">
              <a:buNone/>
            </a:pPr>
            <a:r>
              <a:rPr lang="en-US" sz="2200" dirty="0">
                <a:solidFill>
                  <a:srgbClr val="111111"/>
                </a:solidFill>
                <a:latin typeface="Cambria Math" pitchFamily="34" charset="0"/>
                <a:ea typeface="Cambria Math" pitchFamily="34" charset="-122"/>
                <a:cs typeface="Cambria Math" pitchFamily="34" charset="-120"/>
              </a:rPr>
              <a:t> = f(</a:t>
            </a:r>
            <a:pPr algn="l" indent="0" marL="0">
              <a:buNone/>
            </a:pPr>
            <a:r>
              <a:rPr lang="en-US" sz="2200" i="1" dirty="0">
                <a:solidFill>
                  <a:srgbClr val="111111"/>
                </a:solidFill>
                <a:latin typeface="Cambria Math" pitchFamily="34" charset="0"/>
                <a:ea typeface="Cambria Math" pitchFamily="34" charset="-122"/>
                <a:cs typeface="Cambria Math" pitchFamily="34" charset="-120"/>
              </a:rPr>
              <a:t>τ</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g</a:t>
            </a:r>
            <a:pPr algn="l" indent="0" marL="0">
              <a:buNone/>
            </a:pPr>
            <a:r>
              <a:rPr lang="en-US" sz="2200" dirty="0">
                <a:solidFill>
                  <a:srgbClr val="111111"/>
                </a:solidFill>
                <a:latin typeface="Cambria Math" pitchFamily="34" charset="0"/>
                <a:ea typeface="Cambria Math" pitchFamily="34" charset="-122"/>
                <a:cs typeface="Cambria Math" pitchFamily="34" charset="-120"/>
              </a:rPr>
              <a:t> − </a:t>
            </a:r>
            <a:pPr algn="l" indent="0" marL="0">
              <a:buNone/>
            </a:pPr>
            <a:r>
              <a:rPr lang="en-US" sz="2200" i="1" dirty="0">
                <a:solidFill>
                  <a:srgbClr val="111111"/>
                </a:solidFill>
                <a:latin typeface="Cambria Math" pitchFamily="34" charset="0"/>
                <a:ea typeface="Cambria Math" pitchFamily="34" charset="-122"/>
                <a:cs typeface="Cambria Math" pitchFamily="34" charset="-120"/>
              </a:rPr>
              <a:t>t</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a:t>
            </a:r>
            <a:pPr algn="l"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840" dirty="0"/>
          </a:p>
        </p:txBody>
      </p:sp>
      <p:sp>
        <p:nvSpPr>
          <p:cNvPr id="21" name="Text 19"/>
          <p:cNvSpPr/>
          <p:nvPr/>
        </p:nvSpPr>
        <p:spPr>
          <a:xfrm>
            <a:off x="6565392" y="3913632"/>
            <a:ext cx="4407408" cy="18288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η</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(A)</a:t>
            </a:r>
            <a:pPr algn="l" indent="0" marL="0">
              <a:buNone/>
            </a:pPr>
            <a:r>
              <a:rPr lang="en-US" sz="2200" dirty="0">
                <a:solidFill>
                  <a:srgbClr val="111111"/>
                </a:solidFill>
                <a:latin typeface="Cambria Math" pitchFamily="34" charset="0"/>
                <a:ea typeface="Cambria Math" pitchFamily="34" charset="-122"/>
                <a:cs typeface="Cambria Math" pitchFamily="34" charset="-120"/>
              </a:rPr>
              <a:t> = </a:t>
            </a:r>
            <a:pPr algn="l" indent="0" marL="0">
              <a:buNone/>
            </a:pPr>
            <a:r>
              <a:rPr lang="en-US" sz="2200" i="1" dirty="0">
                <a:solidFill>
                  <a:srgbClr val="111111"/>
                </a:solidFill>
                <a:latin typeface="Cambria Math" pitchFamily="34" charset="0"/>
                <a:ea typeface="Cambria Math" pitchFamily="34" charset="-122"/>
                <a:cs typeface="Cambria Math" pitchFamily="34" charset="-120"/>
              </a:rPr>
              <a:t>η</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(0)</a:t>
            </a:r>
            <a:pPr algn="l" indent="0" marL="0">
              <a:buNone/>
            </a:pPr>
            <a:r>
              <a:rPr lang="en-US" sz="2200" dirty="0">
                <a:solidFill>
                  <a:srgbClr val="111111"/>
                </a:solidFill>
                <a:latin typeface="Cambria Math" pitchFamily="34" charset="0"/>
                <a:ea typeface="Cambria Math" pitchFamily="34" charset="-122"/>
                <a:cs typeface="Cambria Math" pitchFamily="34" charset="-120"/>
              </a:rPr>
              <a:t> + </a:t>
            </a:r>
            <a:pPr algn="l" indent="0" marL="0">
              <a:buNone/>
            </a:pPr>
            <a:r>
              <a:rPr lang="en-US" sz="2200" i="1" dirty="0">
                <a:solidFill>
                  <a:srgbClr val="111111"/>
                </a:solidFill>
                <a:latin typeface="Cambria Math" pitchFamily="34" charset="0"/>
                <a:ea typeface="Cambria Math" pitchFamily="34" charset="-122"/>
                <a:cs typeface="Cambria Math" pitchFamily="34" charset="-120"/>
              </a:rPr>
              <a:t>β</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A</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a:t>
            </a:r>
            <a:pPr algn="l" indent="0" marL="0">
              <a:buNone/>
            </a:pPr>
            <a:r>
              <a:rPr lang="en-US" sz="2200" dirty="0">
                <a:solidFill>
                  <a:srgbClr val="111111"/>
                </a:solidFill>
                <a:latin typeface="Cambria Math" pitchFamily="34" charset="0"/>
                <a:ea typeface="Cambria Math" pitchFamily="34" charset="-122"/>
                <a:cs typeface="Cambria Math" pitchFamily="34" charset="-120"/>
              </a:rPr>
              <a:t> X</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A</a:t>
            </a:r>
            <a:endParaRPr lang="en-US" sz="1840" dirty="0"/>
          </a:p>
        </p:txBody>
      </p:sp>
      <p:sp>
        <p:nvSpPr>
          <p:cNvPr id="22" name="Text 20"/>
          <p:cNvSpPr/>
          <p:nvPr/>
        </p:nvSpPr>
        <p:spPr>
          <a:xfrm>
            <a:off x="6565392" y="4187952"/>
            <a:ext cx="4407408" cy="18288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η</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(D)</a:t>
            </a:r>
            <a:pPr algn="l" indent="0" marL="0">
              <a:buNone/>
            </a:pPr>
            <a:r>
              <a:rPr lang="en-US" sz="2200" dirty="0">
                <a:solidFill>
                  <a:srgbClr val="111111"/>
                </a:solidFill>
                <a:latin typeface="Cambria Math" pitchFamily="34" charset="0"/>
                <a:ea typeface="Cambria Math" pitchFamily="34" charset="-122"/>
                <a:cs typeface="Cambria Math" pitchFamily="34" charset="-120"/>
              </a:rPr>
              <a:t> = </a:t>
            </a:r>
            <a:pPr algn="l" indent="0" marL="0">
              <a:buNone/>
            </a:pPr>
            <a:r>
              <a:rPr lang="en-US" sz="2200" i="1" dirty="0">
                <a:solidFill>
                  <a:srgbClr val="111111"/>
                </a:solidFill>
                <a:latin typeface="Cambria Math" pitchFamily="34" charset="0"/>
                <a:ea typeface="Cambria Math" pitchFamily="34" charset="-122"/>
                <a:cs typeface="Cambria Math" pitchFamily="34" charset="-120"/>
              </a:rPr>
              <a:t>η</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(A)</a:t>
            </a:r>
            <a:pPr algn="l" indent="0" marL="0">
              <a:buNone/>
            </a:pPr>
            <a:r>
              <a:rPr lang="en-US" sz="2200" dirty="0">
                <a:solidFill>
                  <a:srgbClr val="111111"/>
                </a:solidFill>
                <a:latin typeface="Cambria Math" pitchFamily="34" charset="0"/>
                <a:ea typeface="Cambria Math" pitchFamily="34" charset="-122"/>
                <a:cs typeface="Cambria Math" pitchFamily="34" charset="-120"/>
              </a:rPr>
              <a:t> + </a:t>
            </a:r>
            <a:pPr algn="l" indent="0" marL="0">
              <a:buNone/>
            </a:pPr>
            <a:r>
              <a:rPr lang="en-US" sz="2200" i="1" dirty="0">
                <a:solidFill>
                  <a:srgbClr val="111111"/>
                </a:solidFill>
                <a:latin typeface="Cambria Math" pitchFamily="34" charset="0"/>
                <a:ea typeface="Cambria Math" pitchFamily="34" charset="-122"/>
                <a:cs typeface="Cambria Math" pitchFamily="34" charset="-120"/>
              </a:rPr>
              <a:t>β</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D</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a:t>
            </a:r>
            <a:pPr algn="l" indent="0" marL="0">
              <a:buNone/>
            </a:pPr>
            <a:r>
              <a:rPr lang="en-US" sz="2200" dirty="0">
                <a:solidFill>
                  <a:srgbClr val="111111"/>
                </a:solidFill>
                <a:latin typeface="Cambria Math" pitchFamily="34" charset="0"/>
                <a:ea typeface="Cambria Math" pitchFamily="34" charset="-122"/>
                <a:cs typeface="Cambria Math" pitchFamily="34" charset="-120"/>
              </a:rPr>
              <a:t> X</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i</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D</a:t>
            </a:r>
            <a:endParaRPr lang="en-US" sz="1840" dirty="0"/>
          </a:p>
        </p:txBody>
      </p:sp>
      <p:sp>
        <p:nvSpPr>
          <p:cNvPr id="23" name="Text 21"/>
          <p:cNvSpPr/>
          <p:nvPr/>
        </p:nvSpPr>
        <p:spPr>
          <a:xfrm>
            <a:off x="6565392" y="4498848"/>
            <a:ext cx="4389120" cy="128016"/>
          </a:xfrm>
          <a:prstGeom prst="rect">
            <a:avLst/>
          </a:prstGeom>
          <a:noFill/>
          <a:ln/>
        </p:spPr>
        <p:txBody>
          <a:bodyPr wrap="square" lIns="0" tIns="0" rIns="0" bIns="0" rtlCol="0" anchor="t">
            <a:normAutofit/>
          </a:bodyPr>
          <a:lstStyle/>
          <a:p>
            <a:pPr indent="0" marL="0">
              <a:buNone/>
            </a:pPr>
            <a:r>
              <a:rPr lang="en-US" sz="1240" dirty="0">
                <a:solidFill>
                  <a:srgbClr val="666666"/>
                </a:solidFill>
                <a:latin typeface="Arial" pitchFamily="34" charset="0"/>
                <a:ea typeface="Arial" pitchFamily="34" charset="-122"/>
                <a:cs typeface="Arial" pitchFamily="34" charset="-120"/>
              </a:rPr>
              <a:t>X^A: freshness, event fit, moderation eligibility</a:t>
            </a:r>
            <a:endParaRPr lang="en-US" sz="1240" dirty="0"/>
          </a:p>
        </p:txBody>
      </p:sp>
      <p:sp>
        <p:nvSpPr>
          <p:cNvPr id="24" name="Text 22"/>
          <p:cNvSpPr/>
          <p:nvPr/>
        </p:nvSpPr>
        <p:spPr>
          <a:xfrm>
            <a:off x="6565392" y="4663440"/>
            <a:ext cx="4389120" cy="128016"/>
          </a:xfrm>
          <a:prstGeom prst="rect">
            <a:avLst/>
          </a:prstGeom>
          <a:noFill/>
          <a:ln/>
        </p:spPr>
        <p:txBody>
          <a:bodyPr wrap="square" lIns="0" tIns="0" rIns="0" bIns="0" rtlCol="0" anchor="t">
            <a:normAutofit/>
          </a:bodyPr>
          <a:lstStyle/>
          <a:p>
            <a:pPr indent="0" marL="0">
              <a:buNone/>
            </a:pPr>
            <a:r>
              <a:rPr lang="en-US" sz="1240" dirty="0">
                <a:solidFill>
                  <a:srgbClr val="666666"/>
                </a:solidFill>
                <a:latin typeface="Arial" pitchFamily="34" charset="0"/>
                <a:ea typeface="Arial" pitchFamily="34" charset="-122"/>
                <a:cs typeface="Arial" pitchFamily="34" charset="-120"/>
              </a:rPr>
              <a:t>X^D: prior visibility, source prestige, early trajectory</a:t>
            </a:r>
            <a:endParaRPr lang="en-US" sz="1240" dirty="0"/>
          </a:p>
        </p:txBody>
      </p:sp>
      <p:sp>
        <p:nvSpPr>
          <p:cNvPr id="25" name="Shape 23"/>
          <p:cNvSpPr/>
          <p:nvPr/>
        </p:nvSpPr>
        <p:spPr>
          <a:xfrm>
            <a:off x="914400" y="5596128"/>
            <a:ext cx="10222992" cy="457200"/>
          </a:xfrm>
          <a:prstGeom prst="rect">
            <a:avLst/>
          </a:prstGeom>
          <a:solidFill>
            <a:srgbClr val="FBFBFB"/>
          </a:solidFill>
          <a:ln w="10795">
            <a:solidFill>
              <a:srgbClr val="D7D7D7"/>
            </a:solidFill>
            <a:prstDash val="solid"/>
          </a:ln>
        </p:spPr>
      </p:sp>
      <p:sp>
        <p:nvSpPr>
          <p:cNvPr id="26" name="Text 24"/>
          <p:cNvSpPr/>
          <p:nvPr/>
        </p:nvSpPr>
        <p:spPr>
          <a:xfrm>
            <a:off x="1078992" y="5705856"/>
            <a:ext cx="9875520" cy="164592"/>
          </a:xfrm>
          <a:prstGeom prst="rect">
            <a:avLst/>
          </a:prstGeom>
          <a:noFill/>
          <a:ln/>
        </p:spPr>
        <p:txBody>
          <a:bodyPr wrap="square" lIns="0" tIns="0" rIns="0" bIns="0" rtlCol="0" anchor="t">
            <a:normAutofit/>
          </a:bodyPr>
          <a:lstStyle/>
          <a:p>
            <a:pPr indent="0" marL="0">
              <a:buNone/>
            </a:pPr>
            <a:r>
              <a:rPr lang="en-US" sz="1650" dirty="0">
                <a:solidFill>
                  <a:srgbClr val="1F2937"/>
                </a:solidFill>
                <a:latin typeface="Arial" pitchFamily="34" charset="0"/>
                <a:ea typeface="Arial" pitchFamily="34" charset="-122"/>
                <a:cs typeface="Arial" pitchFamily="34" charset="-120"/>
              </a:rPr>
              <a:t>The question is no longer “does supply differ?” but “after baseline M, how much frame disparity remains?”</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9808" y="182880"/>
            <a:ext cx="2743200" cy="118872"/>
          </a:xfrm>
          <a:prstGeom prst="rect">
            <a:avLst/>
          </a:prstGeom>
          <a:noFill/>
          <a:ln/>
        </p:spPr>
        <p:txBody>
          <a:bodyPr wrap="square" lIns="0" tIns="0" rIns="0" bIns="0" rtlCol="0" anchor="ctr"/>
          <a:lstStyle/>
          <a:p>
            <a:pPr indent="0" marL="0">
              <a:buNone/>
            </a:pPr>
            <a:r>
              <a:rPr lang="en-US" sz="1020" b="1" spc="75" kern="0" dirty="0">
                <a:solidFill>
                  <a:srgbClr val="666666"/>
                </a:solidFill>
                <a:latin typeface="Arial" pitchFamily="34" charset="0"/>
                <a:ea typeface="Arial" pitchFamily="34" charset="-122"/>
                <a:cs typeface="Arial" pitchFamily="34" charset="-120"/>
              </a:rPr>
              <a:t>RQ2 DECOMPOSITION</a:t>
            </a:r>
            <a:endParaRPr lang="en-US" sz="1020" dirty="0"/>
          </a:p>
        </p:txBody>
      </p:sp>
      <p:sp>
        <p:nvSpPr>
          <p:cNvPr id="3" name="Text 1"/>
          <p:cNvSpPr/>
          <p:nvPr/>
        </p:nvSpPr>
        <p:spPr>
          <a:xfrm>
            <a:off x="749808" y="438912"/>
            <a:ext cx="10378440" cy="274320"/>
          </a:xfrm>
          <a:prstGeom prst="rect">
            <a:avLst/>
          </a:prstGeom>
          <a:noFill/>
          <a:ln/>
        </p:spPr>
        <p:txBody>
          <a:bodyPr wrap="square" lIns="0" tIns="0" rIns="0" bIns="0" rtlCol="0" anchor="ctr"/>
          <a:lstStyle/>
          <a:p>
            <a:pPr indent="0" marL="0">
              <a:buNone/>
            </a:pPr>
            <a:r>
              <a:rPr lang="en-US" sz="2600" dirty="0">
                <a:solidFill>
                  <a:srgbClr val="111111"/>
                </a:solidFill>
                <a:latin typeface="Georgia" pitchFamily="34" charset="0"/>
                <a:ea typeface="Georgia" pitchFamily="34" charset="-122"/>
                <a:cs typeface="Georgia" pitchFamily="34" charset="-120"/>
              </a:rPr>
              <a:t>Aggregate the frame gap and then stratify it</a:t>
            </a:r>
            <a:endParaRPr lang="en-US" sz="2600" dirty="0"/>
          </a:p>
        </p:txBody>
      </p:sp>
      <p:sp>
        <p:nvSpPr>
          <p:cNvPr id="4" name="Shape 2"/>
          <p:cNvSpPr/>
          <p:nvPr/>
        </p:nvSpPr>
        <p:spPr>
          <a:xfrm>
            <a:off x="749808" y="841248"/>
            <a:ext cx="10698480" cy="0"/>
          </a:xfrm>
          <a:prstGeom prst="line">
            <a:avLst/>
          </a:prstGeom>
          <a:noFill/>
          <a:ln w="12700">
            <a:solidFill>
              <a:srgbClr val="D7D7D7"/>
            </a:solidFill>
            <a:prstDash val="solid"/>
          </a:ln>
        </p:spPr>
      </p:sp>
      <p:sp>
        <p:nvSpPr>
          <p:cNvPr id="5" name="Text 3"/>
          <p:cNvSpPr/>
          <p:nvPr/>
        </p:nvSpPr>
        <p:spPr>
          <a:xfrm>
            <a:off x="11173968" y="283464"/>
            <a:ext cx="201168" cy="118872"/>
          </a:xfrm>
          <a:prstGeom prst="rect">
            <a:avLst/>
          </a:prstGeom>
          <a:noFill/>
          <a:ln/>
        </p:spPr>
        <p:txBody>
          <a:bodyPr wrap="square" lIns="0" tIns="0" rIns="0" bIns="0" rtlCol="0" anchor="ctr"/>
          <a:lstStyle/>
          <a:p>
            <a:pPr algn="r" indent="0" marL="0">
              <a:buNone/>
            </a:pPr>
            <a:r>
              <a:rPr lang="en-US" sz="1020" dirty="0">
                <a:solidFill>
                  <a:srgbClr val="666666"/>
                </a:solidFill>
                <a:latin typeface="Arial" pitchFamily="34" charset="0"/>
                <a:ea typeface="Arial" pitchFamily="34" charset="-122"/>
                <a:cs typeface="Arial" pitchFamily="34" charset="-120"/>
              </a:rPr>
              <a:t>10</a:t>
            </a:r>
            <a:endParaRPr lang="en-US" sz="1020" dirty="0"/>
          </a:p>
        </p:txBody>
      </p:sp>
      <p:sp>
        <p:nvSpPr>
          <p:cNvPr id="6" name="Shape 4"/>
          <p:cNvSpPr/>
          <p:nvPr/>
        </p:nvSpPr>
        <p:spPr>
          <a:xfrm>
            <a:off x="6144768" y="1060704"/>
            <a:ext cx="0" cy="4809744"/>
          </a:xfrm>
          <a:prstGeom prst="line">
            <a:avLst/>
          </a:prstGeom>
          <a:noFill/>
          <a:ln w="12700">
            <a:solidFill>
              <a:srgbClr val="D7D7D7"/>
            </a:solidFill>
            <a:prstDash val="solid"/>
          </a:ln>
        </p:spPr>
      </p:sp>
      <p:sp>
        <p:nvSpPr>
          <p:cNvPr id="7" name="Text 5"/>
          <p:cNvSpPr/>
          <p:nvPr/>
        </p:nvSpPr>
        <p:spPr>
          <a:xfrm>
            <a:off x="914400" y="1078992"/>
            <a:ext cx="164592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OVERALL FRAME DISPARITY</a:t>
            </a:r>
            <a:endParaRPr lang="en-US" sz="1070" dirty="0"/>
          </a:p>
        </p:txBody>
      </p:sp>
      <p:sp>
        <p:nvSpPr>
          <p:cNvPr id="8" name="Shape 6"/>
          <p:cNvSpPr/>
          <p:nvPr/>
        </p:nvSpPr>
        <p:spPr>
          <a:xfrm>
            <a:off x="914400" y="1316736"/>
            <a:ext cx="4919472" cy="1170432"/>
          </a:xfrm>
          <a:prstGeom prst="rect">
            <a:avLst/>
          </a:prstGeom>
          <a:solidFill>
            <a:srgbClr val="FBFBFB"/>
          </a:solidFill>
          <a:ln w="10795">
            <a:solidFill>
              <a:srgbClr val="D7D7D7"/>
            </a:solidFill>
            <a:prstDash val="solid"/>
          </a:ln>
        </p:spPr>
      </p:sp>
      <p:sp>
        <p:nvSpPr>
          <p:cNvPr id="9" name="Text 7"/>
          <p:cNvSpPr/>
          <p:nvPr/>
        </p:nvSpPr>
        <p:spPr>
          <a:xfrm>
            <a:off x="1097280" y="1664208"/>
            <a:ext cx="4572000" cy="256032"/>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Δ</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frame</a:t>
            </a:r>
            <a:pPr algn="l" indent="0" marL="0">
              <a:buNone/>
            </a:pPr>
            <a:r>
              <a:rPr lang="en-US" sz="2200" dirty="0">
                <a:solidFill>
                  <a:srgbClr val="111111"/>
                </a:solidFill>
                <a:latin typeface="Cambria Math" pitchFamily="34" charset="0"/>
                <a:ea typeface="Cambria Math" pitchFamily="34" charset="-122"/>
                <a:cs typeface="Cambria Math" pitchFamily="34" charset="-120"/>
              </a:rPr>
              <a:t>(M) = weighted mean over (</a:t>
            </a:r>
            <a:pPr algn="l" indent="0" marL="0">
              <a:buNone/>
            </a:pPr>
            <a:r>
              <a:rPr lang="en-US" sz="2200" i="1" dirty="0">
                <a:solidFill>
                  <a:srgbClr val="111111"/>
                </a:solidFill>
                <a:latin typeface="Cambria Math" pitchFamily="34" charset="0"/>
                <a:ea typeface="Cambria Math" pitchFamily="34" charset="-122"/>
                <a:cs typeface="Cambria Math" pitchFamily="34" charset="-120"/>
              </a:rPr>
              <a:t>h</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pPr algn="l" indent="0" marL="0">
              <a:buNone/>
            </a:pPr>
            <a:r>
              <a:rPr lang="en-US" sz="2200" i="1" dirty="0">
                <a:solidFill>
                  <a:srgbClr val="111111"/>
                </a:solidFill>
                <a:latin typeface="Cambria Math" pitchFamily="34" charset="0"/>
                <a:ea typeface="Cambria Math" pitchFamily="34" charset="-122"/>
                <a:cs typeface="Cambria Math" pitchFamily="34" charset="-120"/>
              </a:rPr>
              <a:t>g</a:t>
            </a:r>
            <a:pPr algn="l" indent="0" marL="0">
              <a:buNone/>
            </a:pPr>
            <a:r>
              <a:rPr lang="en-US" sz="2200" dirty="0">
                <a:solidFill>
                  <a:srgbClr val="111111"/>
                </a:solidFill>
                <a:latin typeface="Cambria Math" pitchFamily="34" charset="0"/>
                <a:ea typeface="Cambria Math" pitchFamily="34" charset="-122"/>
                <a:cs typeface="Cambria Math" pitchFamily="34" charset="-120"/>
              </a:rPr>
              <a:t>) of </a:t>
            </a:r>
            <a:pPr algn="l" indent="0" marL="0">
              <a:buNone/>
            </a:pPr>
            <a:r>
              <a:rPr lang="en-US" sz="2200" i="1" dirty="0">
                <a:solidFill>
                  <a:srgbClr val="111111"/>
                </a:solidFill>
                <a:latin typeface="Cambria Math" pitchFamily="34" charset="0"/>
                <a:ea typeface="Cambria Math" pitchFamily="34" charset="-122"/>
                <a:cs typeface="Cambria Math" pitchFamily="34" charset="-120"/>
              </a:rPr>
              <a:t>D</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M</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frame</a:t>
            </a:r>
            <a:pPr algn="l" indent="0" marL="0">
              <a:buNone/>
            </a:pPr>
            <a:r>
              <a:rPr lang="en-US" sz="2200" dirty="0">
                <a:solidFill>
                  <a:srgbClr val="111111"/>
                </a:solidFill>
                <a:latin typeface="Cambria Math" pitchFamily="34" charset="0"/>
                <a:ea typeface="Cambria Math" pitchFamily="34" charset="-122"/>
                <a:cs typeface="Cambria Math" pitchFamily="34" charset="-120"/>
              </a:rPr>
              <a:t>(</a:t>
            </a:r>
            <a:pPr algn="l" indent="0" marL="0">
              <a:buNone/>
            </a:pPr>
            <a:r>
              <a:rPr lang="en-US" sz="2200" i="1" dirty="0">
                <a:solidFill>
                  <a:srgbClr val="111111"/>
                </a:solidFill>
                <a:latin typeface="Cambria Math" pitchFamily="34" charset="0"/>
                <a:ea typeface="Cambria Math" pitchFamily="34" charset="-122"/>
                <a:cs typeface="Cambria Math" pitchFamily="34" charset="-120"/>
              </a:rPr>
              <a:t>h</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pPr algn="l" indent="0" marL="0">
              <a:buNone/>
            </a:pPr>
            <a:r>
              <a:rPr lang="en-US" sz="2200" i="1" dirty="0">
                <a:solidFill>
                  <a:srgbClr val="111111"/>
                </a:solidFill>
                <a:latin typeface="Cambria Math" pitchFamily="34" charset="0"/>
                <a:ea typeface="Cambria Math" pitchFamily="34" charset="-122"/>
                <a:cs typeface="Cambria Math" pitchFamily="34" charset="-120"/>
              </a:rPr>
              <a:t>g</a:t>
            </a:r>
            <a:pPr algn="l"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950" dirty="0"/>
          </a:p>
        </p:txBody>
      </p:sp>
      <p:sp>
        <p:nvSpPr>
          <p:cNvPr id="10" name="Text 8"/>
          <p:cNvSpPr/>
          <p:nvPr/>
        </p:nvSpPr>
        <p:spPr>
          <a:xfrm>
            <a:off x="1097280" y="2066544"/>
            <a:ext cx="4535424" cy="128016"/>
          </a:xfrm>
          <a:prstGeom prst="rect">
            <a:avLst/>
          </a:prstGeom>
          <a:noFill/>
          <a:ln/>
        </p:spPr>
        <p:txBody>
          <a:bodyPr wrap="square" lIns="0" tIns="0" rIns="0" bIns="0" rtlCol="0" anchor="t">
            <a:normAutofit/>
          </a:bodyPr>
          <a:lstStyle/>
          <a:p>
            <a:pPr indent="0" marL="0">
              <a:buNone/>
            </a:pPr>
            <a:r>
              <a:rPr lang="en-US" sz="1280" dirty="0">
                <a:solidFill>
                  <a:srgbClr val="666666"/>
                </a:solidFill>
                <a:latin typeface="Arial" pitchFamily="34" charset="0"/>
                <a:ea typeface="Arial" pitchFamily="34" charset="-122"/>
                <a:cs typeface="Arial" pitchFamily="34" charset="-120"/>
              </a:rPr>
              <a:t>Aggregate frame disparity across event clusters and local contexts.</a:t>
            </a:r>
            <a:endParaRPr lang="en-US" sz="1280" dirty="0"/>
          </a:p>
        </p:txBody>
      </p:sp>
      <p:sp>
        <p:nvSpPr>
          <p:cNvPr id="11" name="Text 9"/>
          <p:cNvSpPr/>
          <p:nvPr/>
        </p:nvSpPr>
        <p:spPr>
          <a:xfrm>
            <a:off x="914400" y="2816352"/>
            <a:ext cx="210312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HETEROGENEITY</a:t>
            </a:r>
            <a:endParaRPr lang="en-US" sz="1070" dirty="0"/>
          </a:p>
        </p:txBody>
      </p:sp>
      <p:sp>
        <p:nvSpPr>
          <p:cNvPr id="12" name="Shape 10"/>
          <p:cNvSpPr/>
          <p:nvPr/>
        </p:nvSpPr>
        <p:spPr>
          <a:xfrm>
            <a:off x="914400" y="3054096"/>
            <a:ext cx="4919472" cy="1572768"/>
          </a:xfrm>
          <a:prstGeom prst="rect">
            <a:avLst/>
          </a:prstGeom>
          <a:solidFill>
            <a:srgbClr val="FBFBFB"/>
          </a:solidFill>
          <a:ln w="10795">
            <a:solidFill>
              <a:srgbClr val="D7D7D7"/>
            </a:solidFill>
            <a:prstDash val="solid"/>
          </a:ln>
        </p:spPr>
      </p:sp>
      <p:sp>
        <p:nvSpPr>
          <p:cNvPr id="13" name="Text 11"/>
          <p:cNvSpPr/>
          <p:nvPr/>
        </p:nvSpPr>
        <p:spPr>
          <a:xfrm>
            <a:off x="1097280" y="3364992"/>
            <a:ext cx="4553712" cy="402336"/>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Δ</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frame</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b</a:t>
            </a:r>
            <a:pPr algn="l" indent="0" marL="0">
              <a:buNone/>
            </a:pPr>
            <a:r>
              <a:rPr lang="en-US" sz="2200" dirty="0">
                <a:solidFill>
                  <a:srgbClr val="111111"/>
                </a:solidFill>
                <a:latin typeface="Cambria Math" pitchFamily="34" charset="0"/>
                <a:ea typeface="Cambria Math" pitchFamily="34" charset="-122"/>
                <a:cs typeface="Cambria Math" pitchFamily="34" charset="-120"/>
              </a:rPr>
              <a:t>(M) = weighted mean over (</a:t>
            </a:r>
            <a:pPr algn="l" indent="0" marL="0">
              <a:buNone/>
            </a:pPr>
            <a:r>
              <a:rPr lang="en-US" sz="2200" i="1" dirty="0">
                <a:solidFill>
                  <a:srgbClr val="111111"/>
                </a:solidFill>
                <a:latin typeface="Cambria Math" pitchFamily="34" charset="0"/>
                <a:ea typeface="Cambria Math" pitchFamily="34" charset="-122"/>
                <a:cs typeface="Cambria Math" pitchFamily="34" charset="-120"/>
              </a:rPr>
              <a:t>h</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pPr algn="l" indent="0" marL="0">
              <a:buNone/>
            </a:pPr>
            <a:r>
              <a:rPr lang="en-US" sz="2200" i="1" dirty="0">
                <a:solidFill>
                  <a:srgbClr val="111111"/>
                </a:solidFill>
                <a:latin typeface="Cambria Math" pitchFamily="34" charset="0"/>
                <a:ea typeface="Cambria Math" pitchFamily="34" charset="-122"/>
                <a:cs typeface="Cambria Math" pitchFamily="34" charset="-120"/>
              </a:rPr>
              <a:t>g</a:t>
            </a:r>
            <a:pPr algn="l" indent="0" marL="0">
              <a:buNone/>
            </a:pPr>
            <a:r>
              <a:rPr lang="en-US" sz="2200" dirty="0">
                <a:solidFill>
                  <a:srgbClr val="111111"/>
                </a:solidFill>
                <a:latin typeface="Cambria Math" pitchFamily="34" charset="0"/>
                <a:ea typeface="Cambria Math" pitchFamily="34" charset="-122"/>
                <a:cs typeface="Cambria Math" pitchFamily="34" charset="-120"/>
              </a:rPr>
              <a:t>) in bucket </a:t>
            </a:r>
            <a:pPr algn="l" indent="0" marL="0">
              <a:buNone/>
            </a:pPr>
            <a:r>
              <a:rPr lang="en-US" sz="2200" i="1" dirty="0">
                <a:solidFill>
                  <a:srgbClr val="111111"/>
                </a:solidFill>
                <a:latin typeface="Cambria Math" pitchFamily="34" charset="0"/>
                <a:ea typeface="Cambria Math" pitchFamily="34" charset="-122"/>
                <a:cs typeface="Cambria Math" pitchFamily="34" charset="-120"/>
              </a:rPr>
              <a:t>b</a:t>
            </a:r>
            <a:pPr algn="l" indent="0" marL="0">
              <a:buNone/>
            </a:pPr>
            <a:r>
              <a:rPr lang="en-US" sz="2200" dirty="0">
                <a:solidFill>
                  <a:srgbClr val="111111"/>
                </a:solidFill>
                <a:latin typeface="Cambria Math" pitchFamily="34" charset="0"/>
                <a:ea typeface="Cambria Math" pitchFamily="34" charset="-122"/>
                <a:cs typeface="Cambria Math" pitchFamily="34" charset="-120"/>
              </a:rPr>
              <a:t> of </a:t>
            </a:r>
            <a:pPr algn="l" indent="0" marL="0">
              <a:buNone/>
            </a:pPr>
            <a:r>
              <a:rPr lang="en-US" sz="2200" i="1" dirty="0">
                <a:solidFill>
                  <a:srgbClr val="111111"/>
                </a:solidFill>
                <a:latin typeface="Cambria Math" pitchFamily="34" charset="0"/>
                <a:ea typeface="Cambria Math" pitchFamily="34" charset="-122"/>
                <a:cs typeface="Cambria Math" pitchFamily="34" charset="-120"/>
              </a:rPr>
              <a:t>D</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M</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frame</a:t>
            </a:r>
            <a:pPr algn="l" indent="0" marL="0">
              <a:buNone/>
            </a:pPr>
            <a:r>
              <a:rPr lang="en-US" sz="2200" dirty="0">
                <a:solidFill>
                  <a:srgbClr val="111111"/>
                </a:solidFill>
                <a:latin typeface="Cambria Math" pitchFamily="34" charset="0"/>
                <a:ea typeface="Cambria Math" pitchFamily="34" charset="-122"/>
                <a:cs typeface="Cambria Math" pitchFamily="34" charset="-120"/>
              </a:rPr>
              <a:t>(</a:t>
            </a:r>
            <a:pPr algn="l" indent="0" marL="0">
              <a:buNone/>
            </a:pPr>
            <a:r>
              <a:rPr lang="en-US" sz="2200" i="1" dirty="0">
                <a:solidFill>
                  <a:srgbClr val="111111"/>
                </a:solidFill>
                <a:latin typeface="Cambria Math" pitchFamily="34" charset="0"/>
                <a:ea typeface="Cambria Math" pitchFamily="34" charset="-122"/>
                <a:cs typeface="Cambria Math" pitchFamily="34" charset="-120"/>
              </a:rPr>
              <a:t>h</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pPr algn="l" indent="0" marL="0">
              <a:buNone/>
            </a:pPr>
            <a:r>
              <a:rPr lang="en-US" sz="2200" i="1" dirty="0">
                <a:solidFill>
                  <a:srgbClr val="111111"/>
                </a:solidFill>
                <a:latin typeface="Cambria Math" pitchFamily="34" charset="0"/>
                <a:ea typeface="Cambria Math" pitchFamily="34" charset="-122"/>
                <a:cs typeface="Cambria Math" pitchFamily="34" charset="-120"/>
              </a:rPr>
              <a:t>g</a:t>
            </a:r>
            <a:pPr algn="l"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860" dirty="0"/>
          </a:p>
        </p:txBody>
      </p:sp>
      <p:sp>
        <p:nvSpPr>
          <p:cNvPr id="14" name="Text 12"/>
          <p:cNvSpPr/>
          <p:nvPr/>
        </p:nvSpPr>
        <p:spPr>
          <a:xfrm>
            <a:off x="1097280" y="4096512"/>
            <a:ext cx="4535424" cy="128016"/>
          </a:xfrm>
          <a:prstGeom prst="rect">
            <a:avLst/>
          </a:prstGeom>
          <a:noFill/>
          <a:ln/>
        </p:spPr>
        <p:txBody>
          <a:bodyPr wrap="square" lIns="0" tIns="0" rIns="0" bIns="0" rtlCol="0" anchor="t">
            <a:normAutofit/>
          </a:bodyPr>
          <a:lstStyle/>
          <a:p>
            <a:pPr indent="0" marL="0">
              <a:buNone/>
            </a:pPr>
            <a:r>
              <a:rPr lang="en-US" sz="1280" dirty="0">
                <a:solidFill>
                  <a:srgbClr val="666666"/>
                </a:solidFill>
                <a:latin typeface="Arial" pitchFamily="34" charset="0"/>
                <a:ea typeface="Arial" pitchFamily="34" charset="-122"/>
                <a:cs typeface="Arial" pitchFamily="34" charset="-120"/>
              </a:rPr>
              <a:t>Examples of b: feed type, viewer mode, moderation environment.</a:t>
            </a:r>
            <a:endParaRPr lang="en-US" sz="1280" dirty="0"/>
          </a:p>
        </p:txBody>
      </p:sp>
      <p:sp>
        <p:nvSpPr>
          <p:cNvPr id="15" name="Text 13"/>
          <p:cNvSpPr/>
          <p:nvPr/>
        </p:nvSpPr>
        <p:spPr>
          <a:xfrm>
            <a:off x="1097280" y="4297680"/>
            <a:ext cx="4535424" cy="219456"/>
          </a:xfrm>
          <a:prstGeom prst="rect">
            <a:avLst/>
          </a:prstGeom>
          <a:noFill/>
          <a:ln/>
        </p:spPr>
        <p:txBody>
          <a:bodyPr wrap="square" lIns="0" tIns="0" rIns="0" bIns="0" rtlCol="0" anchor="t">
            <a:normAutofit/>
          </a:bodyPr>
          <a:lstStyle/>
          <a:p>
            <a:pPr indent="0" marL="0">
              <a:buNone/>
            </a:pPr>
            <a:r>
              <a:rPr lang="en-US" sz="1640" dirty="0">
                <a:solidFill>
                  <a:srgbClr val="1F2937"/>
                </a:solidFill>
                <a:latin typeface="Arial" pitchFamily="34" charset="0"/>
                <a:ea typeface="Arial" pitchFamily="34" charset="-122"/>
                <a:cs typeface="Arial" pitchFamily="34" charset="-120"/>
              </a:rPr>
              <a:t>This is where RQ2 asks which surfaces amplify which frames.</a:t>
            </a:r>
            <a:endParaRPr lang="en-US" sz="1640" dirty="0"/>
          </a:p>
        </p:txBody>
      </p:sp>
      <p:sp>
        <p:nvSpPr>
          <p:cNvPr id="16" name="Text 14"/>
          <p:cNvSpPr/>
          <p:nvPr/>
        </p:nvSpPr>
        <p:spPr>
          <a:xfrm>
            <a:off x="6419088" y="1078992"/>
            <a:ext cx="137160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SAME FOUR SHARES</a:t>
            </a:r>
            <a:endParaRPr lang="en-US" sz="1070" dirty="0"/>
          </a:p>
        </p:txBody>
      </p:sp>
      <p:sp>
        <p:nvSpPr>
          <p:cNvPr id="17" name="Shape 15"/>
          <p:cNvSpPr/>
          <p:nvPr/>
        </p:nvSpPr>
        <p:spPr>
          <a:xfrm>
            <a:off x="6419088" y="1316736"/>
            <a:ext cx="2286000" cy="1517904"/>
          </a:xfrm>
          <a:prstGeom prst="rect">
            <a:avLst/>
          </a:prstGeom>
          <a:solidFill>
            <a:srgbClr val="FBFBFB"/>
          </a:solidFill>
          <a:ln w="10795">
            <a:solidFill>
              <a:srgbClr val="D7D7D7"/>
            </a:solidFill>
            <a:prstDash val="solid"/>
          </a:ln>
        </p:spPr>
      </p:sp>
      <p:sp>
        <p:nvSpPr>
          <p:cNvPr id="18" name="Text 16"/>
          <p:cNvSpPr/>
          <p:nvPr/>
        </p:nvSpPr>
        <p:spPr>
          <a:xfrm>
            <a:off x="6510528" y="1655064"/>
            <a:ext cx="621792"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S</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T</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frame</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endParaRPr lang="en-US" sz="1350" dirty="0"/>
          </a:p>
        </p:txBody>
      </p:sp>
      <p:sp>
        <p:nvSpPr>
          <p:cNvPr id="19" name="Text 17"/>
          <p:cNvSpPr/>
          <p:nvPr/>
        </p:nvSpPr>
        <p:spPr>
          <a:xfrm>
            <a:off x="7205472" y="1517904"/>
            <a:ext cx="1408176" cy="201168"/>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frame</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supply</a:t>
            </a:r>
            <a:pPr algn="ctr" indent="0" marL="0">
              <a:buNone/>
            </a:pPr>
            <a:r>
              <a:rPr lang="en-US" sz="2200" dirty="0">
                <a:solidFill>
                  <a:srgbClr val="111111"/>
                </a:solidFill>
                <a:latin typeface="Cambria Math" pitchFamily="34" charset="0"/>
                <a:ea typeface="Cambria Math" pitchFamily="34" charset="-122"/>
                <a:cs typeface="Cambria Math" pitchFamily="34" charset="-120"/>
              </a:rPr>
              <a:t>) − </a:t>
            </a:r>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frame</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0</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220" dirty="0"/>
          </a:p>
        </p:txBody>
      </p:sp>
      <p:sp>
        <p:nvSpPr>
          <p:cNvPr id="20" name="Shape 18"/>
          <p:cNvSpPr/>
          <p:nvPr/>
        </p:nvSpPr>
        <p:spPr>
          <a:xfrm>
            <a:off x="7223760" y="1732788"/>
            <a:ext cx="1371600" cy="0"/>
          </a:xfrm>
          <a:prstGeom prst="line">
            <a:avLst/>
          </a:prstGeom>
          <a:noFill/>
          <a:ln w="11430">
            <a:solidFill>
              <a:srgbClr val="111111"/>
            </a:solidFill>
            <a:prstDash val="solid"/>
          </a:ln>
        </p:spPr>
      </p:sp>
      <p:sp>
        <p:nvSpPr>
          <p:cNvPr id="21" name="Text 19"/>
          <p:cNvSpPr/>
          <p:nvPr/>
        </p:nvSpPr>
        <p:spPr>
          <a:xfrm>
            <a:off x="7205472" y="1760220"/>
            <a:ext cx="1408176" cy="182880"/>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frame</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supply</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220" dirty="0"/>
          </a:p>
        </p:txBody>
      </p:sp>
      <p:sp>
        <p:nvSpPr>
          <p:cNvPr id="22" name="Text 20"/>
          <p:cNvSpPr/>
          <p:nvPr/>
        </p:nvSpPr>
        <p:spPr>
          <a:xfrm>
            <a:off x="6510528" y="2532888"/>
            <a:ext cx="2103120" cy="109728"/>
          </a:xfrm>
          <a:prstGeom prst="rect">
            <a:avLst/>
          </a:prstGeom>
          <a:noFill/>
          <a:ln/>
        </p:spPr>
        <p:txBody>
          <a:bodyPr wrap="square" lIns="0" tIns="0" rIns="0" bIns="0" rtlCol="0" anchor="t">
            <a:normAutofit/>
          </a:bodyPr>
          <a:lstStyle/>
          <a:p>
            <a:pPr algn="ctr" indent="0" marL="0">
              <a:buNone/>
            </a:pPr>
            <a:r>
              <a:rPr lang="en-US" sz="1180" dirty="0">
                <a:solidFill>
                  <a:srgbClr val="666666"/>
                </a:solidFill>
                <a:latin typeface="Arial" pitchFamily="34" charset="0"/>
                <a:ea typeface="Arial" pitchFamily="34" charset="-122"/>
                <a:cs typeface="Arial" pitchFamily="34" charset="-120"/>
              </a:rPr>
              <a:t>timing share</a:t>
            </a:r>
            <a:endParaRPr lang="en-US" sz="1180" dirty="0"/>
          </a:p>
        </p:txBody>
      </p:sp>
      <p:sp>
        <p:nvSpPr>
          <p:cNvPr id="23" name="Shape 21"/>
          <p:cNvSpPr/>
          <p:nvPr/>
        </p:nvSpPr>
        <p:spPr>
          <a:xfrm>
            <a:off x="8814816" y="1316736"/>
            <a:ext cx="2286000" cy="1517904"/>
          </a:xfrm>
          <a:prstGeom prst="rect">
            <a:avLst/>
          </a:prstGeom>
          <a:solidFill>
            <a:srgbClr val="FBFBFB"/>
          </a:solidFill>
          <a:ln w="10795">
            <a:solidFill>
              <a:srgbClr val="D7D7D7"/>
            </a:solidFill>
            <a:prstDash val="solid"/>
          </a:ln>
        </p:spPr>
      </p:sp>
      <p:sp>
        <p:nvSpPr>
          <p:cNvPr id="24" name="Text 22"/>
          <p:cNvSpPr/>
          <p:nvPr/>
        </p:nvSpPr>
        <p:spPr>
          <a:xfrm>
            <a:off x="8906256" y="1655064"/>
            <a:ext cx="621792"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S</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A</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frame</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endParaRPr lang="en-US" sz="1350" dirty="0"/>
          </a:p>
        </p:txBody>
      </p:sp>
      <p:sp>
        <p:nvSpPr>
          <p:cNvPr id="25" name="Text 23"/>
          <p:cNvSpPr/>
          <p:nvPr/>
        </p:nvSpPr>
        <p:spPr>
          <a:xfrm>
            <a:off x="9601200" y="1517904"/>
            <a:ext cx="1408176" cy="201168"/>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frame</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0</a:t>
            </a:r>
            <a:pPr algn="ctr" indent="0" marL="0">
              <a:buNone/>
            </a:pPr>
            <a:r>
              <a:rPr lang="en-US" sz="2200" dirty="0">
                <a:solidFill>
                  <a:srgbClr val="111111"/>
                </a:solidFill>
                <a:latin typeface="Cambria Math" pitchFamily="34" charset="0"/>
                <a:ea typeface="Cambria Math" pitchFamily="34" charset="-122"/>
                <a:cs typeface="Cambria Math" pitchFamily="34" charset="-120"/>
              </a:rPr>
              <a:t>) − </a:t>
            </a:r>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frame</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A</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220" dirty="0"/>
          </a:p>
        </p:txBody>
      </p:sp>
      <p:sp>
        <p:nvSpPr>
          <p:cNvPr id="26" name="Shape 24"/>
          <p:cNvSpPr/>
          <p:nvPr/>
        </p:nvSpPr>
        <p:spPr>
          <a:xfrm>
            <a:off x="9619488" y="1732788"/>
            <a:ext cx="1371600" cy="0"/>
          </a:xfrm>
          <a:prstGeom prst="line">
            <a:avLst/>
          </a:prstGeom>
          <a:noFill/>
          <a:ln w="11430">
            <a:solidFill>
              <a:srgbClr val="111111"/>
            </a:solidFill>
            <a:prstDash val="solid"/>
          </a:ln>
        </p:spPr>
      </p:sp>
      <p:sp>
        <p:nvSpPr>
          <p:cNvPr id="27" name="Text 25"/>
          <p:cNvSpPr/>
          <p:nvPr/>
        </p:nvSpPr>
        <p:spPr>
          <a:xfrm>
            <a:off x="9601200" y="1760220"/>
            <a:ext cx="1408176" cy="182880"/>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frame</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supply</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220" dirty="0"/>
          </a:p>
        </p:txBody>
      </p:sp>
      <p:sp>
        <p:nvSpPr>
          <p:cNvPr id="28" name="Text 26"/>
          <p:cNvSpPr/>
          <p:nvPr/>
        </p:nvSpPr>
        <p:spPr>
          <a:xfrm>
            <a:off x="8906256" y="2532888"/>
            <a:ext cx="2103120" cy="109728"/>
          </a:xfrm>
          <a:prstGeom prst="rect">
            <a:avLst/>
          </a:prstGeom>
          <a:noFill/>
          <a:ln/>
        </p:spPr>
        <p:txBody>
          <a:bodyPr wrap="square" lIns="0" tIns="0" rIns="0" bIns="0" rtlCol="0" anchor="t">
            <a:normAutofit/>
          </a:bodyPr>
          <a:lstStyle/>
          <a:p>
            <a:pPr algn="ctr" indent="0" marL="0">
              <a:buNone/>
            </a:pPr>
            <a:r>
              <a:rPr lang="en-US" sz="1180" dirty="0">
                <a:solidFill>
                  <a:srgbClr val="666666"/>
                </a:solidFill>
                <a:latin typeface="Arial" pitchFamily="34" charset="0"/>
                <a:ea typeface="Arial" pitchFamily="34" charset="-122"/>
                <a:cs typeface="Arial" pitchFamily="34" charset="-120"/>
              </a:rPr>
              <a:t>aligned share</a:t>
            </a:r>
            <a:endParaRPr lang="en-US" sz="1180" dirty="0"/>
          </a:p>
        </p:txBody>
      </p:sp>
      <p:sp>
        <p:nvSpPr>
          <p:cNvPr id="29" name="Shape 27"/>
          <p:cNvSpPr/>
          <p:nvPr/>
        </p:nvSpPr>
        <p:spPr>
          <a:xfrm>
            <a:off x="6419088" y="3035808"/>
            <a:ext cx="2286000" cy="1517904"/>
          </a:xfrm>
          <a:prstGeom prst="rect">
            <a:avLst/>
          </a:prstGeom>
          <a:solidFill>
            <a:srgbClr val="FBFBFB"/>
          </a:solidFill>
          <a:ln w="10795">
            <a:solidFill>
              <a:srgbClr val="D7D7D7"/>
            </a:solidFill>
            <a:prstDash val="solid"/>
          </a:ln>
        </p:spPr>
      </p:sp>
      <p:sp>
        <p:nvSpPr>
          <p:cNvPr id="30" name="Text 28"/>
          <p:cNvSpPr/>
          <p:nvPr/>
        </p:nvSpPr>
        <p:spPr>
          <a:xfrm>
            <a:off x="6510528" y="3374136"/>
            <a:ext cx="621792"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S</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D</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frame</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endParaRPr lang="en-US" sz="1350" dirty="0"/>
          </a:p>
        </p:txBody>
      </p:sp>
      <p:sp>
        <p:nvSpPr>
          <p:cNvPr id="31" name="Text 29"/>
          <p:cNvSpPr/>
          <p:nvPr/>
        </p:nvSpPr>
        <p:spPr>
          <a:xfrm>
            <a:off x="7205472" y="3236976"/>
            <a:ext cx="1408176" cy="201168"/>
          </a:xfrm>
          <a:prstGeom prst="rect">
            <a:avLst/>
          </a:prstGeom>
          <a:noFill/>
          <a:ln/>
        </p:spPr>
        <p:txBody>
          <a:bodyPr wrap="square" lIns="0" tIns="0" rIns="0" bIns="0" rtlCol="0" anchor="ctr">
            <a:normAutofit/>
          </a:bodyPr>
          <a:lstStyle/>
          <a:p>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frame</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A</a:t>
            </a:r>
            <a:pPr algn="ctr" indent="0" marL="0">
              <a:buNone/>
            </a:pPr>
            <a:r>
              <a:rPr lang="en-US" sz="2200" dirty="0">
                <a:solidFill>
                  <a:srgbClr val="111111"/>
                </a:solidFill>
                <a:latin typeface="Cambria Math" pitchFamily="34" charset="0"/>
                <a:ea typeface="Cambria Math" pitchFamily="34" charset="-122"/>
                <a:cs typeface="Cambria Math" pitchFamily="34" charset="-120"/>
              </a:rPr>
              <a:t>) − </a:t>
            </a:r>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frame</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D</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220" dirty="0"/>
          </a:p>
        </p:txBody>
      </p:sp>
      <p:sp>
        <p:nvSpPr>
          <p:cNvPr id="32" name="Shape 30"/>
          <p:cNvSpPr/>
          <p:nvPr/>
        </p:nvSpPr>
        <p:spPr>
          <a:xfrm>
            <a:off x="7223760" y="3451860"/>
            <a:ext cx="1371600" cy="0"/>
          </a:xfrm>
          <a:prstGeom prst="line">
            <a:avLst/>
          </a:prstGeom>
          <a:noFill/>
          <a:ln w="11430">
            <a:solidFill>
              <a:srgbClr val="111111"/>
            </a:solidFill>
            <a:prstDash val="solid"/>
          </a:ln>
        </p:spPr>
      </p:sp>
      <p:sp>
        <p:nvSpPr>
          <p:cNvPr id="33" name="Text 31"/>
          <p:cNvSpPr/>
          <p:nvPr/>
        </p:nvSpPr>
        <p:spPr>
          <a:xfrm>
            <a:off x="7205472" y="3479292"/>
            <a:ext cx="1408176" cy="182880"/>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frame</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supply</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220" dirty="0"/>
          </a:p>
        </p:txBody>
      </p:sp>
      <p:sp>
        <p:nvSpPr>
          <p:cNvPr id="34" name="Text 32"/>
          <p:cNvSpPr/>
          <p:nvPr/>
        </p:nvSpPr>
        <p:spPr>
          <a:xfrm>
            <a:off x="6510528" y="4251960"/>
            <a:ext cx="2103120" cy="109728"/>
          </a:xfrm>
          <a:prstGeom prst="rect">
            <a:avLst/>
          </a:prstGeom>
          <a:noFill/>
          <a:ln/>
        </p:spPr>
        <p:txBody>
          <a:bodyPr wrap="square" lIns="0" tIns="0" rIns="0" bIns="0" rtlCol="0" anchor="t">
            <a:normAutofit/>
          </a:bodyPr>
          <a:lstStyle/>
          <a:p>
            <a:pPr algn="ctr" indent="0" marL="0">
              <a:buNone/>
            </a:pPr>
            <a:r>
              <a:rPr lang="en-US" sz="1180" dirty="0">
                <a:solidFill>
                  <a:srgbClr val="666666"/>
                </a:solidFill>
                <a:latin typeface="Arial" pitchFamily="34" charset="0"/>
                <a:ea typeface="Arial" pitchFamily="34" charset="-122"/>
                <a:cs typeface="Arial" pitchFamily="34" charset="-120"/>
              </a:rPr>
              <a:t>dynamic / contestable share</a:t>
            </a:r>
            <a:endParaRPr lang="en-US" sz="1180" dirty="0"/>
          </a:p>
        </p:txBody>
      </p:sp>
      <p:sp>
        <p:nvSpPr>
          <p:cNvPr id="35" name="Shape 33"/>
          <p:cNvSpPr/>
          <p:nvPr/>
        </p:nvSpPr>
        <p:spPr>
          <a:xfrm>
            <a:off x="8814816" y="3035808"/>
            <a:ext cx="2286000" cy="1517904"/>
          </a:xfrm>
          <a:prstGeom prst="rect">
            <a:avLst/>
          </a:prstGeom>
          <a:solidFill>
            <a:srgbClr val="FBFBFB"/>
          </a:solidFill>
          <a:ln w="10795">
            <a:solidFill>
              <a:srgbClr val="D7D7D7"/>
            </a:solidFill>
            <a:prstDash val="solid"/>
          </a:ln>
        </p:spPr>
      </p:sp>
      <p:sp>
        <p:nvSpPr>
          <p:cNvPr id="36" name="Text 34"/>
          <p:cNvSpPr/>
          <p:nvPr/>
        </p:nvSpPr>
        <p:spPr>
          <a:xfrm>
            <a:off x="8906256" y="3374136"/>
            <a:ext cx="621792" cy="274320"/>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S</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U</a:t>
            </a:r>
            <a:pPr algn="l" indent="0" marL="0">
              <a:buNone/>
            </a:pPr>
            <a:r>
              <a:rPr lang="en-US" sz="1500" baseline="30000" dirty="0">
                <a:solidFill>
                  <a:srgbClr val="111111"/>
                </a:solidFill>
                <a:latin typeface="Cambria Math" pitchFamily="34" charset="0"/>
                <a:ea typeface="Cambria Math" pitchFamily="34" charset="-122"/>
                <a:cs typeface="Cambria Math" pitchFamily="34" charset="-120"/>
              </a:rPr>
              <a:t>frame</a:t>
            </a:r>
            <a:pPr algn="l" indent="0" marL="0">
              <a:buNone/>
            </a:pPr>
            <a:r>
              <a:rPr lang="en-US" sz="2200" dirty="0">
                <a:solidFill>
                  <a:srgbClr val="111111"/>
                </a:solidFill>
                <a:latin typeface="Cambria Math" pitchFamily="34" charset="0"/>
                <a:ea typeface="Cambria Math" pitchFamily="34" charset="-122"/>
                <a:cs typeface="Cambria Math" pitchFamily="34" charset="-120"/>
              </a:rPr>
              <a:t> =</a:t>
            </a:r>
            <a:endParaRPr lang="en-US" sz="1350" dirty="0"/>
          </a:p>
        </p:txBody>
      </p:sp>
      <p:sp>
        <p:nvSpPr>
          <p:cNvPr id="37" name="Text 35"/>
          <p:cNvSpPr/>
          <p:nvPr/>
        </p:nvSpPr>
        <p:spPr>
          <a:xfrm>
            <a:off x="9601200" y="3236976"/>
            <a:ext cx="1408176" cy="201168"/>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frame</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D</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220" dirty="0"/>
          </a:p>
        </p:txBody>
      </p:sp>
      <p:sp>
        <p:nvSpPr>
          <p:cNvPr id="38" name="Shape 36"/>
          <p:cNvSpPr/>
          <p:nvPr/>
        </p:nvSpPr>
        <p:spPr>
          <a:xfrm>
            <a:off x="9619488" y="3451860"/>
            <a:ext cx="1371600" cy="0"/>
          </a:xfrm>
          <a:prstGeom prst="line">
            <a:avLst/>
          </a:prstGeom>
          <a:noFill/>
          <a:ln w="11430">
            <a:solidFill>
              <a:srgbClr val="111111"/>
            </a:solidFill>
            <a:prstDash val="solid"/>
          </a:ln>
        </p:spPr>
      </p:sp>
      <p:sp>
        <p:nvSpPr>
          <p:cNvPr id="39" name="Text 37"/>
          <p:cNvSpPr/>
          <p:nvPr/>
        </p:nvSpPr>
        <p:spPr>
          <a:xfrm>
            <a:off x="9601200" y="3479292"/>
            <a:ext cx="1408176" cy="182880"/>
          </a:xfrm>
          <a:prstGeom prst="rect">
            <a:avLst/>
          </a:prstGeom>
          <a:noFill/>
          <a:ln/>
        </p:spPr>
        <p:txBody>
          <a:bodyPr wrap="square" lIns="0" tIns="0" rIns="0" bIns="0" rtlCol="0" anchor="ctr">
            <a:normAutofit/>
          </a:bodyPr>
          <a:lstStyle/>
          <a:p>
            <a:pPr algn="ctr" indent="0" marL="0">
              <a:buNone/>
            </a:pPr>
            <a:r>
              <a:rPr lang="en-US" sz="2200" i="1" dirty="0">
                <a:solidFill>
                  <a:srgbClr val="111111"/>
                </a:solidFill>
                <a:latin typeface="Cambria Math" pitchFamily="34" charset="0"/>
                <a:ea typeface="Cambria Math" pitchFamily="34" charset="-122"/>
                <a:cs typeface="Cambria Math" pitchFamily="34" charset="-120"/>
              </a:rPr>
              <a:t>Δ</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frame</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pPr algn="ctr" indent="0" marL="0">
              <a:buNone/>
            </a:pPr>
            <a:r>
              <a:rPr lang="en-US" sz="2200" i="1" dirty="0">
                <a:solidFill>
                  <a:srgbClr val="111111"/>
                </a:solidFill>
                <a:latin typeface="Cambria Math" pitchFamily="34" charset="0"/>
                <a:ea typeface="Cambria Math" pitchFamily="34" charset="-122"/>
                <a:cs typeface="Cambria Math" pitchFamily="34" charset="-120"/>
              </a:rPr>
              <a:t>M</a:t>
            </a:r>
            <a:pPr algn="ctr" indent="0" marL="0">
              <a:buNone/>
            </a:pPr>
            <a:r>
              <a:rPr lang="en-US" sz="1500" baseline="-40000" dirty="0">
                <a:solidFill>
                  <a:srgbClr val="111111"/>
                </a:solidFill>
                <a:latin typeface="Cambria Math" pitchFamily="34" charset="0"/>
                <a:ea typeface="Cambria Math" pitchFamily="34" charset="-122"/>
                <a:cs typeface="Cambria Math" pitchFamily="34" charset="-120"/>
              </a:rPr>
              <a:t>supply</a:t>
            </a:r>
            <a:pPr algn="ctr" indent="0" marL="0">
              <a:buNone/>
            </a:pPr>
            <a:r>
              <a:rPr lang="en-US" sz="2200" dirty="0">
                <a:solidFill>
                  <a:srgbClr val="111111"/>
                </a:solidFill>
                <a:latin typeface="Cambria Math" pitchFamily="34" charset="0"/>
                <a:ea typeface="Cambria Math" pitchFamily="34" charset="-122"/>
                <a:cs typeface="Cambria Math" pitchFamily="34" charset="-120"/>
              </a:rPr>
              <a:t>)</a:t>
            </a:r>
            <a:endParaRPr lang="en-US" sz="1220" dirty="0"/>
          </a:p>
        </p:txBody>
      </p:sp>
      <p:sp>
        <p:nvSpPr>
          <p:cNvPr id="40" name="Text 38"/>
          <p:cNvSpPr/>
          <p:nvPr/>
        </p:nvSpPr>
        <p:spPr>
          <a:xfrm>
            <a:off x="8906256" y="4251960"/>
            <a:ext cx="2103120" cy="109728"/>
          </a:xfrm>
          <a:prstGeom prst="rect">
            <a:avLst/>
          </a:prstGeom>
          <a:noFill/>
          <a:ln/>
        </p:spPr>
        <p:txBody>
          <a:bodyPr wrap="square" lIns="0" tIns="0" rIns="0" bIns="0" rtlCol="0" anchor="t">
            <a:normAutofit/>
          </a:bodyPr>
          <a:lstStyle/>
          <a:p>
            <a:pPr algn="ctr" indent="0" marL="0">
              <a:buNone/>
            </a:pPr>
            <a:r>
              <a:rPr lang="en-US" sz="1180" dirty="0">
                <a:solidFill>
                  <a:srgbClr val="666666"/>
                </a:solidFill>
                <a:latin typeface="Arial" pitchFamily="34" charset="0"/>
                <a:ea typeface="Arial" pitchFamily="34" charset="-122"/>
                <a:cs typeface="Arial" pitchFamily="34" charset="-120"/>
              </a:rPr>
              <a:t>unexplained share</a:t>
            </a:r>
            <a:endParaRPr lang="en-US" sz="1180" dirty="0"/>
          </a:p>
        </p:txBody>
      </p:sp>
      <p:sp>
        <p:nvSpPr>
          <p:cNvPr id="41" name="Shape 39"/>
          <p:cNvSpPr/>
          <p:nvPr/>
        </p:nvSpPr>
        <p:spPr>
          <a:xfrm>
            <a:off x="914400" y="5577840"/>
            <a:ext cx="10222992" cy="457200"/>
          </a:xfrm>
          <a:prstGeom prst="rect">
            <a:avLst/>
          </a:prstGeom>
          <a:solidFill>
            <a:srgbClr val="FBFBFB"/>
          </a:solidFill>
          <a:ln w="10795">
            <a:solidFill>
              <a:srgbClr val="D7D7D7"/>
            </a:solidFill>
            <a:prstDash val="solid"/>
          </a:ln>
        </p:spPr>
      </p:sp>
      <p:sp>
        <p:nvSpPr>
          <p:cNvPr id="42" name="Text 40"/>
          <p:cNvSpPr/>
          <p:nvPr/>
        </p:nvSpPr>
        <p:spPr>
          <a:xfrm>
            <a:off x="1078992" y="5687568"/>
            <a:ext cx="9875520" cy="164592"/>
          </a:xfrm>
          <a:prstGeom prst="rect">
            <a:avLst/>
          </a:prstGeom>
          <a:noFill/>
          <a:ln/>
        </p:spPr>
        <p:txBody>
          <a:bodyPr wrap="square" lIns="0" tIns="0" rIns="0" bIns="0" rtlCol="0" anchor="t">
            <a:normAutofit/>
          </a:bodyPr>
          <a:lstStyle/>
          <a:p>
            <a:pPr indent="0" marL="0">
              <a:buNone/>
            </a:pPr>
            <a:r>
              <a:rPr lang="en-US" sz="1640" dirty="0">
                <a:solidFill>
                  <a:srgbClr val="1F2937"/>
                </a:solidFill>
                <a:latin typeface="Arial" pitchFamily="34" charset="0"/>
                <a:ea typeface="Arial" pitchFamily="34" charset="-122"/>
                <a:cs typeface="Arial" pitchFamily="34" charset="-120"/>
              </a:rPr>
              <a:t>These quantities operationalize the RQ2 hypotheses about raw supply disparity, adjusted residual frame gap, and heterogeneity across surfaces.</a:t>
            </a:r>
            <a:endParaRPr lang="en-US" sz="16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9808" y="182880"/>
            <a:ext cx="2743200" cy="118872"/>
          </a:xfrm>
          <a:prstGeom prst="rect">
            <a:avLst/>
          </a:prstGeom>
          <a:noFill/>
          <a:ln/>
        </p:spPr>
        <p:txBody>
          <a:bodyPr wrap="square" lIns="0" tIns="0" rIns="0" bIns="0" rtlCol="0" anchor="ctr"/>
          <a:lstStyle/>
          <a:p>
            <a:pPr indent="0" marL="0">
              <a:buNone/>
            </a:pPr>
            <a:r>
              <a:rPr lang="en-US" sz="1020" b="1" spc="75" kern="0" dirty="0">
                <a:solidFill>
                  <a:srgbClr val="666666"/>
                </a:solidFill>
                <a:latin typeface="Arial" pitchFamily="34" charset="0"/>
                <a:ea typeface="Arial" pitchFamily="34" charset="-122"/>
                <a:cs typeface="Arial" pitchFamily="34" charset="-120"/>
              </a:rPr>
              <a:t>INTERPRETATION</a:t>
            </a:r>
            <a:endParaRPr lang="en-US" sz="1020" dirty="0"/>
          </a:p>
        </p:txBody>
      </p:sp>
      <p:sp>
        <p:nvSpPr>
          <p:cNvPr id="3" name="Text 1"/>
          <p:cNvSpPr/>
          <p:nvPr/>
        </p:nvSpPr>
        <p:spPr>
          <a:xfrm>
            <a:off x="749808" y="438912"/>
            <a:ext cx="10378440" cy="274320"/>
          </a:xfrm>
          <a:prstGeom prst="rect">
            <a:avLst/>
          </a:prstGeom>
          <a:noFill/>
          <a:ln/>
        </p:spPr>
        <p:txBody>
          <a:bodyPr wrap="square" lIns="0" tIns="0" rIns="0" bIns="0" rtlCol="0" anchor="ctr"/>
          <a:lstStyle/>
          <a:p>
            <a:pPr indent="0" marL="0">
              <a:buNone/>
            </a:pPr>
            <a:r>
              <a:rPr lang="en-US" sz="2600" dirty="0">
                <a:solidFill>
                  <a:srgbClr val="111111"/>
                </a:solidFill>
                <a:latin typeface="Georgia" pitchFamily="34" charset="0"/>
                <a:ea typeface="Georgia" pitchFamily="34" charset="-122"/>
                <a:cs typeface="Georgia" pitchFamily="34" charset="-120"/>
              </a:rPr>
              <a:t>How to read the remainder</a:t>
            </a:r>
            <a:endParaRPr lang="en-US" sz="2600" dirty="0"/>
          </a:p>
        </p:txBody>
      </p:sp>
      <p:sp>
        <p:nvSpPr>
          <p:cNvPr id="4" name="Shape 2"/>
          <p:cNvSpPr/>
          <p:nvPr/>
        </p:nvSpPr>
        <p:spPr>
          <a:xfrm>
            <a:off x="749808" y="841248"/>
            <a:ext cx="10698480" cy="0"/>
          </a:xfrm>
          <a:prstGeom prst="line">
            <a:avLst/>
          </a:prstGeom>
          <a:noFill/>
          <a:ln w="12700">
            <a:solidFill>
              <a:srgbClr val="D7D7D7"/>
            </a:solidFill>
            <a:prstDash val="solid"/>
          </a:ln>
        </p:spPr>
      </p:sp>
      <p:sp>
        <p:nvSpPr>
          <p:cNvPr id="5" name="Text 3"/>
          <p:cNvSpPr/>
          <p:nvPr/>
        </p:nvSpPr>
        <p:spPr>
          <a:xfrm>
            <a:off x="11173968" y="283464"/>
            <a:ext cx="201168" cy="118872"/>
          </a:xfrm>
          <a:prstGeom prst="rect">
            <a:avLst/>
          </a:prstGeom>
          <a:noFill/>
          <a:ln/>
        </p:spPr>
        <p:txBody>
          <a:bodyPr wrap="square" lIns="0" tIns="0" rIns="0" bIns="0" rtlCol="0" anchor="ctr"/>
          <a:lstStyle/>
          <a:p>
            <a:pPr algn="r" indent="0" marL="0">
              <a:buNone/>
            </a:pPr>
            <a:r>
              <a:rPr lang="en-US" sz="1020" dirty="0">
                <a:solidFill>
                  <a:srgbClr val="666666"/>
                </a:solidFill>
                <a:latin typeface="Arial" pitchFamily="34" charset="0"/>
                <a:ea typeface="Arial" pitchFamily="34" charset="-122"/>
                <a:cs typeface="Arial" pitchFamily="34" charset="-120"/>
              </a:rPr>
              <a:t>11</a:t>
            </a:r>
            <a:endParaRPr lang="en-US" sz="1020" dirty="0"/>
          </a:p>
        </p:txBody>
      </p:sp>
      <p:sp>
        <p:nvSpPr>
          <p:cNvPr id="6" name="Shape 4"/>
          <p:cNvSpPr/>
          <p:nvPr/>
        </p:nvSpPr>
        <p:spPr>
          <a:xfrm>
            <a:off x="6071616" y="1078992"/>
            <a:ext cx="0" cy="4718304"/>
          </a:xfrm>
          <a:prstGeom prst="line">
            <a:avLst/>
          </a:prstGeom>
          <a:noFill/>
          <a:ln w="12700">
            <a:solidFill>
              <a:srgbClr val="D7D7D7"/>
            </a:solidFill>
            <a:prstDash val="solid"/>
          </a:ln>
        </p:spPr>
      </p:sp>
      <p:sp>
        <p:nvSpPr>
          <p:cNvPr id="7" name="Text 5"/>
          <p:cNvSpPr/>
          <p:nvPr/>
        </p:nvSpPr>
        <p:spPr>
          <a:xfrm>
            <a:off x="914400" y="1078992"/>
            <a:ext cx="100584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WYSIWYG</a:t>
            </a:r>
            <a:endParaRPr lang="en-US" sz="1070" dirty="0"/>
          </a:p>
        </p:txBody>
      </p:sp>
      <p:sp>
        <p:nvSpPr>
          <p:cNvPr id="8" name="Text 6"/>
          <p:cNvSpPr/>
          <p:nvPr/>
        </p:nvSpPr>
        <p:spPr>
          <a:xfrm>
            <a:off x="914400" y="1408176"/>
            <a:ext cx="4617720" cy="201168"/>
          </a:xfrm>
          <a:prstGeom prst="rect">
            <a:avLst/>
          </a:prstGeom>
          <a:noFill/>
          <a:ln/>
        </p:spPr>
        <p:txBody>
          <a:bodyPr wrap="square" lIns="0" tIns="0" rIns="0" bIns="0" rtlCol="0" anchor="t">
            <a:normAutofit/>
          </a:bodyPr>
          <a:lstStyle/>
          <a:p>
            <a:pPr indent="0" marL="0">
              <a:buNone/>
            </a:pPr>
            <a:r>
              <a:rPr lang="en-US" sz="1980" dirty="0">
                <a:solidFill>
                  <a:srgbClr val="1F2937"/>
                </a:solidFill>
                <a:latin typeface="Arial" pitchFamily="34" charset="0"/>
                <a:ea typeface="Arial" pitchFamily="34" charset="-122"/>
                <a:cs typeface="Arial" pitchFamily="34" charset="-120"/>
              </a:rPr>
              <a:t>observable signals ≈ legitimate merit</a:t>
            </a:r>
            <a:endParaRPr lang="en-US" sz="1980" dirty="0"/>
          </a:p>
        </p:txBody>
      </p:sp>
      <p:sp>
        <p:nvSpPr>
          <p:cNvPr id="9" name="Text 7"/>
          <p:cNvSpPr/>
          <p:nvPr/>
        </p:nvSpPr>
        <p:spPr>
          <a:xfrm>
            <a:off x="914400" y="1938528"/>
            <a:ext cx="4754880" cy="237744"/>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S</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U</a:t>
            </a:r>
            <a:pPr algn="l" indent="0" marL="0">
              <a:buNone/>
            </a:pPr>
            <a:r>
              <a:rPr lang="en-US" sz="2200" dirty="0">
                <a:solidFill>
                  <a:srgbClr val="111111"/>
                </a:solidFill>
                <a:latin typeface="Cambria Math" pitchFamily="34" charset="0"/>
                <a:ea typeface="Cambria Math" pitchFamily="34" charset="-122"/>
                <a:cs typeface="Cambria Math" pitchFamily="34" charset="-120"/>
              </a:rPr>
              <a:t> = unexplained after observed-factor adjustment</a:t>
            </a:r>
            <a:endParaRPr lang="en-US" sz="2140" dirty="0"/>
          </a:p>
        </p:txBody>
      </p:sp>
      <p:sp>
        <p:nvSpPr>
          <p:cNvPr id="10" name="Text 8"/>
          <p:cNvSpPr/>
          <p:nvPr/>
        </p:nvSpPr>
        <p:spPr>
          <a:xfrm>
            <a:off x="914400" y="2487168"/>
            <a:ext cx="2286000" cy="237744"/>
          </a:xfrm>
          <a:prstGeom prst="rect">
            <a:avLst/>
          </a:prstGeom>
          <a:noFill/>
          <a:ln/>
        </p:spPr>
        <p:txBody>
          <a:bodyPr wrap="square" lIns="0" tIns="0" rIns="0" bIns="0" rtlCol="0" anchor="ctr">
            <a:normAutofit/>
          </a:bodyPr>
          <a:lstStyle/>
          <a:p>
            <a:pPr algn="l" indent="0" marL="0">
              <a:buNone/>
            </a:pPr>
            <a:r>
              <a:rPr lang="en-US" sz="2200" i="1" dirty="0">
                <a:solidFill>
                  <a:srgbClr val="111111"/>
                </a:solidFill>
                <a:latin typeface="Cambria Math" pitchFamily="34" charset="0"/>
                <a:ea typeface="Cambria Math" pitchFamily="34" charset="-122"/>
                <a:cs typeface="Cambria Math" pitchFamily="34" charset="-120"/>
              </a:rPr>
              <a:t>S</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U</a:t>
            </a:r>
            <a:pPr algn="l" indent="0" marL="0">
              <a:buNone/>
            </a:pPr>
            <a:r>
              <a:rPr lang="en-US" sz="2200" dirty="0">
                <a:solidFill>
                  <a:srgbClr val="111111"/>
                </a:solidFill>
                <a:latin typeface="Cambria Math" pitchFamily="34" charset="0"/>
                <a:ea typeface="Cambria Math" pitchFamily="34" charset="-122"/>
                <a:cs typeface="Cambria Math" pitchFamily="34" charset="-120"/>
              </a:rPr>
              <a:t> ≠ bias</a:t>
            </a:r>
            <a:endParaRPr lang="en-US" sz="2200" dirty="0"/>
          </a:p>
        </p:txBody>
      </p:sp>
      <p:sp>
        <p:nvSpPr>
          <p:cNvPr id="11" name="Text 9"/>
          <p:cNvSpPr/>
          <p:nvPr/>
        </p:nvSpPr>
        <p:spPr>
          <a:xfrm>
            <a:off x="914400" y="3127248"/>
            <a:ext cx="4663440" cy="969264"/>
          </a:xfrm>
          <a:prstGeom prst="rect">
            <a:avLst/>
          </a:prstGeom>
          <a:noFill/>
          <a:ln/>
        </p:spPr>
        <p:txBody>
          <a:bodyPr wrap="square" lIns="0" tIns="0" rIns="0" bIns="0" rtlCol="0" anchor="t">
            <a:normAutofit/>
          </a:bodyPr>
          <a:lstStyle/>
          <a:p>
            <a:pPr indent="0" marL="0">
              <a:buNone/>
            </a:pPr>
            <a:r>
              <a:rPr lang="en-US" sz="1800" dirty="0">
                <a:solidFill>
                  <a:srgbClr val="111111"/>
                </a:solidFill>
                <a:latin typeface="Arial" pitchFamily="34" charset="0"/>
                <a:ea typeface="Arial" pitchFamily="34" charset="-122"/>
                <a:cs typeface="Arial" pitchFamily="34" charset="-120"/>
              </a:rPr>
              <a:t>Under this reading, the remainder may still reflect omitted legitimate signals, hidden platform objectives, stochasticity, measurement error, or bias.</a:t>
            </a:r>
            <a:endParaRPr lang="en-US" sz="1800" dirty="0"/>
          </a:p>
        </p:txBody>
      </p:sp>
      <p:sp>
        <p:nvSpPr>
          <p:cNvPr id="12" name="Text 10"/>
          <p:cNvSpPr/>
          <p:nvPr/>
        </p:nvSpPr>
        <p:spPr>
          <a:xfrm>
            <a:off x="6400800" y="1078992"/>
            <a:ext cx="731520" cy="128016"/>
          </a:xfrm>
          <a:prstGeom prst="rect">
            <a:avLst/>
          </a:prstGeom>
          <a:noFill/>
          <a:ln/>
        </p:spPr>
        <p:txBody>
          <a:bodyPr wrap="square" lIns="0" tIns="0" rIns="0" bIns="0" rtlCol="0" anchor="ctr"/>
          <a:lstStyle/>
          <a:p>
            <a:pPr indent="0" marL="0">
              <a:buNone/>
            </a:pPr>
            <a:r>
              <a:rPr lang="en-US" sz="1070" b="1" spc="80" kern="0" dirty="0">
                <a:solidFill>
                  <a:srgbClr val="666666"/>
                </a:solidFill>
                <a:latin typeface="Arial" pitchFamily="34" charset="0"/>
                <a:ea typeface="Arial" pitchFamily="34" charset="-122"/>
                <a:cs typeface="Arial" pitchFamily="34" charset="-120"/>
              </a:rPr>
              <a:t>WAE</a:t>
            </a:r>
            <a:endParaRPr lang="en-US" sz="1070" dirty="0"/>
          </a:p>
        </p:txBody>
      </p:sp>
      <p:sp>
        <p:nvSpPr>
          <p:cNvPr id="13" name="Text 11"/>
          <p:cNvSpPr/>
          <p:nvPr/>
        </p:nvSpPr>
        <p:spPr>
          <a:xfrm>
            <a:off x="6400800" y="1408176"/>
            <a:ext cx="4709160" cy="384048"/>
          </a:xfrm>
          <a:prstGeom prst="rect">
            <a:avLst/>
          </a:prstGeom>
          <a:noFill/>
          <a:ln/>
        </p:spPr>
        <p:txBody>
          <a:bodyPr wrap="square" lIns="0" tIns="0" rIns="0" bIns="0" rtlCol="0" anchor="t">
            <a:normAutofit/>
          </a:bodyPr>
          <a:lstStyle/>
          <a:p>
            <a:pPr indent="0" marL="0">
              <a:buNone/>
            </a:pPr>
            <a:r>
              <a:rPr lang="en-US" sz="1900" dirty="0">
                <a:solidFill>
                  <a:srgbClr val="1F2937"/>
                </a:solidFill>
                <a:latin typeface="Arial" pitchFamily="34" charset="0"/>
                <a:ea typeface="Arial" pitchFamily="34" charset="-122"/>
                <a:cs typeface="Arial" pitchFamily="34" charset="-120"/>
              </a:rPr>
              <a:t>observed popularity and trajectory may already contain prior unequal exposure</a:t>
            </a:r>
            <a:endParaRPr lang="en-US" sz="1900" dirty="0"/>
          </a:p>
        </p:txBody>
      </p:sp>
      <p:sp>
        <p:nvSpPr>
          <p:cNvPr id="14" name="Text 12"/>
          <p:cNvSpPr/>
          <p:nvPr/>
        </p:nvSpPr>
        <p:spPr>
          <a:xfrm>
            <a:off x="6400800" y="2139696"/>
            <a:ext cx="4526280" cy="256032"/>
          </a:xfrm>
          <a:prstGeom prst="rect">
            <a:avLst/>
          </a:prstGeom>
          <a:noFill/>
          <a:ln/>
        </p:spPr>
        <p:txBody>
          <a:bodyPr wrap="square" lIns="0" tIns="0" rIns="0" bIns="0" rtlCol="0" anchor="ctr">
            <a:normAutofit/>
          </a:bodyPr>
          <a:lstStyle/>
          <a:p>
            <a:pPr algn="l" indent="0" marL="0">
              <a:buNone/>
            </a:pPr>
            <a:r>
              <a:rPr lang="en-US" sz="2200" dirty="0">
                <a:solidFill>
                  <a:srgbClr val="111111"/>
                </a:solidFill>
                <a:latin typeface="Cambria Math" pitchFamily="34" charset="0"/>
                <a:ea typeface="Cambria Math" pitchFamily="34" charset="-122"/>
                <a:cs typeface="Cambria Math" pitchFamily="34" charset="-120"/>
              </a:rPr>
              <a:t>bias-consistent remainder = </a:t>
            </a:r>
            <a:pPr algn="l" indent="0" marL="0">
              <a:buNone/>
            </a:pPr>
            <a:r>
              <a:rPr lang="en-US" sz="2200" i="1" dirty="0">
                <a:solidFill>
                  <a:srgbClr val="111111"/>
                </a:solidFill>
                <a:latin typeface="Cambria Math" pitchFamily="34" charset="0"/>
                <a:ea typeface="Cambria Math" pitchFamily="34" charset="-122"/>
                <a:cs typeface="Cambria Math" pitchFamily="34" charset="-120"/>
              </a:rPr>
              <a:t>S</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D</a:t>
            </a:r>
            <a:pPr algn="l" indent="0" marL="0">
              <a:buNone/>
            </a:pPr>
            <a:r>
              <a:rPr lang="en-US" sz="2200" dirty="0">
                <a:solidFill>
                  <a:srgbClr val="111111"/>
                </a:solidFill>
                <a:latin typeface="Cambria Math" pitchFamily="34" charset="0"/>
                <a:ea typeface="Cambria Math" pitchFamily="34" charset="-122"/>
                <a:cs typeface="Cambria Math" pitchFamily="34" charset="-120"/>
              </a:rPr>
              <a:t> + </a:t>
            </a:r>
            <a:pPr algn="l" indent="0" marL="0">
              <a:buNone/>
            </a:pPr>
            <a:r>
              <a:rPr lang="en-US" sz="2200" i="1" dirty="0">
                <a:solidFill>
                  <a:srgbClr val="111111"/>
                </a:solidFill>
                <a:latin typeface="Cambria Math" pitchFamily="34" charset="0"/>
                <a:ea typeface="Cambria Math" pitchFamily="34" charset="-122"/>
                <a:cs typeface="Cambria Math" pitchFamily="34" charset="-120"/>
              </a:rPr>
              <a:t>S</a:t>
            </a:r>
            <a:pPr algn="l" indent="0" marL="0">
              <a:buNone/>
            </a:pPr>
            <a:r>
              <a:rPr lang="en-US" sz="1500" baseline="-40000" dirty="0">
                <a:solidFill>
                  <a:srgbClr val="111111"/>
                </a:solidFill>
                <a:latin typeface="Cambria Math" pitchFamily="34" charset="0"/>
                <a:ea typeface="Cambria Math" pitchFamily="34" charset="-122"/>
                <a:cs typeface="Cambria Math" pitchFamily="34" charset="-120"/>
              </a:rPr>
              <a:t>U</a:t>
            </a:r>
            <a:endParaRPr lang="en-US" sz="2180" dirty="0"/>
          </a:p>
        </p:txBody>
      </p:sp>
      <p:sp>
        <p:nvSpPr>
          <p:cNvPr id="15" name="Text 13"/>
          <p:cNvSpPr/>
          <p:nvPr/>
        </p:nvSpPr>
        <p:spPr>
          <a:xfrm>
            <a:off x="6400800" y="2834640"/>
            <a:ext cx="4709160" cy="932688"/>
          </a:xfrm>
          <a:prstGeom prst="rect">
            <a:avLst/>
          </a:prstGeom>
          <a:noFill/>
          <a:ln/>
        </p:spPr>
        <p:txBody>
          <a:bodyPr wrap="square" lIns="0" tIns="0" rIns="0" bIns="0" rtlCol="0" anchor="t">
            <a:normAutofit/>
          </a:bodyPr>
          <a:lstStyle/>
          <a:p>
            <a:pPr indent="0" marL="0">
              <a:buNone/>
            </a:pPr>
            <a:r>
              <a:rPr lang="en-US" sz="1800" dirty="0">
                <a:solidFill>
                  <a:srgbClr val="111111"/>
                </a:solidFill>
                <a:latin typeface="Arial" pitchFamily="34" charset="0"/>
                <a:ea typeface="Arial" pitchFamily="34" charset="-122"/>
                <a:cs typeface="Arial" pitchFamily="34" charset="-120"/>
              </a:rPr>
              <a:t>What looks “explained” by early popularity or trajectory can still be part of dynamic amplification. So unexplained is not the whole story.</a:t>
            </a:r>
            <a:endParaRPr lang="en-US" sz="1800" dirty="0"/>
          </a:p>
        </p:txBody>
      </p:sp>
      <p:sp>
        <p:nvSpPr>
          <p:cNvPr id="16" name="Shape 14"/>
          <p:cNvSpPr/>
          <p:nvPr/>
        </p:nvSpPr>
        <p:spPr>
          <a:xfrm>
            <a:off x="914400" y="5596128"/>
            <a:ext cx="10222992" cy="512064"/>
          </a:xfrm>
          <a:prstGeom prst="rect">
            <a:avLst/>
          </a:prstGeom>
          <a:solidFill>
            <a:srgbClr val="FBFBFB"/>
          </a:solidFill>
          <a:ln w="10795">
            <a:solidFill>
              <a:srgbClr val="D7D7D7"/>
            </a:solidFill>
            <a:prstDash val="solid"/>
          </a:ln>
        </p:spPr>
      </p:sp>
      <p:sp>
        <p:nvSpPr>
          <p:cNvPr id="17" name="Text 15"/>
          <p:cNvSpPr/>
          <p:nvPr/>
        </p:nvSpPr>
        <p:spPr>
          <a:xfrm>
            <a:off x="1078992" y="5687568"/>
            <a:ext cx="9893808" cy="256032"/>
          </a:xfrm>
          <a:prstGeom prst="rect">
            <a:avLst/>
          </a:prstGeom>
          <a:noFill/>
          <a:ln/>
        </p:spPr>
        <p:txBody>
          <a:bodyPr wrap="square" lIns="0" tIns="0" rIns="0" bIns="0" rtlCol="0" anchor="t">
            <a:normAutofit/>
          </a:bodyPr>
          <a:lstStyle/>
          <a:p>
            <a:pPr indent="0" marL="0">
              <a:buNone/>
            </a:pPr>
            <a:r>
              <a:rPr lang="en-US" sz="1620" dirty="0">
                <a:solidFill>
                  <a:srgbClr val="1F2937"/>
                </a:solidFill>
                <a:latin typeface="Arial" pitchFamily="34" charset="0"/>
                <a:ea typeface="Arial" pitchFamily="34" charset="-122"/>
                <a:cs typeface="Arial" pitchFamily="34" charset="-120"/>
              </a:rPr>
              <a:t>Final reading rule: do not treat the last residual as a point estimate of “bias.” Treat it as the remainder after the observed-factor adjustment, and interpret it differently under WYSIWYG and WAE.</a:t>
            </a:r>
            <a:endParaRPr lang="en-US" sz="16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Bluesky RQ1/RQ2 exposure model</dc:title>
  <dc:subject>Bluesky RQ1/RQ2 exposure model</dc:subject>
  <dc:creator>OpenAI</dc:creator>
  <cp:lastModifiedBy>OpenAI</cp:lastModifiedBy>
  <cp:revision>1</cp:revision>
  <dcterms:created xsi:type="dcterms:W3CDTF">2026-03-21T22:57:01Z</dcterms:created>
  <dcterms:modified xsi:type="dcterms:W3CDTF">2026-03-21T22:57:01Z</dcterms:modified>
</cp:coreProperties>
</file>