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Open with the research questions first, then earn the notation.</a:t>
            </a:r>
          </a:p>
          <a:p>
            <a:r>
              <a:t>- Ashudeep Singh and Thorsten Joachims. Fairness of Exposure in Rankings. KDD 2018. DOI: 10.1145/3219819.3220088</a:t>
            </a:r>
          </a:p>
          <a:p>
            <a:r>
              <a:t>- Yunqi Li et al. Fairness in Recommendation: Foundations, Methods, and Applications. ACM TIST 2023. DOI: 10.1145/3610302</a:t>
            </a:r>
          </a:p>
          <a:p>
            <a:r>
              <a:t>- Meike Zehlike, Ke Yang, Julia Stoyanovich. Fairness in Ranking, Part I and Part II. ACM CSUR 2022.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Early concept slide: exposure is the scarce resource and rank position allocates it.</a:t>
            </a:r>
          </a:p>
          <a:p>
            <a:r>
              <a:t>- Ashudeep Singh and Thorsten Joachims. Fairness of Exposure in Rankings. KDD 2018. DOI: 10.1145/3219819.3220088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This slide defines monitored exposure, not total platform impressions.</a:t>
            </a:r>
          </a:p>
          <a:p>
            <a:r>
              <a:t>- Ashudeep Singh and Thorsten Joachims. Fairness of Exposure in Rankings. KDD 2018. DOI: 10.1145/3219819.3220088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We use a conservative comparison unit: local content-similarity within a competition window, not claimed identity of real-world events.</a:t>
            </a:r>
          </a:p>
          <a:p>
            <a:r>
              <a:t>- Meike Zehlike, Ke Yang, Julia Stoyanovich. Fairness in Ranking, Part II. ACM CSUR 2022.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Formal setup for RQ1: local context, risk set, and observed share.</a:t>
            </a:r>
          </a:p>
          <a:p>
            <a:r>
              <a:t>- Ashudeep Singh and Thorsten Joachims. Fairness of Exposure in Rankings. KDD 2018. DOI: 10.1145/3219819.3220088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The gap is a distance between observed and baseline-implied shares, not a direct point estimate of bias.</a:t>
            </a:r>
          </a:p>
          <a:p>
            <a:r>
              <a:t>- Dynamic/contestable factors are handled as a separate pathway rather than folded into pure merit.</a:t>
            </a:r>
          </a:p>
          <a:p>
            <a:r>
              <a:t>- Yunqi Li et al. Fairness in Recommendation: Foundations, Methods, and Applications. ACM TIST 2023. DOI: 10.1145/3610302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Bridge slide: the exposure accounting stays fixed while the fairness unit changes from copies to frames.</a:t>
            </a:r>
          </a:p>
          <a:p>
            <a:r>
              <a:t>- Repo context: /Volumes/T9/BlueSky/_build/2026-03-13/content_bias_pilot_readout.md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RQ2 begins with exposure share versus observed frame supply share inside one event/topic cluster.</a:t>
            </a:r>
          </a:p>
          <a:p>
            <a:r>
              <a:t>- Repo context: /Volumes/T9/BlueSky/_build/2026-03-13/content_bias_pilot_readout.md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Raw frame disparity is the supply-relative first-pass answer for RQ2.</a:t>
            </a:r>
          </a:p>
          <a:p>
            <a:r>
              <a:t>- Ashudeep Singh and Thorsten Joachims. Fairness of Exposure in Rankings. KDD 2018. DOI: 10.1145/3219819.3220088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Adjusted frame disparity reuses the same timing / aligned / dynamic ladder as RQ1 and then stratifies by surface.</a:t>
            </a:r>
          </a:p>
          <a:p>
            <a:r>
              <a:t>- Yunqi Li et al. Fairness in Recommendation: Foundations, Methods, and Applications. ACM TIST 2023. DOI: 10.1145/3610302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WYSIWYG versus WAE belongs at the interpretation stage, not the setup stage.</a:t>
            </a:r>
          </a:p>
          <a:p>
            <a:r>
              <a:t>- Meike Zehlike, Ke Yang, Julia Stoyanovich. Fairness in Ranking, Part I and Part II. ACM CSUR 2022.</a:t>
            </a:r>
          </a:p>
          <a:p>
            <a:r>
              <a:t>- Dynamic popularity and early trajectory cautions follow Li et al. 2023.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64592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606060"/>
                </a:solidFill>
                <a:latin typeface="Arial"/>
              </a:rPr>
              <a:t>BLUESKY EXPOSURE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241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0F0F0F"/>
                </a:solidFill>
                <a:latin typeface="Times New Roman"/>
              </a:rPr>
              <a:t>Research questions before the machinery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49808" y="886968"/>
            <a:ext cx="10753344" cy="0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28832" y="164592"/>
            <a:ext cx="3291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60606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88720"/>
            <a:ext cx="99669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0F0F0F"/>
                </a:solidFill>
                <a:latin typeface="Arial"/>
              </a:rPr>
              <a:t>We ask how monitored top-K visibility is split across near-identical copies and across frames inside the same event.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938528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06060"/>
                </a:solidFill>
                <a:latin typeface="Arial"/>
              </a:rPr>
              <a:t>RQ1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40280"/>
            <a:ext cx="1005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0F0F0F"/>
                </a:solidFill>
                <a:latin typeface="Times New Roman"/>
              </a:rPr>
              <a:t>After timing and local panel context are accounted for, do near-duplicate post versions still receive systematically unequal monitored exposure opportunities?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" y="3310128"/>
            <a:ext cx="10177272" cy="0"/>
          </a:xfrm>
          <a:prstGeom prst="line">
            <a:avLst/>
          </a:prstGeom>
          <a:ln w="1143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1248" y="356616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06060"/>
                </a:solidFill>
                <a:latin typeface="Arial"/>
              </a:rPr>
              <a:t>RQ2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867912"/>
            <a:ext cx="10058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0F0F0F"/>
                </a:solidFill>
                <a:latin typeface="Times New Roman"/>
              </a:rPr>
              <a:t>Within the same event or topic cluster, does monitored exposure across narrative frames track frame supply, or does it drift in a patterned way after adjustment?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870448"/>
            <a:ext cx="10195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06060"/>
                </a:solidFill>
                <a:latin typeface="Arial"/>
              </a:rPr>
              <a:t>Flow: why exposure is the unit, then RQ1, then the bridge to RQ2, then how to read the remainder.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64592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606060"/>
                </a:solidFill>
                <a:latin typeface="Arial"/>
              </a:rP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241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0F0F0F"/>
                </a:solidFill>
                <a:latin typeface="Times New Roman"/>
              </a:rPr>
              <a:t>Why exposure is the right object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49808" y="886968"/>
            <a:ext cx="10753344" cy="0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28832" y="164592"/>
            <a:ext cx="3291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60606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35024"/>
            <a:ext cx="480060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2000" b="0" i="0">
                <a:solidFill>
                  <a:srgbClr val="0F0F0F"/>
                </a:solidFill>
                <a:latin typeface="Arial"/>
              </a:rPr>
              <a:t>A monitored top-K appearance is not a full impression log. It is an observed opportunity to be seen.</a:t>
            </a: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2000" b="0" i="0">
                <a:solidFill>
                  <a:srgbClr val="0F0F0F"/>
                </a:solidFill>
                <a:latin typeface="Arial"/>
              </a:rPr>
              <a:t>The front of the panel matters more than the back because viewers attend to higher ranks first.</a:t>
            </a: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2000" b="0" i="0">
                <a:solidFill>
                  <a:srgbClr val="0F0F0F"/>
                </a:solidFill>
                <a:latin typeface="Arial"/>
              </a:rPr>
              <a:t>So our accounting object is not just “did the post appear?” It is “how much monitored visibility did that appearance carry?”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97880" y="1261872"/>
            <a:ext cx="0" cy="4114800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36208" y="1335024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06060"/>
                </a:solidFill>
                <a:latin typeface="Arial"/>
              </a:rPr>
              <a:t>ONE SIMPLE INTUITION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1783080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0F0F0F"/>
                </a:solidFill>
                <a:latin typeface="Arial"/>
              </a:rPr>
              <a:t>Front ranks are worth more than lower ranks.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8716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0F0F0F"/>
                </a:solidFill>
                <a:latin typeface="Times New Roman"/>
              </a:rPr>
              <a:t>rank 1  -&gt;  highest monitored 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8211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0F0F0F"/>
                </a:solidFill>
                <a:latin typeface="Times New Roman"/>
              </a:rPr>
              <a:t>rank 5  -&gt;  less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877056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0F0F0F"/>
                </a:solidFill>
                <a:latin typeface="Times New Roman"/>
              </a:rPr>
              <a:t>rank 10 -&gt;  less still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632704"/>
            <a:ext cx="10195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06060"/>
                </a:solidFill>
                <a:latin typeface="Arial"/>
              </a:rPr>
              <a:t>This is the Singh-Joachims idea in plain English: rankings allocate visibility, and position is the mechanism that allocates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64592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606060"/>
                </a:solidFill>
                <a:latin typeface="Arial"/>
              </a:rP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241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0F0F0F"/>
                </a:solidFill>
                <a:latin typeface="Times New Roman"/>
              </a:rPr>
              <a:t>Define monitored exposure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49808" y="886968"/>
            <a:ext cx="10753344" cy="0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28832" y="164592"/>
            <a:ext cx="3291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606060"/>
                </a:solidFill>
                <a:latin typeface="Arial"/>
              </a:rPr>
              <a:t>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97880" y="1261872"/>
            <a:ext cx="0" cy="4114800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1316736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06060"/>
                </a:solidFill>
                <a:latin typeface="Arial"/>
              </a:rPr>
              <a:t>POSITION WEIGHT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40280"/>
            <a:ext cx="1051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1">
                <a:solidFill>
                  <a:srgbClr val="0F0F0F"/>
                </a:solidFill>
                <a:latin typeface="Times New Roman"/>
              </a:rPr>
              <a:t>w(r) 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3704" y="1938528"/>
            <a:ext cx="299008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 i="1">
                <a:solidFill>
                  <a:srgbClr val="0F0F0F"/>
                </a:solidFill>
                <a:latin typeface="Times New Roman"/>
              </a:rP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9424" y="2432304"/>
            <a:ext cx="2898648" cy="0"/>
          </a:xfrm>
          <a:prstGeom prst="line">
            <a:avLst/>
          </a:prstGeom>
          <a:ln w="1778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03704" y="2459736"/>
            <a:ext cx="299008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700" b="0" i="1">
                <a:solidFill>
                  <a:srgbClr val="0F0F0F"/>
                </a:solidFill>
                <a:latin typeface="Times New Roman"/>
              </a:rPr>
              <a:t>log₂(1 + 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26080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606060"/>
                </a:solidFill>
                <a:latin typeface="Arial"/>
              </a:rPr>
              <a:t>Higher ranks carry more monitored attention.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316736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06060"/>
                </a:solidFill>
                <a:latin typeface="Arial"/>
              </a:rPr>
              <a:t>POST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29968"/>
            <a:ext cx="4572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i="1">
                <a:solidFill>
                  <a:srgbClr val="0F0F0F"/>
                </a:solidFill>
                <a:latin typeface="Times New Roman"/>
              </a:rPr>
              <a:t>Eᵢ = Σₘ∈Mᵢ w(rₘ)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651760"/>
            <a:ext cx="4498848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0F0F0F"/>
                </a:solidFill>
                <a:latin typeface="Arial"/>
              </a:rPr>
              <a:t>Add every monitored appearance of post i, but give more credit to appearances that occur higher in the panel.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" y="3767328"/>
            <a:ext cx="10131552" cy="0"/>
          </a:xfrm>
          <a:prstGeom prst="line">
            <a:avLst/>
          </a:prstGeom>
          <a:ln w="1143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3968496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06060"/>
                </a:solidFill>
                <a:latin typeface="Arial"/>
              </a:rPr>
              <a:t>WITHIN ONE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407408"/>
            <a:ext cx="4892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0" i="1">
                <a:solidFill>
                  <a:srgbClr val="0F0F0F"/>
                </a:solidFill>
                <a:latin typeface="Times New Roman"/>
              </a:rPr>
              <a:t>yᵢg = Σₘ∈Mᵢg w(rₘ)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334256"/>
            <a:ext cx="444398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800" b="0" i="0">
                <a:solidFill>
                  <a:srgbClr val="0F0F0F"/>
                </a:solidFill>
                <a:latin typeface="Arial"/>
              </a:rPr>
              <a:t>g = (feed, hour, viewer, vantage)
Keep the accounting local before you compare two versions.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64592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606060"/>
                </a:solidFill>
                <a:latin typeface="Arial"/>
              </a:rPr>
              <a:t>STEP 2A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241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0F0F0F"/>
                </a:solidFill>
                <a:latin typeface="Times New Roman"/>
              </a:rPr>
              <a:t>RQ1 starts with a fair local comparison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49808" y="886968"/>
            <a:ext cx="10753344" cy="0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28832" y="164592"/>
            <a:ext cx="3291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606060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35024"/>
            <a:ext cx="100584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0" i="0">
                <a:solidFill>
                  <a:srgbClr val="0F0F0F"/>
                </a:solidFill>
                <a:latin typeface="Arial"/>
              </a:rPr>
              <a:t>We do not claim the posts describe the same real-world event. We use a weaker and more defensible unit: versions that were similar enough, and close enough in time, to compete for the same monitored opportunity.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23360" y="2670048"/>
            <a:ext cx="0" cy="2176272"/>
          </a:xfrm>
          <a:prstGeom prst="line">
            <a:avLst/>
          </a:prstGeom>
          <a:ln w="1143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70064" y="2670048"/>
            <a:ext cx="0" cy="2176272"/>
          </a:xfrm>
          <a:prstGeom prst="line">
            <a:avLst/>
          </a:prstGeom>
          <a:ln w="1143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50976" y="2834640"/>
            <a:ext cx="2651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0" i="0">
                <a:solidFill>
                  <a:srgbClr val="0F0F0F"/>
                </a:solidFill>
                <a:latin typeface="Times New Roman"/>
              </a:rPr>
              <a:t>same
content family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2834640"/>
            <a:ext cx="2651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0" i="0">
                <a:solidFill>
                  <a:srgbClr val="0F0F0F"/>
                </a:solidFill>
                <a:latin typeface="Times New Roman"/>
              </a:rPr>
              <a:t>same local
panel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72" y="2834640"/>
            <a:ext cx="2651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0" i="0">
                <a:solidFill>
                  <a:srgbClr val="0F0F0F"/>
                </a:solidFill>
                <a:latin typeface="Times New Roman"/>
              </a:rPr>
              <a:t>same competition
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895344"/>
            <a:ext cx="1002182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 i="0">
                <a:solidFill>
                  <a:srgbClr val="0F0F0F"/>
                </a:solidFill>
                <a:latin typeface="Arial"/>
              </a:rPr>
              <a:t>Main analysis: exact duplicates. Robustness tiers: same-link duplicates and near-text duplicates.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650992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06060"/>
                </a:solidFill>
                <a:latin typeface="Arial"/>
              </a:rPr>
              <a:t>First fix the comparison unit. Only then introduce the symbols that describe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64592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606060"/>
                </a:solidFill>
                <a:latin typeface="Arial"/>
              </a:rPr>
              <a:t>STEP 2A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241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0F0F0F"/>
                </a:solidFill>
                <a:latin typeface="Times New Roman"/>
              </a:rPr>
              <a:t>RQ1 formal setup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49808" y="886968"/>
            <a:ext cx="10753344" cy="0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28832" y="164592"/>
            <a:ext cx="3291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606060"/>
                </a:solidFill>
                <a:latin typeface="Arial"/>
              </a:rP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97880" y="1261872"/>
            <a:ext cx="0" cy="4169664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1335024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06060"/>
                </a:solidFill>
                <a:latin typeface="Arial"/>
              </a:rPr>
              <a:t>CONTEXT AND RISK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83664"/>
            <a:ext cx="45902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1">
                <a:solidFill>
                  <a:srgbClr val="0F0F0F"/>
                </a:solidFill>
                <a:latin typeface="Times New Roman"/>
              </a:rPr>
              <a:t>g = (feed, hour, viewer, vantage)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651760"/>
            <a:ext cx="459028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1">
                <a:solidFill>
                  <a:srgbClr val="0F0F0F"/>
                </a:solidFill>
                <a:latin typeface="Times New Roman"/>
              </a:rPr>
              <a:t>R_cg = { i : c(i)=c, tᵢ ≤ τg, τg − tᵢ ≤ H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474720"/>
            <a:ext cx="4617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0" i="0">
                <a:solidFill>
                  <a:srgbClr val="0F0F0F"/>
                </a:solidFill>
                <a:latin typeface="Arial"/>
              </a:rPr>
              <a:t>At snapshot time τg, compare only the duplicate versions that were already available and still inside the local comparison horizon 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335024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06060"/>
                </a:solidFill>
                <a:latin typeface="Arial"/>
              </a:rPr>
              <a:t>OBSERVED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1051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1">
                <a:solidFill>
                  <a:srgbClr val="0F0F0F"/>
                </a:solidFill>
                <a:latin typeface="Times New Roman"/>
              </a:rPr>
              <a:t>qᵢg 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1938528"/>
            <a:ext cx="30815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 i="1">
                <a:solidFill>
                  <a:srgbClr val="0F0F0F"/>
                </a:solidFill>
                <a:latin typeface="Times New Roman"/>
              </a:rPr>
              <a:t>Eᵢg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62672" y="2432304"/>
            <a:ext cx="2990087" cy="0"/>
          </a:xfrm>
          <a:prstGeom prst="line">
            <a:avLst/>
          </a:prstGeom>
          <a:ln w="1778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16952" y="2459736"/>
            <a:ext cx="308152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700" b="0" i="1">
                <a:solidFill>
                  <a:srgbClr val="0F0F0F"/>
                </a:solidFill>
                <a:latin typeface="Times New Roman"/>
              </a:rPr>
              <a:t>Σᵤ∈Rcg Eᵤg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4297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606060"/>
                </a:solidFill>
                <a:latin typeface="Arial"/>
              </a:rPr>
              <a:t>The share that version i actually receives inside that duplicate-local comparison.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650992"/>
            <a:ext cx="10195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06060"/>
                </a:solidFill>
                <a:latin typeface="Arial"/>
              </a:rPr>
              <a:t>RQ1 is about how that local share gets split across copies of essentially the same content.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64592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606060"/>
                </a:solidFill>
                <a:latin typeface="Arial"/>
              </a:rPr>
              <a:t>RQ1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241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0F0F0F"/>
                </a:solidFill>
                <a:latin typeface="Times New Roman"/>
              </a:rPr>
              <a:t>RQ1 asks how far the split moves away from a baseline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49808" y="886968"/>
            <a:ext cx="10753344" cy="0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28832" y="164592"/>
            <a:ext cx="3291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606060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10021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900" b="0" i="1">
                <a:solidFill>
                  <a:srgbClr val="0F0F0F"/>
                </a:solidFill>
                <a:latin typeface="Times New Roman"/>
              </a:rPr>
              <a:t>D_M(c,g) = ½ Σᵢ∈Rcg | qᵢg − πᵢg(M) 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84831"/>
            <a:ext cx="929030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 i="0">
                <a:solidFill>
                  <a:srgbClr val="0F0F0F"/>
                </a:solidFill>
                <a:latin typeface="Arial"/>
              </a:rPr>
              <a:t>qᵢg is the observed share. πᵢg(M) is the share implied by a baseline M. The gap asks how much the actual split departs from that baseline.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2907792"/>
            <a:ext cx="10149840" cy="0"/>
          </a:xfrm>
          <a:prstGeom prst="line">
            <a:avLst/>
          </a:prstGeom>
          <a:ln w="1143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3054096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06060"/>
                </a:solidFill>
                <a:latin typeface="Arial"/>
              </a:rPr>
              <a:t>BASELINE LADDER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511296"/>
            <a:ext cx="535838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2400" b="0" i="1">
                <a:solidFill>
                  <a:srgbClr val="0F0F0F"/>
                </a:solidFill>
                <a:latin typeface="Times New Roman"/>
              </a:rPr>
              <a:t>M₀  : timing only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2400" b="0" i="1">
                <a:solidFill>
                  <a:srgbClr val="0F0F0F"/>
                </a:solidFill>
                <a:latin typeface="Times New Roman"/>
              </a:rPr>
              <a:t>M_A : timing + declared-objective factors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2400" b="0" i="1">
                <a:solidFill>
                  <a:srgbClr val="0F0F0F"/>
                </a:solidFill>
                <a:latin typeface="Times New Roman"/>
              </a:rPr>
              <a:t>M_D : timing + dynamic / contestable factors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054096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06060"/>
                </a:solidFill>
                <a:latin typeface="Arial"/>
              </a:rPr>
              <a:t>WHAT WE READ FROM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6" y="3511296"/>
            <a:ext cx="4160520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900" b="0" i="0">
                <a:solidFill>
                  <a:srgbClr val="0F0F0F"/>
                </a:solidFill>
                <a:latin typeface="Arial"/>
              </a:rPr>
              <a:t>timing share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900" b="0" i="0">
                <a:solidFill>
                  <a:srgbClr val="0F0F0F"/>
                </a:solidFill>
                <a:latin typeface="Arial"/>
              </a:rPr>
              <a:t>aligned share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900" b="0" i="0">
                <a:solidFill>
                  <a:srgbClr val="0F0F0F"/>
                </a:solidFill>
                <a:latin typeface="Arial"/>
              </a:rPr>
              <a:t>dynamic / contestable share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900" b="0" i="0">
                <a:solidFill>
                  <a:srgbClr val="0F0F0F"/>
                </a:solidFill>
                <a:latin typeface="Arial"/>
              </a:rPr>
              <a:t>unexplained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632704"/>
            <a:ext cx="10195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06060"/>
                </a:solidFill>
                <a:latin typeface="Arial"/>
              </a:rPr>
              <a:t>Important reading rule: early trajectory is evidence of a dynamic pathway, not a free pass that proves merit.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64592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606060"/>
                </a:solidFill>
                <a:latin typeface="Arial"/>
              </a:rPr>
              <a:t>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241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0F0F0F"/>
                </a:solidFill>
                <a:latin typeface="Times New Roman"/>
              </a:rPr>
              <a:t>Same exposure engine, new comparison object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49808" y="886968"/>
            <a:ext cx="10753344" cy="0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28832" y="164592"/>
            <a:ext cx="3291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606060"/>
                </a:solidFill>
                <a:latin typeface="Arial"/>
              </a:rPr>
              <a:t>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97880" y="1335024"/>
            <a:ext cx="0" cy="4041648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1389888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06060"/>
                </a:solidFill>
                <a:latin typeface="Arial"/>
              </a:rPr>
              <a:t>RQ1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1883664"/>
            <a:ext cx="45171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0F0F0F"/>
                </a:solidFill>
                <a:latin typeface="Times New Roman"/>
              </a:rPr>
              <a:t>Compare copies inside one duplicate-local risk 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16352"/>
            <a:ext cx="4480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0F0F0F"/>
                </a:solidFill>
                <a:latin typeface="Arial"/>
              </a:rPr>
              <a:t>question: which copy gets the monitored visibility?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67328"/>
            <a:ext cx="44439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i="1">
                <a:solidFill>
                  <a:srgbClr val="0F0F0F"/>
                </a:solidFill>
                <a:latin typeface="Times New Roman"/>
              </a:rPr>
              <a:t>local object: qᵢg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389888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06060"/>
                </a:solidFill>
                <a:latin typeface="Arial"/>
              </a:rPr>
              <a:t>RQ2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883664"/>
            <a:ext cx="451713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0F0F0F"/>
                </a:solidFill>
                <a:latin typeface="Times New Roman"/>
              </a:rPr>
              <a:t>Compare frames inside one event or topic cluster.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16352"/>
            <a:ext cx="4480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0F0F0F"/>
                </a:solidFill>
                <a:latin typeface="Arial"/>
              </a:rPr>
              <a:t>question: which narrative frame gets the monitored visibility?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67328"/>
            <a:ext cx="44439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i="1">
                <a:solidFill>
                  <a:srgbClr val="0F0F0F"/>
                </a:solidFill>
                <a:latin typeface="Times New Roman"/>
              </a:rPr>
              <a:t>local objects: x_fhg and s_fhg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650992"/>
            <a:ext cx="10195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06060"/>
                </a:solidFill>
                <a:latin typeface="Arial"/>
              </a:rPr>
              <a:t>Nothing about the exposure accounting changes here. Only the fairness unit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64592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606060"/>
                </a:solidFill>
                <a:latin typeface="Arial"/>
              </a:rPr>
              <a:t>STEP 2B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241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0F0F0F"/>
                </a:solidFill>
                <a:latin typeface="Times New Roman"/>
              </a:rPr>
              <a:t>RQ2 starts with two shares inside one event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49808" y="886968"/>
            <a:ext cx="10753344" cy="0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28832" y="164592"/>
            <a:ext cx="3291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606060"/>
                </a:solidFill>
                <a:latin typeface="Arial"/>
              </a:rPr>
              <a:t>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97880" y="1261872"/>
            <a:ext cx="0" cy="4114800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1335024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06060"/>
                </a:solidFill>
                <a:latin typeface="Arial"/>
              </a:rPr>
              <a:t>FRAME EXPOSURE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240280"/>
            <a:ext cx="1051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1">
                <a:solidFill>
                  <a:srgbClr val="0F0F0F"/>
                </a:solidFill>
                <a:latin typeface="Times New Roman"/>
              </a:rPr>
              <a:t>x_fhg 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1938528"/>
            <a:ext cx="344728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 i="1">
                <a:solidFill>
                  <a:srgbClr val="0F0F0F"/>
                </a:solidFill>
                <a:latin typeface="Times New Roman"/>
              </a:rPr>
              <a:t>Y_fhg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12848" y="2432304"/>
            <a:ext cx="3355848" cy="0"/>
          </a:xfrm>
          <a:prstGeom prst="line">
            <a:avLst/>
          </a:prstGeom>
          <a:ln w="1778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67128" y="2459736"/>
            <a:ext cx="344728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700" b="0" i="1">
                <a:solidFill>
                  <a:srgbClr val="0F0F0F"/>
                </a:solidFill>
                <a:latin typeface="Times New Roman"/>
              </a:rPr>
              <a:t>Σᵤ Y_uhg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926080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606060"/>
                </a:solidFill>
                <a:latin typeface="Arial"/>
              </a:rPr>
              <a:t>Share of monitored exposure that goes to frame f inside event h and context 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335024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06060"/>
                </a:solidFill>
                <a:latin typeface="Arial"/>
              </a:rPr>
              <a:t>FRAME SUPPLY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240280"/>
            <a:ext cx="1051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1">
                <a:solidFill>
                  <a:srgbClr val="0F0F0F"/>
                </a:solidFill>
                <a:latin typeface="Times New Roman"/>
              </a:rPr>
              <a:t>s_fhg 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8664" y="1938528"/>
            <a:ext cx="3410711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 i="1">
                <a:solidFill>
                  <a:srgbClr val="0F0F0F"/>
                </a:solidFill>
                <a:latin typeface="Times New Roman"/>
              </a:rPr>
              <a:t>N_fhg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44384" y="2432304"/>
            <a:ext cx="3319271" cy="0"/>
          </a:xfrm>
          <a:prstGeom prst="line">
            <a:avLst/>
          </a:prstGeom>
          <a:ln w="1778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98664" y="2459736"/>
            <a:ext cx="3410711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700" b="0" i="1">
                <a:solidFill>
                  <a:srgbClr val="0F0F0F"/>
                </a:solidFill>
                <a:latin typeface="Times New Roman"/>
              </a:rPr>
              <a:t>Σᵤ N_uhg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926080"/>
            <a:ext cx="46268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606060"/>
                </a:solidFill>
                <a:latin typeface="Arial"/>
              </a:rPr>
              <a:t>Share of observed candidate posts that belong to frame f inside the same event and context.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37083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0" i="0">
                <a:solidFill>
                  <a:srgbClr val="0F0F0F"/>
                </a:solidFill>
                <a:latin typeface="Arial"/>
              </a:rPr>
              <a:t>Y_fhg measures where the monitored exposure went. N_fhg measures what was available to receive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632704"/>
            <a:ext cx="10195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06060"/>
                </a:solidFill>
                <a:latin typeface="Arial"/>
              </a:rPr>
              <a:t>RQ2 begins with a supply-relative comparison: exposure share versus frame supply share.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64592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606060"/>
                </a:solidFill>
                <a:latin typeface="Arial"/>
              </a:rPr>
              <a:t>RQ2 RAW DISPARITY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241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0F0F0F"/>
                </a:solidFill>
                <a:latin typeface="Times New Roman"/>
              </a:rPr>
              <a:t>RQ2 asks whether frame exposure matches frame supply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49808" y="886968"/>
            <a:ext cx="10753344" cy="0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28832" y="164592"/>
            <a:ext cx="3291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606060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021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900" b="0" i="1">
                <a:solidFill>
                  <a:srgbClr val="0F0F0F"/>
                </a:solidFill>
                <a:latin typeface="Times New Roman"/>
              </a:rPr>
              <a:t>D_supply(h,g) = ½ Σ_f∈Fₕ | x_fhg − s_fhg 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3584" y="2084831"/>
            <a:ext cx="9345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 i="0">
                <a:solidFill>
                  <a:srgbClr val="0F0F0F"/>
                </a:solidFill>
                <a:latin typeface="Arial"/>
              </a:rPr>
              <a:t>D_supply(h,g) = 0 means the monitored exposure split matches the observed frame supply split inside that event and context.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2907792"/>
            <a:ext cx="10149840" cy="0"/>
          </a:xfrm>
          <a:prstGeom prst="line">
            <a:avLst/>
          </a:prstGeom>
          <a:ln w="1143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3090672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06060"/>
                </a:solidFill>
                <a:latin typeface="Arial"/>
              </a:rPr>
              <a:t>PER-FRAME SIGNED 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675887"/>
            <a:ext cx="4681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 i="1">
                <a:solidFill>
                  <a:srgbClr val="0F0F0F"/>
                </a:solidFill>
                <a:latin typeface="Times New Roman"/>
              </a:rPr>
              <a:t>L_fhg = log [ (x_fhg + ε) / (s_fhg + ε)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584448"/>
            <a:ext cx="438912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900" b="0" i="0">
                <a:solidFill>
                  <a:srgbClr val="0F0F0F"/>
                </a:solidFill>
                <a:latin typeface="Arial"/>
              </a:rPr>
              <a:t>L_fhg &gt; 0  -&gt; over-exposed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900" b="0" i="0">
                <a:solidFill>
                  <a:srgbClr val="0F0F0F"/>
                </a:solidFill>
                <a:latin typeface="Arial"/>
              </a:rPr>
              <a:t>L_fhg &lt; 0  -&gt; under-exposed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900" b="0" i="0">
                <a:solidFill>
                  <a:srgbClr val="0F0F0F"/>
                </a:solidFill>
                <a:latin typeface="Arial"/>
              </a:rPr>
              <a:t>L_fhg = 0  -&gt; supply-matched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632704"/>
            <a:ext cx="10195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06060"/>
                </a:solidFill>
                <a:latin typeface="Arial"/>
              </a:rPr>
              <a:t>This is the clean first-pass answer to RQ2 before any adjusted baseline explains part of the disparity away.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64592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606060"/>
                </a:solidFill>
                <a:latin typeface="Arial"/>
              </a:rPr>
              <a:t>RQ2 ADJUSTED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241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0F0F0F"/>
                </a:solidFill>
                <a:latin typeface="Times New Roman"/>
              </a:rPr>
              <a:t>RQ2 then asks how much frame disparity remains after adjustment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49808" y="886968"/>
            <a:ext cx="10753344" cy="0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28832" y="164592"/>
            <a:ext cx="3291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606060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426464"/>
            <a:ext cx="100766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900" b="0" i="1">
                <a:solidFill>
                  <a:srgbClr val="0F0F0F"/>
                </a:solidFill>
                <a:latin typeface="Times New Roman"/>
              </a:rPr>
              <a:t>D_M^frame(h,g) = ½ Σ_f | x_fhg − π_fhg(M) 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029968"/>
            <a:ext cx="961948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 i="0">
                <a:solidFill>
                  <a:srgbClr val="0F0F0F"/>
                </a:solidFill>
                <a:latin typeface="Arial"/>
              </a:rPr>
              <a:t>π_fhg(M) is the model-implied frame share produced by the same post-level ladder we already used for RQ1.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2871216"/>
            <a:ext cx="10149840" cy="0"/>
          </a:xfrm>
          <a:prstGeom prst="line">
            <a:avLst/>
          </a:prstGeom>
          <a:ln w="1143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97880" y="3054096"/>
            <a:ext cx="0" cy="2340864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1248" y="3054096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06060"/>
                </a:solidFill>
                <a:latin typeface="Arial"/>
              </a:rPr>
              <a:t>SAME LADDER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547872"/>
            <a:ext cx="4718304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2200" b="0" i="1">
                <a:solidFill>
                  <a:srgbClr val="0F0F0F"/>
                </a:solidFill>
                <a:latin typeface="Times New Roman"/>
              </a:rPr>
              <a:t>M₀  : timing only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2200" b="0" i="1">
                <a:solidFill>
                  <a:srgbClr val="0F0F0F"/>
                </a:solidFill>
                <a:latin typeface="Times New Roman"/>
              </a:rPr>
              <a:t>M_A : timing + declared-objective factors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2200" b="0" i="1">
                <a:solidFill>
                  <a:srgbClr val="0F0F0F"/>
                </a:solidFill>
                <a:latin typeface="Times New Roman"/>
              </a:rPr>
              <a:t>M_D : timing + dynamic / contestable factors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054096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06060"/>
                </a:solidFill>
                <a:latin typeface="Arial"/>
              </a:rPr>
              <a:t>WHAT WE STRATIFY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3547872"/>
            <a:ext cx="4498848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900" b="0" i="0">
                <a:solidFill>
                  <a:srgbClr val="0F0F0F"/>
                </a:solidFill>
                <a:latin typeface="Arial"/>
              </a:rPr>
              <a:t>by feed bucket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900" b="0" i="0">
                <a:solidFill>
                  <a:srgbClr val="0F0F0F"/>
                </a:solidFill>
                <a:latin typeface="Arial"/>
              </a:rPr>
              <a:t>by viewer mode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900" b="0" i="0">
                <a:solidFill>
                  <a:srgbClr val="0F0F0F"/>
                </a:solidFill>
                <a:latin typeface="Arial"/>
              </a:rPr>
              <a:t>by surface or moderation 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687568"/>
            <a:ext cx="10195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06060"/>
                </a:solidFill>
                <a:latin typeface="Arial"/>
              </a:rPr>
              <a:t>RQ2 is not just “does supply differ?” It is “after baseline M, which frame gaps are still left?”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64592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606060"/>
                </a:solidFill>
                <a:latin typeface="Arial"/>
              </a:rP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402336"/>
            <a:ext cx="10241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0F0F0F"/>
                </a:solidFill>
                <a:latin typeface="Times New Roman"/>
              </a:rPr>
              <a:t>How to read the remainder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49808" y="886968"/>
            <a:ext cx="10753344" cy="0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28832" y="164592"/>
            <a:ext cx="3291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606060"/>
                </a:solidFill>
                <a:latin typeface="Arial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97880" y="1280160"/>
            <a:ext cx="0" cy="4133088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1353312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06060"/>
                </a:solidFill>
                <a:latin typeface="Arial"/>
              </a:rPr>
              <a:t>WYSIWYG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1828800"/>
            <a:ext cx="4553712" cy="2267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7000"/>
              </a:lnSpc>
              <a:spcAft>
                <a:spcPts val="900"/>
              </a:spcAft>
            </a:pPr>
            <a:r>
              <a:rPr sz="1800" b="0" i="0">
                <a:solidFill>
                  <a:srgbClr val="0F0F0F"/>
                </a:solidFill>
                <a:latin typeface="Arial"/>
              </a:rPr>
              <a:t>observable signals ≈ legitimate merit</a:t>
            </a:r>
          </a:p>
          <a:p>
            <a:pPr algn="l">
              <a:lnSpc>
                <a:spcPct val="117000"/>
              </a:lnSpc>
              <a:spcAft>
                <a:spcPts val="900"/>
              </a:spcAft>
            </a:pPr>
            <a:r>
              <a:rPr sz="1800" b="0" i="0">
                <a:solidFill>
                  <a:srgbClr val="0F0F0F"/>
                </a:solidFill>
                <a:latin typeface="Arial"/>
              </a:rPr>
              <a:t>S_U = unexplained after observed-factor adjustment</a:t>
            </a:r>
          </a:p>
          <a:p>
            <a:pPr algn="l">
              <a:lnSpc>
                <a:spcPct val="117000"/>
              </a:lnSpc>
              <a:spcAft>
                <a:spcPts val="900"/>
              </a:spcAft>
            </a:pPr>
            <a:r>
              <a:rPr sz="1800" b="0" i="0">
                <a:solidFill>
                  <a:srgbClr val="0F0F0F"/>
                </a:solidFill>
                <a:latin typeface="Arial"/>
              </a:rPr>
              <a:t>S_U is not automatically bias</a:t>
            </a:r>
          </a:p>
          <a:p>
            <a:pPr algn="l">
              <a:lnSpc>
                <a:spcPct val="117000"/>
              </a:lnSpc>
              <a:spcAft>
                <a:spcPts val="900"/>
              </a:spcAft>
            </a:pPr>
            <a:r>
              <a:rPr sz="1800" b="0" i="0">
                <a:solidFill>
                  <a:srgbClr val="0F0F0F"/>
                </a:solidFill>
                <a:latin typeface="Arial"/>
              </a:rPr>
              <a:t>The remainder may still include omitted legitimate signals, hidden platform objectives, stochasticity, or measurement 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1353312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06060"/>
                </a:solidFill>
                <a:latin typeface="Arial"/>
              </a:rPr>
              <a:t>WAE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1828800"/>
            <a:ext cx="4535424" cy="2304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7000"/>
              </a:lnSpc>
              <a:spcAft>
                <a:spcPts val="900"/>
              </a:spcAft>
            </a:pPr>
            <a:r>
              <a:rPr sz="1800" b="0" i="0">
                <a:solidFill>
                  <a:srgbClr val="0F0F0F"/>
                </a:solidFill>
                <a:latin typeface="Arial"/>
              </a:rPr>
              <a:t>observed popularity and early trajectory may already contain prior unequal exposure</a:t>
            </a:r>
          </a:p>
          <a:p>
            <a:pPr algn="l">
              <a:lnSpc>
                <a:spcPct val="117000"/>
              </a:lnSpc>
              <a:spcAft>
                <a:spcPts val="900"/>
              </a:spcAft>
            </a:pPr>
            <a:r>
              <a:rPr sz="1800" b="0" i="0">
                <a:solidFill>
                  <a:srgbClr val="0F0F0F"/>
                </a:solidFill>
                <a:latin typeface="Arial"/>
              </a:rPr>
              <a:t>what looks “explained” can still be part of dynamic amplification</a:t>
            </a:r>
          </a:p>
          <a:p>
            <a:pPr algn="l">
              <a:lnSpc>
                <a:spcPct val="117000"/>
              </a:lnSpc>
              <a:spcAft>
                <a:spcPts val="900"/>
              </a:spcAft>
            </a:pPr>
            <a:r>
              <a:rPr sz="1800" b="0" i="0">
                <a:solidFill>
                  <a:srgbClr val="0F0F0F"/>
                </a:solidFill>
                <a:latin typeface="Arial"/>
              </a:rPr>
              <a:t>bias-consistent remainder is larger than S_U alone</a:t>
            </a:r>
          </a:p>
          <a:p>
            <a:pPr algn="l">
              <a:lnSpc>
                <a:spcPct val="117000"/>
              </a:lnSpc>
              <a:spcAft>
                <a:spcPts val="900"/>
              </a:spcAft>
            </a:pPr>
            <a:r>
              <a:rPr sz="1800" b="0" i="0">
                <a:solidFill>
                  <a:srgbClr val="0F0F0F"/>
                </a:solidFill>
                <a:latin typeface="Arial"/>
              </a:rPr>
              <a:t>under this reading, dynamic / contestable share and unexplained share both matter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" y="5230368"/>
            <a:ext cx="10149840" cy="0"/>
          </a:xfrm>
          <a:prstGeom prst="line">
            <a:avLst/>
          </a:prstGeom>
          <a:ln w="11430">
            <a:solidFill>
              <a:srgbClr val="CE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1248" y="5449824"/>
            <a:ext cx="1022299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606060"/>
                </a:solidFill>
                <a:latin typeface="Arial"/>
              </a:rPr>
              <a:t>Final reading rule: report the last remainder as conditional on the observed factor set, not as a point estimate of “bias.”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