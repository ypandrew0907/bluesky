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Kedebideri SemiBold"/>
      <p:regular r:id="rId43"/>
      <p:bold r:id="rId44"/>
    </p:embeddedFont>
    <p:embeddedFont>
      <p:font typeface="Stack Sans Notch Medium"/>
      <p:regular r:id="rId45"/>
      <p:bold r:id="rId46"/>
    </p:embeddedFont>
    <p:embeddedFont>
      <p:font typeface="Raleway Medium"/>
      <p:regular r:id="rId47"/>
      <p:bold r:id="rId48"/>
      <p:italic r:id="rId49"/>
      <p:boldItalic r:id="rId50"/>
    </p:embeddedFont>
    <p:embeddedFont>
      <p:font typeface="Kedebideri"/>
      <p:regular r:id="rId51"/>
      <p:bold r:id="rId52"/>
    </p:embeddedFont>
    <p:embeddedFont>
      <p:font typeface="Kedebideri ExtraBold"/>
      <p:bold r:id="rId53"/>
    </p:embeddedFont>
    <p:embeddedFont>
      <p:font typeface="Stack Sans Notch Light"/>
      <p:regular r:id="rId54"/>
      <p:bold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iX744wfujY8jBioN1FfWaQ9V3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font" Target="fonts/Raleway-regular.fntdata"/><Relationship Id="rId40" Type="http://schemas.openxmlformats.org/officeDocument/2006/relationships/font" Target="fonts/Raleway-bold.fntdata"/><Relationship Id="rId41" Type="http://schemas.openxmlformats.org/officeDocument/2006/relationships/font" Target="fonts/Raleway-italic.fntdata"/><Relationship Id="rId42" Type="http://schemas.openxmlformats.org/officeDocument/2006/relationships/font" Target="fonts/Raleway-boldItalic.fntdata"/><Relationship Id="rId43" Type="http://schemas.openxmlformats.org/officeDocument/2006/relationships/font" Target="fonts/KedebideriSemiBold-regular.fntdata"/><Relationship Id="rId44" Type="http://schemas.openxmlformats.org/officeDocument/2006/relationships/font" Target="fonts/KedebideriSemiBold-bold.fntdata"/><Relationship Id="rId45" Type="http://schemas.openxmlformats.org/officeDocument/2006/relationships/font" Target="fonts/StackSansNotchMedium-regular.fntdata"/><Relationship Id="rId46" Type="http://schemas.openxmlformats.org/officeDocument/2006/relationships/font" Target="fonts/StackSansNotchMedium-bold.fntdata"/><Relationship Id="rId47" Type="http://schemas.openxmlformats.org/officeDocument/2006/relationships/font" Target="fonts/RalewayMedium-regular.fntdata"/><Relationship Id="rId48" Type="http://schemas.openxmlformats.org/officeDocument/2006/relationships/font" Target="fonts/RalewayMedium-bold.fntdata"/><Relationship Id="rId49" Type="http://schemas.openxmlformats.org/officeDocument/2006/relationships/font" Target="fonts/RalewayMedium-italic.fntdata"/><Relationship Id="rId50" Type="http://schemas.openxmlformats.org/officeDocument/2006/relationships/font" Target="fonts/RalewayMedium-boldItalic.fntdata"/><Relationship Id="rId51" Type="http://schemas.openxmlformats.org/officeDocument/2006/relationships/font" Target="fonts/Kedebideri-regular.fntdata"/><Relationship Id="rId52" Type="http://schemas.openxmlformats.org/officeDocument/2006/relationships/font" Target="fonts/Kedebideri-bold.fntdata"/><Relationship Id="rId53" Type="http://schemas.openxmlformats.org/officeDocument/2006/relationships/font" Target="fonts/KedebideriExtraBold-bold.fntdata"/><Relationship Id="rId54" Type="http://schemas.openxmlformats.org/officeDocument/2006/relationships/font" Target="fonts/StackSansNotchLight-regular.fntdata"/><Relationship Id="rId55" Type="http://schemas.openxmlformats.org/officeDocument/2006/relationships/font" Target="fonts/StackSansNotchLight-bold.fntdata"/><Relationship Id="rId56" Type="http://schemas.openxmlformats.org/officeDocument/2006/relationships/font" Target="fonts/OpenSans-regular.fntdata"/><Relationship Id="rId57" Type="http://schemas.openxmlformats.org/officeDocument/2006/relationships/font" Target="fonts/OpenSans-bold.fntdata"/><Relationship Id="rId58" Type="http://schemas.openxmlformats.org/officeDocument/2006/relationships/font" Target="fonts/OpenSans-italic.fntdata"/><Relationship Id="rId59" Type="http://schemas.openxmlformats.org/officeDocument/2006/relationships/font" Target="fonts/OpenSans-boldItalic.fntdata"/><Relationship Id="rId6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68144b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c68144b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8144bd4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68144bd4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68144bd4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c68144bd4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8144bd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8144bd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8144bd4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68144bd4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68144bd4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68144bd4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8144bd4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c68144bd4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68144bd4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c68144bd4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68144bd4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68144bd4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68144bd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c68144bd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68144bd4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68144bd4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8144bd4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68144bd4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6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6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7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8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8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" name="Google Shape;27;p2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" name="Google Shape;28;p28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8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28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1" name="Google Shape;31;p28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32" name="Google Shape;32;p28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" name="Google Shape;33;p28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2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28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0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0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1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1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31"/>
          <p:cNvSpPr txBox="1"/>
          <p:nvPr>
            <p:ph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2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2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p32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3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33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33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4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5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5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3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6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6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7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7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38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9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39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41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1"/>
          <p:cNvSpPr txBox="1"/>
          <p:nvPr>
            <p:ph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5" name="Google Shape;85;p41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7" name="Google Shape;87;p41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89" name="Google Shape;89;p41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91" name="Google Shape;91;p41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2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2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42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i="0" lang="en-US" sz="1000" u="none" cap="none" strike="noStrike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000" u="sng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3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4" title="BG_23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4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b="0" i="0" sz="2600" u="none" cap="none" strike="noStrike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i="0" sz="26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 b="0" i="0" sz="1400" u="none" cap="none" strike="noStrike"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0" lang="en-US" sz="540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6720840" y="502920"/>
            <a:ext cx="1920240" cy="502920"/>
          </a:xfrm>
          <a:prstGeom prst="roundRect">
            <a:avLst>
              <a:gd fmla="val 16667" name="adj"/>
            </a:avLst>
          </a:prstGeom>
          <a:solidFill>
            <a:srgbClr val="262626"/>
          </a:solidFill>
          <a:ln cap="flat" cmpd="sng" w="95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In data collection phase…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16" name="Google Shape;116;p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02982" y="1307183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modular services relocate concentration.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94360" y="1965960"/>
            <a:ext cx="132588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2148840" y="1965960"/>
            <a:ext cx="169164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surfaces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406908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generators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5715000" y="1965960"/>
            <a:ext cx="15087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provider hosting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452360" y="1965960"/>
            <a:ext cx="141732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outcomes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640580" y="2926080"/>
            <a:ext cx="1965960" cy="6217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labelers</a:t>
            </a:r>
            <a:endParaRPr/>
          </a:p>
        </p:txBody>
      </p:sp>
      <p:cxnSp>
        <p:nvCxnSpPr>
          <p:cNvPr id="124" name="Google Shape;124;p2"/>
          <p:cNvCxnSpPr/>
          <p:nvPr/>
        </p:nvCxnSpPr>
        <p:spPr>
          <a:xfrm>
            <a:off x="192024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5" name="Google Shape;125;p2"/>
          <p:cNvCxnSpPr/>
          <p:nvPr/>
        </p:nvCxnSpPr>
        <p:spPr>
          <a:xfrm>
            <a:off x="384048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6" name="Google Shape;126;p2"/>
          <p:cNvCxnSpPr/>
          <p:nvPr/>
        </p:nvCxnSpPr>
        <p:spPr>
          <a:xfrm>
            <a:off x="548640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7" name="Google Shape;127;p2"/>
          <p:cNvCxnSpPr/>
          <p:nvPr/>
        </p:nvCxnSpPr>
        <p:spPr>
          <a:xfrm>
            <a:off x="7223760" y="2276856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28" name="Google Shape;128;p2"/>
          <p:cNvCxnSpPr/>
          <p:nvPr/>
        </p:nvCxnSpPr>
        <p:spPr>
          <a:xfrm>
            <a:off x="4777740" y="2587752"/>
            <a:ext cx="845820" cy="33832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9" name="Google Shape;129;p2"/>
          <p:cNvSpPr txBox="1"/>
          <p:nvPr/>
        </p:nvSpPr>
        <p:spPr>
          <a:xfrm>
            <a:off x="502920" y="425196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Discovery surfaces and provider hosting are key ch</a:t>
            </a:r>
            <a:r>
              <a:rPr lang="en-US" sz="1425">
                <a:solidFill>
                  <a:srgbClr val="4B5563"/>
                </a:solidFill>
              </a:rPr>
              <a:t>e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kepoints.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35" name="Google Shape;135;p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feeds are discoverable + selectable algorithmic timelines.</a:t>
            </a:r>
            <a:endParaRPr/>
          </a:p>
        </p:txBody>
      </p:sp>
      <p:cxnSp>
        <p:nvCxnSpPr>
          <p:cNvPr id="137" name="Google Shape;137;p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8" name="Google Shape;138;p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s.png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/feeds directory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Search feeds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Feed cards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Creator + likes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Trending widget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Defaults matter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Discovery risk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199197" y="1636540"/>
            <a:ext cx="1327800" cy="7866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7239929" y="1463041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53" name="Google Shape;153;p3"/>
          <p:cNvCxnSpPr/>
          <p:nvPr/>
        </p:nvCxnSpPr>
        <p:spPr>
          <a:xfrm flipH="1" rot="10800000">
            <a:off x="3246120" y="1869830"/>
            <a:ext cx="563879" cy="59554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54" name="Google Shape;154;p3"/>
          <p:cNvCxnSpPr/>
          <p:nvPr/>
        </p:nvCxnSpPr>
        <p:spPr>
          <a:xfrm>
            <a:off x="3246120" y="2843784"/>
            <a:ext cx="563879" cy="364676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60" name="Google Shape;160;p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a feed page renders an algorithm into a timeline of posts.</a:t>
            </a:r>
            <a:endParaRPr/>
          </a:p>
        </p:txBody>
      </p:sp>
      <p:cxnSp>
        <p:nvCxnSpPr>
          <p:cNvPr id="162" name="Google Shape;162;p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feed_for_science.png" id="164" name="Google Shape;1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 name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Demand signals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Timeline output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Exposure decisions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actions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we measure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Manipulation risk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797100" y="1371600"/>
            <a:ext cx="4117200" cy="48900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797104" y="2122324"/>
            <a:ext cx="3872400" cy="192930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245008" y="3955312"/>
            <a:ext cx="1991700" cy="37410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063000" y="3681000"/>
            <a:ext cx="274200" cy="27420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78" name="Google Shape;178;p4"/>
          <p:cNvCxnSpPr/>
          <p:nvPr/>
        </p:nvCxnSpPr>
        <p:spPr>
          <a:xfrm flipH="1" rot="10800000">
            <a:off x="3246120" y="1773115"/>
            <a:ext cx="550984" cy="15626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79" name="Google Shape;179;p4"/>
          <p:cNvCxnSpPr/>
          <p:nvPr/>
        </p:nvCxnSpPr>
        <p:spPr>
          <a:xfrm>
            <a:off x="3246120" y="2843784"/>
            <a:ext cx="550984" cy="287303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85" name="Google Shape;185;p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sometimes feeds) for fast onboarding.</a:t>
            </a:r>
            <a:endParaRPr/>
          </a:p>
        </p:txBody>
      </p:sp>
      <p:cxnSp>
        <p:nvCxnSpPr>
          <p:cNvPr id="187" name="Google Shape;187;p5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8" name="Google Shape;188;p5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sky_raw_starterpack.png"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Pack title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Curated list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Join button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1-click onboarding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People cards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questions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Measure exposure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03" name="Google Shape;203;p5"/>
          <p:cNvCxnSpPr/>
          <p:nvPr/>
        </p:nvCxnSpPr>
        <p:spPr>
          <a:xfrm flipH="1" rot="10800000">
            <a:off x="3246120" y="1856935"/>
            <a:ext cx="550984" cy="7244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04" name="Google Shape;204;p5"/>
          <p:cNvCxnSpPr/>
          <p:nvPr/>
        </p:nvCxnSpPr>
        <p:spPr>
          <a:xfrm flipH="1" rot="10800000">
            <a:off x="3246120" y="2475913"/>
            <a:ext cx="550984" cy="367871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labeling surfaces 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user-facing controls that shape what gets shown or filtered.</a:t>
            </a:r>
            <a:endParaRPr/>
          </a:p>
        </p:txBody>
      </p:sp>
      <p:cxnSp>
        <p:nvCxnSpPr>
          <p:cNvPr id="211" name="Google Shape;211;p1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2" name="Google Shape;212;p1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8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Self-label button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surface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Content warning picker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Adult Content options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Labeled post banner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Attribution to labeler</a:t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filtering + exposure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27" name="Google Shape;227;p18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28" name="Google Shape;228;p18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reply controls 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reply controls gate interaction, changing who can respond and what feedback loops form.</a:t>
            </a:r>
            <a:endParaRPr/>
          </a:p>
        </p:txBody>
      </p:sp>
      <p:cxnSp>
        <p:nvCxnSpPr>
          <p:cNvPr id="235" name="Google Shape;235;p1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36" name="Google Shape;236;p1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19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Reply controls button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Composer setting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Who can reply picker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Audience gating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 notice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Visible constraint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interaction graphs</a:t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51" name="Google Shape;251;p19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52" name="Google Shape;252;p19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/>
          <p:nvPr>
            <p:ph type="title"/>
          </p:nvPr>
        </p:nvSpPr>
        <p:spPr>
          <a:xfrm>
            <a:off x="502920" y="320040"/>
            <a:ext cx="850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labelers + moderation tools 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moderation is modular</a:t>
            </a:r>
            <a:r>
              <a:rPr lang="en-US" sz="1425">
                <a:solidFill>
                  <a:srgbClr val="4B5563"/>
                </a:solidFill>
              </a:rPr>
              <a:t>, </a:t>
            </a: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users can subscribe to labelers and tune label handling.</a:t>
            </a:r>
            <a:endParaRPr/>
          </a:p>
        </p:txBody>
      </p:sp>
      <p:cxnSp>
        <p:nvCxnSpPr>
          <p:cNvPr id="259" name="Google Shape;259;p2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60" name="Google Shape;260;p2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0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Subscribe to labeler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Third-party policies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Per-label controls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Off / Warn / Hide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Ozone moderation UI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Operational tooling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power shifts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75" name="Google Shape;275;p20"/>
          <p:cNvCxnSpPr/>
          <p:nvPr/>
        </p:nvCxnSpPr>
        <p:spPr>
          <a:xfrm>
            <a:off x="3246120" y="1929384"/>
            <a:ext cx="453342" cy="178689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76" name="Google Shape;276;p20"/>
          <p:cNvCxnSpPr/>
          <p:nvPr/>
        </p:nvCxnSpPr>
        <p:spPr>
          <a:xfrm>
            <a:off x="3246120" y="2843784"/>
            <a:ext cx="453342" cy="220884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starter packs flow 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starter packs bundle people (and context) into a single shareable onboarding object.</a:t>
            </a:r>
            <a:endParaRPr/>
          </a:p>
        </p:txBody>
      </p:sp>
      <p:cxnSp>
        <p:nvCxnSpPr>
          <p:cNvPr id="283" name="Google Shape;283;p2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2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2.png" id="285" name="Google Shape;2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Create starter pack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Name + description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Choose people</a:t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Curation choices</a:t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Share pack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Link / QR / image</a:t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bundled exposure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299" name="Google Shape;299;p22"/>
          <p:cNvCxnSpPr/>
          <p:nvPr/>
        </p:nvCxnSpPr>
        <p:spPr>
          <a:xfrm>
            <a:off x="3246120" y="1929384"/>
            <a:ext cx="453342" cy="1135285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22"/>
          <p:cNvCxnSpPr/>
          <p:nvPr/>
        </p:nvCxnSpPr>
        <p:spPr>
          <a:xfrm>
            <a:off x="3246120" y="2843784"/>
            <a:ext cx="2216705" cy="220885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id="301" name="Google Shape;30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971" y="1484609"/>
            <a:ext cx="5697926" cy="32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discovery surfaces 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shaped by navigation, defaults, and safety settings surfaced in the UI.</a:t>
            </a:r>
            <a:endParaRPr/>
          </a:p>
        </p:txBody>
      </p:sp>
      <p:cxnSp>
        <p:nvCxnSpPr>
          <p:cNvPr id="308" name="Google Shape;308;p2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09" name="Google Shape;309;p2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1.png"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feeds tab</a:t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Algorithm marketplace</a:t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Moderation menu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Filtering settings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Starter packs tab</a:t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Onboarding surface</a:t>
            </a:r>
            <a:endParaRPr/>
          </a:p>
        </p:txBody>
      </p:sp>
      <p:sp>
        <p:nvSpPr>
          <p:cNvPr id="317" name="Google Shape;317;p2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defaults steer</a:t>
            </a:r>
            <a:endParaRPr/>
          </a:p>
        </p:txBody>
      </p:sp>
      <p:sp>
        <p:nvSpPr>
          <p:cNvPr id="318" name="Google Shape;318;p21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22" name="Google Shape;322;p21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25" name="Google Shape;325;p21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handles (surface → settings) </a:t>
            </a:r>
            <a:endParaRPr/>
          </a:p>
        </p:txBody>
      </p:sp>
      <p:cxnSp>
        <p:nvCxnSpPr>
          <p:cNvPr id="331" name="Google Shape;331;p2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2" name="Google Shape;332;p2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3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Domain handle profile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Trust signal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Settings: handle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Entry point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Use own domain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Verification flow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credibility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47" name="Google Shape;347;p23"/>
          <p:cNvCxnSpPr/>
          <p:nvPr/>
        </p:nvCxnSpPr>
        <p:spPr>
          <a:xfrm>
            <a:off x="3246120" y="1929384"/>
            <a:ext cx="453342" cy="155638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48" name="Google Shape;348;p23"/>
          <p:cNvCxnSpPr/>
          <p:nvPr/>
        </p:nvCxnSpPr>
        <p:spPr>
          <a:xfrm>
            <a:off x="3246120" y="2843784"/>
            <a:ext cx="453342" cy="676132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Bluesky UI: domain verification + examples </a:t>
            </a:r>
            <a:endParaRPr/>
          </a:p>
        </p:txBody>
      </p:sp>
      <p:sp>
        <p:nvSpPr>
          <p:cNvPr id="354" name="Google Shape;354;p24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BLUESKY RQs + DATA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502920" y="960120"/>
            <a:ext cx="85038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verification relies on external DNS tooling, creating measurable and potentially gameable steps.</a:t>
            </a:r>
            <a:endParaRPr/>
          </a:p>
        </p:txBody>
      </p:sp>
      <p:cxnSp>
        <p:nvCxnSpPr>
          <p:cNvPr id="356" name="Google Shape;356;p24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57" name="Google Shape;357;p24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fficial_ui_slide24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DNS TXT record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Proof-of-control</a:t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Domain handle example</a:t>
            </a:r>
            <a:endParaRPr/>
          </a:p>
        </p:txBody>
      </p:sp>
      <p:sp>
        <p:nvSpPr>
          <p:cNvPr id="362" name="Google Shape;362;p24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@npr.org</a:t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DNS management UI</a:t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External dependency</a:t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matters: measurable steps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372" name="Google Shape;372;p24"/>
          <p:cNvCxnSpPr/>
          <p:nvPr/>
        </p:nvCxnSpPr>
        <p:spPr>
          <a:xfrm>
            <a:off x="3246120" y="1929384"/>
            <a:ext cx="453342" cy="708850"/>
          </a:xfrm>
          <a:prstGeom prst="straightConnector1">
            <a:avLst/>
          </a:prstGeom>
          <a:noFill/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73" name="Google Shape;373;p24"/>
          <p:cNvCxnSpPr/>
          <p:nvPr/>
        </p:nvCxnSpPr>
        <p:spPr>
          <a:xfrm flipH="1" rot="10800000">
            <a:off x="3246120" y="2638234"/>
            <a:ext cx="3098387" cy="205550"/>
          </a:xfrm>
          <a:prstGeom prst="straightConnector1">
            <a:avLst/>
          </a:prstGeom>
          <a:noFill/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00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379" name="Google Shape;379;p6"/>
          <p:cNvSpPr txBox="1"/>
          <p:nvPr>
            <p:ph idx="1" type="subTitle"/>
          </p:nvPr>
        </p:nvSpPr>
        <p:spPr>
          <a:xfrm>
            <a:off x="1362775" y="2348550"/>
            <a:ext cx="2974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380" name="Google Shape;380;p6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381" name="Google Shape;381;p6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382" name="Google Shape;382;p6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383" name="Google Shape;383;p6"/>
          <p:cNvSpPr txBox="1"/>
          <p:nvPr>
            <p:ph idx="5" type="subTitle"/>
          </p:nvPr>
        </p:nvSpPr>
        <p:spPr>
          <a:xfrm>
            <a:off x="5107125" y="2348550"/>
            <a:ext cx="3191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180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384" name="Google Shape;384;p6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385" name="Google Shape;385;p6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386" name="Google Shape;386;p6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387" name="Google Shape;387;p6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388" name="Google Shape;388;p6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3000">
                <a:solidFill>
                  <a:srgbClr val="676FFE"/>
                </a:solidFill>
              </a:rPr>
              <a:t>05</a:t>
            </a:r>
            <a:endParaRPr/>
          </a:p>
        </p:txBody>
      </p:sp>
      <p:sp>
        <p:nvSpPr>
          <p:cNvPr id="389" name="Google Shape;389;p6"/>
          <p:cNvSpPr txBox="1"/>
          <p:nvPr/>
        </p:nvSpPr>
        <p:spPr>
          <a:xfrm>
            <a:off x="502920" y="105156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security and privacy scope.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68144bd4a_0_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RQ1</a:t>
            </a:r>
            <a:endParaRPr/>
          </a:p>
        </p:txBody>
      </p:sp>
      <p:sp>
        <p:nvSpPr>
          <p:cNvPr id="395" name="Google Shape;395;g3c68144bd4a_0_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In Bluesky, which is ‘pluggable,’ or </a:t>
            </a:r>
            <a:r>
              <a:rPr lang="en-US" sz="1600"/>
              <a:t>decentralized.</a:t>
            </a:r>
            <a:r>
              <a:rPr lang="en-US" sz="1600"/>
              <a:t> does onboarding/discovery behave like a centralized platform anyway? Concretely: how concentrated are starter packs and other discovery surfaces, and how much leverage do a few feed providers get over what new users see?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starterpack_feeds.csv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discovery_feed_inclusions.csv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popular_feeds.csv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68144bd4a_0_8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c68144bd4a_0_8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RQ1 Sample Rows (real data): discovery + onboarding inputs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starterpacks (starterpacks.csv)</a:t>
            </a:r>
          </a:p>
        </p:txBody>
      </p:sp>
      <p:graphicFrame>
        <p:nvGraphicFramePr>
          <p:cNvPr id="404" name="Table 403"/>
          <p:cNvGraphicFramePr>
            <a:graphicFrameLocks noGrp="1"/>
          </p:cNvGraphicFramePr>
          <p:nvPr/>
        </p:nvGraphicFramePr>
        <p:xfrm>
          <a:off x="502920" y="1152144"/>
          <a:ext cx="397764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starterpack_id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creator_did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3legy77zxsq2z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did:plc:26pjh...h5xb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Pawn Addicted's Starter...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3lbvimzzllz2n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did:plc:2flxu...5txp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Great Friends - Definit...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3lbvjglqfew2x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did:plc:2flxu...5txp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More Great Friends of Y...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3lbxesvv7wi2t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did:plc:2flxu...5txp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New friends to follow. 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05" name="TextBox 404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starterpack_feeds (starterpack_feeds.csv)</a:t>
            </a:r>
          </a:p>
        </p:txBody>
      </p:sp>
      <p:graphicFrame>
        <p:nvGraphicFramePr>
          <p:cNvPr id="406" name="Table 405"/>
          <p:cNvGraphicFramePr>
            <a:graphicFrameLocks noGrp="1"/>
          </p:cNvGraphicFramePr>
          <p:nvPr/>
        </p:nvGraphicFramePr>
        <p:xfrm>
          <a:off x="4663440" y="1152144"/>
          <a:ext cx="397764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starterpack_id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3lr2lbcjrd623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art-new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3ldln2v2kdg2k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verified-news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3ljlk4272z42a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aaac76qrfism2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3ljlk4272z42a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iowa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07" name="TextBox 406"/>
          <p:cNvSpPr txBox="1"/>
          <p:nvPr/>
        </p:nvSpPr>
        <p:spPr>
          <a:xfrm>
            <a:off x="502920" y="2807208"/>
            <a:ext cx="81381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discovery_feed_inclusions (discovery_feed_inclusions.csv)</a:t>
            </a:r>
          </a:p>
        </p:txBody>
      </p:sp>
      <p:graphicFrame>
        <p:nvGraphicFramePr>
          <p:cNvPr id="408" name="Table 407"/>
          <p:cNvGraphicFramePr>
            <a:graphicFrameLocks noGrp="1"/>
          </p:cNvGraphicFramePr>
          <p:nvPr/>
        </p:nvGraphicFramePr>
        <p:xfrm>
          <a:off x="502920" y="3026663"/>
          <a:ext cx="8138160" cy="1655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inclusion_count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inclusion_rank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with-friends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hot-classic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5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68144bd4a_0_4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68144bd4a_0_4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TextBox 407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RQ1 Sample Rows (real data): provider and popularity context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feed_generators_index (feed_generators_index.csv)</a:t>
            </a:r>
          </a:p>
        </p:txBody>
      </p:sp>
      <p:graphicFrame>
        <p:nvGraphicFramePr>
          <p:cNvPr id="410" name="Table 409"/>
          <p:cNvGraphicFramePr>
            <a:graphicFrameLocks noGrp="1"/>
          </p:cNvGraphicFramePr>
          <p:nvPr/>
        </p:nvGraphicFramePr>
        <p:xfrm>
          <a:off x="50292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creator_did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18d45e8582d9d85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www.bluefeed.app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did:plc:27vo2...iw3h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aaaarwrz4nc7a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did:plc:27vo2...iw3h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aaab3telfmiho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did:plc:27vo2...iw3h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aaabdxowr3y2k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did:plc:27vo2...iw3h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11" name="TextBox 410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popular_feeds (popular_feeds.csv)</a:t>
            </a:r>
          </a:p>
        </p:txBody>
      </p:sp>
      <p:graphicFrame>
        <p:nvGraphicFramePr>
          <p:cNvPr id="412" name="Table 411"/>
          <p:cNvGraphicFramePr>
            <a:graphicFrameLocks noGrp="1"/>
          </p:cNvGraphicFramePr>
          <p:nvPr/>
        </p:nvGraphicFramePr>
        <p:xfrm>
          <a:off x="466344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popularity_rank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collected_at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whats-hot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with-friends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mutuals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for-science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2026-02-06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68144bd4a_0_26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RQ2</a:t>
            </a:r>
            <a:endParaRPr/>
          </a:p>
        </p:txBody>
      </p:sp>
      <p:sp>
        <p:nvSpPr>
          <p:cNvPr id="413" name="Google Shape;413;g3c68144bd4a_0_2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Across feeds that people commonly discover/use, does exposure concentrate among fewer creators, do the same creators win everywhere, and do large accounts get boosted more than in long-tail feeds?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authors.csv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68144bd4a_0_5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c68144bd4a_0_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TextBox 419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RQ2 Sample Rows (real data): feed selection and observed ranking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feed_panel (feed_panel.csv)</a:t>
            </a:r>
          </a:p>
        </p:txBody>
      </p:sp>
      <p:graphicFrame>
        <p:nvGraphicFramePr>
          <p:cNvPr id="422" name="Table 421"/>
          <p:cNvGraphicFramePr>
            <a:graphicFrameLocks noGrp="1"/>
          </p:cNvGraphicFramePr>
          <p:nvPr/>
        </p:nvGraphicFramePr>
        <p:xfrm>
          <a:off x="50292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feed_group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api.graze.social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23" name="TextBox 422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feed_items (feed_items.csv.gz)</a:t>
            </a:r>
          </a:p>
        </p:txBody>
      </p:sp>
      <p:graphicFrame>
        <p:nvGraphicFramePr>
          <p:cNvPr id="424" name="Table 423"/>
          <p:cNvGraphicFramePr>
            <a:graphicFrameLocks noGrp="1"/>
          </p:cNvGraphicFramePr>
          <p:nvPr/>
        </p:nvGraphicFramePr>
        <p:xfrm>
          <a:off x="466344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onecuriousoul.b...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danielleforrest...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joharraharper.b...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alexcahemma.bsk...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8144bd4a_0_7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c68144bd4a_0_7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TextBox 425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RQ2 Sample Rows (real data): post engagement and author size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posts (posts.csv.gz)</a:t>
            </a:r>
          </a:p>
        </p:txBody>
      </p:sp>
      <p:graphicFrame>
        <p:nvGraphicFramePr>
          <p:cNvPr id="428" name="Table 427"/>
          <p:cNvGraphicFramePr>
            <a:graphicFrameLocks noGrp="1"/>
          </p:cNvGraphicFramePr>
          <p:nvPr/>
        </p:nvGraphicFramePr>
        <p:xfrm>
          <a:off x="50292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like_count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3me5fvdklx22s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climbingbird.bs...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3me2tlvg6u22d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judithmonroe.bs...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3845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3me4h47okq22j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bakerart.bsky.s...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3me55z4anic2n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buriedbybooks.b...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29" name="TextBox 428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authors (authors.csv.gz)</a:t>
            </a:r>
          </a:p>
        </p:txBody>
      </p:sp>
      <p:graphicFrame>
        <p:nvGraphicFramePr>
          <p:cNvPr id="430" name="Table 429"/>
          <p:cNvGraphicFramePr>
            <a:graphicFrameLocks noGrp="1"/>
          </p:cNvGraphicFramePr>
          <p:nvPr/>
        </p:nvGraphicFramePr>
        <p:xfrm>
          <a:off x="466344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followers_count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posts_count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climbingbird.bsky...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1225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judithmonroe.bsky...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2915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1136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bakerart.bsky.social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14267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2225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buriedbybooks.bsk...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2871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7301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68144bd4a_0_3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RQ3</a:t>
            </a:r>
            <a:endParaRPr/>
          </a:p>
        </p:txBody>
      </p:sp>
      <p:sp>
        <p:nvSpPr>
          <p:cNvPr id="431" name="Google Shape;431;g3c68144bd4a_0_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What attacks are feasible when (a) feed generators are third-party services, and (b) they can be ‘growth-gaming’ by design? How do injected interactions (bots/sybils), collusion, and malicious ranking policies change exposure — and what defenses can labelers/users/platform enforce?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feed_generators_index.csv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</a:t>
            </a:r>
            <a:r>
              <a:rPr lang="en-US" sz="1600"/>
              <a:t>eed_snapshot_status.csv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errors.csv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68144bd4a_0_5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c68144bd4a_0_5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TextBox 437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RQ3 Sample Rows (real data): generator/feed/post attack surface inputs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feed_generators_index (feed_generators_index.csv)</a:t>
            </a:r>
          </a:p>
        </p:txBody>
      </p:sp>
      <p:graphicFrame>
        <p:nvGraphicFramePr>
          <p:cNvPr id="440" name="Table 439"/>
          <p:cNvGraphicFramePr>
            <a:graphicFrameLocks noGrp="1"/>
          </p:cNvGraphicFramePr>
          <p:nvPr/>
        </p:nvGraphicFramePr>
        <p:xfrm>
          <a:off x="502920" y="1152144"/>
          <a:ext cx="397764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provider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accepts_interaction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18d45e8582d...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www.bluefee...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aaaarwrz4nc7a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aaab3telfmiho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aaabdxowr3y2k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41" name="TextBox 440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feed_panel (feed_panel.csv)</a:t>
            </a:r>
          </a:p>
        </p:txBody>
      </p:sp>
      <p:graphicFrame>
        <p:nvGraphicFramePr>
          <p:cNvPr id="442" name="Table 441"/>
          <p:cNvGraphicFramePr>
            <a:graphicFrameLocks noGrp="1"/>
          </p:cNvGraphicFramePr>
          <p:nvPr/>
        </p:nvGraphicFramePr>
        <p:xfrm>
          <a:off x="4663440" y="1152144"/>
          <a:ext cx="397764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feed_group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selection_reason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starterpa...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replaceme...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starterpa...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starterpa...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43" name="TextBox 442"/>
          <p:cNvSpPr txBox="1"/>
          <p:nvPr/>
        </p:nvSpPr>
        <p:spPr>
          <a:xfrm>
            <a:off x="502920" y="280720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feed_items (feed_items.csv.gz)</a:t>
            </a:r>
          </a:p>
        </p:txBody>
      </p:sp>
      <p:graphicFrame>
        <p:nvGraphicFramePr>
          <p:cNvPr id="444" name="Table 443"/>
          <p:cNvGraphicFramePr>
            <a:graphicFrameLocks noGrp="1"/>
          </p:cNvGraphicFramePr>
          <p:nvPr/>
        </p:nvGraphicFramePr>
        <p:xfrm>
          <a:off x="502920" y="3026663"/>
          <a:ext cx="3977640" cy="1655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3me5lb6rqnj2r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3me5lmcrh3b22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3me5lm3h6522v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5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3me5ll7zffy2j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45" name="TextBox 444"/>
          <p:cNvSpPr txBox="1"/>
          <p:nvPr/>
        </p:nvSpPr>
        <p:spPr>
          <a:xfrm>
            <a:off x="4663440" y="280720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posts (posts.csv.gz)</a:t>
            </a:r>
          </a:p>
        </p:txBody>
      </p:sp>
      <p:graphicFrame>
        <p:nvGraphicFramePr>
          <p:cNvPr id="446" name="Table 445"/>
          <p:cNvGraphicFramePr>
            <a:graphicFrameLocks noGrp="1"/>
          </p:cNvGraphicFramePr>
          <p:nvPr/>
        </p:nvGraphicFramePr>
        <p:xfrm>
          <a:off x="4663440" y="3026663"/>
          <a:ext cx="3977640" cy="1655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author_handle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repost_count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3me5fvdklx22s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climbingbir...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3me2tlvg6u22d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judithmonro...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3me4h47okq22j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bakerart.bs...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5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3me55z4anic2n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buriedbyboo...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c68144bd4a_0_7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68144bd4a_0_7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RQ3 Sample Rows (real data): moderation + collection outcomes + errors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post_labels (post_labels.csv.gz)</a:t>
            </a:r>
          </a:p>
        </p:txBody>
      </p:sp>
      <p:graphicFrame>
        <p:nvGraphicFramePr>
          <p:cNvPr id="446" name="Table 445"/>
          <p:cNvGraphicFramePr>
            <a:graphicFrameLocks noGrp="1"/>
          </p:cNvGraphicFramePr>
          <p:nvPr/>
        </p:nvGraphicFramePr>
        <p:xfrm>
          <a:off x="502920" y="1152144"/>
          <a:ext cx="397764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label_src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label_val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did:plc:ar7c4...ndac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porn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did:plc:l55ju...qx7r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nudity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did:plc:ar7c4...ndac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porn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did:plc:l55ju...qx7r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nudity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47" name="TextBox 446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feed_snapshot_status (feed_snapshot_status.csv)</a:t>
            </a:r>
          </a:p>
        </p:txBody>
      </p:sp>
      <p:graphicFrame>
        <p:nvGraphicFramePr>
          <p:cNvPr id="448" name="Table 447"/>
          <p:cNvGraphicFramePr>
            <a:graphicFrameLocks noGrp="1"/>
          </p:cNvGraphicFramePr>
          <p:nvPr/>
        </p:nvGraphicFramePr>
        <p:xfrm>
          <a:off x="4663440" y="1152144"/>
          <a:ext cx="3977640" cy="1563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success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http_status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4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12728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49" name="TextBox 448"/>
          <p:cNvSpPr txBox="1"/>
          <p:nvPr/>
        </p:nvSpPr>
        <p:spPr>
          <a:xfrm>
            <a:off x="502920" y="2807208"/>
            <a:ext cx="81381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errors (errors.csv)</a:t>
            </a:r>
          </a:p>
        </p:txBody>
      </p:sp>
      <p:graphicFrame>
        <p:nvGraphicFramePr>
          <p:cNvPr id="450" name="Table 449"/>
          <p:cNvGraphicFramePr>
            <a:graphicFrameLocks noGrp="1"/>
          </p:cNvGraphicFramePr>
          <p:nvPr/>
        </p:nvGraphicFramePr>
        <p:xfrm>
          <a:off x="502920" y="3026663"/>
          <a:ext cx="8138160" cy="1655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error_type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http_status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hydrate_feed_...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missing_in_re...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hydrate_feed_...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missing_in_re...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2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hydrate_feed_...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missing_in_re...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331015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snapshot.getFeed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http_error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68144bd4a_0_41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RQ4</a:t>
            </a:r>
            <a:endParaRPr/>
          </a:p>
        </p:txBody>
      </p:sp>
      <p:sp>
        <p:nvSpPr>
          <p:cNvPr id="449" name="Google Shape;449;g3c68144bd4a_0_4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How does ‘subscribe-to-labelers’ moderation behave in practice across feeds and communities? Where do labelers fail (coverage gaps, underrepresented groups, cross-community abuse), and how can labelers share models/signals without introducing privacy leakage or poisoning risks?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post_labels.csv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posts.csv (especially post_labels_json and author_labels_json)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feed_items.csv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feed_panel.csv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68144bd4a_0_63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c68144bd4a_0_6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TextBox 455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RQ4 Sample Rows (real data): explicit labels and label JSON fields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post_labels (post_labels.csv.gz)</a:t>
            </a:r>
          </a:p>
        </p:txBody>
      </p:sp>
      <p:graphicFrame>
        <p:nvGraphicFramePr>
          <p:cNvPr id="458" name="Table 457"/>
          <p:cNvGraphicFramePr>
            <a:graphicFrameLocks noGrp="1"/>
          </p:cNvGraphicFramePr>
          <p:nvPr/>
        </p:nvGraphicFramePr>
        <p:xfrm>
          <a:off x="50292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label_src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label_val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did:plc:ar7c4...ndac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porn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did:plc:l55ju...qx7r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nudity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did:plc:ar7c4...ndac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porn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3me5ms3rxgk2t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did:plc:l55ju...qx7r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nudity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59" name="TextBox 458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posts (posts.csv.gz)</a:t>
            </a:r>
          </a:p>
        </p:txBody>
      </p:sp>
      <p:graphicFrame>
        <p:nvGraphicFramePr>
          <p:cNvPr id="460" name="Table 459"/>
          <p:cNvGraphicFramePr>
            <a:graphicFrameLocks noGrp="1"/>
          </p:cNvGraphicFramePr>
          <p:nvPr/>
        </p:nvGraphicFramePr>
        <p:xfrm>
          <a:off x="466344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post_labels_json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author_labels_json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3me5fvdklx22s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3me2tlvg6u22d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3me4h47okq22j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3me55z4anic2n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[]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[{"cid":"bafyreih...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c68144bd4a_0_68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c68144bd4a_0_6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TextBox 461"/>
          <p:cNvSpPr txBox="1"/>
          <p:nvPr/>
        </p:nvSpPr>
        <p:spPr>
          <a:xfrm>
            <a:off x="502920" y="274320"/>
            <a:ext cx="8183879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RQ4 Sample Rows (real data): feed exposure + community context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50292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feed_items (feed_items.csv.gz)</a:t>
            </a:r>
          </a:p>
        </p:txBody>
      </p:sp>
      <p:graphicFrame>
        <p:nvGraphicFramePr>
          <p:cNvPr id="464" name="Table 463"/>
          <p:cNvGraphicFramePr>
            <a:graphicFrameLocks noGrp="1"/>
          </p:cNvGraphicFramePr>
          <p:nvPr/>
        </p:nvGraphicFramePr>
        <p:xfrm>
          <a:off x="50292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viewer_mode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unauth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  <p:sp>
        <p:nvSpPr>
          <p:cNvPr id="465" name="TextBox 464"/>
          <p:cNvSpPr txBox="1"/>
          <p:nvPr/>
        </p:nvSpPr>
        <p:spPr>
          <a:xfrm>
            <a:off x="4663440" y="932688"/>
            <a:ext cx="3977639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760" b="1">
                <a:solidFill>
                  <a:srgbClr val="C8D4E7"/>
                </a:solidFill>
                <a:latin typeface="Arial"/>
              </a:rPr>
              <a:t>feed_panel (feed_panel.csv)</a:t>
            </a:r>
          </a:p>
        </p:txBody>
      </p:sp>
      <p:graphicFrame>
        <p:nvGraphicFramePr>
          <p:cNvPr id="466" name="Table 465"/>
          <p:cNvGraphicFramePr>
            <a:graphicFrameLocks noGrp="1"/>
          </p:cNvGraphicFramePr>
          <p:nvPr/>
        </p:nvGraphicFramePr>
        <p:xfrm>
          <a:off x="4663440" y="1152144"/>
          <a:ext cx="3977640" cy="352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</a:tblGrid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feed_id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feed_group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provider_bucket</a:t>
                      </a:r>
                    </a:p>
                  </a:txBody>
                  <a:tcPr>
                    <a:solidFill>
                      <a:srgbClr val="2E4B77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aaagt6amuur5e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aaai4f7awwzkc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skyfeed.me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6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aaabrbjcg4hmk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api.graze.social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  <a:tr h="705919"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bsky-team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discovery_surfaced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  <a:tc>
                  <a:txBody>
                    <a:bodyPr wrap="square" lIns="25400" rIns="25400" tIns="12700" bIns="12700" anchor="t"/>
                    <a:lstStyle/>
                    <a:p>
                      <a:pPr algn="l"/>
                      <a:r>
                        <a:rPr sz="680" b="0">
                          <a:solidFill>
                            <a:srgbClr val="1A263A"/>
                          </a:solidFill>
                          <a:latin typeface="Arial"/>
                        </a:rPr>
                        <a:t>discover.bsky.app</a:t>
                      </a:r>
                    </a:p>
                  </a:txBody>
                  <a:tcPr>
                    <a:solidFill>
                      <a:srgbClr val="EB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300">
                <a:solidFill>
                  <a:srgbClr val="262626"/>
                </a:solidFill>
              </a:rPr>
              <a:t>Data receipt: discovery surfaces (starter packs + popular list)</a:t>
            </a:r>
            <a:endParaRPr sz="1700"/>
          </a:p>
        </p:txBody>
      </p:sp>
      <p:sp>
        <p:nvSpPr>
          <p:cNvPr id="467" name="Google Shape;467;p8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discovery is measurable via starter-pack inclusion and popular list ranks.</a:t>
            </a:r>
            <a:endParaRPr/>
          </a:p>
        </p:txBody>
      </p:sp>
      <p:cxnSp>
        <p:nvCxnSpPr>
          <p:cNvPr id="469" name="Google Shape;469;p8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70" name="Google Shape;470;p8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8.png" id="471" name="Google Shape;4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Starter packs</a:t>
            </a:r>
            <a:endParaRPr/>
          </a:p>
        </p:txBody>
      </p:sp>
      <p:sp>
        <p:nvSpPr>
          <p:cNvPr id="473" name="Google Shape;473;p8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starterpacks + starterpack_feeds</a:t>
            </a:r>
            <a:endParaRPr/>
          </a:p>
        </p:txBody>
      </p:sp>
      <p:sp>
        <p:nvSpPr>
          <p:cNvPr id="474" name="Google Shape;474;p8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Inclusion_count</a:t>
            </a:r>
            <a:endParaRPr/>
          </a:p>
        </p:txBody>
      </p:sp>
      <p:sp>
        <p:nvSpPr>
          <p:cNvPr id="475" name="Google Shape;475;p8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slot_count (position-weighted)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Popularity_rank</a:t>
            </a:r>
            <a:endParaRPr/>
          </a:p>
        </p:txBody>
      </p:sp>
      <p:sp>
        <p:nvSpPr>
          <p:cNvPr id="477" name="Google Shape;477;p8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478" name="Google Shape;478;p8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Concentration + provider leverage</a:t>
            </a:r>
            <a:endParaRPr/>
          </a:p>
        </p:txBody>
      </p:sp>
      <p:sp>
        <p:nvSpPr>
          <p:cNvPr id="479" name="Google Shape;479;p8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83" name="Google Shape;483;p8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84" name="Google Shape;484;p8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490" name="Google Shape;490;p9"/>
          <p:cNvSpPr txBox="1"/>
          <p:nvPr/>
        </p:nvSpPr>
        <p:spPr>
          <a:xfrm>
            <a:off x="502920" y="960120"/>
            <a:ext cx="850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" name="Google Shape;491;p9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492" name="Google Shape;492;p9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09.png" id="493" name="Google Shape;4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9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feed_items row</a:t>
            </a:r>
            <a:endParaRPr/>
          </a:p>
        </p:txBody>
      </p:sp>
      <p:sp>
        <p:nvSpPr>
          <p:cNvPr id="495" name="Google Shape;495;p9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(feed_uri, viewer_mode, rank)</a:t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posts row</a:t>
            </a:r>
            <a:endParaRPr/>
          </a:p>
        </p:txBody>
      </p:sp>
      <p:sp>
        <p:nvSpPr>
          <p:cNvPr id="497" name="Google Shape;497;p9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text + links + langs</a:t>
            </a:r>
            <a:endParaRPr/>
          </a:p>
        </p:txBody>
      </p:sp>
      <p:sp>
        <p:nvSpPr>
          <p:cNvPr id="498" name="Google Shape;498;p9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post_labels row</a:t>
            </a:r>
            <a:endParaRPr/>
          </a:p>
        </p:txBody>
      </p:sp>
      <p:sp>
        <p:nvSpPr>
          <p:cNvPr id="499" name="Google Shape;499;p9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H6: risk exposure</a:t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Feed auditing / mitigations</a:t>
            </a:r>
            <a:endParaRPr/>
          </a:p>
        </p:txBody>
      </p:sp>
      <p:sp>
        <p:nvSpPr>
          <p:cNvPr id="501" name="Google Shape;501;p9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05" name="Google Shape;505;p9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06" name="Google Shape;506;p9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labels (schema + global values + prefs)</a:t>
            </a:r>
            <a:endParaRPr sz="2200"/>
          </a:p>
        </p:txBody>
      </p:sp>
      <p:sp>
        <p:nvSpPr>
          <p:cNvPr id="512" name="Google Shape;512;p10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are structured safety signals; behavior depends on viewer prefs.</a:t>
            </a:r>
            <a:endParaRPr/>
          </a:p>
        </p:txBody>
      </p:sp>
      <p:cxnSp>
        <p:nvCxnSpPr>
          <p:cNvPr id="513" name="Google Shape;513;p10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14" name="Google Shape;514;p10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0.png" id="515" name="Google Shape;5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Label schema</a:t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(src, uri/cid, val, neg, cts)</a:t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Global values</a:t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protocol-defined strings</a:t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Viewer prefs</a:t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hide / warn / ignore</a:t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23" name="Google Shape;523;p10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7" name="Google Shape;527;p10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800">
                <a:solidFill>
                  <a:srgbClr val="262626"/>
                </a:solidFill>
              </a:rPr>
              <a:t>Data receipt: custom labels (definitions + targets)</a:t>
            </a:r>
            <a:endParaRPr sz="2200"/>
          </a:p>
        </p:txBody>
      </p:sp>
      <p:sp>
        <p:nvSpPr>
          <p:cNvPr id="534" name="Google Shape;534;p11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35" name="Google Shape;535;p11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labelers can define custom taxonomies; we preserve raw label_val strings.</a:t>
            </a:r>
            <a:endParaRPr/>
          </a:p>
        </p:txBody>
      </p:sp>
      <p:cxnSp>
        <p:nvCxnSpPr>
          <p:cNvPr id="536" name="Google Shape;536;p11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37" name="Google Shape;537;p11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1.png" id="538" name="Google Shape;5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1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Custom definitions</a:t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blur + severity + defaults</a:t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Label targets</a:t>
            </a:r>
            <a:endParaRPr/>
          </a:p>
        </p:txBody>
      </p:sp>
      <p:sp>
        <p:nvSpPr>
          <p:cNvPr id="542" name="Google Shape;542;p11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account vs profile vs content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Observed values</a:t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dataset examples</a:t>
            </a:r>
            <a:endParaRPr/>
          </a:p>
        </p:txBody>
      </p:sp>
      <p:sp>
        <p:nvSpPr>
          <p:cNvPr id="545" name="Google Shape;545;p11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46" name="Google Shape;546;p11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1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0" name="Google Shape;550;p11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200">
                <a:solidFill>
                  <a:srgbClr val="262626"/>
                </a:solidFill>
              </a:rPr>
              <a:t>Data receipt: labelers (declarations + subscriptions + self-labels)</a:t>
            </a:r>
            <a:endParaRPr sz="1600"/>
          </a:p>
        </p:txBody>
      </p:sp>
      <p:sp>
        <p:nvSpPr>
          <p:cNvPr id="557" name="Google Shape;557;p12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labels come from services; viewers choose which labelers to trust.</a:t>
            </a:r>
            <a:endParaRPr/>
          </a:p>
        </p:txBody>
      </p:sp>
      <p:cxnSp>
        <p:nvCxnSpPr>
          <p:cNvPr id="559" name="Google Shape;559;p12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60" name="Google Shape;560;p12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2.png" id="561" name="Google Shape;5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2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Declaration</a:t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values + policies</a:t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Subscriptions</a:t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viewer-selected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Self-labels</a:t>
            </a: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built-in values</a:t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2600">
                <a:solidFill>
                  <a:srgbClr val="262626"/>
                </a:solidFill>
              </a:rPr>
              <a:t>Data receipt: moderation decisions (flags + UI contexts)</a:t>
            </a:r>
            <a:endParaRPr sz="2000"/>
          </a:p>
        </p:txBody>
      </p:sp>
      <p:sp>
        <p:nvSpPr>
          <p:cNvPr id="580" name="Google Shape;580;p13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Takeaway: the same label can blur/warn/filter depending on context + prefs.</a:t>
            </a:r>
            <a:endParaRPr/>
          </a:p>
        </p:txBody>
      </p:sp>
      <p:cxnSp>
        <p:nvCxnSpPr>
          <p:cNvPr id="582" name="Google Shape;582;p13"/>
          <p:cNvCxnSpPr/>
          <p:nvPr/>
        </p:nvCxnSpPr>
        <p:spPr>
          <a:xfrm>
            <a:off x="3337560" y="1463040"/>
            <a:ext cx="0" cy="3246120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583" name="Google Shape;583;p13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ceipt_hd_slide13.png" id="584" name="Google Shape;5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1508760"/>
            <a:ext cx="5532120" cy="3111817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3"/>
          <p:cNvSpPr/>
          <p:nvPr/>
        </p:nvSpPr>
        <p:spPr>
          <a:xfrm>
            <a:off x="502920" y="1508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1EA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A. moderatePost()</a:t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502920" y="1965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post + prefs → decision</a:t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02920" y="24231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E6FBF3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B. Output flags</a:t>
            </a:r>
            <a:endParaRPr/>
          </a:p>
        </p:txBody>
      </p:sp>
      <p:sp>
        <p:nvSpPr>
          <p:cNvPr id="588" name="Google Shape;588;p13"/>
          <p:cNvSpPr/>
          <p:nvPr/>
        </p:nvSpPr>
        <p:spPr>
          <a:xfrm>
            <a:off x="502920" y="28803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filter / blur / alert / inform</a:t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502920" y="33375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0F1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C. UI contexts</a:t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02920" y="37947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contentList vs view vs media</a:t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502920" y="4251960"/>
            <a:ext cx="274320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Docs grounding</a:t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cap="flat" cmpd="sng" w="3175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cap="flat" cmpd="sng" w="31750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cap="flat" cmpd="sng" w="3175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 cap="flat" cmpd="sng" w="9525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 cap="flat" cmpd="sng" w="9525">
            <a:solidFill>
              <a:srgbClr val="1DD3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 cap="flat" cmpd="sng" w="9525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4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603" name="Google Shape;603;p14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Read-only XRPC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+ AppView reads.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GET-only in this run.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POST auth only if auth mode is used.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No posting actions.</a:t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489204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7-stage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relay -&gt; index -&gt; packs -&gt; popular -&gt; enrich -&gt; panel -&gt; snapshot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Reproducibility: state.db, manifest.csv, data_dictionary.csv, validation_report.csv.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300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611" name="Google Shape;611;p15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None/>
            </a:pPr>
            <a:r>
              <a:rPr b="1" i="0" lang="en-US" sz="1100" u="none" cap="none" strike="noStrike">
                <a:solidFill>
                  <a:srgbClr val="4B5563"/>
                </a:solidFill>
                <a:latin typeface="Kedebideri"/>
                <a:ea typeface="Kedebideri"/>
                <a:cs typeface="Kedebideri"/>
                <a:sym typeface="Kedebideri"/>
              </a:rPr>
              <a:t>FEB 2026</a:t>
            </a:r>
            <a:endParaRPr b="0" i="0" sz="800" u="none" cap="none" strike="noStrike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12" name="Google Shape;612;p15"/>
          <p:cNvSpPr/>
          <p:nvPr/>
        </p:nvSpPr>
        <p:spPr>
          <a:xfrm>
            <a:off x="502920" y="1417320"/>
            <a:ext cx="406908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676F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76FFE"/>
                </a:solidFill>
                <a:latin typeface="Arial"/>
                <a:ea typeface="Arial"/>
                <a:cs typeface="Arial"/>
                <a:sym typeface="Arial"/>
              </a:rPr>
              <a:t>Ready measurements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RQ1: measure discovery concentration.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RQ2: map provider leverage.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RQ3: test same winner overlap.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RQ4: compare label variability.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846315" y="1417320"/>
            <a:ext cx="40692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929C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64575" lIns="228600" spcFirstLastPara="1" rIns="22860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9CF4"/>
                </a:solidFill>
                <a:latin typeface="Arial"/>
                <a:ea typeface="Arial"/>
                <a:cs typeface="Arial"/>
                <a:sym typeface="Arial"/>
              </a:rPr>
              <a:t>What I need from you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1: priority RQs and venue fit.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Ask 2: recollect longitudinal, auth mode, or experiments?</a:t>
            </a:r>
            <a:endParaRPr/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-US" sz="440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619" name="Google Shape;619;p16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620" name="Google Shape;620;p16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100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2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