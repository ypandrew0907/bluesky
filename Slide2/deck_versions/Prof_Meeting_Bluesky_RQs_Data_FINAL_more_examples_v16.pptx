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7" r:id="rId18"/>
    <p:sldId id="268" r:id="rId19"/>
    <p:sldId id="269" r:id="rId20"/>
    <p:sldId id="270" r:id="rId21"/>
    <p:sldId id="271" r:id="rId22"/>
    <p:sldId id="272" r:id="rId23"/>
    <p:sldId id="263" r:id="rId14"/>
    <p:sldId id="264" r:id="rId15"/>
    <p:sldId id="265" r:id="rId16"/>
    <p:sldId id="266" r:id="rId17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2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2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14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4.png"/><Relationship Id="rId12" Type="http://schemas.openxmlformats.org/officeDocument/2006/relationships/image" Target="../media/image2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Relationship Id="rId8" Type="http://schemas.openxmlformats.org/officeDocument/2006/relationships/image" Target="../media/image27.png"/><Relationship Id="rId9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2.png"/><Relationship Id="rId8" Type="http://schemas.openxmlformats.org/officeDocument/2006/relationships/image" Target="../media/image27.png"/><Relationship Id="rId9" Type="http://schemas.openxmlformats.org/officeDocument/2006/relationships/image" Target="../media/image3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3.png"/><Relationship Id="rId8" Type="http://schemas.openxmlformats.org/officeDocument/2006/relationships/image" Target="../media/image27.png"/><Relationship Id="rId9" Type="http://schemas.openxmlformats.org/officeDocument/2006/relationships/image" Target="../media/image3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4.png"/><Relationship Id="rId8" Type="http://schemas.openxmlformats.org/officeDocument/2006/relationships/image" Target="../media/image27.png"/><Relationship Id="rId9" Type="http://schemas.openxmlformats.org/officeDocument/2006/relationships/image" Target="../media/image3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5.png"/><Relationship Id="rId8" Type="http://schemas.openxmlformats.org/officeDocument/2006/relationships/image" Target="../media/image27.png"/><Relationship Id="rId9" Type="http://schemas.openxmlformats.org/officeDocument/2006/relationships/image" Target="../media/image3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8.png"/><Relationship Id="rId7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6.png"/><Relationship Id="rId7" Type="http://schemas.openxmlformats.org/officeDocument/2006/relationships/image" Target="../media/image2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2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9184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4_head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4864"/>
            <a:ext cx="3291840" cy="256032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A8_don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164592"/>
            <a:ext cx="1325880" cy="1325880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8229600" cy="822960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4000" b="1">
                <a:solidFill>
                  <a:srgbClr val="F7F9FC"/>
                </a:solidFill>
                <a:latin typeface="Calibri"/>
              </a:rPr>
              <a:t>Algorithmic choice relocates power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8138160" cy="603504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200" b="0">
                <a:solidFill>
                  <a:srgbClr val="B7C2D6"/>
                </a:solidFill>
                <a:latin typeface="Calibri"/>
              </a:rPr>
              <a:t>Research questions plus data artifacts collected (no results yet).</a:t>
            </a:r>
          </a:p>
        </p:txBody>
      </p:sp>
      <p:pic>
        <p:nvPicPr>
          <p:cNvPr id="9" name="Picture 8" descr="A2_card_texture.png"/>
          <p:cNvPicPr>
            <a:picLocks noChangeAspect="1"/>
          </p:cNvPicPr>
          <p:nvPr/>
        </p:nvPicPr>
        <p:blipFill>
          <a:blip r:embed="rId6">
            <a:alphaModFix amt="9000"/>
          </a:blip>
          <a:stretch>
            <a:fillRect/>
          </a:stretch>
        </p:blipFill>
        <p:spPr>
          <a:xfrm>
            <a:off x="658368" y="2304288"/>
            <a:ext cx="10881360" cy="205740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2304288"/>
            <a:ext cx="10881360" cy="205740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10332720" cy="1325880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Algorithmic choice does not remove power - it relocates it.</a:t>
            </a:r>
          </a:p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Meeting focus: prioritize RQs and define what to recollect next.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627632"/>
            <a:ext cx="2468880" cy="566928"/>
          </a:xfrm>
          <a:prstGeom prst="roundRect">
            <a:avLst/>
          </a:prstGeom>
          <a:solidFill>
            <a:srgbClr val="FF7D7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1A1A1A"/>
                </a:solidFill>
                <a:latin typeface="Calibri"/>
              </a:rPr>
              <a:t>NO RESULTS TODAY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0" y="3703320"/>
            <a:ext cx="2395728" cy="2011680"/>
          </a:xfrm>
          <a:prstGeom prst="rect">
            <a:avLst/>
          </a:prstGeom>
          <a:ln>
            <a:solidFill/>
          </a:ln>
        </p:spPr>
      </p:pic>
      <p:pic>
        <p:nvPicPr>
          <p:cNvPr id="14" name="Picture 13" descr="S6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0" y="457200"/>
            <a:ext cx="1188720" cy="1188720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3_divider_st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236208"/>
            <a:ext cx="10972800" cy="219456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A2_card_texture.png"/>
          <p:cNvPicPr>
            <a:picLocks noChangeAspect="1"/>
          </p:cNvPicPr>
          <p:nvPr/>
        </p:nvPicPr>
        <p:blipFill>
          <a:blip r:embed="rId5">
            <a:alphaModFix amt="9000"/>
          </a:blip>
          <a:stretch>
            <a:fillRect/>
          </a:stretch>
        </p:blipFill>
        <p:spPr>
          <a:xfrm>
            <a:off x="566928" y="1773936"/>
            <a:ext cx="11045952" cy="3054096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System framing: pluggable services, new chokepoints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89888"/>
            <a:ext cx="868680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modular services relocate concentration.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23160"/>
            <a:ext cx="1737360" cy="8229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viewer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0048" y="1938528"/>
            <a:ext cx="2103120" cy="8229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discovery surfaces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7488" y="1938528"/>
            <a:ext cx="2103120" cy="8229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feed generators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938528"/>
            <a:ext cx="2103120" cy="8229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provider hosting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02368" y="2423160"/>
            <a:ext cx="1737360" cy="8229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exposure outcomes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7488" y="3703320"/>
            <a:ext cx="2103120" cy="8229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labelers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39572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73168" y="2350008"/>
            <a:ext cx="274320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50608" y="2350008"/>
            <a:ext cx="274319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2804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904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73912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166360"/>
            <a:ext cx="8046720" cy="868680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Discovery surfaces and provider hosting are key chokepoints.</a:t>
            </a:r>
          </a:p>
        </p:txBody>
      </p:sp>
      <p:pic>
        <p:nvPicPr>
          <p:cNvPr id="22" name="Picture 21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3950208"/>
            <a:ext cx="2615184" cy="2029968"/>
          </a:xfrm>
          <a:prstGeom prst="rect">
            <a:avLst/>
          </a:prstGeom>
          <a:ln>
            <a:solidFill/>
          </a:ln>
        </p:spPr>
      </p:pic>
      <p:pic>
        <p:nvPicPr>
          <p:cNvPr id="23" name="Picture 22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feed marketplace (/feeds)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feeds are discoverable + selectable algorithmic timelines.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/feeds directory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Search feeds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Feed cards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Creator + likes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Trending widget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Defaults matter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913632" y="2231136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78808" y="2194560"/>
            <a:ext cx="4864242" cy="475488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913632" y="2999232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8808" y="2962656"/>
            <a:ext cx="4864242" cy="2736136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50654" y="2231136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15830" y="2194560"/>
            <a:ext cx="1882932" cy="1115568"/>
          </a:xfrm>
          <a:prstGeom prst="rect">
            <a:avLst/>
          </a:prstGeom>
          <a:noFill/>
          <a:ln w="3302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667512" cy="64008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667512" cy="938300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what a feed looks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a feed page renders an algorithm into a timeline of posts.</a:t>
            </a:r>
          </a:p>
        </p:txBody>
      </p:sp>
      <p:pic>
        <p:nvPicPr>
          <p:cNvPr id="8" name="Picture 7" descr="B2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Feed 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Demand signals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Timeline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Exposure decisions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Post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we measure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Manipulation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895344" y="2048256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2011680"/>
            <a:ext cx="5491886" cy="566928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95344" y="2889504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852928"/>
            <a:ext cx="5491886" cy="2736136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078224" y="4985560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4948984"/>
            <a:ext cx="2824398" cy="530352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3511296" y="2295144"/>
            <a:ext cx="649224" cy="73152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649224" cy="828572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96696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starter packs (onboarding bundles)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24128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starter packs bundle people (and sometimes feeds) for fast onboarding.</a:t>
            </a:r>
          </a:p>
        </p:txBody>
      </p:sp>
      <p:pic>
        <p:nvPicPr>
          <p:cNvPr id="8" name="Picture 7" descr="B3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3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Pack title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Curated 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Join button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1-click onboarding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People cards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Curation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Measure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895344" y="2048256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2011680"/>
            <a:ext cx="5805708" cy="804672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95344" y="2999232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962656"/>
            <a:ext cx="5805708" cy="658368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95344" y="3840480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803904"/>
            <a:ext cx="5805708" cy="2294823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649224" cy="45720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3291840"/>
            <a:ext cx="649224" cy="100584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2_card_texture.png"/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566928" y="1170432"/>
            <a:ext cx="11064240" cy="4553712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228600"/>
            <a:ext cx="1993392" cy="987552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A3_divider_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792224"/>
            <a:ext cx="3657600" cy="219456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658368" y="603504"/>
            <a:ext cx="713232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600" b="1">
                <a:solidFill>
                  <a:srgbClr val="F7F9FC"/>
                </a:solidFill>
                <a:latin typeface="Calibri"/>
              </a:rPr>
              <a:t>Research questions (R1-R5)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987552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security and privacy scope.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5285232" cy="932688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R1 Discovery chokepoints? governance.</a:t>
            </a:r>
          </a:p>
        </p:txBody>
      </p:sp>
      <p:pic>
        <p:nvPicPr>
          <p:cNvPr id="10" name="Picture 9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1947672"/>
            <a:ext cx="530352" cy="530352"/>
          </a:xfrm>
          <a:prstGeom prst="rect">
            <a:avLst/>
          </a:prstGeom>
          <a:ln>
            <a:solidFill/>
          </a:ln>
        </p:spPr>
      </p:pic>
      <p:sp>
        <p:nvSpPr>
          <p:cNvPr id="11" name="Rounded Rectangle 10"/>
          <p:cNvSpPr/>
          <p:nvPr/>
        </p:nvSpPr>
        <p:spPr>
          <a:xfrm>
            <a:off x="6163056" y="1874519"/>
            <a:ext cx="5285232" cy="932688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R2 Provider buckets dominate? reliability.</a:t>
            </a:r>
          </a:p>
        </p:txBody>
      </p:sp>
      <p:pic>
        <p:nvPicPr>
          <p:cNvPr id="12" name="Picture 11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208" y="1947672"/>
            <a:ext cx="530352" cy="530352"/>
          </a:xfrm>
          <a:prstGeom prst="rect">
            <a:avLst/>
          </a:prstGeom>
          <a:ln>
            <a:solidFill/>
          </a:ln>
        </p:spPr>
      </p:pic>
      <p:sp>
        <p:nvSpPr>
          <p:cNvPr id="13" name="Rounded Rectangle 12"/>
          <p:cNvSpPr/>
          <p:nvPr/>
        </p:nvSpPr>
        <p:spPr>
          <a:xfrm>
            <a:off x="749808" y="2898648"/>
            <a:ext cx="5285232" cy="932688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R3 Same winners across feeds? manipulation.</a:t>
            </a:r>
          </a:p>
        </p:txBody>
      </p:sp>
      <p:pic>
        <p:nvPicPr>
          <p:cNvPr id="14" name="Picture 13" descr="S3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59" y="2971800"/>
            <a:ext cx="530352" cy="530352"/>
          </a:xfrm>
          <a:prstGeom prst="rect">
            <a:avLst/>
          </a:prstGeom>
          <a:ln>
            <a:solidFill/>
          </a:ln>
        </p:spPr>
      </p:pic>
      <p:sp>
        <p:nvSpPr>
          <p:cNvPr id="15" name="Rounded Rectangle 14"/>
          <p:cNvSpPr/>
          <p:nvPr/>
        </p:nvSpPr>
        <p:spPr>
          <a:xfrm>
            <a:off x="6163056" y="2898648"/>
            <a:ext cx="5285232" cy="932688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R4 Labels vary by viewer? safety.</a:t>
            </a:r>
          </a:p>
        </p:txBody>
      </p:sp>
      <p:pic>
        <p:nvPicPr>
          <p:cNvPr id="16" name="Picture 15" descr="S4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6208" y="2971800"/>
            <a:ext cx="530352" cy="530352"/>
          </a:xfrm>
          <a:prstGeom prst="rect">
            <a:avLst/>
          </a:prstGeom>
          <a:ln>
            <a:solidFill/>
          </a:ln>
        </p:spPr>
      </p:pic>
      <p:sp>
        <p:nvSpPr>
          <p:cNvPr id="17" name="Rounded Rectangle 16"/>
          <p:cNvSpPr/>
          <p:nvPr/>
        </p:nvSpPr>
        <p:spPr>
          <a:xfrm>
            <a:off x="749808" y="3922776"/>
            <a:ext cx="10716768" cy="1042415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R5 Future experiment: gaming plus privacy attacks. extra guardrails.</a:t>
            </a:r>
          </a:p>
        </p:txBody>
      </p:sp>
      <p:pic>
        <p:nvPicPr>
          <p:cNvPr id="18" name="Picture 17" descr="S5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59" y="3995928"/>
            <a:ext cx="530352" cy="530352"/>
          </a:xfrm>
          <a:prstGeom prst="rect">
            <a:avLst/>
          </a:prstGeom>
          <a:ln>
            <a:solidFill/>
          </a:ln>
        </p:spPr>
      </p:pic>
      <p:pic>
        <p:nvPicPr>
          <p:cNvPr id="19" name="Picture 18" descr="A8_donu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30384" y="3858768"/>
            <a:ext cx="1335024" cy="1335024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30352" y="1133856"/>
            <a:ext cx="11155680" cy="5340096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S6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9568" y="457200"/>
            <a:ext cx="1097280" cy="1097280"/>
          </a:xfrm>
          <a:prstGeom prst="rect">
            <a:avLst/>
          </a:prstGeom>
          <a:ln>
            <a:solidFill/>
          </a:ln>
        </p:spPr>
      </p:pic>
      <p:pic>
        <p:nvPicPr>
          <p:cNvPr id="7" name="Picture 6" descr="A8_don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256" y="54864"/>
            <a:ext cx="1481328" cy="1481328"/>
          </a:xfrm>
          <a:prstGeom prst="rect">
            <a:avLst/>
          </a:prstGeom>
          <a:ln>
            <a:solidFill/>
          </a:ln>
        </p:spPr>
      </p:pic>
      <p:sp>
        <p:nvSpPr>
          <p:cNvPr id="8" name="TextBox 7"/>
          <p:cNvSpPr txBox="1"/>
          <p:nvPr/>
        </p:nvSpPr>
        <p:spPr>
          <a:xfrm>
            <a:off x="658368" y="585216"/>
            <a:ext cx="9326880" cy="713232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Data artifacts collected (no results)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371600"/>
            <a:ext cx="3657600" cy="278892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inputs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feed_generators_index.csv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starterpack_feeds.csv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discovery_feed_inclusions.csv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popular_feeds.csv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371600"/>
            <a:ext cx="3657600" cy="278892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Panel snapshots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feed_items.csv.gz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authors.csv.gz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post_labels.csv.gz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371600"/>
            <a:ext cx="3657600" cy="278892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and reproducibility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4297680"/>
            <a:ext cx="11119104" cy="192024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Join spine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 -&gt; feed_items -&gt; posts/authors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 attaches by feed_uri, viewer_mode, post_uri, post_cid.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Result: joinable, reproducible, auditable artifacts.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4334256"/>
            <a:ext cx="2258568" cy="1737360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>
            <ns1:alphaModFix amt="9000"/>
          </ns1:blip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discovery surfaces (starter packs + popular list)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B7C2D6"/>
                </ns1:solidFill>
                <ns1:latin typeface="Calibri"/>
              </ns1:rPr>
              <ns1:t>Takeaway: discovery is measurable via starter-pack inclusion and popular list ranks.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9"/>
          <ns1:stretch>
            <ns1:fillRect/>
          </ns1:stretch>
        </ns0:blipFill>
        <ns0:spPr>
          <ns1:xfrm>
            <ns1:off x="3703320" y="1920240"/>
            <ns1:ext cx="7845552" cy="4413123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Starter packs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starterpacks + starterpack_feeds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Inclusion_count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slot_count (position-weighted)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Popularity_rank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Concentration + provider leverage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4058850" y="2011680"/>
            <ns1:ext cx="310896" cy="310896"/>
          </ns1:xfrm>
          <ns1:prstGeom prst="ellipse">
            <ns1:avLst/>
          </ns1:prstGeom>
          <ns1:solidFill>
            <ns1:srgbClr val="AA6EE7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4324026" y="1975104"/>
            <ns1:ext cx="6600053" cy="1434865"/>
          </ns1:xfrm>
          <ns1:prstGeom prst="rect">
            <ns1:avLst/>
          </ns1:prstGeom>
          <ns1:noFill/>
          <ns1:ln w="3302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4058850" y="3637998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4324026" y="3601422"/>
            <ns1:ext cx="6600053" cy="1242812"/>
          </ns1:xfrm>
          <ns1:prstGeom prst="rect">
            <ns1:avLst/>
          </ns1:prstGeom>
          <ns1:noFill/>
          <ns1:ln w="3302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4058850" y="5076349"/>
            <ns1:ext cx="310896" cy="310896"/>
          </ns1:xfrm>
          <ns1:prstGeom prst="ellipse">
            <ns1:avLst/>
          </ns1:prstGeom>
          <ns1:solidFill>
            <ns1:srgbClr val="FF8B9B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4324026" y="5039773"/>
            <ns1:ext cx="6600053" cy="1238726"/>
          </ns1:xfrm>
          <ns1:prstGeom prst="rect">
            <ns1:avLst/>
          </ns1:prstGeom>
          <ns1:noFill/>
          <ns1:ln w="3302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2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" dur="22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1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2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" dur="22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6" dur="22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1" dur="22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6" dur="22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1" dur="22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6" dur="22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1" dur="22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6" dur="22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1" dur="22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6" dur="22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5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8" dur="22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9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0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1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3" dur="22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6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5" dur="22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6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7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8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0" dur="22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2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</ns0:bldLst>
  </ns0:timing>
</ns0:sld>
</file>

<file path=ppt/slides/slide9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>
            <ns1:alphaModFix amt="9000"/>
          </ns1:blip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ranked exposure + risk labels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B7C2D6"/>
                </ns1:solidFill>
                <ns1:latin typeface="Calibri"/>
              </ns1:rPr>
              <ns1:t>Takeaway: feed_items + posts + labels already support H1-H6 (cross-sectional).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9"/>
          <ns1:stretch>
            <ns1:fillRect/>
          </ns1:stretch>
        </ns0:blipFill>
        <ns0:spPr>
          <ns1:xfrm>
            <ns1:off x="3703320" y="1920240"/>
            <ns1:ext cx="7845552" cy="4413123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feed_items row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(feed_uri, viewer_mode, rank)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posts row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text + links + langs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post_labels row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H6: risk exposure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Feed auditing / mitigations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4933302" y="2011680"/>
            <ns1:ext cx="310896" cy="310896"/>
          </ns1:xfrm>
          <ns1:prstGeom prst="ellipse">
            <ns1:avLst/>
          </ns1:prstGeom>
          <ns1:solidFill>
            <ns1:srgbClr val="AA6EE7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5198478" y="1975104"/>
            <ns1:ext cx="4851149" cy="1177433"/>
          </ns1:xfrm>
          <ns1:prstGeom prst="rect">
            <ns1:avLst/>
          </ns1:prstGeom>
          <ns1:noFill/>
          <ns1:ln w="3302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4933302" y="3360134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5198478" y="3323558"/>
            <ns1:ext cx="4851149" cy="1394003"/>
          </ns1:xfrm>
          <ns1:prstGeom prst="rect">
            <ns1:avLst/>
          </ns1:prstGeom>
          <ns1:noFill/>
          <ns1:ln w="3302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4933302" y="4925158"/>
            <ns1:ext cx="310896" cy="310896"/>
          </ns1:xfrm>
          <ns1:prstGeom prst="ellipse">
            <ns1:avLst/>
          </ns1:prstGeom>
          <ns1:solidFill>
            <ns1:srgbClr val="FF8B9B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5198478" y="4888582"/>
            <ns1:ext cx="4851149" cy="1389917"/>
          </ns1:xfrm>
          <ns1:prstGeom prst="rect">
            <ns1:avLst/>
          </ns1:prstGeom>
          <ns1:noFill/>
          <ns1:ln w="3302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2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" dur="22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1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2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" dur="22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6" dur="22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1" dur="22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6" dur="22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1" dur="22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6" dur="22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1" dur="22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6" dur="22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1" dur="22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6" dur="22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5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8" dur="22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9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0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1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3" dur="22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6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5" dur="22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6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7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8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0" dur="22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2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</ns0:bldLst>
  </ns0:timing>
</ns0:sld>
</file>

<file path=ppt/slides/slide10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>
            <ns1:alphaModFix amt="9000"/>
          </ns1:blip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labels (schema + global values + prefs)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B7C2D6"/>
                </ns1:solidFill>
                <ns1:latin typeface="Calibri"/>
              </ns1:rPr>
              <ns1:t>Takeaway: labels are structured safety signals; behavior depends on viewer prefs.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9"/>
          <ns1:stretch>
            <ns1:fillRect/>
          </ns1:stretch>
        </ns0:blipFill>
        <ns0:spPr>
          <ns1:xfrm>
            <ns1:off x="3703320" y="1920240"/>
            <ns1:ext cx="7845552" cy="4413123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Label schema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(src, uri/cid, val, neg, cts)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Global values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protocol-defined strings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Viewer prefs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hide / warn / ignore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Docs grounding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2011680"/>
            <ns1:ext cx="310896" cy="310896"/>
          </ns1:xfrm>
          <ns1:prstGeom prst="ellipse">
            <ns1:avLst/>
          </ns1:prstGeom>
          <ns1:solidFill>
            <ns1:srgbClr val="AA6EE7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975104"/>
            <ns1:ext cx="7699248" cy="1304106"/>
          </ns1:xfrm>
          <ns1:prstGeom prst="rect">
            <ns1:avLst/>
          </ns1:prstGeom>
          <ns1:noFill/>
          <ns1:ln w="3302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511325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474749"/>
            <ns1:ext cx="7699248" cy="1304106"/>
          </ns1:xfrm>
          <ns1:prstGeom prst="rect">
            <ns1:avLst/>
          </ns1:prstGeom>
          <ns1:noFill/>
          <ns1:ln w="3302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5010969"/>
            <ns1:ext cx="310896" cy="310896"/>
          </ns1:xfrm>
          <ns1:prstGeom prst="ellipse">
            <ns1:avLst/>
          </ns1:prstGeom>
          <ns1:solidFill>
            <ns1:srgbClr val="FF8B9B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974393"/>
            <ns1:ext cx="7699248" cy="1304106"/>
          </ns1:xfrm>
          <ns1:prstGeom prst="rect">
            <ns1:avLst/>
          </ns1:prstGeom>
          <ns1:noFill/>
          <ns1:ln w="3302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2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" dur="22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1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2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" dur="22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6" dur="22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1" dur="22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6" dur="22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1" dur="22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6" dur="22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1" dur="22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6" dur="22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1" dur="22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6" dur="22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5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8" dur="22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9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0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1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3" dur="22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6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5" dur="22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6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7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8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0" dur="22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2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</ns0:bldLst>
  </ns0:timing>
</ns0:sld>
</file>

<file path=ppt/slides/slide1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>
            <ns1:alphaModFix amt="9000"/>
          </ns1:blip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custom labels (definitions + targets)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B7C2D6"/>
                </ns1:solidFill>
                <ns1:latin typeface="Calibri"/>
              </ns1:rPr>
              <ns1:t>Takeaway: labelers can define custom taxonomies; we preserve raw label_val strings.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9"/>
          <ns1:stretch>
            <ns1:fillRect/>
          </ns1:stretch>
        </ns0:blipFill>
        <ns0:spPr>
          <ns1:xfrm>
            <ns1:off x="3703320" y="1920240"/>
            <ns1:ext cx="7845552" cy="4413123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Custom definitions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blur + severity + defaults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Label targets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account vs profile vs content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Observed values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dataset examples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2011680"/>
            <ns1:ext cx="310896" cy="310896"/>
          </ns1:xfrm>
          <ns1:prstGeom prst="ellipse">
            <ns1:avLst/>
          </ns1:prstGeom>
          <ns1:solidFill>
            <ns1:srgbClr val="AA6EE7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975104"/>
            <ns1:ext cx="7699248" cy="1304106"/>
          </ns1:xfrm>
          <ns1:prstGeom prst="rect">
            <ns1:avLst/>
          </ns1:prstGeom>
          <ns1:noFill/>
          <ns1:ln w="3302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511325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474749"/>
            <ns1:ext cx="7699248" cy="1304106"/>
          </ns1:xfrm>
          <ns1:prstGeom prst="rect">
            <ns1:avLst/>
          </ns1:prstGeom>
          <ns1:noFill/>
          <ns1:ln w="3302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5010969"/>
            <ns1:ext cx="310896" cy="310896"/>
          </ns1:xfrm>
          <ns1:prstGeom prst="ellipse">
            <ns1:avLst/>
          </ns1:prstGeom>
          <ns1:solidFill>
            <ns1:srgbClr val="FF8B9B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974393"/>
            <ns1:ext cx="7699248" cy="1304106"/>
          </ns1:xfrm>
          <ns1:prstGeom prst="rect">
            <ns1:avLst/>
          </ns1:prstGeom>
          <ns1:noFill/>
          <ns1:ln w="3302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2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" dur="22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1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2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" dur="22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6" dur="22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1" dur="22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6" dur="22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1" dur="22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6" dur="22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1" dur="22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6" dur="22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1" dur="22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6" dur="22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5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8" dur="22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9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0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1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3" dur="22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6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5" dur="22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6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7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8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0" dur="22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2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</ns0:bldLst>
  </ns0:timing>
</ns0:sld>
</file>

<file path=ppt/slides/slide1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>
            <ns1:alphaModFix amt="9000"/>
          </ns1:blip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labelers (declarations + subscriptions + self-labels)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B7C2D6"/>
                </ns1:solidFill>
                <ns1:latin typeface="Calibri"/>
              </ns1:rPr>
              <ns1:t>Takeaway: labels come from services; viewers choose which labelers to trust.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9"/>
          <ns1:stretch>
            <ns1:fillRect/>
          </ns1:stretch>
        </ns0:blipFill>
        <ns0:spPr>
          <ns1:xfrm>
            <ns1:off x="3703320" y="1920240"/>
            <ns1:ext cx="7845552" cy="4413123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Declaration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values + policies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Subscriptions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viewer-selected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Self-labels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built-in values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2011680"/>
            <ns1:ext cx="310896" cy="310896"/>
          </ns1:xfrm>
          <ns1:prstGeom prst="ellipse">
            <ns1:avLst/>
          </ns1:prstGeom>
          <ns1:solidFill>
            <ns1:srgbClr val="AA6EE7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975104"/>
            <ns1:ext cx="7699248" cy="1304106"/>
          </ns1:xfrm>
          <ns1:prstGeom prst="rect">
            <ns1:avLst/>
          </ns1:prstGeom>
          <ns1:noFill/>
          <ns1:ln w="3302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511325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474749"/>
            <ns1:ext cx="7699248" cy="1304106"/>
          </ns1:xfrm>
          <ns1:prstGeom prst="rect">
            <ns1:avLst/>
          </ns1:prstGeom>
          <ns1:noFill/>
          <ns1:ln w="3302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5010969"/>
            <ns1:ext cx="310896" cy="310896"/>
          </ns1:xfrm>
          <ns1:prstGeom prst="ellipse">
            <ns1:avLst/>
          </ns1:prstGeom>
          <ns1:solidFill>
            <ns1:srgbClr val="FF8B9B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974393"/>
            <ns1:ext cx="7699248" cy="1304106"/>
          </ns1:xfrm>
          <ns1:prstGeom prst="rect">
            <ns1:avLst/>
          </ns1:prstGeom>
          <ns1:noFill/>
          <ns1:ln w="3302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2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" dur="22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1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2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" dur="22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6" dur="22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1" dur="22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6" dur="22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1" dur="22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6" dur="22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1" dur="22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6" dur="22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1" dur="22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6" dur="22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5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8" dur="22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9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0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1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3" dur="22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6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5" dur="22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6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7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8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0" dur="22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2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</ns0:bldLst>
  </ns0:timing>
</ns0:sld>
</file>

<file path=ppt/slides/slide1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>
            <ns1:alphaModFix amt="9000"/>
          </ns1:blip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moderation decisions (flags + UI contexts)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B7C2D6"/>
                </ns1:solidFill>
                <ns1:latin typeface="Calibri"/>
              </ns1:rPr>
              <ns1:t>Takeaway: the same label can blur/warn/filter depending on context + prefs.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9"/>
          <ns1:stretch>
            <ns1:fillRect/>
          </ns1:stretch>
        </ns0:blipFill>
        <ns0:spPr>
          <ns1:xfrm>
            <ns1:off x="3703320" y="1920240"/>
            <ns1:ext cx="7845552" cy="4413123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moderatePost()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post + prefs → decision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Output flags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filter / blur / alert / inform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UI contexts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contentList vs view vs media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Docs grounding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2011680"/>
            <ns1:ext cx="310896" cy="310896"/>
          </ns1:xfrm>
          <ns1:prstGeom prst="ellipse">
            <ns1:avLst/>
          </ns1:prstGeom>
          <ns1:solidFill>
            <ns1:srgbClr val="AA6EE7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975104"/>
            <ns1:ext cx="7699248" cy="1304106"/>
          </ns1:xfrm>
          <ns1:prstGeom prst="rect">
            <ns1:avLst/>
          </ns1:prstGeom>
          <ns1:noFill/>
          <ns1:ln w="3302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511325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474749"/>
            <ns1:ext cx="7699248" cy="1304106"/>
          </ns1:xfrm>
          <ns1:prstGeom prst="rect">
            <ns1:avLst/>
          </ns1:prstGeom>
          <ns1:noFill/>
          <ns1:ln w="3302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5010969"/>
            <ns1:ext cx="310896" cy="310896"/>
          </ns1:xfrm>
          <ns1:prstGeom prst="ellipse">
            <ns1:avLst/>
          </ns1:prstGeom>
          <ns1:solidFill>
            <ns1:srgbClr val="FF8B9B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974393"/>
            <ns1:ext cx="7699248" cy="1304106"/>
          </ns1:xfrm>
          <ns1:prstGeom prst="rect">
            <ns1:avLst/>
          </ns1:prstGeom>
          <ns1:noFill/>
          <ns1:ln w="3302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2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" dur="22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1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2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" dur="22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6" dur="22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1" dur="22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6" dur="22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1" dur="22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6" dur="22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1" dur="22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6" dur="22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1" dur="22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6" dur="22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5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8" dur="22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9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0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1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3" dur="22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6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5" dur="22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6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7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8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0" dur="22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2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</ns0:bldLst>
  </ns0:timing>
</ns0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004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7_photo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1335024"/>
            <a:ext cx="3840480" cy="4425696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A9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08" y="292608"/>
            <a:ext cx="1691640" cy="841248"/>
          </a:xfrm>
          <a:prstGeom prst="rect">
            <a:avLst/>
          </a:prstGeom>
          <a:ln>
            <a:solidFill/>
          </a:ln>
        </p:spPr>
      </p:pic>
      <p:pic>
        <p:nvPicPr>
          <p:cNvPr id="7" name="Picture 6" descr="S4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  <a:ln>
            <a:solidFill/>
          </a:ln>
        </p:spPr>
      </p:pic>
      <p:sp>
        <p:nvSpPr>
          <p:cNvPr id="8" name="TextBox 7"/>
          <p:cNvSpPr txBox="1"/>
          <p:nvPr/>
        </p:nvSpPr>
        <p:spPr>
          <a:xfrm>
            <a:off x="658368" y="566928"/>
            <a:ext cx="932688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Collection credibility (one slide)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08176"/>
            <a:ext cx="4754880" cy="44805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Read-only XRPC summary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+ AppView reads.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GET-only in this run.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 auth only if auth mode is used.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No posting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408176"/>
            <a:ext cx="5897880" cy="44805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7-stage pipeline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-&gt; index -&gt; packs -&gt; popular -&gt; enrich -&gt; panel -&gt; snapshot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Reproducibility: state.db, manifest.csv, data_dictionary.csv, validation_report.csv.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8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48" y="219456"/>
            <a:ext cx="1225296" cy="1225296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S5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What this enables next + advisor 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26464"/>
            <a:ext cx="6766560" cy="457200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Ready measurements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RQ1: measure discovery concentration.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RQ2: map provider leverage.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RQ3: test same winner overlap.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RQ4: compare label variability.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44383" y="1792224"/>
            <a:ext cx="3840480" cy="35661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What I need from you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1: priority RQs and venue fit.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2: recollect longitudinal, auth mode, or experiments?</a:t>
            </a:r>
          </a:p>
        </p:txBody>
      </p:sp>
      <p:pic>
        <p:nvPicPr>
          <p:cNvPr id="10" name="Picture 9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3858768"/>
            <a:ext cx="2487168" cy="1938528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368" y="237744"/>
            <a:ext cx="1627632" cy="841248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S2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API surfaces (names only)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452628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Surface | Names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| com.atproto.sync.listReposByCollection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AppView | getActorFeeds, getFeedGenerators, getStarterPack, getFeed, getProfiles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PDS/Auth | createSession, refreshSession (auth mode only)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01752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188720"/>
            <a:ext cx="11064240" cy="5212080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S3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folder layout + trust stamps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72768"/>
            <a:ext cx="5486400" cy="475488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Run directory layout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01_state_db/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02_csv_exports/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03_postprocess_metrics/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04_logs/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05_manifest/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06_figures_preview/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07_archive_zip/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9088" y="1572768"/>
            <a:ext cx="5029200" cy="475488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stamps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</p:txBody>
      </p:sp>
      <p:pic>
        <p:nvPicPr>
          <p:cNvPr id="10" name="Picture 9" descr="A5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7424" y="4425696"/>
            <a:ext cx="2249424" cy="1755648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labeling surfaces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labels are user-facing controls that shape what gets shown or filtered.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Self-label button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Composer surface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Content warning picker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Adult Content options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Labeled post banner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Attribution to labeler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filtering +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75542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38966"/>
            <a:ext cx="7208101" cy="997039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6870" y="3566789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2046" y="3530213"/>
            <a:ext cx="3456946" cy="2484425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08024" y="3566789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3200" y="3530213"/>
            <a:ext cx="3456946" cy="2484425"/>
          </a:xfrm>
          <a:prstGeom prst="rect">
            <a:avLst/>
          </a:prstGeom>
          <a:noFill/>
          <a:ln w="3302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369190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510750" cy="1380002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reply controls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reply controls gate interaction, changing who can respond and what feedback loops form.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Reply controls button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Composer setting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Who can reply picker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Audience gating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Post notice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Visible constraint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interaction graphs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75542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38966"/>
            <a:ext cx="7208101" cy="997039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6870" y="3566789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2046" y="3530213"/>
            <a:ext cx="3456946" cy="2484425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08024" y="3566789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3200" y="3530213"/>
            <a:ext cx="3456946" cy="2484425"/>
          </a:xfrm>
          <a:prstGeom prst="rect">
            <a:avLst/>
          </a:prstGeom>
          <a:noFill/>
          <a:ln w="3302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369190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510750" cy="1380002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labelers + moderation tools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moderation is modular—users can subscribe to labelers and tune label handling.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Subscribe to labeler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Third-party policies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Per-label controls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Off / Warn / Hide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Ozone moderation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Operational tooling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power shifts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75542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38966"/>
            <a:ext cx="7208101" cy="1062418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6870" y="3632168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2046" y="3595592"/>
            <a:ext cx="7208101" cy="1062418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56870" y="4988795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2046" y="4952219"/>
            <a:ext cx="7208101" cy="1062418"/>
          </a:xfrm>
          <a:prstGeom prst="rect">
            <a:avLst/>
          </a:prstGeom>
          <a:noFill/>
          <a:ln w="3302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401879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510750" cy="734377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discovery surfaces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discovery is shaped by navigation, defaults, and safety settings surfaced in the UI.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Custom feeds tab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Algorithm marketplace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Moderation menu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Filtering settings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Starter packs tab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Onboarding surface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defaults steer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75542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38966"/>
            <a:ext cx="3456946" cy="2566149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08024" y="2275542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3200" y="2238966"/>
            <a:ext cx="3456946" cy="2566149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56870" y="5135899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2046" y="5099323"/>
            <a:ext cx="7208101" cy="915314"/>
          </a:xfrm>
          <a:prstGeom prst="rect">
            <a:avLst/>
          </a:prstGeom>
          <a:noFill/>
          <a:ln w="3302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1153744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4261904" cy="129616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starter packs flow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starter packs bundle people (and context) into a single shareable onboarding object.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Create starter pack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Name + 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Choose people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Curation choices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Share pack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Link / QR / image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bundled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75542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38966"/>
            <a:ext cx="2206562" cy="3775672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57639" y="2275542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2815" y="2238966"/>
            <a:ext cx="2206562" cy="3775672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58409" y="2275542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23585" y="2238966"/>
            <a:ext cx="2206562" cy="3775672"/>
          </a:xfrm>
          <a:prstGeom prst="rect">
            <a:avLst/>
          </a:prstGeom>
          <a:noFill/>
          <a:ln w="3302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1758506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3011519" cy="734378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domain handles (surface → settings)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domain handles connect identity and credibility to a verifiable control channel (DNS).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Domain handle 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Settings: handle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Entry point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Use own domain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Verification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credibility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75542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38966"/>
            <a:ext cx="7208101" cy="997039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6870" y="3566789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2046" y="3530213"/>
            <a:ext cx="3456946" cy="2484425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08024" y="3566789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3200" y="3530213"/>
            <a:ext cx="3456946" cy="2484425"/>
          </a:xfrm>
          <a:prstGeom prst="rect">
            <a:avLst/>
          </a:prstGeom>
          <a:noFill/>
          <a:ln w="3302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369190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510750" cy="1380002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domain verification + examples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verification relies on external DNS tooling, creating measurable and potentially gameable steps.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DNS TXT record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Proof-of-control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Domain handle example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@npr.org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DNS management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External dependency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measurable steps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75542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38966"/>
            <a:ext cx="3456946" cy="2566149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08024" y="2275542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3200" y="2238966"/>
            <a:ext cx="3456946" cy="2566149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56870" y="5135899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2046" y="5099323"/>
            <a:ext cx="7208101" cy="915314"/>
          </a:xfrm>
          <a:prstGeom prst="rect">
            <a:avLst/>
          </a:prstGeom>
          <a:noFill/>
          <a:ln w="3302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1153744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4261904" cy="129616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