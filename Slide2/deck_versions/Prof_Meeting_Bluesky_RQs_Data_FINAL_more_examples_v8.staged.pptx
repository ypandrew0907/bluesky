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7" r:id="rId18"/>
    <p:sldId id="268" r:id="rId19"/>
    <p:sldId id="269" r:id="rId20"/>
    <p:sldId id="270" r:id="rId21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15.png"/><Relationship Id="rId5" Type="http://schemas.openxmlformats.org/officeDocument/2006/relationships/image" Target="../media/image2.png"/><Relationship Id="rId6" Type="http://schemas.openxmlformats.org/officeDocument/2006/relationships/image" Target="../media/image12.png"/><Relationship Id="rId7" Type="http://schemas.openxmlformats.org/officeDocument/2006/relationships/image" Target="../media/image9.png"/><Relationship Id="rId8" Type="http://schemas.openxmlformats.org/officeDocument/2006/relationships/image" Target="../media/image14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7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9.png"/><Relationship Id="rId6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7.png"/><Relationship Id="rId6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4.png"/><Relationship Id="rId6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3_divider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329184"/>
          </a:xfrm>
          <a:prstGeom prst="rect">
            <a:avLst/>
          </a:prstGeom>
        </p:spPr>
      </p:pic>
      <p:pic>
        <p:nvPicPr>
          <p:cNvPr id="5" name="Picture 4" descr="A4_header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54864"/>
            <a:ext cx="3291840" cy="256032"/>
          </a:xfrm>
          <a:prstGeom prst="rect">
            <a:avLst/>
          </a:prstGeom>
        </p:spPr>
      </p:pic>
      <p:pic>
        <p:nvPicPr>
          <p:cNvPr id="6" name="Picture 5" descr="A8_donu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6688" y="164592"/>
            <a:ext cx="1325880" cy="1325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66928"/>
            <a:ext cx="8229600" cy="8229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4000" b="1">
                <a:solidFill>
                  <a:srgbClr val="F7F9FC"/>
                </a:solidFill>
                <a:latin typeface="Calibri"/>
              </a:rPr>
              <a:t>Algorithmic choice relocates power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17320"/>
            <a:ext cx="8138160" cy="6035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200" b="0">
                <a:solidFill>
                  <a:srgbClr val="C9D2E3"/>
                </a:solidFill>
                <a:latin typeface="Calibri"/>
              </a:rPr>
              <a:t>Research questions plus data artifacts collected (no results yet).</a:t>
            </a:r>
          </a:p>
        </p:txBody>
      </p:sp>
      <p:pic>
        <p:nvPicPr>
          <p:cNvPr id="9" name="Picture 8" descr="A2_card_textu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2304288"/>
            <a:ext cx="10881360" cy="20574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2304288"/>
            <a:ext cx="10881360" cy="205740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697480"/>
            <a:ext cx="10332720" cy="1325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0">
                <a:solidFill>
                  <a:srgbClr val="F7F9FC"/>
                </a:solidFill>
                <a:latin typeface="Calibri"/>
              </a:rPr>
              <a:t>Algorithmic choice does not remove power - it relocates it.</a:t>
            </a:r>
          </a:p>
          <a:p>
            <a:pPr algn="l"/>
            <a:r>
              <a:rPr sz="2400" b="0">
                <a:solidFill>
                  <a:srgbClr val="F7F9FC"/>
                </a:solidFill>
                <a:latin typeface="Calibri"/>
              </a:rPr>
              <a:t>Meeting focus: prioritize RQs and define what to recollect next.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1627632"/>
            <a:ext cx="2468880" cy="566928"/>
          </a:xfrm>
          <a:prstGeom prst="roundRect">
            <a:avLst/>
          </a:prstGeom>
          <a:solidFill>
            <a:srgbClr val="FF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1A1A1A"/>
                </a:solidFill>
                <a:latin typeface="Calibri"/>
              </a:rPr>
              <a:t>NO RESULTS TODAY</a:t>
            </a:r>
          </a:p>
        </p:txBody>
      </p:sp>
      <p:pic>
        <p:nvPicPr>
          <p:cNvPr id="13" name="Picture 12" descr="A5_illustra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1120" y="3703320"/>
            <a:ext cx="2395728" cy="2011680"/>
          </a:xfrm>
          <a:prstGeom prst="rect">
            <a:avLst/>
          </a:prstGeom>
        </p:spPr>
      </p:pic>
      <p:pic>
        <p:nvPicPr>
          <p:cNvPr id="14" name="Picture 13" descr="S6_ic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87000" y="457200"/>
            <a:ext cx="1188720" cy="118872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</p:spPr>
      </p:pic>
      <p:pic>
        <p:nvPicPr>
          <p:cNvPr id="5" name="Picture 4" descr="A3_divider_stri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6236208"/>
            <a:ext cx="10972800" cy="219456"/>
          </a:xfrm>
          <a:prstGeom prst="rect">
            <a:avLst/>
          </a:prstGeom>
        </p:spPr>
      </p:pic>
      <p:pic>
        <p:nvPicPr>
          <p:cNvPr id="6" name="Picture 5" descr="A2_card_tex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1773936"/>
            <a:ext cx="11045952" cy="30540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58368"/>
            <a:ext cx="969264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System framing: pluggable services, new chokepoints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389888"/>
            <a:ext cx="8686800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modular services relocate concentration.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423160"/>
            <a:ext cx="173736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viewer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70048" y="1938528"/>
            <a:ext cx="210312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discovery surfaces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47488" y="1938528"/>
            <a:ext cx="210312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feed generators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24927" y="1938528"/>
            <a:ext cx="210312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provider hosting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02368" y="2423160"/>
            <a:ext cx="173736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exposure outcomes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47488" y="3703320"/>
            <a:ext cx="210312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labelers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2395728" y="2350008"/>
            <a:ext cx="274320" cy="48463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773168" y="2350008"/>
            <a:ext cx="274320" cy="0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150608" y="2350008"/>
            <a:ext cx="274319" cy="0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528048" y="2350008"/>
            <a:ext cx="274320" cy="48463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099048" y="2761488"/>
            <a:ext cx="0" cy="94183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739128" y="2761488"/>
            <a:ext cx="0" cy="94183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5166360"/>
            <a:ext cx="8046720" cy="8686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Discovery surfaces and provider hosting are key chokepoints.</a:t>
            </a:r>
          </a:p>
        </p:txBody>
      </p:sp>
      <p:pic>
        <p:nvPicPr>
          <p:cNvPr id="22" name="Picture 21" descr="A6_illustr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0" y="3950208"/>
            <a:ext cx="2615184" cy="2029968"/>
          </a:xfrm>
          <a:prstGeom prst="rect">
            <a:avLst/>
          </a:prstGeom>
        </p:spPr>
      </p:pic>
      <p:pic>
        <p:nvPicPr>
          <p:cNvPr id="23" name="Picture 22" descr="S2_ic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feed marketplace (/feeds)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feeds are discoverable + selectable algorithmic timelines.</a:t>
            </a:r>
          </a:p>
        </p:txBody>
      </p:sp>
      <p:pic>
        <p:nvPicPr>
          <p:cNvPr id="8" name="Picture 7" descr="B1_u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1700784"/>
            <a:ext cx="7845552" cy="4413123"/>
          </a:xfrm>
          <a:prstGeom prst="rect">
            <a:avLst/>
          </a:prstGeom>
        </p:spPr>
      </p:pic>
      <p:pic>
        <p:nvPicPr>
          <p:cNvPr id="9" name="Picture 8" descr="S2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/feeds directory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Search feeds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Feed cards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Creator + likes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Trending widget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Defaults matter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Discovery risk</a:t>
            </a:r>
          </a:p>
        </p:txBody>
      </p:sp>
      <p:sp>
        <p:nvSpPr>
          <p:cNvPr id="17" name="Oval 16"/>
          <p:cNvSpPr/>
          <p:nvPr/>
        </p:nvSpPr>
        <p:spPr>
          <a:xfrm>
            <a:off x="3867911" y="1993392"/>
            <a:ext cx="310896" cy="310896"/>
          </a:xfrm>
          <a:prstGeom prst="ellipse">
            <a:avLst/>
          </a:prstGeom>
          <a:solidFill>
            <a:srgbClr val="58B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78808" y="1975104"/>
            <a:ext cx="4864242" cy="475488"/>
          </a:xfrm>
          <a:prstGeom prst="rect">
            <a:avLst/>
          </a:prstGeom>
          <a:noFill/>
          <a:ln w="406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867911" y="2779776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78808" y="2743200"/>
            <a:ext cx="4864242" cy="2736136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87893" y="2209347"/>
            <a:ext cx="310896" cy="310896"/>
          </a:xfrm>
          <a:prstGeom prst="ellipse">
            <a:avLst/>
          </a:prstGeom>
          <a:solidFill>
            <a:srgbClr val="FF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43341" y="2048113"/>
            <a:ext cx="1940956" cy="633364"/>
          </a:xfrm>
          <a:prstGeom prst="rect">
            <a:avLst/>
          </a:prstGeom>
          <a:noFill/>
          <a:ln w="406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103120"/>
            <a:ext cx="667512" cy="109728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511296" y="2999232"/>
            <a:ext cx="667512" cy="128016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what a feed looks like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a feed page renders an algorithm into a timeline of posts.</a:t>
            </a:r>
          </a:p>
        </p:txBody>
      </p:sp>
      <p:pic>
        <p:nvPicPr>
          <p:cNvPr id="8" name="Picture 7" descr="B2_u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1700784"/>
            <a:ext cx="7845552" cy="4413123"/>
          </a:xfrm>
          <a:prstGeom prst="rect">
            <a:avLst/>
          </a:prstGeom>
        </p:spPr>
      </p:pic>
      <p:pic>
        <p:nvPicPr>
          <p:cNvPr id="9" name="Picture 8" descr="S1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Feed name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Demand signals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Timeline output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Exposure decisions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Post actions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Why we measure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Manipulation risk</a:t>
            </a:r>
          </a:p>
        </p:txBody>
      </p:sp>
      <p:sp>
        <p:nvSpPr>
          <p:cNvPr id="17" name="Oval 16"/>
          <p:cNvSpPr/>
          <p:nvPr/>
        </p:nvSpPr>
        <p:spPr>
          <a:xfrm>
            <a:off x="3867911" y="1810512"/>
            <a:ext cx="310896" cy="310896"/>
          </a:xfrm>
          <a:prstGeom prst="ellipse">
            <a:avLst/>
          </a:prstGeom>
          <a:solidFill>
            <a:srgbClr val="58B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1792224"/>
            <a:ext cx="5491886" cy="566928"/>
          </a:xfrm>
          <a:prstGeom prst="rect">
            <a:avLst/>
          </a:prstGeom>
          <a:noFill/>
          <a:ln w="406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867911" y="2660904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2633472"/>
            <a:ext cx="5491886" cy="2736136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8229" y="5263800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63677" y="5317093"/>
            <a:ext cx="2656046" cy="204311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 flipV="1">
            <a:off x="3511296" y="2084832"/>
            <a:ext cx="649224" cy="18288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511296" y="2926080"/>
            <a:ext cx="649224" cy="201168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96696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starter packs (onboarding bundles)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24128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starter packs bundle people (and sometimes feeds) for fast onboarding.</a:t>
            </a:r>
          </a:p>
        </p:txBody>
      </p:sp>
      <p:pic>
        <p:nvPicPr>
          <p:cNvPr id="8" name="Picture 7" descr="B3_u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1700784"/>
            <a:ext cx="7845552" cy="4413123"/>
          </a:xfrm>
          <a:prstGeom prst="rect">
            <a:avLst/>
          </a:prstGeom>
        </p:spPr>
      </p:pic>
      <p:pic>
        <p:nvPicPr>
          <p:cNvPr id="9" name="Picture 8" descr="S3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Pack title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Curated list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Join button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1-click onboarding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People cards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Curation questions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Measure exposure</a:t>
            </a:r>
          </a:p>
        </p:txBody>
      </p:sp>
      <p:sp>
        <p:nvSpPr>
          <p:cNvPr id="17" name="Oval 16"/>
          <p:cNvSpPr/>
          <p:nvPr/>
        </p:nvSpPr>
        <p:spPr>
          <a:xfrm>
            <a:off x="3867911" y="1828800"/>
            <a:ext cx="310896" cy="310896"/>
          </a:xfrm>
          <a:prstGeom prst="ellipse">
            <a:avLst/>
          </a:prstGeom>
          <a:solidFill>
            <a:srgbClr val="58B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1792224"/>
            <a:ext cx="5805708" cy="804672"/>
          </a:xfrm>
          <a:prstGeom prst="rect">
            <a:avLst/>
          </a:prstGeom>
          <a:noFill/>
          <a:ln w="406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867911" y="2779776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2743200"/>
            <a:ext cx="5805708" cy="658368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867911" y="3621024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60520" y="3584448"/>
            <a:ext cx="5805708" cy="2294823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103120"/>
            <a:ext cx="649224" cy="91440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11296" y="2615184"/>
            <a:ext cx="649224" cy="457200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2_card_tex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170432"/>
            <a:ext cx="11064240" cy="4553712"/>
          </a:xfrm>
          <a:prstGeom prst="rect">
            <a:avLst/>
          </a:prstGeom>
        </p:spPr>
      </p:pic>
      <p:pic>
        <p:nvPicPr>
          <p:cNvPr id="5" name="Picture 4" descr="A9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0" y="228600"/>
            <a:ext cx="1993392" cy="987552"/>
          </a:xfrm>
          <a:prstGeom prst="rect">
            <a:avLst/>
          </a:prstGeom>
        </p:spPr>
      </p:pic>
      <p:pic>
        <p:nvPicPr>
          <p:cNvPr id="6" name="Picture 5" descr="A3_divider_stri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1792224"/>
            <a:ext cx="3657600" cy="219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03504"/>
            <a:ext cx="713232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600" b="1">
                <a:solidFill>
                  <a:srgbClr val="F7F9FC"/>
                </a:solidFill>
                <a:latin typeface="Calibri"/>
              </a:rPr>
              <a:t>Research questions (R1-R5)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26464"/>
            <a:ext cx="98755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security and privacy scope.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74519"/>
            <a:ext cx="5285232" cy="932688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R1 Discovery chokepoints? governance.</a:t>
            </a:r>
          </a:p>
        </p:txBody>
      </p:sp>
      <p:pic>
        <p:nvPicPr>
          <p:cNvPr id="10" name="Picture 9" descr="S1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59" y="1947672"/>
            <a:ext cx="530352" cy="53035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163056" y="1874519"/>
            <a:ext cx="5285232" cy="932688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R2 Provider buckets dominate? reliability.</a:t>
            </a:r>
          </a:p>
        </p:txBody>
      </p:sp>
      <p:pic>
        <p:nvPicPr>
          <p:cNvPr id="12" name="Picture 11" descr="S2_ic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6208" y="1947672"/>
            <a:ext cx="530352" cy="53035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49808" y="2898648"/>
            <a:ext cx="5285232" cy="932688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R3 Same winners across feeds? manipulation.</a:t>
            </a:r>
          </a:p>
        </p:txBody>
      </p:sp>
      <p:pic>
        <p:nvPicPr>
          <p:cNvPr id="14" name="Picture 13" descr="S3_ic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59" y="2971800"/>
            <a:ext cx="530352" cy="530352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163056" y="2898648"/>
            <a:ext cx="5285232" cy="932688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R4 Labels vary by viewer? safety.</a:t>
            </a:r>
          </a:p>
        </p:txBody>
      </p:sp>
      <p:pic>
        <p:nvPicPr>
          <p:cNvPr id="16" name="Picture 15" descr="S4_ico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36208" y="2971800"/>
            <a:ext cx="530352" cy="530352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749808" y="3922776"/>
            <a:ext cx="10716768" cy="1042415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R5 Future experiment: gaming plus privacy attacks. extra guardrails.</a:t>
            </a:r>
          </a:p>
        </p:txBody>
      </p:sp>
      <p:pic>
        <p:nvPicPr>
          <p:cNvPr id="18" name="Picture 17" descr="S5_ico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59" y="3995928"/>
            <a:ext cx="530352" cy="530352"/>
          </a:xfrm>
          <a:prstGeom prst="rect">
            <a:avLst/>
          </a:prstGeom>
        </p:spPr>
      </p:pic>
      <p:pic>
        <p:nvPicPr>
          <p:cNvPr id="19" name="Picture 18" descr="A8_donu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30384" y="3858768"/>
            <a:ext cx="1335024" cy="1335024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7744"/>
            <a:ext cx="4206240" cy="365760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1133856"/>
            <a:ext cx="11155680" cy="5340096"/>
          </a:xfrm>
          <a:prstGeom prst="rect">
            <a:avLst/>
          </a:prstGeom>
        </p:spPr>
      </p:pic>
      <p:pic>
        <p:nvPicPr>
          <p:cNvPr id="6" name="Picture 5" descr="S6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9568" y="457200"/>
            <a:ext cx="1097280" cy="1097280"/>
          </a:xfrm>
          <a:prstGeom prst="rect">
            <a:avLst/>
          </a:prstGeom>
        </p:spPr>
      </p:pic>
      <p:pic>
        <p:nvPicPr>
          <p:cNvPr id="7" name="Picture 6" descr="A8_donu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6256" y="54864"/>
            <a:ext cx="1481328" cy="14813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5216"/>
            <a:ext cx="9326880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400" b="1">
                <a:solidFill>
                  <a:srgbClr val="F7F9FC"/>
                </a:solidFill>
                <a:latin typeface="Calibri"/>
              </a:rPr>
              <a:t>Data artifacts collected (no results)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371600"/>
            <a:ext cx="3657600" cy="278892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Discovery inputs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feed_generators_index.csv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starterpacks.csv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starterpack_feeds.csv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discovery_feed_inclusions.csv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popular_feeds.csv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1371600"/>
            <a:ext cx="3657600" cy="278892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Panel snapshots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feed_panel.csv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feed_items.csv.gz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posts.csv.gz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authors.csv.gz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post_labels.csv.gz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91856" y="1371600"/>
            <a:ext cx="3657600" cy="278892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Trust and reproducibility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state.db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run_metadata.csv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run_summary.csv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manifest.csv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data_dictionary.csv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validation_report.csv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" y="4297680"/>
            <a:ext cx="11119104" cy="192024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Join spine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feed_panel -&gt; feed_items -&gt; posts/authors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post_labels attaches by feed_uri, viewer_mode, post_uri, post_cid.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Result: joinable, reproducible, auditable artifacts.</a:t>
            </a:r>
          </a:p>
        </p:txBody>
      </p:sp>
      <p:pic>
        <p:nvPicPr>
          <p:cNvPr id="13" name="Picture 12" descr="A5_illustra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8280" y="4334256"/>
            <a:ext cx="2258568" cy="173736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8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discovery surfaces (starter packs + popular list)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C9D2E3"/>
                </ns1:solidFill>
                <ns1:latin typeface="Calibri"/>
              </ns1:rPr>
              <ns1:t>Takeaway: discovery is measurable via starter-pack inclusion and popular list ranks.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5"/>
          <ns1:stretch>
            <ns1:fillRect/>
          </ns1:stretch>
        </ns0:blipFill>
        <ns0:spPr>
          <ns1:xfrm>
            <ns1:off x="3703320" y="1700784"/>
            <ns1:ext cx="7845552" cy="4413123"/>
          </ns1:xfrm>
          <ns1:prstGeom prst="rect">
            <ns1:avLst/>
          </ns1:prstGeom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Starter packs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starterpacks + starterpack_feeds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Inclusion_count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slot_count (position-weighted)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Popularity_rank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Why it matters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Concentration + provider leverage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867911" y="1857360"/>
            <ns1:ext cx="310896" cy="310896"/>
          </ns1:xfrm>
          <ns1:prstGeom prst="ellipse">
            <ns1:avLst/>
          </ns1:prstGeom>
          <ns1:solidFill>
            <ns1:srgbClr val="58B7E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4160520" y="1820784"/>
            <ns1:ext cx="5805708" cy="1331041"/>
          </ns1:xfrm>
          <ns1:prstGeom prst="rect">
            <ns1:avLst/>
          </ns1:prstGeom>
          <ns1:noFill/>
          <ns1:ln w="406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867911" y="3278401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4160520" y="3241825"/>
            <ns1:ext cx="5805708" cy="133104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867911" y="4699442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4160520" y="4662866"/>
            <ns1:ext cx="5805708" cy="133104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4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2" dur="24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" dur="24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2" dur="24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7" dur="24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2" dur="24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7" dur="24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2" dur="24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7" dur="24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2" dur="24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7" dur="24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2" dur="24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7" dur="24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4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7" dur="24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2" dur="24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7" dur="24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2" dur="24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7" dur="24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2" dur="24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0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7" dur="240"/>
                                        <ns0:tgtEl>
                                          <ns0:spTgt spid="2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4" grpId="0" animBg="1"/>
      <ns0:bldP spid="5" grpId="0" animBg="1"/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  <ns0:bldP spid="23" grpId="0" animBg="1"/>
      <ns0:bldP spid="24" grpId="0" animBg="1"/>
    </ns0:bldLst>
  </ns0:timing>
</ns0:sld>
</file>

<file path=ppt/slides/slide9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ranked exposure + risk labels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C9D2E3"/>
                </ns1:solidFill>
                <ns1:latin typeface="Calibri"/>
              </ns1:rPr>
              <ns1:t>Takeaway: feed_items + posts + labels already support H1-H6 (cross-sectional).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5"/>
          <ns1:stretch>
            <ns1:fillRect/>
          </ns1:stretch>
        </ns0:blipFill>
        <ns0:spPr>
          <ns1:xfrm>
            <ns1:off x="3703320" y="1700784"/>
            <ns1:ext cx="7845552" cy="4413123"/>
          </ns1:xfrm>
          <ns1:prstGeom prst="rect">
            <ns1:avLst/>
          </ns1:prstGeom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feed_items row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(feed_uri, viewer_mode, rank)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posts row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text + links + langs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post_labels row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H6: risk exposure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Feed auditing / mitigations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867911" y="1857360"/>
            <ns1:ext cx="310896" cy="310896"/>
          </ns1:xfrm>
          <ns1:prstGeom prst="ellipse">
            <ns1:avLst/>
          </ns1:prstGeom>
          <ns1:solidFill>
            <ns1:srgbClr val="58B7E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4160520" y="1820784"/>
            <ns1:ext cx="5805708" cy="1331041"/>
          </ns1:xfrm>
          <ns1:prstGeom prst="rect">
            <ns1:avLst/>
          </ns1:prstGeom>
          <ns1:noFill/>
          <ns1:ln w="406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867911" y="3278401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4160520" y="3241825"/>
            <ns1:ext cx="5805708" cy="133104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867911" y="4699442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4160520" y="4662866"/>
            <ns1:ext cx="5805708" cy="133104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4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2" dur="24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" dur="24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2" dur="24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7" dur="24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2" dur="24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7" dur="24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2" dur="24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7" dur="24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2" dur="24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7" dur="24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2" dur="24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7" dur="24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4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7" dur="24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2" dur="24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7" dur="24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2" dur="24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7" dur="24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2" dur="24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0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7" dur="240"/>
                                        <ns0:tgtEl>
                                          <ns0:spTgt spid="2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4" grpId="0" animBg="1"/>
      <ns0:bldP spid="5" grpId="0" animBg="1"/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  <ns0:bldP spid="23" grpId="0" animBg="1"/>
      <ns0:bldP spid="24" grpId="0" animBg="1"/>
    </ns0:bldLst>
  </ns0:timing>
</ns0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3_divider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320040"/>
          </a:xfrm>
          <a:prstGeom prst="rect">
            <a:avLst/>
          </a:prstGeom>
        </p:spPr>
      </p:pic>
      <p:pic>
        <p:nvPicPr>
          <p:cNvPr id="5" name="Picture 4" descr="A7_photo_overl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5824" y="1335024"/>
            <a:ext cx="3840480" cy="4425696"/>
          </a:xfrm>
          <a:prstGeom prst="rect">
            <a:avLst/>
          </a:prstGeom>
        </p:spPr>
      </p:pic>
      <p:pic>
        <p:nvPicPr>
          <p:cNvPr id="6" name="Picture 5" descr="A9_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9408" y="292608"/>
            <a:ext cx="1691640" cy="841248"/>
          </a:xfrm>
          <a:prstGeom prst="rect">
            <a:avLst/>
          </a:prstGeom>
        </p:spPr>
      </p:pic>
      <p:pic>
        <p:nvPicPr>
          <p:cNvPr id="7" name="Picture 6" descr="S4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7000" y="475488"/>
            <a:ext cx="1078992" cy="10789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66928"/>
            <a:ext cx="932688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400" b="1">
                <a:solidFill>
                  <a:srgbClr val="F7F9FC"/>
                </a:solidFill>
                <a:latin typeface="Calibri"/>
              </a:rPr>
              <a:t>Collection credibility (one slide)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408176"/>
            <a:ext cx="4754880" cy="44805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Read-only XRPC summary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Relay + AppView reads.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GET-only in this run.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POST auth only if auth mode is used.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No posting actions.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1408176"/>
            <a:ext cx="5897880" cy="44805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7-stage pipeline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relay -&gt; index -&gt; packs -&gt; popular -&gt; enrich -&gt; panel -&gt; snapshot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Reproducibility: state.db, manifest.csv, data_dictionary.csv, validation_report.csv.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7744"/>
            <a:ext cx="4206240" cy="365760"/>
          </a:xfrm>
          <a:prstGeom prst="rect">
            <a:avLst/>
          </a:prstGeom>
        </p:spPr>
      </p:pic>
      <p:pic>
        <p:nvPicPr>
          <p:cNvPr id="5" name="Picture 4" descr="A8_don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5248" y="219456"/>
            <a:ext cx="1225296" cy="1225296"/>
          </a:xfrm>
          <a:prstGeom prst="rect">
            <a:avLst/>
          </a:prstGeom>
        </p:spPr>
      </p:pic>
      <p:pic>
        <p:nvPicPr>
          <p:cNvPr id="6" name="Picture 5" descr="S5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475488"/>
            <a:ext cx="1078992" cy="10789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66928"/>
            <a:ext cx="969264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400" b="1">
                <a:solidFill>
                  <a:srgbClr val="F7F9FC"/>
                </a:solidFill>
                <a:latin typeface="Calibri"/>
              </a:rPr>
              <a:t>What this enables next + advisor asks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26464"/>
            <a:ext cx="6766560" cy="457200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Ready measurements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RQ1: measure discovery concentration.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RQ2: map provider leverage.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RQ3: test same winner overlap.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RQ4: compare label variability.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44383" y="1792224"/>
            <a:ext cx="3840480" cy="35661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What I need from you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Ask 1: priority RQs and venue fit.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Ask 2: recollect longitudinal, auth mode, or experiments?</a:t>
            </a:r>
          </a:p>
        </p:txBody>
      </p:sp>
      <p:pic>
        <p:nvPicPr>
          <p:cNvPr id="10" name="Picture 9" descr="A6_illustr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0224" y="3858768"/>
            <a:ext cx="2487168" cy="1938528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7744"/>
            <a:ext cx="4206240" cy="365760"/>
          </a:xfrm>
          <a:prstGeom prst="rect">
            <a:avLst/>
          </a:prstGeom>
        </p:spPr>
      </p:pic>
      <p:pic>
        <p:nvPicPr>
          <p:cNvPr id="5" name="Picture 4" descr="A9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2368" y="237744"/>
            <a:ext cx="1627632" cy="841248"/>
          </a:xfrm>
          <a:prstGeom prst="rect">
            <a:avLst/>
          </a:prstGeom>
        </p:spPr>
      </p:pic>
      <p:pic>
        <p:nvPicPr>
          <p:cNvPr id="6" name="Picture 5" descr="S2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475488"/>
            <a:ext cx="1078992" cy="10789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66928"/>
            <a:ext cx="987552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200" b="1">
                <a:solidFill>
                  <a:srgbClr val="F7F9FC"/>
                </a:solidFill>
                <a:latin typeface="Calibri"/>
              </a:rPr>
              <a:t>Backup: API surfaces (names only)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54480"/>
            <a:ext cx="10515600" cy="452628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Surface | Names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Relay | com.atproto.sync.listReposByCollection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AppView | getActorFeeds, getFeedGenerators, getStarterPack, getFeed, getProfiles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PDS/Auth | createSession, refreshSession (auth mode only)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3_divider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301752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188720"/>
            <a:ext cx="11064240" cy="5212080"/>
          </a:xfrm>
          <a:prstGeom prst="rect">
            <a:avLst/>
          </a:prstGeom>
        </p:spPr>
      </p:pic>
      <p:pic>
        <p:nvPicPr>
          <p:cNvPr id="6" name="Picture 5" descr="S3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475488"/>
            <a:ext cx="1078992" cy="10789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66928"/>
            <a:ext cx="987552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200" b="1">
                <a:solidFill>
                  <a:srgbClr val="F7F9FC"/>
                </a:solidFill>
                <a:latin typeface="Calibri"/>
              </a:rPr>
              <a:t>Backup: folder layout + trust stamps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572768"/>
            <a:ext cx="5486400" cy="475488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Run directory layout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01_state_db/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02_csv_exports/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03_postprocess_metrics/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04_logs/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05_manifest/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06_figures_preview/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07_archive_zip/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19088" y="1572768"/>
            <a:ext cx="5029200" cy="475488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Trust stamps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run_metadata.csv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run_summary.csv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manifest.csv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data_dictionary.csv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validation_report.csv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state.db</a:t>
            </a:r>
          </a:p>
        </p:txBody>
      </p:sp>
      <p:pic>
        <p:nvPicPr>
          <p:cNvPr id="10" name="Picture 9" descr="A5_illustr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7424" y="4425696"/>
            <a:ext cx="2249424" cy="1755648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4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ranked exposure + risk labels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C9D2E3"/>
                </ns1:solidFill>
                <ns1:latin typeface="Calibri"/>
              </ns1:rPr>
              <ns1:t>Takeaway: feed_items + posts + labels already support H1-H6 (cross-sectional).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5"/>
          <ns1:stretch>
            <ns1:fillRect/>
          </ns1:stretch>
        </ns0:blipFill>
        <ns0:spPr>
          <ns1:xfrm>
            <ns1:off x="3703320" y="1700784"/>
            <ns1:ext cx="7845552" cy="4413123"/>
          </ns1:xfrm>
          <ns1:prstGeom prst="rect">
            <ns1:avLst/>
          </ns1:prstGeom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feed_items row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(feed_uri, viewer_mode, rank)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posts row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text + links + langs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post_labels row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H6: risk exposure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Feed auditing / mitigations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867911" y="1857360"/>
            <ns1:ext cx="310896" cy="310896"/>
          </ns1:xfrm>
          <ns1:prstGeom prst="ellipse">
            <ns1:avLst/>
          </ns1:prstGeom>
          <ns1:solidFill>
            <ns1:srgbClr val="58B7E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4160520" y="1820784"/>
            <ns1:ext cx="5805708" cy="1331041"/>
          </ns1:xfrm>
          <ns1:prstGeom prst="rect">
            <ns1:avLst/>
          </ns1:prstGeom>
          <ns1:noFill/>
          <ns1:ln w="406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867911" y="3278401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4160520" y="3241825"/>
            <ns1:ext cx="5805708" cy="133104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867911" y="4699442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4160520" y="4662866"/>
            <ns1:ext cx="5805708" cy="133104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4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2" dur="24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" dur="24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2" dur="24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7" dur="24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2" dur="24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7" dur="24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2" dur="24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7" dur="24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2" dur="24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7" dur="24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2" dur="24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7" dur="24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4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7" dur="24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2" dur="24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7" dur="24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2" dur="24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7" dur="24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2" dur="24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0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7" dur="240"/>
                                        <ns0:tgtEl>
                                          <ns0:spTgt spid="2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4" grpId="0" animBg="1"/>
      <ns0:bldP spid="5" grpId="0" animBg="1"/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  <ns0:bldP spid="23" grpId="0" animBg="1"/>
      <ns0:bldP spid="24" grpId="0" animBg="1"/>
    </ns0:bldLst>
  </ns0:timing>
</ns0:sld>
</file>

<file path=ppt/slides/slide15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ranked exposure + risk labels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C9D2E3"/>
                </ns1:solidFill>
                <ns1:latin typeface="Calibri"/>
              </ns1:rPr>
              <ns1:t>Takeaway: feed_items + posts + labels already support H1-H6 (cross-sectional).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5"/>
          <ns1:stretch>
            <ns1:fillRect/>
          </ns1:stretch>
        </ns0:blipFill>
        <ns0:spPr>
          <ns1:xfrm>
            <ns1:off x="3703320" y="1700784"/>
            <ns1:ext cx="7845552" cy="4413123"/>
          </ns1:xfrm>
          <ns1:prstGeom prst="rect">
            <ns1:avLst/>
          </ns1:prstGeom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feed_items row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(feed_uri, viewer_mode, rank)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posts row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text + links + langs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post_labels row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H6: risk exposure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Feed auditing / mitigations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867911" y="1857360"/>
            <ns1:ext cx="310896" cy="310896"/>
          </ns1:xfrm>
          <ns1:prstGeom prst="ellipse">
            <ns1:avLst/>
          </ns1:prstGeom>
          <ns1:solidFill>
            <ns1:srgbClr val="58B7E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4160520" y="1820784"/>
            <ns1:ext cx="5805708" cy="1331041"/>
          </ns1:xfrm>
          <ns1:prstGeom prst="rect">
            <ns1:avLst/>
          </ns1:prstGeom>
          <ns1:noFill/>
          <ns1:ln w="406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867911" y="3278401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4160520" y="3241825"/>
            <ns1:ext cx="5805708" cy="133104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867911" y="4699442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4160520" y="4662866"/>
            <ns1:ext cx="5805708" cy="133104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4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2" dur="24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" dur="24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2" dur="24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7" dur="24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2" dur="24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7" dur="24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2" dur="24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7" dur="24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2" dur="24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7" dur="24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2" dur="24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7" dur="24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4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7" dur="24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2" dur="24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7" dur="24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2" dur="24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7" dur="24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2" dur="24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0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7" dur="240"/>
                                        <ns0:tgtEl>
                                          <ns0:spTgt spid="2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4" grpId="0" animBg="1"/>
      <ns0:bldP spid="5" grpId="0" animBg="1"/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  <ns0:bldP spid="23" grpId="0" animBg="1"/>
      <ns0:bldP spid="24" grpId="0" animBg="1"/>
    </ns0:bldLst>
  </ns0:timing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