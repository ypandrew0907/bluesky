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7" r:id="rId18"/>
    <p:sldId id="268" r:id="rId19"/>
    <p:sldId id="269" r:id="rId20"/>
    <p:sldId id="270" r:id="rId21"/>
    <p:sldId id="271" r:id="rId22"/>
    <p:sldId id="272" r:id="rId23"/>
    <p:sldId id="263" r:id="rId14"/>
    <p:sldId id="264" r:id="rId15"/>
    <p:sldId id="265" r:id="rId16"/>
    <p:sldId id="266" r:id="rId17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slide" Target="slides/slide16.xml"/><Relationship Id="rId17" Type="http://schemas.openxmlformats.org/officeDocument/2006/relationships/slide" Target="slides/slide1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2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2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0.png"/><Relationship Id="rId6" Type="http://schemas.openxmlformats.org/officeDocument/2006/relationships/image" Target="../media/image9.png"/><Relationship Id="rId7" Type="http://schemas.openxmlformats.org/officeDocument/2006/relationships/image" Target="../media/image2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2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2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15.png"/><Relationship Id="rId5" Type="http://schemas.openxmlformats.org/officeDocument/2006/relationships/image" Target="../media/image2.png"/><Relationship Id="rId6" Type="http://schemas.openxmlformats.org/officeDocument/2006/relationships/image" Target="../media/image12.png"/><Relationship Id="rId7" Type="http://schemas.openxmlformats.org/officeDocument/2006/relationships/image" Target="../media/image9.png"/><Relationship Id="rId8" Type="http://schemas.openxmlformats.org/officeDocument/2006/relationships/image" Target="../media/image14.png"/><Relationship Id="rId9" Type="http://schemas.openxmlformats.org/officeDocument/2006/relationships/image" Target="../media/image16.png"/><Relationship Id="rId10" Type="http://schemas.openxmlformats.org/officeDocument/2006/relationships/image" Target="../media/image17.png"/><Relationship Id="rId11" Type="http://schemas.openxmlformats.org/officeDocument/2006/relationships/image" Target="../media/image4.png"/><Relationship Id="rId12" Type="http://schemas.openxmlformats.org/officeDocument/2006/relationships/image" Target="../media/image2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image" Target="../media/image4.png"/><Relationship Id="rId7" Type="http://schemas.openxmlformats.org/officeDocument/2006/relationships/image" Target="../media/image6.png"/><Relationship Id="rId8" Type="http://schemas.openxmlformats.org/officeDocument/2006/relationships/image" Target="../media/image2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9.png"/><Relationship Id="rId6" Type="http://schemas.openxmlformats.org/officeDocument/2006/relationships/image" Target="../media/image14.png"/><Relationship Id="rId7" Type="http://schemas.openxmlformats.org/officeDocument/2006/relationships/image" Target="../media/image21.png"/><Relationship Id="rId8" Type="http://schemas.openxmlformats.org/officeDocument/2006/relationships/image" Target="../media/image27.png"/><Relationship Id="rId9" Type="http://schemas.openxmlformats.org/officeDocument/2006/relationships/image" Target="../media/image3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20.png"/><Relationship Id="rId6" Type="http://schemas.openxmlformats.org/officeDocument/2006/relationships/image" Target="../media/image14.png"/><Relationship Id="rId7" Type="http://schemas.openxmlformats.org/officeDocument/2006/relationships/image" Target="../media/image22.png"/><Relationship Id="rId8" Type="http://schemas.openxmlformats.org/officeDocument/2006/relationships/image" Target="../media/image27.png"/><Relationship Id="rId9" Type="http://schemas.openxmlformats.org/officeDocument/2006/relationships/image" Target="../media/image3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20.png"/><Relationship Id="rId6" Type="http://schemas.openxmlformats.org/officeDocument/2006/relationships/image" Target="../media/image14.png"/><Relationship Id="rId7" Type="http://schemas.openxmlformats.org/officeDocument/2006/relationships/image" Target="../media/image23.png"/><Relationship Id="rId8" Type="http://schemas.openxmlformats.org/officeDocument/2006/relationships/image" Target="../media/image27.png"/><Relationship Id="rId9" Type="http://schemas.openxmlformats.org/officeDocument/2006/relationships/image" Target="../media/image3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20.png"/><Relationship Id="rId6" Type="http://schemas.openxmlformats.org/officeDocument/2006/relationships/image" Target="../media/image14.png"/><Relationship Id="rId7" Type="http://schemas.openxmlformats.org/officeDocument/2006/relationships/image" Target="../media/image24.png"/><Relationship Id="rId8" Type="http://schemas.openxmlformats.org/officeDocument/2006/relationships/image" Target="../media/image27.png"/><Relationship Id="rId9" Type="http://schemas.openxmlformats.org/officeDocument/2006/relationships/image" Target="../media/image3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20.png"/><Relationship Id="rId6" Type="http://schemas.openxmlformats.org/officeDocument/2006/relationships/image" Target="../media/image14.png"/><Relationship Id="rId7" Type="http://schemas.openxmlformats.org/officeDocument/2006/relationships/image" Target="../media/image25.png"/><Relationship Id="rId8" Type="http://schemas.openxmlformats.org/officeDocument/2006/relationships/image" Target="../media/image27.png"/><Relationship Id="rId9" Type="http://schemas.openxmlformats.org/officeDocument/2006/relationships/image" Target="../media/image3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20.png"/><Relationship Id="rId6" Type="http://schemas.openxmlformats.org/officeDocument/2006/relationships/image" Target="../media/image14.png"/><Relationship Id="rId7" Type="http://schemas.openxmlformats.org/officeDocument/2006/relationships/image" Target="../media/image26.png"/><Relationship Id="rId8" Type="http://schemas.openxmlformats.org/officeDocument/2006/relationships/image" Target="../media/image27.png"/><Relationship Id="rId9" Type="http://schemas.openxmlformats.org/officeDocument/2006/relationships/image" Target="../media/image4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8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2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17.png"/><Relationship Id="rId6" Type="http://schemas.openxmlformats.org/officeDocument/2006/relationships/image" Target="../media/image8.png"/><Relationship Id="rId7" Type="http://schemas.openxmlformats.org/officeDocument/2006/relationships/image" Target="../media/image2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15.png"/><Relationship Id="rId5" Type="http://schemas.openxmlformats.org/officeDocument/2006/relationships/image" Target="../media/image9.png"/><Relationship Id="rId6" Type="http://schemas.openxmlformats.org/officeDocument/2006/relationships/image" Target="../media/image2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14.png"/><Relationship Id="rId6" Type="http://schemas.openxmlformats.org/officeDocument/2006/relationships/image" Target="../media/image6.png"/><Relationship Id="rId7" Type="http://schemas.openxmlformats.org/officeDocument/2006/relationships/image" Target="../media/image2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0.png"/><Relationship Id="rId6" Type="http://schemas.openxmlformats.org/officeDocument/2006/relationships/image" Target="../media/image9.png"/><Relationship Id="rId7" Type="http://schemas.openxmlformats.org/officeDocument/2006/relationships/image" Target="../media/image27.png"/><Relationship Id="rId8" Type="http://schemas.openxmlformats.org/officeDocument/2006/relationships/image" Target="../media/image2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0.png"/><Relationship Id="rId6" Type="http://schemas.openxmlformats.org/officeDocument/2006/relationships/image" Target="../media/image9.png"/><Relationship Id="rId7" Type="http://schemas.openxmlformats.org/officeDocument/2006/relationships/image" Target="../media/image27.png"/><Relationship Id="rId8" Type="http://schemas.openxmlformats.org/officeDocument/2006/relationships/image" Target="../media/image2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0.png"/><Relationship Id="rId6" Type="http://schemas.openxmlformats.org/officeDocument/2006/relationships/image" Target="../media/image9.png"/><Relationship Id="rId7" Type="http://schemas.openxmlformats.org/officeDocument/2006/relationships/image" Target="../media/image27.png"/><Relationship Id="rId8" Type="http://schemas.openxmlformats.org/officeDocument/2006/relationships/image" Target="../media/image3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0.png"/><Relationship Id="rId6" Type="http://schemas.openxmlformats.org/officeDocument/2006/relationships/image" Target="../media/image9.png"/><Relationship Id="rId7" Type="http://schemas.openxmlformats.org/officeDocument/2006/relationships/image" Target="../media/image27.png"/><Relationship Id="rId8" Type="http://schemas.openxmlformats.org/officeDocument/2006/relationships/image" Target="../media/image3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0.png"/><Relationship Id="rId6" Type="http://schemas.openxmlformats.org/officeDocument/2006/relationships/image" Target="../media/image9.png"/><Relationship Id="rId7" Type="http://schemas.openxmlformats.org/officeDocument/2006/relationships/image" Target="../media/image27.png"/><Relationship Id="rId8" Type="http://schemas.openxmlformats.org/officeDocument/2006/relationships/image" Target="../media/image3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0.png"/><Relationship Id="rId6" Type="http://schemas.openxmlformats.org/officeDocument/2006/relationships/image" Target="../media/image9.png"/><Relationship Id="rId7" Type="http://schemas.openxmlformats.org/officeDocument/2006/relationships/image" Target="../media/image27.png"/><Relationship Id="rId8" Type="http://schemas.openxmlformats.org/officeDocument/2006/relationships/image" Target="../media/image3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0.png"/><Relationship Id="rId6" Type="http://schemas.openxmlformats.org/officeDocument/2006/relationships/image" Target="../media/image9.png"/><Relationship Id="rId7" Type="http://schemas.openxmlformats.org/officeDocument/2006/relationships/image" Target="../media/image27.png"/><Relationship Id="rId8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  <a:ln>
            <a:solidFill/>
          </a:ln>
        </p:spPr>
      </p:pic>
      <p:pic>
        <p:nvPicPr>
          <p:cNvPr id="4" name="Picture 3" descr="A3_divider_stri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329184"/>
          </a:xfrm>
          <a:prstGeom prst="rect">
            <a:avLst/>
          </a:prstGeom>
          <a:ln>
            <a:solidFill/>
          </a:ln>
        </p:spPr>
      </p:pic>
      <p:pic>
        <p:nvPicPr>
          <p:cNvPr id="5" name="Picture 4" descr="A4_header_b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54864"/>
            <a:ext cx="3291840" cy="256032"/>
          </a:xfrm>
          <a:prstGeom prst="rect">
            <a:avLst/>
          </a:prstGeom>
          <a:ln>
            <a:solidFill/>
          </a:ln>
        </p:spPr>
      </p:pic>
      <p:pic>
        <p:nvPicPr>
          <p:cNvPr id="6" name="Picture 5" descr="A8_donu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76688" y="164592"/>
            <a:ext cx="1325880" cy="1325880"/>
          </a:xfrm>
          <a:prstGeom prst="rect">
            <a:avLst/>
          </a:prstGeom>
          <a:ln>
            <a:solidFill/>
          </a:ln>
        </p:spPr>
      </p:pic>
      <p:sp>
        <p:nvSpPr>
          <p:cNvPr id="7" name="TextBox 6"/>
          <p:cNvSpPr txBox="1"/>
          <p:nvPr/>
        </p:nvSpPr>
        <p:spPr>
          <a:xfrm>
            <a:off x="658368" y="566928"/>
            <a:ext cx="8229600" cy="822960"/>
          </a:xfrm>
          <a:prstGeom prst="rect">
            <a:avLst/>
          </a:prstGeom>
          <a:noFill/>
          <a:ln>
            <a:solidFill/>
          </a:ln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4000" b="1">
                <a:solidFill>
                  <a:srgbClr val="F7F9FC"/>
                </a:solidFill>
                <a:latin typeface="Calibri"/>
              </a:rPr>
              <a:t>Algorithmic choice relocates power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417320"/>
            <a:ext cx="8138160" cy="603504"/>
          </a:xfrm>
          <a:prstGeom prst="rect">
            <a:avLst/>
          </a:prstGeom>
          <a:noFill/>
          <a:ln>
            <a:solidFill/>
          </a:ln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200" b="0">
                <a:solidFill>
                  <a:srgbClr val="B7C2D6"/>
                </a:solidFill>
                <a:latin typeface="Calibri"/>
              </a:rPr>
              <a:t>Research questions plus data artifacts collected (no results yet).</a:t>
            </a:r>
          </a:p>
        </p:txBody>
      </p:sp>
      <p:pic>
        <p:nvPicPr>
          <p:cNvPr id="9" name="Picture 8" descr="A2_card_texture.png"/>
          <p:cNvPicPr>
            <a:picLocks noChangeAspect="1"/>
          </p:cNvPicPr>
          <p:nvPr/>
        </p:nvPicPr>
        <p:blipFill>
          <a:blip r:embed="rId6">
            <a:alphaModFix amt="9000"/>
          </a:blip>
          <a:stretch>
            <a:fillRect/>
          </a:stretch>
        </p:blipFill>
        <p:spPr>
          <a:xfrm>
            <a:off x="658368" y="2304288"/>
            <a:ext cx="10881360" cy="2057400"/>
          </a:xfrm>
          <a:prstGeom prst="rect">
            <a:avLst/>
          </a:prstGeom>
          <a:ln>
            <a:solidFill/>
          </a:ln>
        </p:spPr>
      </p:pic>
      <p:sp>
        <p:nvSpPr>
          <p:cNvPr id="10" name="Rounded Rectangle 9"/>
          <p:cNvSpPr/>
          <p:nvPr/>
        </p:nvSpPr>
        <p:spPr>
          <a:xfrm>
            <a:off x="658368" y="2304288"/>
            <a:ext cx="10881360" cy="2057400"/>
          </a:xfrm>
          <a:prstGeom prst="roundRect">
            <a:avLst/>
          </a:prstGeom>
          <a:solidFill>
            <a:srgbClr val="111C2D"/>
          </a:solidFill>
          <a:ln w="17780">
            <a:solidFill>
              <a:srgbClr val="2B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697480"/>
            <a:ext cx="10332720" cy="1325880"/>
          </a:xfrm>
          <a:prstGeom prst="rect">
            <a:avLst/>
          </a:prstGeom>
          <a:noFill/>
          <a:ln>
            <a:solidFill/>
          </a:ln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400" b="0">
                <a:solidFill>
                  <a:srgbClr val="F7F9FC"/>
                </a:solidFill>
                <a:latin typeface="Calibri"/>
              </a:rPr>
              <a:t>Algorithmic choice does not remove power - it relocates it.</a:t>
            </a:r>
          </a:p>
          <a:p>
            <a:pPr algn="l"/>
            <a:r>
              <a:rPr sz="2400" b="0">
                <a:solidFill>
                  <a:srgbClr val="F7F9FC"/>
                </a:solidFill>
                <a:latin typeface="Calibri"/>
              </a:rPr>
              <a:t>Meeting focus: prioritize RQs and define what to recollect next.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52560" y="1627632"/>
            <a:ext cx="2468880" cy="566928"/>
          </a:xfrm>
          <a:prstGeom prst="roundRect">
            <a:avLst/>
          </a:prstGeom>
          <a:solidFill>
            <a:srgbClr val="FF7D77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1A1A1A"/>
                </a:solidFill>
                <a:latin typeface="Calibri"/>
              </a:rPr>
              <a:t>NO RESULTS TODAY</a:t>
            </a:r>
          </a:p>
        </p:txBody>
      </p:sp>
      <p:pic>
        <p:nvPicPr>
          <p:cNvPr id="13" name="Picture 12" descr="A5_illustratio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61120" y="3703320"/>
            <a:ext cx="2395728" cy="2011680"/>
          </a:xfrm>
          <a:prstGeom prst="rect">
            <a:avLst/>
          </a:prstGeom>
          <a:ln>
            <a:solidFill/>
          </a:ln>
        </p:spPr>
      </p:pic>
      <p:pic>
        <p:nvPicPr>
          <p:cNvPr id="14" name="Picture 13" descr="S6_ico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87000" y="457200"/>
            <a:ext cx="1188720" cy="1188720"/>
          </a:xfrm>
          <a:prstGeom prst="rect">
            <a:avLst/>
          </a:prstGeom>
          <a:ln>
            <a:solidFill/>
          </a:ln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2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  <a:ln>
            <a:solidFill/>
          </a:ln>
        </p:spPr>
      </p:pic>
      <p:pic>
        <p:nvPicPr>
          <p:cNvPr id="4" name="Picture 3" descr="A4_header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56032"/>
            <a:ext cx="4206240" cy="365760"/>
          </a:xfrm>
          <a:prstGeom prst="rect">
            <a:avLst/>
          </a:prstGeom>
          <a:ln>
            <a:solidFill/>
          </a:ln>
        </p:spPr>
      </p:pic>
      <p:pic>
        <p:nvPicPr>
          <p:cNvPr id="5" name="Picture 4" descr="A3_divider_stri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6236208"/>
            <a:ext cx="10972800" cy="219456"/>
          </a:xfrm>
          <a:prstGeom prst="rect">
            <a:avLst/>
          </a:prstGeom>
          <a:ln>
            <a:solidFill/>
          </a:ln>
        </p:spPr>
      </p:pic>
      <p:pic>
        <p:nvPicPr>
          <p:cNvPr id="6" name="Picture 5" descr="A2_card_texture.png"/>
          <p:cNvPicPr>
            <a:picLocks noChangeAspect="1"/>
          </p:cNvPicPr>
          <p:nvPr/>
        </p:nvPicPr>
        <p:blipFill>
          <a:blip r:embed="rId5">
            <a:alphaModFix amt="9000"/>
          </a:blip>
          <a:stretch>
            <a:fillRect/>
          </a:stretch>
        </p:blipFill>
        <p:spPr>
          <a:xfrm>
            <a:off x="566928" y="1773936"/>
            <a:ext cx="11045952" cy="3054096"/>
          </a:xfrm>
          <a:prstGeom prst="rect">
            <a:avLst/>
          </a:prstGeom>
          <a:ln>
            <a:solidFill/>
          </a:ln>
        </p:spPr>
      </p:pic>
      <p:sp>
        <p:nvSpPr>
          <p:cNvPr id="7" name="TextBox 6"/>
          <p:cNvSpPr txBox="1"/>
          <p:nvPr/>
        </p:nvSpPr>
        <p:spPr>
          <a:xfrm>
            <a:off x="658368" y="658368"/>
            <a:ext cx="9692640" cy="749808"/>
          </a:xfrm>
          <a:prstGeom prst="rect">
            <a:avLst/>
          </a:prstGeom>
          <a:noFill/>
          <a:ln>
            <a:solidFill/>
          </a:ln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300" b="1">
                <a:solidFill>
                  <a:srgbClr val="F7F9FC"/>
                </a:solidFill>
                <a:latin typeface="Calibri"/>
              </a:rPr>
              <a:t>System framing: pluggable services, new chokepoints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389888"/>
            <a:ext cx="8686800" cy="457200"/>
          </a:xfrm>
          <a:prstGeom prst="rect">
            <a:avLst/>
          </a:prstGeom>
          <a:noFill/>
          <a:ln>
            <a:solidFill/>
          </a:ln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000" b="0">
                <a:solidFill>
                  <a:srgbClr val="B7C2D6"/>
                </a:solidFill>
                <a:latin typeface="Calibri"/>
              </a:rPr>
              <a:t>Takeaway: modular services relocate concentration.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423160"/>
            <a:ext cx="1737360" cy="822960"/>
          </a:xfrm>
          <a:prstGeom prst="roundRect">
            <a:avLst/>
          </a:prstGeom>
          <a:solidFill>
            <a:srgbClr val="111C2D"/>
          </a:solidFill>
          <a:ln w="17780">
            <a:solidFill>
              <a:srgbClr val="2B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F7F9FC"/>
                </a:solidFill>
                <a:latin typeface="Calibri"/>
              </a:rPr>
              <a:t>viewer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70048" y="1938528"/>
            <a:ext cx="2103120" cy="822960"/>
          </a:xfrm>
          <a:prstGeom prst="roundRect">
            <a:avLst/>
          </a:prstGeom>
          <a:solidFill>
            <a:srgbClr val="111C2D"/>
          </a:solidFill>
          <a:ln w="17780">
            <a:solidFill>
              <a:srgbClr val="2B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F7F9FC"/>
                </a:solidFill>
                <a:latin typeface="Calibri"/>
              </a:rPr>
              <a:t>discovery surfaces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47488" y="1938528"/>
            <a:ext cx="2103120" cy="822960"/>
          </a:xfrm>
          <a:prstGeom prst="roundRect">
            <a:avLst/>
          </a:prstGeom>
          <a:solidFill>
            <a:srgbClr val="111C2D"/>
          </a:solidFill>
          <a:ln w="17780">
            <a:solidFill>
              <a:srgbClr val="2B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F7F9FC"/>
                </a:solidFill>
                <a:latin typeface="Calibri"/>
              </a:rPr>
              <a:t>feed generators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24927" y="1938528"/>
            <a:ext cx="2103120" cy="822960"/>
          </a:xfrm>
          <a:prstGeom prst="roundRect">
            <a:avLst/>
          </a:prstGeom>
          <a:solidFill>
            <a:srgbClr val="111C2D"/>
          </a:solidFill>
          <a:ln w="17780">
            <a:solidFill>
              <a:srgbClr val="2B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F7F9FC"/>
                </a:solidFill>
                <a:latin typeface="Calibri"/>
              </a:rPr>
              <a:t>provider hosting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802368" y="2423160"/>
            <a:ext cx="1737360" cy="822960"/>
          </a:xfrm>
          <a:prstGeom prst="roundRect">
            <a:avLst/>
          </a:prstGeom>
          <a:solidFill>
            <a:srgbClr val="111C2D"/>
          </a:solidFill>
          <a:ln w="17780">
            <a:solidFill>
              <a:srgbClr val="2B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F7F9FC"/>
                </a:solidFill>
                <a:latin typeface="Calibri"/>
              </a:rPr>
              <a:t>exposure outcomes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47488" y="3703320"/>
            <a:ext cx="2103120" cy="822960"/>
          </a:xfrm>
          <a:prstGeom prst="roundRect">
            <a:avLst/>
          </a:prstGeom>
          <a:solidFill>
            <a:srgbClr val="111C2D"/>
          </a:solidFill>
          <a:ln w="17780">
            <a:solidFill>
              <a:srgbClr val="2B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F7F9FC"/>
                </a:solidFill>
                <a:latin typeface="Calibri"/>
              </a:rPr>
              <a:t>labelers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2395728" y="2350008"/>
            <a:ext cx="274320" cy="484632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773168" y="2350008"/>
            <a:ext cx="274320" cy="0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150608" y="2350008"/>
            <a:ext cx="274319" cy="0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528048" y="2350008"/>
            <a:ext cx="274320" cy="484632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099048" y="2761488"/>
            <a:ext cx="0" cy="941832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739128" y="2761488"/>
            <a:ext cx="0" cy="941832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58368" y="5166360"/>
            <a:ext cx="8046720" cy="868680"/>
          </a:xfrm>
          <a:prstGeom prst="rect">
            <a:avLst/>
          </a:prstGeom>
          <a:noFill/>
          <a:ln>
            <a:solidFill/>
          </a:ln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000" b="0">
                <a:solidFill>
                  <a:srgbClr val="B7C2D6"/>
                </a:solidFill>
                <a:latin typeface="Calibri"/>
              </a:rPr>
              <a:t>Discovery surfaces and provider hosting are key chokepoints.</a:t>
            </a:r>
          </a:p>
        </p:txBody>
      </p:sp>
      <p:pic>
        <p:nvPicPr>
          <p:cNvPr id="22" name="Picture 21" descr="A6_illustrati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95360" y="3950208"/>
            <a:ext cx="2615184" cy="2029968"/>
          </a:xfrm>
          <a:prstGeom prst="rect">
            <a:avLst/>
          </a:prstGeom>
          <a:ln>
            <a:solidFill/>
          </a:ln>
        </p:spPr>
      </p:pic>
      <p:pic>
        <p:nvPicPr>
          <p:cNvPr id="23" name="Picture 22" descr="S2_ico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14432" y="475488"/>
            <a:ext cx="1097280" cy="1097280"/>
          </a:xfrm>
          <a:prstGeom prst="rect">
            <a:avLst/>
          </a:prstGeom>
          <a:ln>
            <a:solidFill/>
          </a:ln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2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2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2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2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2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2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  <a:ln>
            <a:solidFill/>
          </a:ln>
        </p:spPr>
      </p:pic>
      <p:pic>
        <p:nvPicPr>
          <p:cNvPr id="4" name="Picture 3" descr="A4_header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56032"/>
            <a:ext cx="4206240" cy="365760"/>
          </a:xfrm>
          <a:prstGeom prst="rect">
            <a:avLst/>
          </a:prstGeom>
          <a:ln>
            <a:solidFill/>
          </a:ln>
        </p:spPr>
      </p:pic>
      <p:pic>
        <p:nvPicPr>
          <p:cNvPr id="5" name="Picture 4" descr="A2_card_texture.png"/>
          <p:cNvPicPr>
            <a:picLocks noChangeAspect="1"/>
          </p:cNvPicPr>
          <p:nvPr/>
        </p:nvPicPr>
        <p:blipFill>
          <a:blip r:embed="rId4">
            <a:alphaModFix amt="9000"/>
          </a:blip>
          <a:stretch>
            <a:fillRect/>
          </a:stretch>
        </p:blipFill>
        <p:spPr>
          <a:xfrm>
            <a:off x="566928" y="1207008"/>
            <a:ext cx="11064240" cy="5413248"/>
          </a:xfrm>
          <a:prstGeom prst="rect">
            <a:avLst/>
          </a:prstGeom>
          <a:ln>
            <a:solidFill/>
          </a:ln>
        </p:spPr>
      </p:pic>
      <p:sp>
        <p:nvSpPr>
          <p:cNvPr id="6" name="TextBox 5"/>
          <p:cNvSpPr txBox="1"/>
          <p:nvPr/>
        </p:nvSpPr>
        <p:spPr>
          <a:xfrm>
            <a:off x="658368" y="640080"/>
            <a:ext cx="9692640" cy="749808"/>
          </a:xfrm>
          <a:prstGeom prst="rect">
            <a:avLst/>
          </a:prstGeom>
          <a:noFill/>
          <a:ln>
            <a:solidFill/>
          </a:ln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300" b="1">
                <a:solidFill>
                  <a:srgbClr val="F7F9FC"/>
                </a:solidFill>
                <a:latin typeface="Calibri"/>
              </a:rPr>
              <a:t>Bluesky UI: feed marketplace (/feeds)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9875520" cy="384048"/>
          </a:xfrm>
          <a:prstGeom prst="rect">
            <a:avLst/>
          </a:prstGeom>
          <a:noFill/>
          <a:ln>
            <a:solidFill/>
          </a:ln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000" b="0">
                <a:solidFill>
                  <a:srgbClr val="B7C2D6"/>
                </a:solidFill>
                <a:latin typeface="Calibri"/>
              </a:rPr>
              <a:t>Takeaway: feeds are discoverable + selectable algorithmic timelines.</a:t>
            </a:r>
          </a:p>
        </p:txBody>
      </p:sp>
      <p:pic>
        <p:nvPicPr>
          <p:cNvPr id="8" name="Picture 7" descr="B1_ui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03320" y="1920240"/>
            <a:ext cx="7845552" cy="4413123"/>
          </a:xfrm>
          <a:prstGeom prst="rect">
            <a:avLst/>
          </a:prstGeom>
          <a:ln>
            <a:solidFill/>
          </a:ln>
        </p:spPr>
      </p:pic>
      <p:pic>
        <p:nvPicPr>
          <p:cNvPr id="9" name="Picture 8" descr="S2_ic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14432" y="475488"/>
            <a:ext cx="1097280" cy="1097280"/>
          </a:xfrm>
          <a:prstGeom prst="rect">
            <a:avLst/>
          </a:prstGeom>
          <a:ln>
            <a:solidFill/>
          </a:ln>
        </p:spPr>
      </p:pic>
      <p:sp>
        <p:nvSpPr>
          <p:cNvPr id="10" name="Rounded Rectangle 9"/>
          <p:cNvSpPr/>
          <p:nvPr/>
        </p:nvSpPr>
        <p:spPr>
          <a:xfrm>
            <a:off x="658368" y="1883664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AA6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A. /feeds directory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395728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AA6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Search feeds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907792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FFA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B. Feed cards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419856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FFA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Creator + likes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931920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FF8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C. Trending widget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4443984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FF8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Defaults matter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956048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FF8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Discovery risk</a:t>
            </a:r>
          </a:p>
        </p:txBody>
      </p:sp>
      <p:sp>
        <p:nvSpPr>
          <p:cNvPr id="17" name="Oval 16"/>
          <p:cNvSpPr/>
          <p:nvPr/>
        </p:nvSpPr>
        <p:spPr>
          <a:xfrm>
            <a:off x="3913632" y="2231136"/>
            <a:ext cx="310896" cy="310896"/>
          </a:xfrm>
          <a:prstGeom prst="ellipse">
            <a:avLst/>
          </a:prstGeom>
          <a:solidFill>
            <a:srgbClr val="AA6EE7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78808" y="2194560"/>
            <a:ext cx="4864242" cy="475488"/>
          </a:xfrm>
          <a:prstGeom prst="rect">
            <a:avLst/>
          </a:prstGeom>
          <a:noFill/>
          <a:ln w="33020">
            <a:solidFill>
              <a:srgbClr val="AA6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913632" y="2999232"/>
            <a:ext cx="310896" cy="310896"/>
          </a:xfrm>
          <a:prstGeom prst="ellipse">
            <a:avLst/>
          </a:prstGeom>
          <a:solidFill>
            <a:srgbClr val="FFA565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78808" y="2962656"/>
            <a:ext cx="4864242" cy="2736136"/>
          </a:xfrm>
          <a:prstGeom prst="rect">
            <a:avLst/>
          </a:prstGeom>
          <a:noFill/>
          <a:ln w="33020">
            <a:solidFill>
              <a:srgbClr val="FFA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350654" y="2231136"/>
            <a:ext cx="310896" cy="310896"/>
          </a:xfrm>
          <a:prstGeom prst="ellipse">
            <a:avLst/>
          </a:prstGeom>
          <a:solidFill>
            <a:srgbClr val="FF8B9B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615830" y="2194560"/>
            <a:ext cx="1882932" cy="1115568"/>
          </a:xfrm>
          <a:prstGeom prst="rect">
            <a:avLst/>
          </a:prstGeom>
          <a:noFill/>
          <a:ln w="33020">
            <a:solidFill>
              <a:srgbClr val="FF8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3511296" y="2368296"/>
            <a:ext cx="667512" cy="64008"/>
          </a:xfrm>
          <a:prstGeom prst="line">
            <a:avLst/>
          </a:prstGeom>
          <a:ln w="15240">
            <a:solidFill>
              <a:srgbClr val="B7C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511296" y="3392424"/>
            <a:ext cx="667512" cy="938300"/>
          </a:xfrm>
          <a:prstGeom prst="line">
            <a:avLst/>
          </a:prstGeom>
          <a:ln w="15240">
            <a:solidFill>
              <a:srgbClr val="B7C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2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2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2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2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2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2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2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2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2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23" grpId="0" animBg="1"/>
      <p:bldP spid="19" grpId="0" animBg="1"/>
      <p:bldP spid="20" grpId="0" animBg="1"/>
      <p:bldP spid="24" grpId="0" animBg="1"/>
      <p:bldP spid="21" grpId="0" animBg="1"/>
      <p:bldP spid="22" grpId="0" animBg="1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  <a:ln>
            <a:solidFill/>
          </a:ln>
        </p:spPr>
      </p:pic>
      <p:pic>
        <p:nvPicPr>
          <p:cNvPr id="4" name="Picture 3" descr="A4_header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56032"/>
            <a:ext cx="4206240" cy="365760"/>
          </a:xfrm>
          <a:prstGeom prst="rect">
            <a:avLst/>
          </a:prstGeom>
          <a:ln>
            <a:solidFill/>
          </a:ln>
        </p:spPr>
      </p:pic>
      <p:pic>
        <p:nvPicPr>
          <p:cNvPr id="5" name="Picture 4" descr="A2_card_texture.png"/>
          <p:cNvPicPr>
            <a:picLocks noChangeAspect="1"/>
          </p:cNvPicPr>
          <p:nvPr/>
        </p:nvPicPr>
        <p:blipFill>
          <a:blip r:embed="rId4">
            <a:alphaModFix amt="9000"/>
          </a:blip>
          <a:stretch>
            <a:fillRect/>
          </a:stretch>
        </p:blipFill>
        <p:spPr>
          <a:xfrm>
            <a:off x="566928" y="1207008"/>
            <a:ext cx="11064240" cy="5413248"/>
          </a:xfrm>
          <a:prstGeom prst="rect">
            <a:avLst/>
          </a:prstGeom>
          <a:ln>
            <a:solidFill/>
          </a:ln>
        </p:spPr>
      </p:pic>
      <p:sp>
        <p:nvSpPr>
          <p:cNvPr id="6" name="TextBox 5"/>
          <p:cNvSpPr txBox="1"/>
          <p:nvPr/>
        </p:nvSpPr>
        <p:spPr>
          <a:xfrm>
            <a:off x="658368" y="640080"/>
            <a:ext cx="9692640" cy="749808"/>
          </a:xfrm>
          <a:prstGeom prst="rect">
            <a:avLst/>
          </a:prstGeom>
          <a:noFill/>
          <a:ln>
            <a:solidFill/>
          </a:ln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300" b="1">
                <a:solidFill>
                  <a:srgbClr val="F7F9FC"/>
                </a:solidFill>
                <a:latin typeface="Calibri"/>
              </a:rPr>
              <a:t>Bluesky UI: what a feed looks like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9875520" cy="384048"/>
          </a:xfrm>
          <a:prstGeom prst="rect">
            <a:avLst/>
          </a:prstGeom>
          <a:noFill/>
          <a:ln>
            <a:solidFill/>
          </a:ln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000" b="0">
                <a:solidFill>
                  <a:srgbClr val="B7C2D6"/>
                </a:solidFill>
                <a:latin typeface="Calibri"/>
              </a:rPr>
              <a:t>Takeaway: a feed page renders an algorithm into a timeline of posts.</a:t>
            </a:r>
          </a:p>
        </p:txBody>
      </p:sp>
      <p:pic>
        <p:nvPicPr>
          <p:cNvPr id="8" name="Picture 7" descr="B2_ui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03320" y="1920240"/>
            <a:ext cx="7845552" cy="4413123"/>
          </a:xfrm>
          <a:prstGeom prst="rect">
            <a:avLst/>
          </a:prstGeom>
          <a:ln>
            <a:solidFill/>
          </a:ln>
        </p:spPr>
      </p:pic>
      <p:pic>
        <p:nvPicPr>
          <p:cNvPr id="9" name="Picture 8" descr="S1_ic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14432" y="475488"/>
            <a:ext cx="1097280" cy="1097280"/>
          </a:xfrm>
          <a:prstGeom prst="rect">
            <a:avLst/>
          </a:prstGeom>
          <a:ln>
            <a:solidFill/>
          </a:ln>
        </p:spPr>
      </p:pic>
      <p:sp>
        <p:nvSpPr>
          <p:cNvPr id="10" name="Rounded Rectangle 9"/>
          <p:cNvSpPr/>
          <p:nvPr/>
        </p:nvSpPr>
        <p:spPr>
          <a:xfrm>
            <a:off x="658368" y="1883664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AA6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A. Feed name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395728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AA6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Demand signals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907792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FFA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B. Timeline output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419856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FFA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Exposure decisions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931920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FFA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C. Post actions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4443984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FF8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Why we measure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956048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FF8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Manipulation risk</a:t>
            </a:r>
          </a:p>
        </p:txBody>
      </p:sp>
      <p:sp>
        <p:nvSpPr>
          <p:cNvPr id="17" name="Oval 16"/>
          <p:cNvSpPr/>
          <p:nvPr/>
        </p:nvSpPr>
        <p:spPr>
          <a:xfrm>
            <a:off x="3895344" y="2048256"/>
            <a:ext cx="310896" cy="310896"/>
          </a:xfrm>
          <a:prstGeom prst="ellipse">
            <a:avLst/>
          </a:prstGeom>
          <a:solidFill>
            <a:srgbClr val="AA6EE7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60520" y="2011680"/>
            <a:ext cx="5491886" cy="566928"/>
          </a:xfrm>
          <a:prstGeom prst="rect">
            <a:avLst/>
          </a:prstGeom>
          <a:noFill/>
          <a:ln w="33020">
            <a:solidFill>
              <a:srgbClr val="AA6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895344" y="2889504"/>
            <a:ext cx="310896" cy="310896"/>
          </a:xfrm>
          <a:prstGeom prst="ellipse">
            <a:avLst/>
          </a:prstGeom>
          <a:solidFill>
            <a:srgbClr val="FFA565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60520" y="2852928"/>
            <a:ext cx="5491886" cy="2736136"/>
          </a:xfrm>
          <a:prstGeom prst="rect">
            <a:avLst/>
          </a:prstGeom>
          <a:noFill/>
          <a:ln w="33020">
            <a:solidFill>
              <a:srgbClr val="FFA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078224" y="4985560"/>
            <a:ext cx="310896" cy="310896"/>
          </a:xfrm>
          <a:prstGeom prst="ellipse">
            <a:avLst/>
          </a:prstGeom>
          <a:solidFill>
            <a:srgbClr val="FFA565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43400" y="4948984"/>
            <a:ext cx="2824398" cy="530352"/>
          </a:xfrm>
          <a:prstGeom prst="rect">
            <a:avLst/>
          </a:prstGeom>
          <a:noFill/>
          <a:ln w="33020">
            <a:solidFill>
              <a:srgbClr val="FFA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 flipV="1">
            <a:off x="3511296" y="2295144"/>
            <a:ext cx="649224" cy="73152"/>
          </a:xfrm>
          <a:prstGeom prst="line">
            <a:avLst/>
          </a:prstGeom>
          <a:ln w="15240">
            <a:solidFill>
              <a:srgbClr val="B7C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511296" y="3392424"/>
            <a:ext cx="649224" cy="828572"/>
          </a:xfrm>
          <a:prstGeom prst="line">
            <a:avLst/>
          </a:prstGeom>
          <a:ln w="15240">
            <a:solidFill>
              <a:srgbClr val="B7C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2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2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2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2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2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2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2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2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2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23" grpId="0" animBg="1"/>
      <p:bldP spid="19" grpId="0" animBg="1"/>
      <p:bldP spid="20" grpId="0" animBg="1"/>
      <p:bldP spid="24" grpId="0" animBg="1"/>
      <p:bldP spid="21" grpId="0" animBg="1"/>
      <p:bldP spid="22" grpId="0" animBg="1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  <a:ln>
            <a:solidFill/>
          </a:ln>
        </p:spPr>
      </p:pic>
      <p:pic>
        <p:nvPicPr>
          <p:cNvPr id="4" name="Picture 3" descr="A4_header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56032"/>
            <a:ext cx="4206240" cy="365760"/>
          </a:xfrm>
          <a:prstGeom prst="rect">
            <a:avLst/>
          </a:prstGeom>
          <a:ln>
            <a:solidFill/>
          </a:ln>
        </p:spPr>
      </p:pic>
      <p:pic>
        <p:nvPicPr>
          <p:cNvPr id="5" name="Picture 4" descr="A2_card_texture.png"/>
          <p:cNvPicPr>
            <a:picLocks noChangeAspect="1"/>
          </p:cNvPicPr>
          <p:nvPr/>
        </p:nvPicPr>
        <p:blipFill>
          <a:blip r:embed="rId4">
            <a:alphaModFix amt="9000"/>
          </a:blip>
          <a:stretch>
            <a:fillRect/>
          </a:stretch>
        </p:blipFill>
        <p:spPr>
          <a:xfrm>
            <a:off x="566928" y="1207008"/>
            <a:ext cx="11064240" cy="5413248"/>
          </a:xfrm>
          <a:prstGeom prst="rect">
            <a:avLst/>
          </a:prstGeom>
          <a:ln>
            <a:solidFill/>
          </a:ln>
        </p:spPr>
      </p:pic>
      <p:sp>
        <p:nvSpPr>
          <p:cNvPr id="6" name="TextBox 5"/>
          <p:cNvSpPr txBox="1"/>
          <p:nvPr/>
        </p:nvSpPr>
        <p:spPr>
          <a:xfrm>
            <a:off x="658368" y="640080"/>
            <a:ext cx="9966960" cy="749808"/>
          </a:xfrm>
          <a:prstGeom prst="rect">
            <a:avLst/>
          </a:prstGeom>
          <a:noFill/>
          <a:ln>
            <a:solidFill/>
          </a:ln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300" b="1">
                <a:solidFill>
                  <a:srgbClr val="F7F9FC"/>
                </a:solidFill>
                <a:latin typeface="Calibri"/>
              </a:rPr>
              <a:t>Bluesky UI: starter packs (onboarding bundles)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10241280" cy="384048"/>
          </a:xfrm>
          <a:prstGeom prst="rect">
            <a:avLst/>
          </a:prstGeom>
          <a:noFill/>
          <a:ln>
            <a:solidFill/>
          </a:ln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000" b="0">
                <a:solidFill>
                  <a:srgbClr val="B7C2D6"/>
                </a:solidFill>
                <a:latin typeface="Calibri"/>
              </a:rPr>
              <a:t>Takeaway: starter packs bundle people (and sometimes feeds) for fast onboarding.</a:t>
            </a:r>
          </a:p>
        </p:txBody>
      </p:sp>
      <p:pic>
        <p:nvPicPr>
          <p:cNvPr id="8" name="Picture 7" descr="B3_ui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03320" y="1920240"/>
            <a:ext cx="7845552" cy="4413123"/>
          </a:xfrm>
          <a:prstGeom prst="rect">
            <a:avLst/>
          </a:prstGeom>
          <a:ln>
            <a:solidFill/>
          </a:ln>
        </p:spPr>
      </p:pic>
      <p:pic>
        <p:nvPicPr>
          <p:cNvPr id="9" name="Picture 8" descr="S3_ic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14432" y="475488"/>
            <a:ext cx="1097280" cy="1097280"/>
          </a:xfrm>
          <a:prstGeom prst="rect">
            <a:avLst/>
          </a:prstGeom>
          <a:ln>
            <a:solidFill/>
          </a:ln>
        </p:spPr>
      </p:pic>
      <p:sp>
        <p:nvSpPr>
          <p:cNvPr id="10" name="Rounded Rectangle 9"/>
          <p:cNvSpPr/>
          <p:nvPr/>
        </p:nvSpPr>
        <p:spPr>
          <a:xfrm>
            <a:off x="658368" y="1883664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AA6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A. Pack title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395728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AA6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Curated list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907792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FFA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B. Join button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419856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FFA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1-click onboarding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931920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FFA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C. People cards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4443984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FF8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Curation questions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956048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FF8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Measure exposure</a:t>
            </a:r>
          </a:p>
        </p:txBody>
      </p:sp>
      <p:sp>
        <p:nvSpPr>
          <p:cNvPr id="17" name="Oval 16"/>
          <p:cNvSpPr/>
          <p:nvPr/>
        </p:nvSpPr>
        <p:spPr>
          <a:xfrm>
            <a:off x="3895344" y="2048256"/>
            <a:ext cx="310896" cy="310896"/>
          </a:xfrm>
          <a:prstGeom prst="ellipse">
            <a:avLst/>
          </a:prstGeom>
          <a:solidFill>
            <a:srgbClr val="AA6EE7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60520" y="2011680"/>
            <a:ext cx="5805708" cy="804672"/>
          </a:xfrm>
          <a:prstGeom prst="rect">
            <a:avLst/>
          </a:prstGeom>
          <a:noFill/>
          <a:ln w="33020">
            <a:solidFill>
              <a:srgbClr val="AA6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895344" y="2999232"/>
            <a:ext cx="310896" cy="310896"/>
          </a:xfrm>
          <a:prstGeom prst="ellipse">
            <a:avLst/>
          </a:prstGeom>
          <a:solidFill>
            <a:srgbClr val="FFA565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60520" y="2962656"/>
            <a:ext cx="5805708" cy="658368"/>
          </a:xfrm>
          <a:prstGeom prst="rect">
            <a:avLst/>
          </a:prstGeom>
          <a:noFill/>
          <a:ln w="33020">
            <a:solidFill>
              <a:srgbClr val="FFA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895344" y="3840480"/>
            <a:ext cx="310896" cy="310896"/>
          </a:xfrm>
          <a:prstGeom prst="ellipse">
            <a:avLst/>
          </a:prstGeom>
          <a:solidFill>
            <a:srgbClr val="FFA565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60520" y="3803904"/>
            <a:ext cx="5805708" cy="2294823"/>
          </a:xfrm>
          <a:prstGeom prst="rect">
            <a:avLst/>
          </a:prstGeom>
          <a:noFill/>
          <a:ln w="33020">
            <a:solidFill>
              <a:srgbClr val="FFA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3511296" y="2368296"/>
            <a:ext cx="649224" cy="45720"/>
          </a:xfrm>
          <a:prstGeom prst="line">
            <a:avLst/>
          </a:prstGeom>
          <a:ln w="15240">
            <a:solidFill>
              <a:srgbClr val="B7C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3511296" y="3291840"/>
            <a:ext cx="649224" cy="100584"/>
          </a:xfrm>
          <a:prstGeom prst="line">
            <a:avLst/>
          </a:prstGeom>
          <a:ln w="15240">
            <a:solidFill>
              <a:srgbClr val="B7C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2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2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2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2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2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2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2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2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2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23" grpId="0" animBg="1"/>
      <p:bldP spid="19" grpId="0" animBg="1"/>
      <p:bldP spid="20" grpId="0" animBg="1"/>
      <p:bldP spid="24" grpId="0" animBg="1"/>
      <p:bldP spid="21" grpId="0" animBg="1"/>
      <p:bldP spid="22" grpId="0" animBg="1"/>
    </p:bld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  <a:ln>
            <a:solidFill/>
          </a:ln>
        </p:spPr>
      </p:pic>
      <p:pic>
        <p:nvPicPr>
          <p:cNvPr id="4" name="Picture 3" descr="A2_card_texture.png"/>
          <p:cNvPicPr>
            <a:picLocks noChangeAspect="1"/>
          </p:cNvPicPr>
          <p:nvPr/>
        </p:nvPicPr>
        <p:blipFill>
          <a:blip r:embed="rId3">
            <a:alphaModFix amt="9000"/>
          </a:blip>
          <a:stretch>
            <a:fillRect/>
          </a:stretch>
        </p:blipFill>
        <p:spPr>
          <a:xfrm>
            <a:off x="566928" y="1170432"/>
            <a:ext cx="11064240" cy="4553712"/>
          </a:xfrm>
          <a:prstGeom prst="rect">
            <a:avLst/>
          </a:prstGeom>
          <a:ln>
            <a:solidFill/>
          </a:ln>
        </p:spPr>
      </p:pic>
      <p:pic>
        <p:nvPicPr>
          <p:cNvPr id="5" name="Picture 4" descr="A9_ch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5440" y="228600"/>
            <a:ext cx="1993392" cy="987552"/>
          </a:xfrm>
          <a:prstGeom prst="rect">
            <a:avLst/>
          </a:prstGeom>
          <a:ln>
            <a:solidFill/>
          </a:ln>
        </p:spPr>
      </p:pic>
      <p:pic>
        <p:nvPicPr>
          <p:cNvPr id="6" name="Picture 5" descr="A3_divider_stri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1792224"/>
            <a:ext cx="3657600" cy="219456"/>
          </a:xfrm>
          <a:prstGeom prst="rect">
            <a:avLst/>
          </a:prstGeom>
          <a:ln>
            <a:solidFill/>
          </a:ln>
        </p:spPr>
      </p:pic>
      <p:sp>
        <p:nvSpPr>
          <p:cNvPr id="7" name="TextBox 6"/>
          <p:cNvSpPr txBox="1"/>
          <p:nvPr/>
        </p:nvSpPr>
        <p:spPr>
          <a:xfrm>
            <a:off x="658368" y="603504"/>
            <a:ext cx="7132320" cy="749808"/>
          </a:xfrm>
          <a:prstGeom prst="rect">
            <a:avLst/>
          </a:prstGeom>
          <a:noFill/>
          <a:ln>
            <a:solidFill/>
          </a:ln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600" b="1">
                <a:solidFill>
                  <a:srgbClr val="F7F9FC"/>
                </a:solidFill>
                <a:latin typeface="Calibri"/>
              </a:rPr>
              <a:t>Research questions (R1-R5)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426464"/>
            <a:ext cx="9875520" cy="365760"/>
          </a:xfrm>
          <a:prstGeom prst="rect">
            <a:avLst/>
          </a:prstGeom>
          <a:noFill/>
          <a:ln>
            <a:solidFill/>
          </a:ln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000" b="0">
                <a:solidFill>
                  <a:srgbClr val="B7C2D6"/>
                </a:solidFill>
                <a:latin typeface="Calibri"/>
              </a:rPr>
              <a:t>Takeaway: security and privacy scope.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874519"/>
            <a:ext cx="5285232" cy="932688"/>
          </a:xfrm>
          <a:prstGeom prst="roundRect">
            <a:avLst/>
          </a:prstGeom>
          <a:solidFill>
            <a:srgbClr val="111C2D"/>
          </a:solidFill>
          <a:ln w="17780">
            <a:solidFill>
              <a:srgbClr val="2B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R1 Discovery chokepoints? governance.</a:t>
            </a:r>
          </a:p>
        </p:txBody>
      </p:sp>
      <p:pic>
        <p:nvPicPr>
          <p:cNvPr id="10" name="Picture 9" descr="S1_ic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59" y="1947672"/>
            <a:ext cx="530352" cy="530352"/>
          </a:xfrm>
          <a:prstGeom prst="rect">
            <a:avLst/>
          </a:prstGeom>
          <a:ln>
            <a:solidFill/>
          </a:ln>
        </p:spPr>
      </p:pic>
      <p:sp>
        <p:nvSpPr>
          <p:cNvPr id="11" name="Rounded Rectangle 10"/>
          <p:cNvSpPr/>
          <p:nvPr/>
        </p:nvSpPr>
        <p:spPr>
          <a:xfrm>
            <a:off x="6163056" y="1874519"/>
            <a:ext cx="5285232" cy="932688"/>
          </a:xfrm>
          <a:prstGeom prst="roundRect">
            <a:avLst/>
          </a:prstGeom>
          <a:solidFill>
            <a:srgbClr val="111C2D"/>
          </a:solidFill>
          <a:ln w="17780">
            <a:solidFill>
              <a:srgbClr val="2B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R2 Provider buckets dominate? reliability.</a:t>
            </a:r>
          </a:p>
        </p:txBody>
      </p:sp>
      <p:pic>
        <p:nvPicPr>
          <p:cNvPr id="12" name="Picture 11" descr="S2_ico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36208" y="1947672"/>
            <a:ext cx="530352" cy="530352"/>
          </a:xfrm>
          <a:prstGeom prst="rect">
            <a:avLst/>
          </a:prstGeom>
          <a:ln>
            <a:solidFill/>
          </a:ln>
        </p:spPr>
      </p:pic>
      <p:sp>
        <p:nvSpPr>
          <p:cNvPr id="13" name="Rounded Rectangle 12"/>
          <p:cNvSpPr/>
          <p:nvPr/>
        </p:nvSpPr>
        <p:spPr>
          <a:xfrm>
            <a:off x="749808" y="2898648"/>
            <a:ext cx="5285232" cy="932688"/>
          </a:xfrm>
          <a:prstGeom prst="roundRect">
            <a:avLst/>
          </a:prstGeom>
          <a:solidFill>
            <a:srgbClr val="111C2D"/>
          </a:solidFill>
          <a:ln w="17780">
            <a:solidFill>
              <a:srgbClr val="2B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R3 Same winners across feeds? manipulation.</a:t>
            </a:r>
          </a:p>
        </p:txBody>
      </p:sp>
      <p:pic>
        <p:nvPicPr>
          <p:cNvPr id="14" name="Picture 13" descr="S3_ico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2959" y="2971800"/>
            <a:ext cx="530352" cy="530352"/>
          </a:xfrm>
          <a:prstGeom prst="rect">
            <a:avLst/>
          </a:prstGeom>
          <a:ln>
            <a:solidFill/>
          </a:ln>
        </p:spPr>
      </p:pic>
      <p:sp>
        <p:nvSpPr>
          <p:cNvPr id="15" name="Rounded Rectangle 14"/>
          <p:cNvSpPr/>
          <p:nvPr/>
        </p:nvSpPr>
        <p:spPr>
          <a:xfrm>
            <a:off x="6163056" y="2898648"/>
            <a:ext cx="5285232" cy="932688"/>
          </a:xfrm>
          <a:prstGeom prst="roundRect">
            <a:avLst/>
          </a:prstGeom>
          <a:solidFill>
            <a:srgbClr val="111C2D"/>
          </a:solidFill>
          <a:ln w="17780">
            <a:solidFill>
              <a:srgbClr val="2B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R4 Labels vary by viewer? safety.</a:t>
            </a:r>
          </a:p>
        </p:txBody>
      </p:sp>
      <p:pic>
        <p:nvPicPr>
          <p:cNvPr id="16" name="Picture 15" descr="S4_ico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36208" y="2971800"/>
            <a:ext cx="530352" cy="530352"/>
          </a:xfrm>
          <a:prstGeom prst="rect">
            <a:avLst/>
          </a:prstGeom>
          <a:ln>
            <a:solidFill/>
          </a:ln>
        </p:spPr>
      </p:pic>
      <p:sp>
        <p:nvSpPr>
          <p:cNvPr id="17" name="Rounded Rectangle 16"/>
          <p:cNvSpPr/>
          <p:nvPr/>
        </p:nvSpPr>
        <p:spPr>
          <a:xfrm>
            <a:off x="749808" y="3922776"/>
            <a:ext cx="10716768" cy="1042415"/>
          </a:xfrm>
          <a:prstGeom prst="roundRect">
            <a:avLst/>
          </a:prstGeom>
          <a:solidFill>
            <a:srgbClr val="111C2D"/>
          </a:solidFill>
          <a:ln w="17780">
            <a:solidFill>
              <a:srgbClr val="2B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R5 Future experiment: gaming plus privacy attacks. extra guardrails.</a:t>
            </a:r>
          </a:p>
        </p:txBody>
      </p:sp>
      <p:pic>
        <p:nvPicPr>
          <p:cNvPr id="18" name="Picture 17" descr="S5_icon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2959" y="3995928"/>
            <a:ext cx="530352" cy="530352"/>
          </a:xfrm>
          <a:prstGeom prst="rect">
            <a:avLst/>
          </a:prstGeom>
          <a:ln>
            <a:solidFill/>
          </a:ln>
        </p:spPr>
      </p:pic>
      <p:pic>
        <p:nvPicPr>
          <p:cNvPr id="19" name="Picture 18" descr="A8_donut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930384" y="3858768"/>
            <a:ext cx="1335024" cy="1335024"/>
          </a:xfrm>
          <a:prstGeom prst="rect">
            <a:avLst/>
          </a:prstGeom>
          <a:ln>
            <a:solidFill/>
          </a:ln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2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2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  <a:ln>
            <a:solidFill/>
          </a:ln>
        </p:spPr>
      </p:pic>
      <p:pic>
        <p:nvPicPr>
          <p:cNvPr id="4" name="Picture 3" descr="A4_header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37744"/>
            <a:ext cx="4206240" cy="365760"/>
          </a:xfrm>
          <a:prstGeom prst="rect">
            <a:avLst/>
          </a:prstGeom>
          <a:ln>
            <a:solidFill/>
          </a:ln>
        </p:spPr>
      </p:pic>
      <p:pic>
        <p:nvPicPr>
          <p:cNvPr id="5" name="Picture 4" descr="A2_card_texture.png"/>
          <p:cNvPicPr>
            <a:picLocks noChangeAspect="1"/>
          </p:cNvPicPr>
          <p:nvPr/>
        </p:nvPicPr>
        <p:blipFill>
          <a:blip r:embed="rId4">
            <a:alphaModFix amt="9000"/>
          </a:blip>
          <a:stretch>
            <a:fillRect/>
          </a:stretch>
        </p:blipFill>
        <p:spPr>
          <a:xfrm>
            <a:off x="530352" y="1133856"/>
            <a:ext cx="11155680" cy="5340096"/>
          </a:xfrm>
          <a:prstGeom prst="rect">
            <a:avLst/>
          </a:prstGeom>
          <a:ln>
            <a:solidFill/>
          </a:ln>
        </p:spPr>
      </p:pic>
      <p:pic>
        <p:nvPicPr>
          <p:cNvPr id="6" name="Picture 5" descr="S6_ic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59568" y="457200"/>
            <a:ext cx="1097280" cy="1097280"/>
          </a:xfrm>
          <a:prstGeom prst="rect">
            <a:avLst/>
          </a:prstGeom>
          <a:ln>
            <a:solidFill/>
          </a:ln>
        </p:spPr>
      </p:pic>
      <p:pic>
        <p:nvPicPr>
          <p:cNvPr id="7" name="Picture 6" descr="A8_donu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06256" y="54864"/>
            <a:ext cx="1481328" cy="1481328"/>
          </a:xfrm>
          <a:prstGeom prst="rect">
            <a:avLst/>
          </a:prstGeom>
          <a:ln>
            <a:solidFill/>
          </a:ln>
        </p:spPr>
      </p:pic>
      <p:sp>
        <p:nvSpPr>
          <p:cNvPr id="8" name="TextBox 7"/>
          <p:cNvSpPr txBox="1"/>
          <p:nvPr/>
        </p:nvSpPr>
        <p:spPr>
          <a:xfrm>
            <a:off x="658368" y="585216"/>
            <a:ext cx="9326880" cy="713232"/>
          </a:xfrm>
          <a:prstGeom prst="rect">
            <a:avLst/>
          </a:prstGeom>
          <a:noFill/>
          <a:ln>
            <a:solidFill/>
          </a:ln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400" b="1">
                <a:solidFill>
                  <a:srgbClr val="F7F9FC"/>
                </a:solidFill>
                <a:latin typeface="Calibri"/>
              </a:rPr>
              <a:t>Data artifacts collected (no results)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" y="1371600"/>
            <a:ext cx="3657600" cy="2788920"/>
          </a:xfrm>
          <a:prstGeom prst="roundRect">
            <a:avLst/>
          </a:prstGeom>
          <a:solidFill>
            <a:srgbClr val="111C2D"/>
          </a:solidFill>
          <a:ln w="17780">
            <a:solidFill>
              <a:srgbClr val="2B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Discovery inputs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feed_generators_index.csv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starterpacks.csv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starterpack_feeds.csv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discovery_feed_inclusions.csv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popular_feeds.csv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61104" y="1371600"/>
            <a:ext cx="3657600" cy="2788920"/>
          </a:xfrm>
          <a:prstGeom prst="roundRect">
            <a:avLst/>
          </a:prstGeom>
          <a:solidFill>
            <a:srgbClr val="111C2D"/>
          </a:solidFill>
          <a:ln w="17780">
            <a:solidFill>
              <a:srgbClr val="2B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Panel snapshots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feed_panel.csv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feed_items.csv.gz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posts.csv.gz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authors.csv.gz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post_labels.csv.gz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91856" y="1371600"/>
            <a:ext cx="3657600" cy="2788920"/>
          </a:xfrm>
          <a:prstGeom prst="roundRect">
            <a:avLst/>
          </a:prstGeom>
          <a:solidFill>
            <a:srgbClr val="111C2D"/>
          </a:solidFill>
          <a:ln w="17780">
            <a:solidFill>
              <a:srgbClr val="2B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Trust and reproducibility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state.db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run_metadata.csv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run_summary.csv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manifest.csv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data_dictionary.csv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validation_report.csv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0352" y="4297680"/>
            <a:ext cx="11119104" cy="1920240"/>
          </a:xfrm>
          <a:prstGeom prst="roundRect">
            <a:avLst/>
          </a:prstGeom>
          <a:solidFill>
            <a:srgbClr val="111C2D"/>
          </a:solidFill>
          <a:ln w="17780">
            <a:solidFill>
              <a:srgbClr val="2B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Join spine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feed_panel -&gt; feed_items -&gt; posts/authors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post_labels attaches by feed_uri, viewer_mode, post_uri, post_cid.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Result: joinable, reproducible, auditable artifacts.</a:t>
            </a:r>
          </a:p>
        </p:txBody>
      </p:sp>
      <p:pic>
        <p:nvPicPr>
          <p:cNvPr id="13" name="Picture 12" descr="A5_illustratio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98280" y="4334256"/>
            <a:ext cx="2258568" cy="1737360"/>
          </a:xfrm>
          <a:prstGeom prst="rect">
            <a:avLst/>
          </a:prstGeom>
          <a:ln>
            <a:solidFill/>
          </a:ln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8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spTree>
      <ns0:nvGrpSpPr>
        <ns0:cNvPr id="1" name=""/>
        <ns0:cNvGrpSpPr/>
        <ns0:nvPr/>
      </ns0:nvGrpSpPr>
      <ns0:grpSpPr/>
      <ns0:sp>
        <ns0:nvSpPr>
          <ns0:cNvPr id="2" name="Rectangle 1"/>
          <ns0:cNvSpPr/>
          <ns0:nvPr/>
        </ns0:nvSpPr>
        <ns0:spPr>
          <ns1:xfrm>
            <ns1:off x="0" y="0"/>
            <ns1:ext cx="12191695" cy="6858000"/>
          </ns1:xfrm>
          <ns1:prstGeom prst="rect">
            <ns1:avLst/>
          </ns1:prstGeom>
          <ns1:solidFill>
            <ns1:srgbClr val="0B1320"/>
          </ns1:solidFill>
          <ns1:ln>
            <ns1:solid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pic>
        <ns0:nvPicPr>
          <ns0:cNvPr id="3" name="Picture 2" descr="A1_bg_blueprint_overlay.png"/>
          <ns0:cNvPicPr>
            <ns1:picLocks noChangeAspect="1"/>
          </ns0:cNvPicPr>
          <ns0:nvPr/>
        </ns0:nvPicPr>
        <ns0:blipFill>
          <ns1:blip ns2:embed="rId8"/>
          <ns1:stretch>
            <ns1:fillRect/>
          </ns1:stretch>
        </ns0:blipFill>
        <ns0:spPr>
          <ns1:xfrm>
            <ns1:off x="0" y="0"/>
            <ns1:ext cx="12191695" cy="6858000"/>
          </ns1:xfrm>
          <ns1:prstGeom prst="rect">
            <ns1:avLst/>
          </ns1:prstGeom>
          <ns1:ln>
            <ns1:solidFill/>
          </ns1:ln>
        </ns0:spPr>
      </ns0:pic>
      <ns0:pic>
        <ns0:nvPicPr>
          <ns0:cNvPr id="4" name="Picture 3" descr="A4_header_bar.png"/>
          <ns0:cNvPicPr>
            <ns1:picLocks noChangeAspect="1"/>
          </ns0:cNvPicPr>
          <ns0:nvPr/>
        </ns0:nvPicPr>
        <ns0:blipFill>
          <ns1:blip ns2:embed="rId3"/>
          <ns1:stretch>
            <ns1:fillRect/>
          </ns1:stretch>
        </ns0:blipFill>
        <ns0:spPr>
          <ns1:xfrm>
            <ns1:off x="658368" y="256032"/>
            <ns1:ext cx="4206240" cy="365760"/>
          </ns1:xfrm>
          <ns1:prstGeom prst="rect">
            <ns1:avLst/>
          </ns1:prstGeom>
          <ns1:ln>
            <ns1:solidFill/>
          </ns1:ln>
        </ns0:spPr>
      </ns0:pic>
      <ns0:pic>
        <ns0:nvPicPr>
          <ns0:cNvPr id="5" name="Picture 4" descr="A2_card_texture.png"/>
          <ns0:cNvPicPr>
            <ns1:picLocks noChangeAspect="1"/>
          </ns0:cNvPicPr>
          <ns0:nvPr/>
        </ns0:nvPicPr>
        <ns0:blipFill>
          <ns1:blip ns2:embed="rId4">
            <ns1:alphaModFix amt="9000"/>
          </ns1:blip>
          <ns1:stretch>
            <ns1:fillRect/>
          </ns1:stretch>
        </ns0:blipFill>
        <ns0:spPr>
          <ns1:xfrm>
            <ns1:off x="566928" y="1207008"/>
            <ns1:ext cx="11064240" cy="5413248"/>
          </ns1:xfrm>
          <ns1:prstGeom prst="rect">
            <ns1:avLst/>
          </ns1:prstGeom>
          <ns1:ln>
            <ns1:solidFill/>
          </ns1:ln>
        </ns0:spPr>
      </ns0:pic>
      <ns0:sp>
        <ns0:nvSpPr>
          <ns0:cNvPr id="6" name="TextBox 5"/>
          <ns0:cNvSpPr txBox="1"/>
          <ns0:nvPr/>
        </ns0:nvSpPr>
        <ns0:spPr>
          <ns1:xfrm>
            <ns1:off x="658368" y="640080"/>
            <ns1:ext cx="9966960" cy="749808"/>
          </ns1:xfrm>
          <ns1:prstGeom prst="rect">
            <ns1:avLst/>
          </ns1:prstGeom>
          <ns1:noFill/>
          <ns1:ln>
            <ns1:solidFill/>
          </ns1:ln>
        </ns0:spPr>
        <ns0:txBody>
          <ns1:bodyPr wrap="square" lIns="18288" rIns="18288" tIns="9144" bIns="9144">
            <ns1:spAutoFit/>
          </ns1:bodyPr>
          <ns1:lstStyle/>
          <ns1:p>
            <ns1:pPr algn="l"/>
            <ns1:r>
              <ns1:rPr sz="3300" b="1">
                <ns1:solidFill>
                  <ns1:srgbClr val="F7F9FC"/>
                </ns1:solidFill>
                <ns1:latin typeface="Calibri"/>
              </ns1:rPr>
              <ns1:t>Data receipt: discovery surfaces (starter packs + popular list)</ns1:t>
            </ns1:r>
          </ns1:p>
        </ns0:txBody>
      </ns0:sp>
      <ns0:sp>
        <ns0:nvSpPr>
          <ns0:cNvPr id="7" name="TextBox 6"/>
          <ns0:cNvSpPr txBox="1"/>
          <ns0:nvPr/>
        </ns0:nvSpPr>
        <ns0:spPr>
          <ns1:xfrm>
            <ns1:off x="658368" y="1389888"/>
            <ns1:ext cx="10241280" cy="384048"/>
          </ns1:xfrm>
          <ns1:prstGeom prst="rect">
            <ns1:avLst/>
          </ns1:prstGeom>
          <ns1:noFill/>
          <ns1:ln>
            <ns1:solidFill/>
          </ns1:ln>
        </ns0:spPr>
        <ns0:txBody>
          <ns1:bodyPr wrap="square" lIns="18288" rIns="18288" tIns="9144" bIns="9144">
            <ns1:spAutoFit/>
          </ns1:bodyPr>
          <ns1:lstStyle/>
          <ns1:p>
            <ns1:pPr algn="l"/>
            <ns1:r>
              <ns1:rPr sz="2000" b="0">
                <ns1:solidFill>
                  <ns1:srgbClr val="B7C2D6"/>
                </ns1:solidFill>
                <ns1:latin typeface="Calibri"/>
              </ns1:rPr>
              <ns1:t>Takeaway: discovery is measurable via starter-pack inclusion and popular list ranks.</ns1:t>
            </ns1:r>
          </ns1:p>
        </ns0:txBody>
      </ns0:sp>
      <ns0:pic>
        <ns0:nvPicPr>
          <ns0:cNvPr id="8" name="Picture 7" descr="B3_ui.png"/>
          <ns0:cNvPicPr>
            <ns1:picLocks noChangeAspect="1"/>
          </ns0:cNvPicPr>
          <ns0:nvPr/>
        </ns0:nvPicPr>
        <ns0:blipFill>
          <ns1:blip ns2:embed="rId9"/>
          <ns1:stretch>
            <ns1:fillRect/>
          </ns1:stretch>
        </ns0:blipFill>
        <ns0:spPr>
          <ns1:xfrm>
            <ns1:off x="3703320" y="1920240"/>
            <ns1:ext cx="7845552" cy="4413123"/>
          </ns1:xfrm>
          <ns1:prstGeom prst="rect">
            <ns1:avLst/>
          </ns1:prstGeom>
          <ns1:ln>
            <ns1:solidFill/>
          </ns1:ln>
        </ns0:spPr>
      </ns0:pic>
      <ns0:pic>
        <ns0:nvPicPr>
          <ns0:cNvPr id="9" name="Picture 8" descr="S3_icon.png"/>
          <ns0:cNvPicPr>
            <ns1:picLocks noChangeAspect="1"/>
          </ns0:cNvPicPr>
          <ns0:nvPr/>
        </ns0:nvPicPr>
        <ns0:blipFill>
          <ns1:blip ns2:embed="rId6"/>
          <ns1:stretch>
            <ns1:fillRect/>
          </ns1:stretch>
        </ns0:blipFill>
        <ns0:spPr>
          <ns1:xfrm>
            <ns1:off x="10314432" y="475488"/>
            <ns1:ext cx="1097280" cy="1097280"/>
          </ns1:xfrm>
          <ns1:prstGeom prst="rect">
            <ns1:avLst/>
          </ns1:prstGeom>
          <ns1:ln>
            <ns1:solidFill/>
          </ns1:ln>
        </ns0:spPr>
      </ns0:pic>
      <ns0:sp>
        <ns0:nvSpPr>
          <ns0:cNvPr id="10" name="Rounded Rectangle 9"/>
          <ns0:cNvSpPr/>
          <ns0:nvPr/>
        </ns0:nvSpPr>
        <ns0:spPr>
          <ns1:xfrm>
            <ns1:off x="658368" y="1883664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4130">
            <ns1:solidFill>
              <ns1:srgbClr val="AA6EE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A. Starter packs</ns1:t>
            </ns1:r>
          </ns1:p>
        </ns0:txBody>
      </ns0:sp>
      <ns0:sp>
        <ns0:nvSpPr>
          <ns0:cNvPr id="11" name="Rounded Rectangle 10"/>
          <ns0:cNvSpPr/>
          <ns0:nvPr/>
        </ns0:nvSpPr>
        <ns0:spPr>
          <ns1:xfrm>
            <ns1:off x="658368" y="2395728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4130">
            <ns1:solidFill>
              <ns1:srgbClr val="AA6EE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starterpacks + starterpack_feeds</ns1:t>
            </ns1:r>
          </ns1:p>
        </ns0:txBody>
      </ns0:sp>
      <ns0:sp>
        <ns0:nvSpPr>
          <ns0:cNvPr id="12" name="Rounded Rectangle 11"/>
          <ns0:cNvSpPr/>
          <ns0:nvPr/>
        </ns0:nvSpPr>
        <ns0:spPr>
          <ns1:xfrm>
            <ns1:off x="658368" y="2907792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4130">
            <ns1:solidFill>
              <ns1:srgbClr val="FFA565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B. Inclusion_count</ns1:t>
            </ns1:r>
          </ns1:p>
        </ns0:txBody>
      </ns0:sp>
      <ns0:sp>
        <ns0:nvSpPr>
          <ns0:cNvPr id="13" name="Rounded Rectangle 12"/>
          <ns0:cNvSpPr/>
          <ns0:nvPr/>
        </ns0:nvSpPr>
        <ns0:spPr>
          <ns1:xfrm>
            <ns1:off x="658368" y="3419856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4130">
            <ns1:solidFill>
              <ns1:srgbClr val="FFA565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slot_count (position-weighted)</ns1:t>
            </ns1:r>
          </ns1:p>
        </ns0:txBody>
      </ns0:sp>
      <ns0:sp>
        <ns0:nvSpPr>
          <ns0:cNvPr id="14" name="Rounded Rectangle 13"/>
          <ns0:cNvSpPr/>
          <ns0:nvPr/>
        </ns0:nvSpPr>
        <ns0:spPr>
          <ns1:xfrm>
            <ns1:off x="658368" y="3931920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4130">
            <ns1:solidFill>
              <ns1:srgbClr val="FF8B9B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C. Popularity_rank</ns1:t>
            </ns1:r>
          </ns1:p>
        </ns0:txBody>
      </ns0:sp>
      <ns0:sp>
        <ns0:nvSpPr>
          <ns0:cNvPr id="15" name="Rounded Rectangle 14"/>
          <ns0:cNvSpPr/>
          <ns0:nvPr/>
        </ns0:nvSpPr>
        <ns0:spPr>
          <ns1:xfrm>
            <ns1:off x="658368" y="4443984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4130">
            <ns1:solidFill>
              <ns1:srgbClr val="FF8B9B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Why it matters</ns1:t>
            </ns1:r>
          </ns1:p>
        </ns0:txBody>
      </ns0:sp>
      <ns0:sp>
        <ns0:nvSpPr>
          <ns0:cNvPr id="16" name="Rounded Rectangle 15"/>
          <ns0:cNvSpPr/>
          <ns0:nvPr/>
        </ns0:nvSpPr>
        <ns0:spPr>
          <ns1:xfrm>
            <ns1:off x="658368" y="4956048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4130">
            <ns1:solidFill>
              <ns1:srgbClr val="FF8B9B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Concentration + provider leverage</ns1:t>
            </ns1:r>
          </ns1:p>
        </ns0:txBody>
      </ns0:sp>
      <ns0:sp>
        <ns0:nvSpPr>
          <ns0:cNvPr id="17" name="Oval 16"/>
          <ns0:cNvSpPr/>
          <ns0:nvPr/>
        </ns0:nvSpPr>
        <ns0:spPr>
          <ns1:xfrm>
            <ns1:off x="4058850" y="2011680"/>
            <ns1:ext cx="310896" cy="310896"/>
          </ns1:xfrm>
          <ns1:prstGeom prst="ellipse">
            <ns1:avLst/>
          </ns1:prstGeom>
          <ns1:solidFill>
            <ns1:srgbClr val="AA6EE7"/>
          </ns1:solidFill>
          <ns1:ln>
            <ns1:solid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A</ns1:t>
            </ns1:r>
          </ns1:p>
        </ns0:txBody>
      </ns0:sp>
      <ns0:sp>
        <ns0:nvSpPr>
          <ns0:cNvPr id="18" name="Rectangle 17"/>
          <ns0:cNvSpPr/>
          <ns0:nvPr/>
        </ns0:nvSpPr>
        <ns0:spPr>
          <ns1:xfrm>
            <ns1:off x="4324026" y="1975104"/>
            <ns1:ext cx="6600053" cy="1434865"/>
          </ns1:xfrm>
          <ns1:prstGeom prst="rect">
            <ns1:avLst/>
          </ns1:prstGeom>
          <ns1:noFill/>
          <ns1:ln w="33020">
            <ns1:solidFill>
              <ns1:srgbClr val="AA6EE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9" name="Oval 18"/>
          <ns0:cNvSpPr/>
          <ns0:nvPr/>
        </ns0:nvSpPr>
        <ns0:spPr>
          <ns1:xfrm>
            <ns1:off x="4058850" y="3637998"/>
            <ns1:ext cx="310896" cy="310896"/>
          </ns1:xfrm>
          <ns1:prstGeom prst="ellipse">
            <ns1:avLst/>
          </ns1:prstGeom>
          <ns1:solidFill>
            <ns1:srgbClr val="FFA565"/>
          </ns1:solidFill>
          <ns1:ln>
            <ns1:solid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B</ns1:t>
            </ns1:r>
          </ns1:p>
        </ns0:txBody>
      </ns0:sp>
      <ns0:sp>
        <ns0:nvSpPr>
          <ns0:cNvPr id="20" name="Rectangle 19"/>
          <ns0:cNvSpPr/>
          <ns0:nvPr/>
        </ns0:nvSpPr>
        <ns0:spPr>
          <ns1:xfrm>
            <ns1:off x="4324026" y="3601422"/>
            <ns1:ext cx="6600053" cy="1242812"/>
          </ns1:xfrm>
          <ns1:prstGeom prst="rect">
            <ns1:avLst/>
          </ns1:prstGeom>
          <ns1:noFill/>
          <ns1:ln w="33020">
            <ns1:solidFill>
              <ns1:srgbClr val="FFA565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21" name="Oval 20"/>
          <ns0:cNvSpPr/>
          <ns0:nvPr/>
        </ns0:nvSpPr>
        <ns0:spPr>
          <ns1:xfrm>
            <ns1:off x="4058850" y="5076349"/>
            <ns1:ext cx="310896" cy="310896"/>
          </ns1:xfrm>
          <ns1:prstGeom prst="ellipse">
            <ns1:avLst/>
          </ns1:prstGeom>
          <ns1:solidFill>
            <ns1:srgbClr val="FF8B9B"/>
          </ns1:solidFill>
          <ns1:ln>
            <ns1:solid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C</ns1:t>
            </ns1:r>
          </ns1:p>
        </ns0:txBody>
      </ns0:sp>
      <ns0:sp>
        <ns0:nvSpPr>
          <ns0:cNvPr id="22" name="Rectangle 21"/>
          <ns0:cNvSpPr/>
          <ns0:nvPr/>
        </ns0:nvSpPr>
        <ns0:spPr>
          <ns1:xfrm>
            <ns1:off x="4324026" y="5039773"/>
            <ns1:ext cx="6600053" cy="1238726"/>
          </ns1:xfrm>
          <ns1:prstGeom prst="rect">
            <ns1:avLst/>
          </ns1:prstGeom>
          <ns1:noFill/>
          <ns1:ln w="33020">
            <ns1:solidFill>
              <ns1:srgbClr val="FF8B9B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</ns0:spTree>
  </ns0:cSld>
  <ns0:clrMapOvr>
    <ns1:masterClrMapping/>
  </ns0:clrMapOvr>
  <ns0:transition spd="slow">
    <ns0:fade/>
  </ns0:transition>
  <ns0:timing>
    <ns0:tnLst>
      <ns0:par>
        <ns0:cTn id="1" dur="indefinite" restart="never" nodeType="tmRoot">
          <ns0:childTnLst>
            <ns0:seq concurrent="1" nextAc="seek">
              <ns0:cTn id="2" dur="indefinite" nodeType="mainSeq">
                <ns0:childTnLst>
                  <ns0:par>
                    <ns0:cTn id="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" dur="220"/>
                                        <ns0:tgtEl>
                                          <ns0:spTgt spid="6"/>
                                        </ns0:tgtEl>
                                      </ns0:cBhvr>
                                    </ns0:animEffect>
                                    <ns0:set>
                                      <ns0:cBhvr>
                                        <ns0:cTn id="8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9" dur="220"/>
                                        <ns0:tgtEl>
                                          <ns0:spTgt spid="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0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1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2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3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4" dur="220"/>
                                        <ns0:tgtEl>
                                          <ns0:spTgt spid="8"/>
                                        </ns0:tgtEl>
                                      </ns0:cBhvr>
                                    </ns0:animEffect>
                                    <ns0:set>
                                      <ns0:cBhvr>
                                        <ns0:cTn id="15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6" dur="220"/>
                                        <ns0:tgtEl>
                                          <ns0:spTgt spid="9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7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8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9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0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1" dur="220"/>
                                        <ns0:tgtEl>
                                          <ns0:spTgt spid="1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22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23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24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5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6" dur="220"/>
                                        <ns0:tgtEl>
                                          <ns0:spTgt spid="11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27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28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29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0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1" dur="220"/>
                                        <ns0:tgtEl>
                                          <ns0:spTgt spid="1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32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33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34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5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3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6" dur="220"/>
                                        <ns0:tgtEl>
                                          <ns0:spTgt spid="13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37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38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39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0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1" dur="220"/>
                                        <ns0:tgtEl>
                                          <ns0:spTgt spid="1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42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3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44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5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6" dur="220"/>
                                        <ns0:tgtEl>
                                          <ns0:spTgt spid="1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47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8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49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50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1" dur="220"/>
                                        <ns0:tgtEl>
                                          <ns0:spTgt spid="16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52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53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4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55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6" dur="220"/>
                                        <ns0:tgtEl>
                                          <ns0:spTgt spid="17"/>
                                        </ns0:tgtEl>
                                      </ns0:cBhvr>
                                    </ns0:animEffect>
                                    <ns0:set>
                                      <ns0:cBhvr>
                                        <ns0:cTn id="57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8" dur="220"/>
                                        <ns0:tgtEl>
                                          <ns0:spTgt spid="18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59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60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61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2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63" dur="220"/>
                                        <ns0:tgtEl>
                                          <ns0:spTgt spid="19"/>
                                        </ns0:tgtEl>
                                      </ns0:cBhvr>
                                    </ns0:animEffect>
                                    <ns0:set>
                                      <ns0:cBhvr>
                                        <ns0:cTn id="64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65" dur="220"/>
                                        <ns0:tgtEl>
                                          <ns0:spTgt spid="2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66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67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68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9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0" dur="220"/>
                                        <ns0:tgtEl>
                                          <ns0:spTgt spid="21"/>
                                        </ns0:tgtEl>
                                      </ns0:cBhvr>
                                    </ns0:animEffect>
                                    <ns0:set>
                                      <ns0:cBhvr>
                                        <ns0:cTn id="7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2" dur="220"/>
                                        <ns0:tgtEl>
                                          <ns0:spTgt spid="2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</ns0:childTnLst>
              </ns0:cTn>
              <ns0:prevCondLst>
                <ns0:cond evt="onPrev" delay="0">
                  <ns0:tgtEl>
                    <ns0:sldTgt/>
                  </ns0:tgtEl>
                </ns0:cond>
              </ns0:prevCondLst>
              <ns0:nextCondLst>
                <ns0:cond evt="onNext" delay="0">
                  <ns0:tgtEl>
                    <ns0:sldTgt/>
                  </ns0:tgtEl>
                </ns0:cond>
              </ns0:nextCondLst>
            </ns0:seq>
          </ns0:childTnLst>
        </ns0:cTn>
      </ns0:par>
    </ns0:tnLst>
    <ns0:bldLst>
      <ns0:bldP spid="6" grpId="0" animBg="1"/>
      <ns0:bldP spid="7" grpId="0" animBg="1"/>
      <ns0:bldP spid="8" grpId="0" animBg="1"/>
      <ns0:bldP spid="9" grpId="0" animBg="1"/>
      <ns0:bldP spid="10" grpId="0" animBg="1"/>
      <ns0:bldP spid="11" grpId="0" animBg="1"/>
      <ns0:bldP spid="12" grpId="0" animBg="1"/>
      <ns0:bldP spid="13" grpId="0" animBg="1"/>
      <ns0:bldP spid="14" grpId="0" animBg="1"/>
      <ns0:bldP spid="15" grpId="0" animBg="1"/>
      <ns0:bldP spid="16" grpId="0" animBg="1"/>
      <ns0:bldP spid="17" grpId="0" animBg="1"/>
      <ns0:bldP spid="18" grpId="0" animBg="1"/>
      <ns0:bldP spid="19" grpId="0" animBg="1"/>
      <ns0:bldP spid="20" grpId="0" animBg="1"/>
      <ns0:bldP spid="21" grpId="0" animBg="1"/>
      <ns0:bldP spid="22" grpId="0" animBg="1"/>
    </ns0:bldLst>
  </ns0:timing>
</ns0:sld>
</file>

<file path=ppt/slides/slide9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spTree>
      <ns0:nvGrpSpPr>
        <ns0:cNvPr id="1" name=""/>
        <ns0:cNvGrpSpPr/>
        <ns0:nvPr/>
      </ns0:nvGrpSpPr>
      <ns0:grpSpPr/>
      <ns0:sp>
        <ns0:nvSpPr>
          <ns0:cNvPr id="2" name="Rectangle 1"/>
          <ns0:cNvSpPr/>
          <ns0:nvPr/>
        </ns0:nvSpPr>
        <ns0:spPr>
          <ns1:xfrm>
            <ns1:off x="0" y="0"/>
            <ns1:ext cx="12191695" cy="6858000"/>
          </ns1:xfrm>
          <ns1:prstGeom prst="rect">
            <ns1:avLst/>
          </ns1:prstGeom>
          <ns1:solidFill>
            <ns1:srgbClr val="0B1320"/>
          </ns1:solidFill>
          <ns1:ln>
            <ns1:solid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pic>
        <ns0:nvPicPr>
          <ns0:cNvPr id="3" name="Picture 2" descr="A1_bg_blueprint_overlay.png"/>
          <ns0:cNvPicPr>
            <ns1:picLocks noChangeAspect="1"/>
          </ns0:cNvPicPr>
          <ns0:nvPr/>
        </ns0:nvPicPr>
        <ns0:blipFill>
          <ns1:blip ns2:embed="rId8"/>
          <ns1:stretch>
            <ns1:fillRect/>
          </ns1:stretch>
        </ns0:blipFill>
        <ns0:spPr>
          <ns1:xfrm>
            <ns1:off x="0" y="0"/>
            <ns1:ext cx="12191695" cy="6858000"/>
          </ns1:xfrm>
          <ns1:prstGeom prst="rect">
            <ns1:avLst/>
          </ns1:prstGeom>
          <ns1:ln>
            <ns1:solidFill/>
          </ns1:ln>
        </ns0:spPr>
      </ns0:pic>
      <ns0:pic>
        <ns0:nvPicPr>
          <ns0:cNvPr id="4" name="Picture 3" descr="A4_header_bar.png"/>
          <ns0:cNvPicPr>
            <ns1:picLocks noChangeAspect="1"/>
          </ns0:cNvPicPr>
          <ns0:nvPr/>
        </ns0:nvPicPr>
        <ns0:blipFill>
          <ns1:blip ns2:embed="rId3"/>
          <ns1:stretch>
            <ns1:fillRect/>
          </ns1:stretch>
        </ns0:blipFill>
        <ns0:spPr>
          <ns1:xfrm>
            <ns1:off x="658368" y="256032"/>
            <ns1:ext cx="4206240" cy="365760"/>
          </ns1:xfrm>
          <ns1:prstGeom prst="rect">
            <ns1:avLst/>
          </ns1:prstGeom>
          <ns1:ln>
            <ns1:solidFill/>
          </ns1:ln>
        </ns0:spPr>
      </ns0:pic>
      <ns0:pic>
        <ns0:nvPicPr>
          <ns0:cNvPr id="5" name="Picture 4" descr="A2_card_texture.png"/>
          <ns0:cNvPicPr>
            <ns1:picLocks noChangeAspect="1"/>
          </ns0:cNvPicPr>
          <ns0:nvPr/>
        </ns0:nvPicPr>
        <ns0:blipFill>
          <ns1:blip ns2:embed="rId4">
            <ns1:alphaModFix amt="9000"/>
          </ns1:blip>
          <ns1:stretch>
            <ns1:fillRect/>
          </ns1:stretch>
        </ns0:blipFill>
        <ns0:spPr>
          <ns1:xfrm>
            <ns1:off x="566928" y="1207008"/>
            <ns1:ext cx="11064240" cy="5413248"/>
          </ns1:xfrm>
          <ns1:prstGeom prst="rect">
            <ns1:avLst/>
          </ns1:prstGeom>
          <ns1:ln>
            <ns1:solidFill/>
          </ns1:ln>
        </ns0:spPr>
      </ns0:pic>
      <ns0:sp>
        <ns0:nvSpPr>
          <ns0:cNvPr id="6" name="TextBox 5"/>
          <ns0:cNvSpPr txBox="1"/>
          <ns0:nvPr/>
        </ns0:nvSpPr>
        <ns0:spPr>
          <ns1:xfrm>
            <ns1:off x="658368" y="640080"/>
            <ns1:ext cx="9966960" cy="749808"/>
          </ns1:xfrm>
          <ns1:prstGeom prst="rect">
            <ns1:avLst/>
          </ns1:prstGeom>
          <ns1:noFill/>
          <ns1:ln>
            <ns1:solidFill/>
          </ns1:ln>
        </ns0:spPr>
        <ns0:txBody>
          <ns1:bodyPr wrap="square" lIns="18288" rIns="18288" tIns="9144" bIns="9144">
            <ns1:spAutoFit/>
          </ns1:bodyPr>
          <ns1:lstStyle/>
          <ns1:p>
            <ns1:pPr algn="l"/>
            <ns1:r>
              <ns1:rPr sz="3300" b="1">
                <ns1:solidFill>
                  <ns1:srgbClr val="F7F9FC"/>
                </ns1:solidFill>
                <ns1:latin typeface="Calibri"/>
              </ns1:rPr>
              <ns1:t>Data receipt: ranked exposure + risk labels</ns1:t>
            </ns1:r>
          </ns1:p>
        </ns0:txBody>
      </ns0:sp>
      <ns0:sp>
        <ns0:nvSpPr>
          <ns0:cNvPr id="7" name="TextBox 6"/>
          <ns0:cNvSpPr txBox="1"/>
          <ns0:nvPr/>
        </ns0:nvSpPr>
        <ns0:spPr>
          <ns1:xfrm>
            <ns1:off x="658368" y="1389888"/>
            <ns1:ext cx="10241280" cy="384048"/>
          </ns1:xfrm>
          <ns1:prstGeom prst="rect">
            <ns1:avLst/>
          </ns1:prstGeom>
          <ns1:noFill/>
          <ns1:ln>
            <ns1:solidFill/>
          </ns1:ln>
        </ns0:spPr>
        <ns0:txBody>
          <ns1:bodyPr wrap="square" lIns="18288" rIns="18288" tIns="9144" bIns="9144">
            <ns1:spAutoFit/>
          </ns1:bodyPr>
          <ns1:lstStyle/>
          <ns1:p>
            <ns1:pPr algn="l"/>
            <ns1:r>
              <ns1:rPr sz="2000" b="0">
                <ns1:solidFill>
                  <ns1:srgbClr val="B7C2D6"/>
                </ns1:solidFill>
                <ns1:latin typeface="Calibri"/>
              </ns1:rPr>
              <ns1:t>Takeaway: feed_items + posts + labels already support H1-H6 (cross-sectional).</ns1:t>
            </ns1:r>
          </ns1:p>
        </ns0:txBody>
      </ns0:sp>
      <ns0:pic>
        <ns0:nvPicPr>
          <ns0:cNvPr id="8" name="Picture 7" descr="B3_ui.png"/>
          <ns0:cNvPicPr>
            <ns1:picLocks noChangeAspect="1"/>
          </ns0:cNvPicPr>
          <ns0:nvPr/>
        </ns0:nvPicPr>
        <ns0:blipFill>
          <ns1:blip ns2:embed="rId9"/>
          <ns1:stretch>
            <ns1:fillRect/>
          </ns1:stretch>
        </ns0:blipFill>
        <ns0:spPr>
          <ns1:xfrm>
            <ns1:off x="3703320" y="1920240"/>
            <ns1:ext cx="7845552" cy="4413123"/>
          </ns1:xfrm>
          <ns1:prstGeom prst="rect">
            <ns1:avLst/>
          </ns1:prstGeom>
          <ns1:ln>
            <ns1:solidFill/>
          </ns1:ln>
        </ns0:spPr>
      </ns0:pic>
      <ns0:pic>
        <ns0:nvPicPr>
          <ns0:cNvPr id="9" name="Picture 8" descr="S3_icon.png"/>
          <ns0:cNvPicPr>
            <ns1:picLocks noChangeAspect="1"/>
          </ns0:cNvPicPr>
          <ns0:nvPr/>
        </ns0:nvPicPr>
        <ns0:blipFill>
          <ns1:blip ns2:embed="rId6"/>
          <ns1:stretch>
            <ns1:fillRect/>
          </ns1:stretch>
        </ns0:blipFill>
        <ns0:spPr>
          <ns1:xfrm>
            <ns1:off x="10314432" y="475488"/>
            <ns1:ext cx="1097280" cy="1097280"/>
          </ns1:xfrm>
          <ns1:prstGeom prst="rect">
            <ns1:avLst/>
          </ns1:prstGeom>
          <ns1:ln>
            <ns1:solidFill/>
          </ns1:ln>
        </ns0:spPr>
      </ns0:pic>
      <ns0:sp>
        <ns0:nvSpPr>
          <ns0:cNvPr id="10" name="Rounded Rectangle 9"/>
          <ns0:cNvSpPr/>
          <ns0:nvPr/>
        </ns0:nvSpPr>
        <ns0:spPr>
          <ns1:xfrm>
            <ns1:off x="658368" y="1883664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4130">
            <ns1:solidFill>
              <ns1:srgbClr val="AA6EE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A. feed_items row</ns1:t>
            </ns1:r>
          </ns1:p>
        </ns0:txBody>
      </ns0:sp>
      <ns0:sp>
        <ns0:nvSpPr>
          <ns0:cNvPr id="11" name="Rounded Rectangle 10"/>
          <ns0:cNvSpPr/>
          <ns0:nvPr/>
        </ns0:nvSpPr>
        <ns0:spPr>
          <ns1:xfrm>
            <ns1:off x="658368" y="2395728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4130">
            <ns1:solidFill>
              <ns1:srgbClr val="AA6EE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(feed_uri, viewer_mode, rank)</ns1:t>
            </ns1:r>
          </ns1:p>
        </ns0:txBody>
      </ns0:sp>
      <ns0:sp>
        <ns0:nvSpPr>
          <ns0:cNvPr id="12" name="Rounded Rectangle 11"/>
          <ns0:cNvSpPr/>
          <ns0:nvPr/>
        </ns0:nvSpPr>
        <ns0:spPr>
          <ns1:xfrm>
            <ns1:off x="658368" y="2907792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4130">
            <ns1:solidFill>
              <ns1:srgbClr val="FFA565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B. posts row</ns1:t>
            </ns1:r>
          </ns1:p>
        </ns0:txBody>
      </ns0:sp>
      <ns0:sp>
        <ns0:nvSpPr>
          <ns0:cNvPr id="13" name="Rounded Rectangle 12"/>
          <ns0:cNvSpPr/>
          <ns0:nvPr/>
        </ns0:nvSpPr>
        <ns0:spPr>
          <ns1:xfrm>
            <ns1:off x="658368" y="3419856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4130">
            <ns1:solidFill>
              <ns1:srgbClr val="FFA565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text + links + langs</ns1:t>
            </ns1:r>
          </ns1:p>
        </ns0:txBody>
      </ns0:sp>
      <ns0:sp>
        <ns0:nvSpPr>
          <ns0:cNvPr id="14" name="Rounded Rectangle 13"/>
          <ns0:cNvSpPr/>
          <ns0:nvPr/>
        </ns0:nvSpPr>
        <ns0:spPr>
          <ns1:xfrm>
            <ns1:off x="658368" y="3931920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4130">
            <ns1:solidFill>
              <ns1:srgbClr val="FF8B9B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C. post_labels row</ns1:t>
            </ns1:r>
          </ns1:p>
        </ns0:txBody>
      </ns0:sp>
      <ns0:sp>
        <ns0:nvSpPr>
          <ns0:cNvPr id="15" name="Rounded Rectangle 14"/>
          <ns0:cNvSpPr/>
          <ns0:nvPr/>
        </ns0:nvSpPr>
        <ns0:spPr>
          <ns1:xfrm>
            <ns1:off x="658368" y="4443984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4130">
            <ns1:solidFill>
              <ns1:srgbClr val="FF8B9B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H6: risk exposure</ns1:t>
            </ns1:r>
          </ns1:p>
        </ns0:txBody>
      </ns0:sp>
      <ns0:sp>
        <ns0:nvSpPr>
          <ns0:cNvPr id="16" name="Rounded Rectangle 15"/>
          <ns0:cNvSpPr/>
          <ns0:nvPr/>
        </ns0:nvSpPr>
        <ns0:spPr>
          <ns1:xfrm>
            <ns1:off x="658368" y="4956048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4130">
            <ns1:solidFill>
              <ns1:srgbClr val="FF8B9B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Feed auditing / mitigations</ns1:t>
            </ns1:r>
          </ns1:p>
        </ns0:txBody>
      </ns0:sp>
      <ns0:sp>
        <ns0:nvSpPr>
          <ns0:cNvPr id="17" name="Oval 16"/>
          <ns0:cNvSpPr/>
          <ns0:nvPr/>
        </ns0:nvSpPr>
        <ns0:spPr>
          <ns1:xfrm>
            <ns1:off x="4933302" y="2011680"/>
            <ns1:ext cx="310896" cy="310896"/>
          </ns1:xfrm>
          <ns1:prstGeom prst="ellipse">
            <ns1:avLst/>
          </ns1:prstGeom>
          <ns1:solidFill>
            <ns1:srgbClr val="AA6EE7"/>
          </ns1:solidFill>
          <ns1:ln>
            <ns1:solid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A</ns1:t>
            </ns1:r>
          </ns1:p>
        </ns0:txBody>
      </ns0:sp>
      <ns0:sp>
        <ns0:nvSpPr>
          <ns0:cNvPr id="18" name="Rectangle 17"/>
          <ns0:cNvSpPr/>
          <ns0:nvPr/>
        </ns0:nvSpPr>
        <ns0:spPr>
          <ns1:xfrm>
            <ns1:off x="5198478" y="1975104"/>
            <ns1:ext cx="4851149" cy="1177433"/>
          </ns1:xfrm>
          <ns1:prstGeom prst="rect">
            <ns1:avLst/>
          </ns1:prstGeom>
          <ns1:noFill/>
          <ns1:ln w="33020">
            <ns1:solidFill>
              <ns1:srgbClr val="AA6EE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9" name="Oval 18"/>
          <ns0:cNvSpPr/>
          <ns0:nvPr/>
        </ns0:nvSpPr>
        <ns0:spPr>
          <ns1:xfrm>
            <ns1:off x="4933302" y="3360134"/>
            <ns1:ext cx="310896" cy="310896"/>
          </ns1:xfrm>
          <ns1:prstGeom prst="ellipse">
            <ns1:avLst/>
          </ns1:prstGeom>
          <ns1:solidFill>
            <ns1:srgbClr val="FFA565"/>
          </ns1:solidFill>
          <ns1:ln>
            <ns1:solid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B</ns1:t>
            </ns1:r>
          </ns1:p>
        </ns0:txBody>
      </ns0:sp>
      <ns0:sp>
        <ns0:nvSpPr>
          <ns0:cNvPr id="20" name="Rectangle 19"/>
          <ns0:cNvSpPr/>
          <ns0:nvPr/>
        </ns0:nvSpPr>
        <ns0:spPr>
          <ns1:xfrm>
            <ns1:off x="5198478" y="3323558"/>
            <ns1:ext cx="4851149" cy="1394003"/>
          </ns1:xfrm>
          <ns1:prstGeom prst="rect">
            <ns1:avLst/>
          </ns1:prstGeom>
          <ns1:noFill/>
          <ns1:ln w="33020">
            <ns1:solidFill>
              <ns1:srgbClr val="FFA565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21" name="Oval 20"/>
          <ns0:cNvSpPr/>
          <ns0:nvPr/>
        </ns0:nvSpPr>
        <ns0:spPr>
          <ns1:xfrm>
            <ns1:off x="4933302" y="4925158"/>
            <ns1:ext cx="310896" cy="310896"/>
          </ns1:xfrm>
          <ns1:prstGeom prst="ellipse">
            <ns1:avLst/>
          </ns1:prstGeom>
          <ns1:solidFill>
            <ns1:srgbClr val="FF8B9B"/>
          </ns1:solidFill>
          <ns1:ln>
            <ns1:solid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C</ns1:t>
            </ns1:r>
          </ns1:p>
        </ns0:txBody>
      </ns0:sp>
      <ns0:sp>
        <ns0:nvSpPr>
          <ns0:cNvPr id="22" name="Rectangle 21"/>
          <ns0:cNvSpPr/>
          <ns0:nvPr/>
        </ns0:nvSpPr>
        <ns0:spPr>
          <ns1:xfrm>
            <ns1:off x="5198478" y="4888582"/>
            <ns1:ext cx="4851149" cy="1389917"/>
          </ns1:xfrm>
          <ns1:prstGeom prst="rect">
            <ns1:avLst/>
          </ns1:prstGeom>
          <ns1:noFill/>
          <ns1:ln w="33020">
            <ns1:solidFill>
              <ns1:srgbClr val="FF8B9B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</ns0:spTree>
  </ns0:cSld>
  <ns0:clrMapOvr>
    <ns1:masterClrMapping/>
  </ns0:clrMapOvr>
  <ns0:transition spd="slow">
    <ns0:fade/>
  </ns0:transition>
  <ns0:timing>
    <ns0:tnLst>
      <ns0:par>
        <ns0:cTn id="1" dur="indefinite" restart="never" nodeType="tmRoot">
          <ns0:childTnLst>
            <ns0:seq concurrent="1" nextAc="seek">
              <ns0:cTn id="2" dur="indefinite" nodeType="mainSeq">
                <ns0:childTnLst>
                  <ns0:par>
                    <ns0:cTn id="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" dur="220"/>
                                        <ns0:tgtEl>
                                          <ns0:spTgt spid="6"/>
                                        </ns0:tgtEl>
                                      </ns0:cBhvr>
                                    </ns0:animEffect>
                                    <ns0:set>
                                      <ns0:cBhvr>
                                        <ns0:cTn id="8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9" dur="220"/>
                                        <ns0:tgtEl>
                                          <ns0:spTgt spid="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0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1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2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3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4" dur="220"/>
                                        <ns0:tgtEl>
                                          <ns0:spTgt spid="8"/>
                                        </ns0:tgtEl>
                                      </ns0:cBhvr>
                                    </ns0:animEffect>
                                    <ns0:set>
                                      <ns0:cBhvr>
                                        <ns0:cTn id="15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6" dur="220"/>
                                        <ns0:tgtEl>
                                          <ns0:spTgt spid="9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7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8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9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0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1" dur="220"/>
                                        <ns0:tgtEl>
                                          <ns0:spTgt spid="1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22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23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24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5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6" dur="220"/>
                                        <ns0:tgtEl>
                                          <ns0:spTgt spid="11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27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28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29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0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1" dur="220"/>
                                        <ns0:tgtEl>
                                          <ns0:spTgt spid="1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32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33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34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5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3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6" dur="220"/>
                                        <ns0:tgtEl>
                                          <ns0:spTgt spid="13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37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38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39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0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1" dur="220"/>
                                        <ns0:tgtEl>
                                          <ns0:spTgt spid="1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42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3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44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5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6" dur="220"/>
                                        <ns0:tgtEl>
                                          <ns0:spTgt spid="1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47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8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49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50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1" dur="220"/>
                                        <ns0:tgtEl>
                                          <ns0:spTgt spid="16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52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53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4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55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6" dur="220"/>
                                        <ns0:tgtEl>
                                          <ns0:spTgt spid="17"/>
                                        </ns0:tgtEl>
                                      </ns0:cBhvr>
                                    </ns0:animEffect>
                                    <ns0:set>
                                      <ns0:cBhvr>
                                        <ns0:cTn id="57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8" dur="220"/>
                                        <ns0:tgtEl>
                                          <ns0:spTgt spid="18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59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60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61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2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63" dur="220"/>
                                        <ns0:tgtEl>
                                          <ns0:spTgt spid="19"/>
                                        </ns0:tgtEl>
                                      </ns0:cBhvr>
                                    </ns0:animEffect>
                                    <ns0:set>
                                      <ns0:cBhvr>
                                        <ns0:cTn id="64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65" dur="220"/>
                                        <ns0:tgtEl>
                                          <ns0:spTgt spid="2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66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67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68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9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0" dur="220"/>
                                        <ns0:tgtEl>
                                          <ns0:spTgt spid="21"/>
                                        </ns0:tgtEl>
                                      </ns0:cBhvr>
                                    </ns0:animEffect>
                                    <ns0:set>
                                      <ns0:cBhvr>
                                        <ns0:cTn id="7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2" dur="220"/>
                                        <ns0:tgtEl>
                                          <ns0:spTgt spid="2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</ns0:childTnLst>
              </ns0:cTn>
              <ns0:prevCondLst>
                <ns0:cond evt="onPrev" delay="0">
                  <ns0:tgtEl>
                    <ns0:sldTgt/>
                  </ns0:tgtEl>
                </ns0:cond>
              </ns0:prevCondLst>
              <ns0:nextCondLst>
                <ns0:cond evt="onNext" delay="0">
                  <ns0:tgtEl>
                    <ns0:sldTgt/>
                  </ns0:tgtEl>
                </ns0:cond>
              </ns0:nextCondLst>
            </ns0:seq>
          </ns0:childTnLst>
        </ns0:cTn>
      </ns0:par>
    </ns0:tnLst>
    <ns0:bldLst>
      <ns0:bldP spid="6" grpId="0" animBg="1"/>
      <ns0:bldP spid="7" grpId="0" animBg="1"/>
      <ns0:bldP spid="8" grpId="0" animBg="1"/>
      <ns0:bldP spid="9" grpId="0" animBg="1"/>
      <ns0:bldP spid="10" grpId="0" animBg="1"/>
      <ns0:bldP spid="11" grpId="0" animBg="1"/>
      <ns0:bldP spid="12" grpId="0" animBg="1"/>
      <ns0:bldP spid="13" grpId="0" animBg="1"/>
      <ns0:bldP spid="14" grpId="0" animBg="1"/>
      <ns0:bldP spid="15" grpId="0" animBg="1"/>
      <ns0:bldP spid="16" grpId="0" animBg="1"/>
      <ns0:bldP spid="17" grpId="0" animBg="1"/>
      <ns0:bldP spid="18" grpId="0" animBg="1"/>
      <ns0:bldP spid="19" grpId="0" animBg="1"/>
      <ns0:bldP spid="20" grpId="0" animBg="1"/>
      <ns0:bldP spid="21" grpId="0" animBg="1"/>
      <ns0:bldP spid="22" grpId="0" animBg="1"/>
    </ns0:bldLst>
  </ns0:timing>
</ns0:sld>
</file>

<file path=ppt/slides/slide10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spTree>
      <ns0:nvGrpSpPr>
        <ns0:cNvPr id="1" name=""/>
        <ns0:cNvGrpSpPr/>
        <ns0:nvPr/>
      </ns0:nvGrpSpPr>
      <ns0:grpSpPr/>
      <ns0:sp>
        <ns0:nvSpPr>
          <ns0:cNvPr id="2" name="Rectangle 1"/>
          <ns0:cNvSpPr/>
          <ns0:nvPr/>
        </ns0:nvSpPr>
        <ns0:spPr>
          <ns1:xfrm>
            <ns1:off x="0" y="0"/>
            <ns1:ext cx="12191695" cy="6858000"/>
          </ns1:xfrm>
          <ns1:prstGeom prst="rect">
            <ns1:avLst/>
          </ns1:prstGeom>
          <ns1:solidFill>
            <ns1:srgbClr val="0B1320"/>
          </ns1:solidFill>
          <ns1:ln>
            <ns1:solid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pic>
        <ns0:nvPicPr>
          <ns0:cNvPr id="3" name="Picture 2" descr="A1_bg_blueprint_overlay.png"/>
          <ns0:cNvPicPr>
            <ns1:picLocks noChangeAspect="1"/>
          </ns0:cNvPicPr>
          <ns0:nvPr/>
        </ns0:nvPicPr>
        <ns0:blipFill>
          <ns1:blip ns2:embed="rId8"/>
          <ns1:stretch>
            <ns1:fillRect/>
          </ns1:stretch>
        </ns0:blipFill>
        <ns0:spPr>
          <ns1:xfrm>
            <ns1:off x="0" y="0"/>
            <ns1:ext cx="12191695" cy="6858000"/>
          </ns1:xfrm>
          <ns1:prstGeom prst="rect">
            <ns1:avLst/>
          </ns1:prstGeom>
          <ns1:ln>
            <ns1:solidFill/>
          </ns1:ln>
        </ns0:spPr>
      </ns0:pic>
      <ns0:pic>
        <ns0:nvPicPr>
          <ns0:cNvPr id="4" name="Picture 3" descr="A4_header_bar.png"/>
          <ns0:cNvPicPr>
            <ns1:picLocks noChangeAspect="1"/>
          </ns0:cNvPicPr>
          <ns0:nvPr/>
        </ns0:nvPicPr>
        <ns0:blipFill>
          <ns1:blip ns2:embed="rId3"/>
          <ns1:stretch>
            <ns1:fillRect/>
          </ns1:stretch>
        </ns0:blipFill>
        <ns0:spPr>
          <ns1:xfrm>
            <ns1:off x="658368" y="256032"/>
            <ns1:ext cx="4206240" cy="365760"/>
          </ns1:xfrm>
          <ns1:prstGeom prst="rect">
            <ns1:avLst/>
          </ns1:prstGeom>
          <ns1:ln>
            <ns1:solidFill/>
          </ns1:ln>
        </ns0:spPr>
      </ns0:pic>
      <ns0:pic>
        <ns0:nvPicPr>
          <ns0:cNvPr id="5" name="Picture 4" descr="A2_card_texture.png"/>
          <ns0:cNvPicPr>
            <ns1:picLocks noChangeAspect="1"/>
          </ns0:cNvPicPr>
          <ns0:nvPr/>
        </ns0:nvPicPr>
        <ns0:blipFill>
          <ns1:blip ns2:embed="rId4">
            <ns1:alphaModFix amt="9000"/>
          </ns1:blip>
          <ns1:stretch>
            <ns1:fillRect/>
          </ns1:stretch>
        </ns0:blipFill>
        <ns0:spPr>
          <ns1:xfrm>
            <ns1:off x="566928" y="1207008"/>
            <ns1:ext cx="11064240" cy="5413248"/>
          </ns1:xfrm>
          <ns1:prstGeom prst="rect">
            <ns1:avLst/>
          </ns1:prstGeom>
          <ns1:ln>
            <ns1:solidFill/>
          </ns1:ln>
        </ns0:spPr>
      </ns0:pic>
      <ns0:sp>
        <ns0:nvSpPr>
          <ns0:cNvPr id="6" name="TextBox 5"/>
          <ns0:cNvSpPr txBox="1"/>
          <ns0:nvPr/>
        </ns0:nvSpPr>
        <ns0:spPr>
          <ns1:xfrm>
            <ns1:off x="658368" y="640080"/>
            <ns1:ext cx="9966960" cy="749808"/>
          </ns1:xfrm>
          <ns1:prstGeom prst="rect">
            <ns1:avLst/>
          </ns1:prstGeom>
          <ns1:noFill/>
          <ns1:ln>
            <ns1:solidFill/>
          </ns1:ln>
        </ns0:spPr>
        <ns0:txBody>
          <ns1:bodyPr wrap="square" lIns="18288" rIns="18288" tIns="9144" bIns="9144">
            <ns1:spAutoFit/>
          </ns1:bodyPr>
          <ns1:lstStyle/>
          <ns1:p>
            <ns1:pPr algn="l"/>
            <ns1:r>
              <ns1:rPr sz="3300" b="1">
                <ns1:solidFill>
                  <ns1:srgbClr val="F7F9FC"/>
                </ns1:solidFill>
                <ns1:latin typeface="Calibri"/>
              </ns1:rPr>
              <ns1:t>Data receipt: labels (schema + global values + prefs)</ns1:t>
            </ns1:r>
          </ns1:p>
        </ns0:txBody>
      </ns0:sp>
      <ns0:sp>
        <ns0:nvSpPr>
          <ns0:cNvPr id="7" name="TextBox 6"/>
          <ns0:cNvSpPr txBox="1"/>
          <ns0:nvPr/>
        </ns0:nvSpPr>
        <ns0:spPr>
          <ns1:xfrm>
            <ns1:off x="658368" y="1389888"/>
            <ns1:ext cx="10241280" cy="384048"/>
          </ns1:xfrm>
          <ns1:prstGeom prst="rect">
            <ns1:avLst/>
          </ns1:prstGeom>
          <ns1:noFill/>
          <ns1:ln>
            <ns1:solidFill/>
          </ns1:ln>
        </ns0:spPr>
        <ns0:txBody>
          <ns1:bodyPr wrap="square" lIns="18288" rIns="18288" tIns="9144" bIns="9144">
            <ns1:spAutoFit/>
          </ns1:bodyPr>
          <ns1:lstStyle/>
          <ns1:p>
            <ns1:pPr algn="l"/>
            <ns1:r>
              <ns1:rPr sz="2000" b="0">
                <ns1:solidFill>
                  <ns1:srgbClr val="B7C2D6"/>
                </ns1:solidFill>
                <ns1:latin typeface="Calibri"/>
              </ns1:rPr>
              <ns1:t>Takeaway: labels are structured safety signals; behavior depends on viewer prefs.</ns1:t>
            </ns1:r>
          </ns1:p>
        </ns0:txBody>
      </ns0:sp>
      <ns0:pic>
        <ns0:nvPicPr>
          <ns0:cNvPr id="8" name="Picture 7" descr="B3_ui.png"/>
          <ns0:cNvPicPr>
            <ns1:picLocks noChangeAspect="1"/>
          </ns0:cNvPicPr>
          <ns0:nvPr/>
        </ns0:nvPicPr>
        <ns0:blipFill>
          <ns1:blip ns2:embed="rId9"/>
          <ns1:stretch>
            <ns1:fillRect/>
          </ns1:stretch>
        </ns0:blipFill>
        <ns0:spPr>
          <ns1:xfrm>
            <ns1:off x="3703320" y="1920240"/>
            <ns1:ext cx="7845552" cy="4413123"/>
          </ns1:xfrm>
          <ns1:prstGeom prst="rect">
            <ns1:avLst/>
          </ns1:prstGeom>
          <ns1:ln>
            <ns1:solidFill/>
          </ns1:ln>
        </ns0:spPr>
      </ns0:pic>
      <ns0:pic>
        <ns0:nvPicPr>
          <ns0:cNvPr id="9" name="Picture 8" descr="S3_icon.png"/>
          <ns0:cNvPicPr>
            <ns1:picLocks noChangeAspect="1"/>
          </ns0:cNvPicPr>
          <ns0:nvPr/>
        </ns0:nvPicPr>
        <ns0:blipFill>
          <ns1:blip ns2:embed="rId6"/>
          <ns1:stretch>
            <ns1:fillRect/>
          </ns1:stretch>
        </ns0:blipFill>
        <ns0:spPr>
          <ns1:xfrm>
            <ns1:off x="10314432" y="475488"/>
            <ns1:ext cx="1097280" cy="1097280"/>
          </ns1:xfrm>
          <ns1:prstGeom prst="rect">
            <ns1:avLst/>
          </ns1:prstGeom>
          <ns1:ln>
            <ns1:solidFill/>
          </ns1:ln>
        </ns0:spPr>
      </ns0:pic>
      <ns0:sp>
        <ns0:nvSpPr>
          <ns0:cNvPr id="10" name="Rounded Rectangle 9"/>
          <ns0:cNvSpPr/>
          <ns0:nvPr/>
        </ns0:nvSpPr>
        <ns0:spPr>
          <ns1:xfrm>
            <ns1:off x="658368" y="1883664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4130">
            <ns1:solidFill>
              <ns1:srgbClr val="AA6EE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A. Label schema</ns1:t>
            </ns1:r>
          </ns1:p>
        </ns0:txBody>
      </ns0:sp>
      <ns0:sp>
        <ns0:nvSpPr>
          <ns0:cNvPr id="11" name="Rounded Rectangle 10"/>
          <ns0:cNvSpPr/>
          <ns0:nvPr/>
        </ns0:nvSpPr>
        <ns0:spPr>
          <ns1:xfrm>
            <ns1:off x="658368" y="2395728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4130">
            <ns1:solidFill>
              <ns1:srgbClr val="AA6EE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(src, uri/cid, val, neg, cts)</ns1:t>
            </ns1:r>
          </ns1:p>
        </ns0:txBody>
      </ns0:sp>
      <ns0:sp>
        <ns0:nvSpPr>
          <ns0:cNvPr id="12" name="Rounded Rectangle 11"/>
          <ns0:cNvSpPr/>
          <ns0:nvPr/>
        </ns0:nvSpPr>
        <ns0:spPr>
          <ns1:xfrm>
            <ns1:off x="658368" y="2907792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4130">
            <ns1:solidFill>
              <ns1:srgbClr val="FFA565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B. Global values</ns1:t>
            </ns1:r>
          </ns1:p>
        </ns0:txBody>
      </ns0:sp>
      <ns0:sp>
        <ns0:nvSpPr>
          <ns0:cNvPr id="13" name="Rounded Rectangle 12"/>
          <ns0:cNvSpPr/>
          <ns0:nvPr/>
        </ns0:nvSpPr>
        <ns0:spPr>
          <ns1:xfrm>
            <ns1:off x="658368" y="3419856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4130">
            <ns1:solidFill>
              <ns1:srgbClr val="FFA565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protocol-defined strings</ns1:t>
            </ns1:r>
          </ns1:p>
        </ns0:txBody>
      </ns0:sp>
      <ns0:sp>
        <ns0:nvSpPr>
          <ns0:cNvPr id="14" name="Rounded Rectangle 13"/>
          <ns0:cNvSpPr/>
          <ns0:nvPr/>
        </ns0:nvSpPr>
        <ns0:spPr>
          <ns1:xfrm>
            <ns1:off x="658368" y="3931920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4130">
            <ns1:solidFill>
              <ns1:srgbClr val="FF8B9B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C. Viewer prefs</ns1:t>
            </ns1:r>
          </ns1:p>
        </ns0:txBody>
      </ns0:sp>
      <ns0:sp>
        <ns0:nvSpPr>
          <ns0:cNvPr id="15" name="Rounded Rectangle 14"/>
          <ns0:cNvSpPr/>
          <ns0:nvPr/>
        </ns0:nvSpPr>
        <ns0:spPr>
          <ns1:xfrm>
            <ns1:off x="658368" y="4443984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4130">
            <ns1:solidFill>
              <ns1:srgbClr val="FF8B9B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hide / warn / ignore</ns1:t>
            </ns1:r>
          </ns1:p>
        </ns0:txBody>
      </ns0:sp>
      <ns0:sp>
        <ns0:nvSpPr>
          <ns0:cNvPr id="16" name="Rounded Rectangle 15"/>
          <ns0:cNvSpPr/>
          <ns0:nvPr/>
        </ns0:nvSpPr>
        <ns0:spPr>
          <ns1:xfrm>
            <ns1:off x="658368" y="4956048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4130">
            <ns1:solidFill>
              <ns1:srgbClr val="FF8B9B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Docs grounding</ns1:t>
            </ns1:r>
          </ns1:p>
        </ns0:txBody>
      </ns0:sp>
      <ns0:sp>
        <ns0:nvSpPr>
          <ns0:cNvPr id="17" name="Oval 16"/>
          <ns0:cNvSpPr/>
          <ns0:nvPr/>
        </ns0:nvSpPr>
        <ns0:spPr>
          <ns1:xfrm>
            <ns1:off x="3511296" y="2011680"/>
            <ns1:ext cx="310896" cy="310896"/>
          </ns1:xfrm>
          <ns1:prstGeom prst="ellipse">
            <ns1:avLst/>
          </ns1:prstGeom>
          <ns1:solidFill>
            <ns1:srgbClr val="AA6EE7"/>
          </ns1:solidFill>
          <ns1:ln>
            <ns1:solid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A</ns1:t>
            </ns1:r>
          </ns1:p>
        </ns0:txBody>
      </ns0:sp>
      <ns0:sp>
        <ns0:nvSpPr>
          <ns0:cNvPr id="18" name="Rectangle 17"/>
          <ns0:cNvSpPr/>
          <ns0:nvPr/>
        </ns0:nvSpPr>
        <ns0:spPr>
          <ns1:xfrm>
            <ns1:off x="3776472" y="1975104"/>
            <ns1:ext cx="7699248" cy="1304106"/>
          </ns1:xfrm>
          <ns1:prstGeom prst="rect">
            <ns1:avLst/>
          </ns1:prstGeom>
          <ns1:noFill/>
          <ns1:ln w="33020">
            <ns1:solidFill>
              <ns1:srgbClr val="AA6EE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9" name="Oval 18"/>
          <ns0:cNvSpPr/>
          <ns0:nvPr/>
        </ns0:nvSpPr>
        <ns0:spPr>
          <ns1:xfrm>
            <ns1:off x="3511296" y="3511325"/>
            <ns1:ext cx="310896" cy="310896"/>
          </ns1:xfrm>
          <ns1:prstGeom prst="ellipse">
            <ns1:avLst/>
          </ns1:prstGeom>
          <ns1:solidFill>
            <ns1:srgbClr val="FFA565"/>
          </ns1:solidFill>
          <ns1:ln>
            <ns1:solid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B</ns1:t>
            </ns1:r>
          </ns1:p>
        </ns0:txBody>
      </ns0:sp>
      <ns0:sp>
        <ns0:nvSpPr>
          <ns0:cNvPr id="20" name="Rectangle 19"/>
          <ns0:cNvSpPr/>
          <ns0:nvPr/>
        </ns0:nvSpPr>
        <ns0:spPr>
          <ns1:xfrm>
            <ns1:off x="3776472" y="3474749"/>
            <ns1:ext cx="7699248" cy="1304106"/>
          </ns1:xfrm>
          <ns1:prstGeom prst="rect">
            <ns1:avLst/>
          </ns1:prstGeom>
          <ns1:noFill/>
          <ns1:ln w="33020">
            <ns1:solidFill>
              <ns1:srgbClr val="FFA565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21" name="Oval 20"/>
          <ns0:cNvSpPr/>
          <ns0:nvPr/>
        </ns0:nvSpPr>
        <ns0:spPr>
          <ns1:xfrm>
            <ns1:off x="3511296" y="5010969"/>
            <ns1:ext cx="310896" cy="310896"/>
          </ns1:xfrm>
          <ns1:prstGeom prst="ellipse">
            <ns1:avLst/>
          </ns1:prstGeom>
          <ns1:solidFill>
            <ns1:srgbClr val="FF8B9B"/>
          </ns1:solidFill>
          <ns1:ln>
            <ns1:solid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C</ns1:t>
            </ns1:r>
          </ns1:p>
        </ns0:txBody>
      </ns0:sp>
      <ns0:sp>
        <ns0:nvSpPr>
          <ns0:cNvPr id="22" name="Rectangle 21"/>
          <ns0:cNvSpPr/>
          <ns0:nvPr/>
        </ns0:nvSpPr>
        <ns0:spPr>
          <ns1:xfrm>
            <ns1:off x="3776472" y="4974393"/>
            <ns1:ext cx="7699248" cy="1304106"/>
          </ns1:xfrm>
          <ns1:prstGeom prst="rect">
            <ns1:avLst/>
          </ns1:prstGeom>
          <ns1:noFill/>
          <ns1:ln w="33020">
            <ns1:solidFill>
              <ns1:srgbClr val="FF8B9B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</ns0:spTree>
  </ns0:cSld>
  <ns0:clrMapOvr>
    <ns1:masterClrMapping/>
  </ns0:clrMapOvr>
  <ns0:transition spd="slow">
    <ns0:fade/>
  </ns0:transition>
  <ns0:timing>
    <ns0:tnLst>
      <ns0:par>
        <ns0:cTn id="1" dur="indefinite" restart="never" nodeType="tmRoot">
          <ns0:childTnLst>
            <ns0:seq concurrent="1" nextAc="seek">
              <ns0:cTn id="2" dur="indefinite" nodeType="mainSeq">
                <ns0:childTnLst>
                  <ns0:par>
                    <ns0:cTn id="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" dur="220"/>
                                        <ns0:tgtEl>
                                          <ns0:spTgt spid="6"/>
                                        </ns0:tgtEl>
                                      </ns0:cBhvr>
                                    </ns0:animEffect>
                                    <ns0:set>
                                      <ns0:cBhvr>
                                        <ns0:cTn id="8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9" dur="220"/>
                                        <ns0:tgtEl>
                                          <ns0:spTgt spid="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0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1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2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3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4" dur="220"/>
                                        <ns0:tgtEl>
                                          <ns0:spTgt spid="8"/>
                                        </ns0:tgtEl>
                                      </ns0:cBhvr>
                                    </ns0:animEffect>
                                    <ns0:set>
                                      <ns0:cBhvr>
                                        <ns0:cTn id="15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6" dur="220"/>
                                        <ns0:tgtEl>
                                          <ns0:spTgt spid="9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7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8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9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0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1" dur="220"/>
                                        <ns0:tgtEl>
                                          <ns0:spTgt spid="1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22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23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24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5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6" dur="220"/>
                                        <ns0:tgtEl>
                                          <ns0:spTgt spid="11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27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28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29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0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1" dur="220"/>
                                        <ns0:tgtEl>
                                          <ns0:spTgt spid="1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32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33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34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5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3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6" dur="220"/>
                                        <ns0:tgtEl>
                                          <ns0:spTgt spid="13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37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38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39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0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1" dur="220"/>
                                        <ns0:tgtEl>
                                          <ns0:spTgt spid="1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42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3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44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5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6" dur="220"/>
                                        <ns0:tgtEl>
                                          <ns0:spTgt spid="1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47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8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49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50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1" dur="220"/>
                                        <ns0:tgtEl>
                                          <ns0:spTgt spid="16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52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53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4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55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6" dur="220"/>
                                        <ns0:tgtEl>
                                          <ns0:spTgt spid="17"/>
                                        </ns0:tgtEl>
                                      </ns0:cBhvr>
                                    </ns0:animEffect>
                                    <ns0:set>
                                      <ns0:cBhvr>
                                        <ns0:cTn id="57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8" dur="220"/>
                                        <ns0:tgtEl>
                                          <ns0:spTgt spid="18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59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60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61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2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63" dur="220"/>
                                        <ns0:tgtEl>
                                          <ns0:spTgt spid="19"/>
                                        </ns0:tgtEl>
                                      </ns0:cBhvr>
                                    </ns0:animEffect>
                                    <ns0:set>
                                      <ns0:cBhvr>
                                        <ns0:cTn id="64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65" dur="220"/>
                                        <ns0:tgtEl>
                                          <ns0:spTgt spid="2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66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67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68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9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0" dur="220"/>
                                        <ns0:tgtEl>
                                          <ns0:spTgt spid="21"/>
                                        </ns0:tgtEl>
                                      </ns0:cBhvr>
                                    </ns0:animEffect>
                                    <ns0:set>
                                      <ns0:cBhvr>
                                        <ns0:cTn id="7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2" dur="220"/>
                                        <ns0:tgtEl>
                                          <ns0:spTgt spid="2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</ns0:childTnLst>
              </ns0:cTn>
              <ns0:prevCondLst>
                <ns0:cond evt="onPrev" delay="0">
                  <ns0:tgtEl>
                    <ns0:sldTgt/>
                  </ns0:tgtEl>
                </ns0:cond>
              </ns0:prevCondLst>
              <ns0:nextCondLst>
                <ns0:cond evt="onNext" delay="0">
                  <ns0:tgtEl>
                    <ns0:sldTgt/>
                  </ns0:tgtEl>
                </ns0:cond>
              </ns0:nextCondLst>
            </ns0:seq>
          </ns0:childTnLst>
        </ns0:cTn>
      </ns0:par>
    </ns0:tnLst>
    <ns0:bldLst>
      <ns0:bldP spid="6" grpId="0" animBg="1"/>
      <ns0:bldP spid="7" grpId="0" animBg="1"/>
      <ns0:bldP spid="8" grpId="0" animBg="1"/>
      <ns0:bldP spid="9" grpId="0" animBg="1"/>
      <ns0:bldP spid="10" grpId="0" animBg="1"/>
      <ns0:bldP spid="11" grpId="0" animBg="1"/>
      <ns0:bldP spid="12" grpId="0" animBg="1"/>
      <ns0:bldP spid="13" grpId="0" animBg="1"/>
      <ns0:bldP spid="14" grpId="0" animBg="1"/>
      <ns0:bldP spid="15" grpId="0" animBg="1"/>
      <ns0:bldP spid="16" grpId="0" animBg="1"/>
      <ns0:bldP spid="17" grpId="0" animBg="1"/>
      <ns0:bldP spid="18" grpId="0" animBg="1"/>
      <ns0:bldP spid="19" grpId="0" animBg="1"/>
      <ns0:bldP spid="20" grpId="0" animBg="1"/>
      <ns0:bldP spid="21" grpId="0" animBg="1"/>
      <ns0:bldP spid="22" grpId="0" animBg="1"/>
    </ns0:bldLst>
  </ns0:timing>
</ns0:sld>
</file>

<file path=ppt/slides/slide11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spTree>
      <ns0:nvGrpSpPr>
        <ns0:cNvPr id="1" name=""/>
        <ns0:cNvGrpSpPr/>
        <ns0:nvPr/>
      </ns0:nvGrpSpPr>
      <ns0:grpSpPr/>
      <ns0:sp>
        <ns0:nvSpPr>
          <ns0:cNvPr id="2" name="Rectangle 1"/>
          <ns0:cNvSpPr/>
          <ns0:nvPr/>
        </ns0:nvSpPr>
        <ns0:spPr>
          <ns1:xfrm>
            <ns1:off x="0" y="0"/>
            <ns1:ext cx="12191695" cy="6858000"/>
          </ns1:xfrm>
          <ns1:prstGeom prst="rect">
            <ns1:avLst/>
          </ns1:prstGeom>
          <ns1:solidFill>
            <ns1:srgbClr val="0B1320"/>
          </ns1:solidFill>
          <ns1:ln>
            <ns1:solid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pic>
        <ns0:nvPicPr>
          <ns0:cNvPr id="3" name="Picture 2" descr="A1_bg_blueprint_overlay.png"/>
          <ns0:cNvPicPr>
            <ns1:picLocks noChangeAspect="1"/>
          </ns0:cNvPicPr>
          <ns0:nvPr/>
        </ns0:nvPicPr>
        <ns0:blipFill>
          <ns1:blip ns2:embed="rId8"/>
          <ns1:stretch>
            <ns1:fillRect/>
          </ns1:stretch>
        </ns0:blipFill>
        <ns0:spPr>
          <ns1:xfrm>
            <ns1:off x="0" y="0"/>
            <ns1:ext cx="12191695" cy="6858000"/>
          </ns1:xfrm>
          <ns1:prstGeom prst="rect">
            <ns1:avLst/>
          </ns1:prstGeom>
          <ns1:ln>
            <ns1:solidFill/>
          </ns1:ln>
        </ns0:spPr>
      </ns0:pic>
      <ns0:pic>
        <ns0:nvPicPr>
          <ns0:cNvPr id="4" name="Picture 3" descr="A4_header_bar.png"/>
          <ns0:cNvPicPr>
            <ns1:picLocks noChangeAspect="1"/>
          </ns0:cNvPicPr>
          <ns0:nvPr/>
        </ns0:nvPicPr>
        <ns0:blipFill>
          <ns1:blip ns2:embed="rId3"/>
          <ns1:stretch>
            <ns1:fillRect/>
          </ns1:stretch>
        </ns0:blipFill>
        <ns0:spPr>
          <ns1:xfrm>
            <ns1:off x="658368" y="256032"/>
            <ns1:ext cx="4206240" cy="365760"/>
          </ns1:xfrm>
          <ns1:prstGeom prst="rect">
            <ns1:avLst/>
          </ns1:prstGeom>
          <ns1:ln>
            <ns1:solidFill/>
          </ns1:ln>
        </ns0:spPr>
      </ns0:pic>
      <ns0:pic>
        <ns0:nvPicPr>
          <ns0:cNvPr id="5" name="Picture 4" descr="A2_card_texture.png"/>
          <ns0:cNvPicPr>
            <ns1:picLocks noChangeAspect="1"/>
          </ns0:cNvPicPr>
          <ns0:nvPr/>
        </ns0:nvPicPr>
        <ns0:blipFill>
          <ns1:blip ns2:embed="rId4">
            <ns1:alphaModFix amt="9000"/>
          </ns1:blip>
          <ns1:stretch>
            <ns1:fillRect/>
          </ns1:stretch>
        </ns0:blipFill>
        <ns0:spPr>
          <ns1:xfrm>
            <ns1:off x="566928" y="1207008"/>
            <ns1:ext cx="11064240" cy="5413248"/>
          </ns1:xfrm>
          <ns1:prstGeom prst="rect">
            <ns1:avLst/>
          </ns1:prstGeom>
          <ns1:ln>
            <ns1:solidFill/>
          </ns1:ln>
        </ns0:spPr>
      </ns0:pic>
      <ns0:sp>
        <ns0:nvSpPr>
          <ns0:cNvPr id="6" name="TextBox 5"/>
          <ns0:cNvSpPr txBox="1"/>
          <ns0:nvPr/>
        </ns0:nvSpPr>
        <ns0:spPr>
          <ns1:xfrm>
            <ns1:off x="658368" y="640080"/>
            <ns1:ext cx="9966960" cy="749808"/>
          </ns1:xfrm>
          <ns1:prstGeom prst="rect">
            <ns1:avLst/>
          </ns1:prstGeom>
          <ns1:noFill/>
          <ns1:ln>
            <ns1:solidFill/>
          </ns1:ln>
        </ns0:spPr>
        <ns0:txBody>
          <ns1:bodyPr wrap="square" lIns="18288" rIns="18288" tIns="9144" bIns="9144">
            <ns1:spAutoFit/>
          </ns1:bodyPr>
          <ns1:lstStyle/>
          <ns1:p>
            <ns1:pPr algn="l"/>
            <ns1:r>
              <ns1:rPr sz="3300" b="1">
                <ns1:solidFill>
                  <ns1:srgbClr val="F7F9FC"/>
                </ns1:solidFill>
                <ns1:latin typeface="Calibri"/>
              </ns1:rPr>
              <ns1:t>Data receipt: custom labels (definitions + targets)</ns1:t>
            </ns1:r>
          </ns1:p>
        </ns0:txBody>
      </ns0:sp>
      <ns0:sp>
        <ns0:nvSpPr>
          <ns0:cNvPr id="7" name="TextBox 6"/>
          <ns0:cNvSpPr txBox="1"/>
          <ns0:nvPr/>
        </ns0:nvSpPr>
        <ns0:spPr>
          <ns1:xfrm>
            <ns1:off x="658368" y="1389888"/>
            <ns1:ext cx="10241280" cy="384048"/>
          </ns1:xfrm>
          <ns1:prstGeom prst="rect">
            <ns1:avLst/>
          </ns1:prstGeom>
          <ns1:noFill/>
          <ns1:ln>
            <ns1:solidFill/>
          </ns1:ln>
        </ns0:spPr>
        <ns0:txBody>
          <ns1:bodyPr wrap="square" lIns="18288" rIns="18288" tIns="9144" bIns="9144">
            <ns1:spAutoFit/>
          </ns1:bodyPr>
          <ns1:lstStyle/>
          <ns1:p>
            <ns1:pPr algn="l"/>
            <ns1:r>
              <ns1:rPr sz="2000" b="0">
                <ns1:solidFill>
                  <ns1:srgbClr val="B7C2D6"/>
                </ns1:solidFill>
                <ns1:latin typeface="Calibri"/>
              </ns1:rPr>
              <ns1:t>Takeaway: labelers can define custom taxonomies; we preserve raw label_val strings.</ns1:t>
            </ns1:r>
          </ns1:p>
        </ns0:txBody>
      </ns0:sp>
      <ns0:pic>
        <ns0:nvPicPr>
          <ns0:cNvPr id="8" name="Picture 7" descr="B3_ui.png"/>
          <ns0:cNvPicPr>
            <ns1:picLocks noChangeAspect="1"/>
          </ns0:cNvPicPr>
          <ns0:nvPr/>
        </ns0:nvPicPr>
        <ns0:blipFill>
          <ns1:blip ns2:embed="rId9"/>
          <ns1:stretch>
            <ns1:fillRect/>
          </ns1:stretch>
        </ns0:blipFill>
        <ns0:spPr>
          <ns1:xfrm>
            <ns1:off x="3703320" y="1920240"/>
            <ns1:ext cx="7845552" cy="4413123"/>
          </ns1:xfrm>
          <ns1:prstGeom prst="rect">
            <ns1:avLst/>
          </ns1:prstGeom>
          <ns1:ln>
            <ns1:solidFill/>
          </ns1:ln>
        </ns0:spPr>
      </ns0:pic>
      <ns0:pic>
        <ns0:nvPicPr>
          <ns0:cNvPr id="9" name="Picture 8" descr="S3_icon.png"/>
          <ns0:cNvPicPr>
            <ns1:picLocks noChangeAspect="1"/>
          </ns0:cNvPicPr>
          <ns0:nvPr/>
        </ns0:nvPicPr>
        <ns0:blipFill>
          <ns1:blip ns2:embed="rId6"/>
          <ns1:stretch>
            <ns1:fillRect/>
          </ns1:stretch>
        </ns0:blipFill>
        <ns0:spPr>
          <ns1:xfrm>
            <ns1:off x="10314432" y="475488"/>
            <ns1:ext cx="1097280" cy="1097280"/>
          </ns1:xfrm>
          <ns1:prstGeom prst="rect">
            <ns1:avLst/>
          </ns1:prstGeom>
          <ns1:ln>
            <ns1:solidFill/>
          </ns1:ln>
        </ns0:spPr>
      </ns0:pic>
      <ns0:sp>
        <ns0:nvSpPr>
          <ns0:cNvPr id="10" name="Rounded Rectangle 9"/>
          <ns0:cNvSpPr/>
          <ns0:nvPr/>
        </ns0:nvSpPr>
        <ns0:spPr>
          <ns1:xfrm>
            <ns1:off x="658368" y="1883664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4130">
            <ns1:solidFill>
              <ns1:srgbClr val="AA6EE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A. Custom definitions</ns1:t>
            </ns1:r>
          </ns1:p>
        </ns0:txBody>
      </ns0:sp>
      <ns0:sp>
        <ns0:nvSpPr>
          <ns0:cNvPr id="11" name="Rounded Rectangle 10"/>
          <ns0:cNvSpPr/>
          <ns0:nvPr/>
        </ns0:nvSpPr>
        <ns0:spPr>
          <ns1:xfrm>
            <ns1:off x="658368" y="2395728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4130">
            <ns1:solidFill>
              <ns1:srgbClr val="AA6EE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blur + severity + defaults</ns1:t>
            </ns1:r>
          </ns1:p>
        </ns0:txBody>
      </ns0:sp>
      <ns0:sp>
        <ns0:nvSpPr>
          <ns0:cNvPr id="12" name="Rounded Rectangle 11"/>
          <ns0:cNvSpPr/>
          <ns0:nvPr/>
        </ns0:nvSpPr>
        <ns0:spPr>
          <ns1:xfrm>
            <ns1:off x="658368" y="2907792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4130">
            <ns1:solidFill>
              <ns1:srgbClr val="FFA565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B. Label targets</ns1:t>
            </ns1:r>
          </ns1:p>
        </ns0:txBody>
      </ns0:sp>
      <ns0:sp>
        <ns0:nvSpPr>
          <ns0:cNvPr id="13" name="Rounded Rectangle 12"/>
          <ns0:cNvSpPr/>
          <ns0:nvPr/>
        </ns0:nvSpPr>
        <ns0:spPr>
          <ns1:xfrm>
            <ns1:off x="658368" y="3419856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4130">
            <ns1:solidFill>
              <ns1:srgbClr val="FFA565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account vs profile vs content</ns1:t>
            </ns1:r>
          </ns1:p>
        </ns0:txBody>
      </ns0:sp>
      <ns0:sp>
        <ns0:nvSpPr>
          <ns0:cNvPr id="14" name="Rounded Rectangle 13"/>
          <ns0:cNvSpPr/>
          <ns0:nvPr/>
        </ns0:nvSpPr>
        <ns0:spPr>
          <ns1:xfrm>
            <ns1:off x="658368" y="3931920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4130">
            <ns1:solidFill>
              <ns1:srgbClr val="FF8B9B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C. Observed values</ns1:t>
            </ns1:r>
          </ns1:p>
        </ns0:txBody>
      </ns0:sp>
      <ns0:sp>
        <ns0:nvSpPr>
          <ns0:cNvPr id="15" name="Rounded Rectangle 14"/>
          <ns0:cNvSpPr/>
          <ns0:nvPr/>
        </ns0:nvSpPr>
        <ns0:spPr>
          <ns1:xfrm>
            <ns1:off x="658368" y="4443984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4130">
            <ns1:solidFill>
              <ns1:srgbClr val="FF8B9B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dataset examples</ns1:t>
            </ns1:r>
          </ns1:p>
        </ns0:txBody>
      </ns0:sp>
      <ns0:sp>
        <ns0:nvSpPr>
          <ns0:cNvPr id="16" name="Rounded Rectangle 15"/>
          <ns0:cNvSpPr/>
          <ns0:nvPr/>
        </ns0:nvSpPr>
        <ns0:spPr>
          <ns1:xfrm>
            <ns1:off x="658368" y="4956048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4130">
            <ns1:solidFill>
              <ns1:srgbClr val="FF8B9B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Why it matters</ns1:t>
            </ns1:r>
          </ns1:p>
        </ns0:txBody>
      </ns0:sp>
      <ns0:sp>
        <ns0:nvSpPr>
          <ns0:cNvPr id="17" name="Oval 16"/>
          <ns0:cNvSpPr/>
          <ns0:nvPr/>
        </ns0:nvSpPr>
        <ns0:spPr>
          <ns1:xfrm>
            <ns1:off x="3511296" y="2011680"/>
            <ns1:ext cx="310896" cy="310896"/>
          </ns1:xfrm>
          <ns1:prstGeom prst="ellipse">
            <ns1:avLst/>
          </ns1:prstGeom>
          <ns1:solidFill>
            <ns1:srgbClr val="AA6EE7"/>
          </ns1:solidFill>
          <ns1:ln>
            <ns1:solid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A</ns1:t>
            </ns1:r>
          </ns1:p>
        </ns0:txBody>
      </ns0:sp>
      <ns0:sp>
        <ns0:nvSpPr>
          <ns0:cNvPr id="18" name="Rectangle 17"/>
          <ns0:cNvSpPr/>
          <ns0:nvPr/>
        </ns0:nvSpPr>
        <ns0:spPr>
          <ns1:xfrm>
            <ns1:off x="3776472" y="1975104"/>
            <ns1:ext cx="7699248" cy="1304106"/>
          </ns1:xfrm>
          <ns1:prstGeom prst="rect">
            <ns1:avLst/>
          </ns1:prstGeom>
          <ns1:noFill/>
          <ns1:ln w="33020">
            <ns1:solidFill>
              <ns1:srgbClr val="AA6EE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9" name="Oval 18"/>
          <ns0:cNvSpPr/>
          <ns0:nvPr/>
        </ns0:nvSpPr>
        <ns0:spPr>
          <ns1:xfrm>
            <ns1:off x="3511296" y="3511325"/>
            <ns1:ext cx="310896" cy="310896"/>
          </ns1:xfrm>
          <ns1:prstGeom prst="ellipse">
            <ns1:avLst/>
          </ns1:prstGeom>
          <ns1:solidFill>
            <ns1:srgbClr val="FFA565"/>
          </ns1:solidFill>
          <ns1:ln>
            <ns1:solid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B</ns1:t>
            </ns1:r>
          </ns1:p>
        </ns0:txBody>
      </ns0:sp>
      <ns0:sp>
        <ns0:nvSpPr>
          <ns0:cNvPr id="20" name="Rectangle 19"/>
          <ns0:cNvSpPr/>
          <ns0:nvPr/>
        </ns0:nvSpPr>
        <ns0:spPr>
          <ns1:xfrm>
            <ns1:off x="3776472" y="3474749"/>
            <ns1:ext cx="7699248" cy="1304106"/>
          </ns1:xfrm>
          <ns1:prstGeom prst="rect">
            <ns1:avLst/>
          </ns1:prstGeom>
          <ns1:noFill/>
          <ns1:ln w="33020">
            <ns1:solidFill>
              <ns1:srgbClr val="FFA565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21" name="Oval 20"/>
          <ns0:cNvSpPr/>
          <ns0:nvPr/>
        </ns0:nvSpPr>
        <ns0:spPr>
          <ns1:xfrm>
            <ns1:off x="3511296" y="5010969"/>
            <ns1:ext cx="310896" cy="310896"/>
          </ns1:xfrm>
          <ns1:prstGeom prst="ellipse">
            <ns1:avLst/>
          </ns1:prstGeom>
          <ns1:solidFill>
            <ns1:srgbClr val="FF8B9B"/>
          </ns1:solidFill>
          <ns1:ln>
            <ns1:solid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C</ns1:t>
            </ns1:r>
          </ns1:p>
        </ns0:txBody>
      </ns0:sp>
      <ns0:sp>
        <ns0:nvSpPr>
          <ns0:cNvPr id="22" name="Rectangle 21"/>
          <ns0:cNvSpPr/>
          <ns0:nvPr/>
        </ns0:nvSpPr>
        <ns0:spPr>
          <ns1:xfrm>
            <ns1:off x="3776472" y="4974393"/>
            <ns1:ext cx="7699248" cy="1304106"/>
          </ns1:xfrm>
          <ns1:prstGeom prst="rect">
            <ns1:avLst/>
          </ns1:prstGeom>
          <ns1:noFill/>
          <ns1:ln w="33020">
            <ns1:solidFill>
              <ns1:srgbClr val="FF8B9B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</ns0:spTree>
  </ns0:cSld>
  <ns0:clrMapOvr>
    <ns1:masterClrMapping/>
  </ns0:clrMapOvr>
  <ns0:transition spd="slow">
    <ns0:fade/>
  </ns0:transition>
  <ns0:timing>
    <ns0:tnLst>
      <ns0:par>
        <ns0:cTn id="1" dur="indefinite" restart="never" nodeType="tmRoot">
          <ns0:childTnLst>
            <ns0:seq concurrent="1" nextAc="seek">
              <ns0:cTn id="2" dur="indefinite" nodeType="mainSeq">
                <ns0:childTnLst>
                  <ns0:par>
                    <ns0:cTn id="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" dur="220"/>
                                        <ns0:tgtEl>
                                          <ns0:spTgt spid="6"/>
                                        </ns0:tgtEl>
                                      </ns0:cBhvr>
                                    </ns0:animEffect>
                                    <ns0:set>
                                      <ns0:cBhvr>
                                        <ns0:cTn id="8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9" dur="220"/>
                                        <ns0:tgtEl>
                                          <ns0:spTgt spid="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0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1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2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3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4" dur="220"/>
                                        <ns0:tgtEl>
                                          <ns0:spTgt spid="8"/>
                                        </ns0:tgtEl>
                                      </ns0:cBhvr>
                                    </ns0:animEffect>
                                    <ns0:set>
                                      <ns0:cBhvr>
                                        <ns0:cTn id="15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6" dur="220"/>
                                        <ns0:tgtEl>
                                          <ns0:spTgt spid="9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7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8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9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0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1" dur="220"/>
                                        <ns0:tgtEl>
                                          <ns0:spTgt spid="1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22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23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24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5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6" dur="220"/>
                                        <ns0:tgtEl>
                                          <ns0:spTgt spid="11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27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28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29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0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1" dur="220"/>
                                        <ns0:tgtEl>
                                          <ns0:spTgt spid="1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32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33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34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5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3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6" dur="220"/>
                                        <ns0:tgtEl>
                                          <ns0:spTgt spid="13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37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38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39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0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1" dur="220"/>
                                        <ns0:tgtEl>
                                          <ns0:spTgt spid="1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42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3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44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5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6" dur="220"/>
                                        <ns0:tgtEl>
                                          <ns0:spTgt spid="1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47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8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49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50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1" dur="220"/>
                                        <ns0:tgtEl>
                                          <ns0:spTgt spid="16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52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53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4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55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6" dur="220"/>
                                        <ns0:tgtEl>
                                          <ns0:spTgt spid="17"/>
                                        </ns0:tgtEl>
                                      </ns0:cBhvr>
                                    </ns0:animEffect>
                                    <ns0:set>
                                      <ns0:cBhvr>
                                        <ns0:cTn id="57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8" dur="220"/>
                                        <ns0:tgtEl>
                                          <ns0:spTgt spid="18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59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60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61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2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63" dur="220"/>
                                        <ns0:tgtEl>
                                          <ns0:spTgt spid="19"/>
                                        </ns0:tgtEl>
                                      </ns0:cBhvr>
                                    </ns0:animEffect>
                                    <ns0:set>
                                      <ns0:cBhvr>
                                        <ns0:cTn id="64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65" dur="220"/>
                                        <ns0:tgtEl>
                                          <ns0:spTgt spid="2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66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67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68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9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0" dur="220"/>
                                        <ns0:tgtEl>
                                          <ns0:spTgt spid="21"/>
                                        </ns0:tgtEl>
                                      </ns0:cBhvr>
                                    </ns0:animEffect>
                                    <ns0:set>
                                      <ns0:cBhvr>
                                        <ns0:cTn id="7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2" dur="220"/>
                                        <ns0:tgtEl>
                                          <ns0:spTgt spid="2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</ns0:childTnLst>
              </ns0:cTn>
              <ns0:prevCondLst>
                <ns0:cond evt="onPrev" delay="0">
                  <ns0:tgtEl>
                    <ns0:sldTgt/>
                  </ns0:tgtEl>
                </ns0:cond>
              </ns0:prevCondLst>
              <ns0:nextCondLst>
                <ns0:cond evt="onNext" delay="0">
                  <ns0:tgtEl>
                    <ns0:sldTgt/>
                  </ns0:tgtEl>
                </ns0:cond>
              </ns0:nextCondLst>
            </ns0:seq>
          </ns0:childTnLst>
        </ns0:cTn>
      </ns0:par>
    </ns0:tnLst>
    <ns0:bldLst>
      <ns0:bldP spid="6" grpId="0" animBg="1"/>
      <ns0:bldP spid="7" grpId="0" animBg="1"/>
      <ns0:bldP spid="8" grpId="0" animBg="1"/>
      <ns0:bldP spid="9" grpId="0" animBg="1"/>
      <ns0:bldP spid="10" grpId="0" animBg="1"/>
      <ns0:bldP spid="11" grpId="0" animBg="1"/>
      <ns0:bldP spid="12" grpId="0" animBg="1"/>
      <ns0:bldP spid="13" grpId="0" animBg="1"/>
      <ns0:bldP spid="14" grpId="0" animBg="1"/>
      <ns0:bldP spid="15" grpId="0" animBg="1"/>
      <ns0:bldP spid="16" grpId="0" animBg="1"/>
      <ns0:bldP spid="17" grpId="0" animBg="1"/>
      <ns0:bldP spid="18" grpId="0" animBg="1"/>
      <ns0:bldP spid="19" grpId="0" animBg="1"/>
      <ns0:bldP spid="20" grpId="0" animBg="1"/>
      <ns0:bldP spid="21" grpId="0" animBg="1"/>
      <ns0:bldP spid="22" grpId="0" animBg="1"/>
    </ns0:bldLst>
  </ns0:timing>
</ns0:sld>
</file>

<file path=ppt/slides/slide12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spTree>
      <ns0:nvGrpSpPr>
        <ns0:cNvPr id="1" name=""/>
        <ns0:cNvGrpSpPr/>
        <ns0:nvPr/>
      </ns0:nvGrpSpPr>
      <ns0:grpSpPr/>
      <ns0:sp>
        <ns0:nvSpPr>
          <ns0:cNvPr id="2" name="Rectangle 1"/>
          <ns0:cNvSpPr/>
          <ns0:nvPr/>
        </ns0:nvSpPr>
        <ns0:spPr>
          <ns1:xfrm>
            <ns1:off x="0" y="0"/>
            <ns1:ext cx="12191695" cy="6858000"/>
          </ns1:xfrm>
          <ns1:prstGeom prst="rect">
            <ns1:avLst/>
          </ns1:prstGeom>
          <ns1:solidFill>
            <ns1:srgbClr val="0B1320"/>
          </ns1:solidFill>
          <ns1:ln>
            <ns1:solid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pic>
        <ns0:nvPicPr>
          <ns0:cNvPr id="3" name="Picture 2" descr="A1_bg_blueprint_overlay.png"/>
          <ns0:cNvPicPr>
            <ns1:picLocks noChangeAspect="1"/>
          </ns0:cNvPicPr>
          <ns0:nvPr/>
        </ns0:nvPicPr>
        <ns0:blipFill>
          <ns1:blip ns2:embed="rId8"/>
          <ns1:stretch>
            <ns1:fillRect/>
          </ns1:stretch>
        </ns0:blipFill>
        <ns0:spPr>
          <ns1:xfrm>
            <ns1:off x="0" y="0"/>
            <ns1:ext cx="12191695" cy="6858000"/>
          </ns1:xfrm>
          <ns1:prstGeom prst="rect">
            <ns1:avLst/>
          </ns1:prstGeom>
          <ns1:ln>
            <ns1:solidFill/>
          </ns1:ln>
        </ns0:spPr>
      </ns0:pic>
      <ns0:pic>
        <ns0:nvPicPr>
          <ns0:cNvPr id="4" name="Picture 3" descr="A4_header_bar.png"/>
          <ns0:cNvPicPr>
            <ns1:picLocks noChangeAspect="1"/>
          </ns0:cNvPicPr>
          <ns0:nvPr/>
        </ns0:nvPicPr>
        <ns0:blipFill>
          <ns1:blip ns2:embed="rId3"/>
          <ns1:stretch>
            <ns1:fillRect/>
          </ns1:stretch>
        </ns0:blipFill>
        <ns0:spPr>
          <ns1:xfrm>
            <ns1:off x="658368" y="256032"/>
            <ns1:ext cx="4206240" cy="365760"/>
          </ns1:xfrm>
          <ns1:prstGeom prst="rect">
            <ns1:avLst/>
          </ns1:prstGeom>
          <ns1:ln>
            <ns1:solidFill/>
          </ns1:ln>
        </ns0:spPr>
      </ns0:pic>
      <ns0:pic>
        <ns0:nvPicPr>
          <ns0:cNvPr id="5" name="Picture 4" descr="A2_card_texture.png"/>
          <ns0:cNvPicPr>
            <ns1:picLocks noChangeAspect="1"/>
          </ns0:cNvPicPr>
          <ns0:nvPr/>
        </ns0:nvPicPr>
        <ns0:blipFill>
          <ns1:blip ns2:embed="rId4">
            <ns1:alphaModFix amt="9000"/>
          </ns1:blip>
          <ns1:stretch>
            <ns1:fillRect/>
          </ns1:stretch>
        </ns0:blipFill>
        <ns0:spPr>
          <ns1:xfrm>
            <ns1:off x="566928" y="1207008"/>
            <ns1:ext cx="11064240" cy="5413248"/>
          </ns1:xfrm>
          <ns1:prstGeom prst="rect">
            <ns1:avLst/>
          </ns1:prstGeom>
          <ns1:ln>
            <ns1:solidFill/>
          </ns1:ln>
        </ns0:spPr>
      </ns0:pic>
      <ns0:sp>
        <ns0:nvSpPr>
          <ns0:cNvPr id="6" name="TextBox 5"/>
          <ns0:cNvSpPr txBox="1"/>
          <ns0:nvPr/>
        </ns0:nvSpPr>
        <ns0:spPr>
          <ns1:xfrm>
            <ns1:off x="658368" y="640080"/>
            <ns1:ext cx="9966960" cy="749808"/>
          </ns1:xfrm>
          <ns1:prstGeom prst="rect">
            <ns1:avLst/>
          </ns1:prstGeom>
          <ns1:noFill/>
          <ns1:ln>
            <ns1:solidFill/>
          </ns1:ln>
        </ns0:spPr>
        <ns0:txBody>
          <ns1:bodyPr wrap="square" lIns="18288" rIns="18288" tIns="9144" bIns="9144">
            <ns1:spAutoFit/>
          </ns1:bodyPr>
          <ns1:lstStyle/>
          <ns1:p>
            <ns1:pPr algn="l"/>
            <ns1:r>
              <ns1:rPr sz="3300" b="1">
                <ns1:solidFill>
                  <ns1:srgbClr val="F7F9FC"/>
                </ns1:solidFill>
                <ns1:latin typeface="Calibri"/>
              </ns1:rPr>
              <ns1:t>Data receipt: labelers (declarations + subscriptions + self-labels)</ns1:t>
            </ns1:r>
          </ns1:p>
        </ns0:txBody>
      </ns0:sp>
      <ns0:sp>
        <ns0:nvSpPr>
          <ns0:cNvPr id="7" name="TextBox 6"/>
          <ns0:cNvSpPr txBox="1"/>
          <ns0:nvPr/>
        </ns0:nvSpPr>
        <ns0:spPr>
          <ns1:xfrm>
            <ns1:off x="658368" y="1389888"/>
            <ns1:ext cx="10241280" cy="384048"/>
          </ns1:xfrm>
          <ns1:prstGeom prst="rect">
            <ns1:avLst/>
          </ns1:prstGeom>
          <ns1:noFill/>
          <ns1:ln>
            <ns1:solidFill/>
          </ns1:ln>
        </ns0:spPr>
        <ns0:txBody>
          <ns1:bodyPr wrap="square" lIns="18288" rIns="18288" tIns="9144" bIns="9144">
            <ns1:spAutoFit/>
          </ns1:bodyPr>
          <ns1:lstStyle/>
          <ns1:p>
            <ns1:pPr algn="l"/>
            <ns1:r>
              <ns1:rPr sz="2000" b="0">
                <ns1:solidFill>
                  <ns1:srgbClr val="B7C2D6"/>
                </ns1:solidFill>
                <ns1:latin typeface="Calibri"/>
              </ns1:rPr>
              <ns1:t>Takeaway: labels come from services; viewers choose which labelers to trust.</ns1:t>
            </ns1:r>
          </ns1:p>
        </ns0:txBody>
      </ns0:sp>
      <ns0:pic>
        <ns0:nvPicPr>
          <ns0:cNvPr id="8" name="Picture 7" descr="B3_ui.png"/>
          <ns0:cNvPicPr>
            <ns1:picLocks noChangeAspect="1"/>
          </ns0:cNvPicPr>
          <ns0:nvPr/>
        </ns0:nvPicPr>
        <ns0:blipFill>
          <ns1:blip ns2:embed="rId9"/>
          <ns1:stretch>
            <ns1:fillRect/>
          </ns1:stretch>
        </ns0:blipFill>
        <ns0:spPr>
          <ns1:xfrm>
            <ns1:off x="3703320" y="1920240"/>
            <ns1:ext cx="7845552" cy="4413123"/>
          </ns1:xfrm>
          <ns1:prstGeom prst="rect">
            <ns1:avLst/>
          </ns1:prstGeom>
          <ns1:ln>
            <ns1:solidFill/>
          </ns1:ln>
        </ns0:spPr>
      </ns0:pic>
      <ns0:pic>
        <ns0:nvPicPr>
          <ns0:cNvPr id="9" name="Picture 8" descr="S3_icon.png"/>
          <ns0:cNvPicPr>
            <ns1:picLocks noChangeAspect="1"/>
          </ns0:cNvPicPr>
          <ns0:nvPr/>
        </ns0:nvPicPr>
        <ns0:blipFill>
          <ns1:blip ns2:embed="rId6"/>
          <ns1:stretch>
            <ns1:fillRect/>
          </ns1:stretch>
        </ns0:blipFill>
        <ns0:spPr>
          <ns1:xfrm>
            <ns1:off x="10314432" y="475488"/>
            <ns1:ext cx="1097280" cy="1097280"/>
          </ns1:xfrm>
          <ns1:prstGeom prst="rect">
            <ns1:avLst/>
          </ns1:prstGeom>
          <ns1:ln>
            <ns1:solidFill/>
          </ns1:ln>
        </ns0:spPr>
      </ns0:pic>
      <ns0:sp>
        <ns0:nvSpPr>
          <ns0:cNvPr id="10" name="Rounded Rectangle 9"/>
          <ns0:cNvSpPr/>
          <ns0:nvPr/>
        </ns0:nvSpPr>
        <ns0:spPr>
          <ns1:xfrm>
            <ns1:off x="658368" y="1883664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4130">
            <ns1:solidFill>
              <ns1:srgbClr val="AA6EE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A. Declaration</ns1:t>
            </ns1:r>
          </ns1:p>
        </ns0:txBody>
      </ns0:sp>
      <ns0:sp>
        <ns0:nvSpPr>
          <ns0:cNvPr id="11" name="Rounded Rectangle 10"/>
          <ns0:cNvSpPr/>
          <ns0:nvPr/>
        </ns0:nvSpPr>
        <ns0:spPr>
          <ns1:xfrm>
            <ns1:off x="658368" y="2395728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4130">
            <ns1:solidFill>
              <ns1:srgbClr val="AA6EE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values + policies</ns1:t>
            </ns1:r>
          </ns1:p>
        </ns0:txBody>
      </ns0:sp>
      <ns0:sp>
        <ns0:nvSpPr>
          <ns0:cNvPr id="12" name="Rounded Rectangle 11"/>
          <ns0:cNvSpPr/>
          <ns0:nvPr/>
        </ns0:nvSpPr>
        <ns0:spPr>
          <ns1:xfrm>
            <ns1:off x="658368" y="2907792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4130">
            <ns1:solidFill>
              <ns1:srgbClr val="FFA565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B. Subscriptions</ns1:t>
            </ns1:r>
          </ns1:p>
        </ns0:txBody>
      </ns0:sp>
      <ns0:sp>
        <ns0:nvSpPr>
          <ns0:cNvPr id="13" name="Rounded Rectangle 12"/>
          <ns0:cNvSpPr/>
          <ns0:nvPr/>
        </ns0:nvSpPr>
        <ns0:spPr>
          <ns1:xfrm>
            <ns1:off x="658368" y="3419856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4130">
            <ns1:solidFill>
              <ns1:srgbClr val="FFA565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viewer-selected</ns1:t>
            </ns1:r>
          </ns1:p>
        </ns0:txBody>
      </ns0:sp>
      <ns0:sp>
        <ns0:nvSpPr>
          <ns0:cNvPr id="14" name="Rounded Rectangle 13"/>
          <ns0:cNvSpPr/>
          <ns0:nvPr/>
        </ns0:nvSpPr>
        <ns0:spPr>
          <ns1:xfrm>
            <ns1:off x="658368" y="3931920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4130">
            <ns1:solidFill>
              <ns1:srgbClr val="FF8B9B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C. Self-labels</ns1:t>
            </ns1:r>
          </ns1:p>
        </ns0:txBody>
      </ns0:sp>
      <ns0:sp>
        <ns0:nvSpPr>
          <ns0:cNvPr id="15" name="Rounded Rectangle 14"/>
          <ns0:cNvSpPr/>
          <ns0:nvPr/>
        </ns0:nvSpPr>
        <ns0:spPr>
          <ns1:xfrm>
            <ns1:off x="658368" y="4443984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4130">
            <ns1:solidFill>
              <ns1:srgbClr val="FF8B9B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built-in values</ns1:t>
            </ns1:r>
          </ns1:p>
        </ns0:txBody>
      </ns0:sp>
      <ns0:sp>
        <ns0:nvSpPr>
          <ns0:cNvPr id="16" name="Rounded Rectangle 15"/>
          <ns0:cNvSpPr/>
          <ns0:nvPr/>
        </ns0:nvSpPr>
        <ns0:spPr>
          <ns1:xfrm>
            <ns1:off x="658368" y="4956048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4130">
            <ns1:solidFill>
              <ns1:srgbClr val="FF8B9B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Why it matters</ns1:t>
            </ns1:r>
          </ns1:p>
        </ns0:txBody>
      </ns0:sp>
      <ns0:sp>
        <ns0:nvSpPr>
          <ns0:cNvPr id="17" name="Oval 16"/>
          <ns0:cNvSpPr/>
          <ns0:nvPr/>
        </ns0:nvSpPr>
        <ns0:spPr>
          <ns1:xfrm>
            <ns1:off x="3511296" y="2011680"/>
            <ns1:ext cx="310896" cy="310896"/>
          </ns1:xfrm>
          <ns1:prstGeom prst="ellipse">
            <ns1:avLst/>
          </ns1:prstGeom>
          <ns1:solidFill>
            <ns1:srgbClr val="AA6EE7"/>
          </ns1:solidFill>
          <ns1:ln>
            <ns1:solid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A</ns1:t>
            </ns1:r>
          </ns1:p>
        </ns0:txBody>
      </ns0:sp>
      <ns0:sp>
        <ns0:nvSpPr>
          <ns0:cNvPr id="18" name="Rectangle 17"/>
          <ns0:cNvSpPr/>
          <ns0:nvPr/>
        </ns0:nvSpPr>
        <ns0:spPr>
          <ns1:xfrm>
            <ns1:off x="3776472" y="1975104"/>
            <ns1:ext cx="7699248" cy="1304106"/>
          </ns1:xfrm>
          <ns1:prstGeom prst="rect">
            <ns1:avLst/>
          </ns1:prstGeom>
          <ns1:noFill/>
          <ns1:ln w="33020">
            <ns1:solidFill>
              <ns1:srgbClr val="AA6EE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9" name="Oval 18"/>
          <ns0:cNvSpPr/>
          <ns0:nvPr/>
        </ns0:nvSpPr>
        <ns0:spPr>
          <ns1:xfrm>
            <ns1:off x="3511296" y="3511325"/>
            <ns1:ext cx="310896" cy="310896"/>
          </ns1:xfrm>
          <ns1:prstGeom prst="ellipse">
            <ns1:avLst/>
          </ns1:prstGeom>
          <ns1:solidFill>
            <ns1:srgbClr val="FFA565"/>
          </ns1:solidFill>
          <ns1:ln>
            <ns1:solid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B</ns1:t>
            </ns1:r>
          </ns1:p>
        </ns0:txBody>
      </ns0:sp>
      <ns0:sp>
        <ns0:nvSpPr>
          <ns0:cNvPr id="20" name="Rectangle 19"/>
          <ns0:cNvSpPr/>
          <ns0:nvPr/>
        </ns0:nvSpPr>
        <ns0:spPr>
          <ns1:xfrm>
            <ns1:off x="3776472" y="3474749"/>
            <ns1:ext cx="7699248" cy="1304106"/>
          </ns1:xfrm>
          <ns1:prstGeom prst="rect">
            <ns1:avLst/>
          </ns1:prstGeom>
          <ns1:noFill/>
          <ns1:ln w="33020">
            <ns1:solidFill>
              <ns1:srgbClr val="FFA565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21" name="Oval 20"/>
          <ns0:cNvSpPr/>
          <ns0:nvPr/>
        </ns0:nvSpPr>
        <ns0:spPr>
          <ns1:xfrm>
            <ns1:off x="3511296" y="5010969"/>
            <ns1:ext cx="310896" cy="310896"/>
          </ns1:xfrm>
          <ns1:prstGeom prst="ellipse">
            <ns1:avLst/>
          </ns1:prstGeom>
          <ns1:solidFill>
            <ns1:srgbClr val="FF8B9B"/>
          </ns1:solidFill>
          <ns1:ln>
            <ns1:solid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C</ns1:t>
            </ns1:r>
          </ns1:p>
        </ns0:txBody>
      </ns0:sp>
      <ns0:sp>
        <ns0:nvSpPr>
          <ns0:cNvPr id="22" name="Rectangle 21"/>
          <ns0:cNvSpPr/>
          <ns0:nvPr/>
        </ns0:nvSpPr>
        <ns0:spPr>
          <ns1:xfrm>
            <ns1:off x="3776472" y="4974393"/>
            <ns1:ext cx="7699248" cy="1304106"/>
          </ns1:xfrm>
          <ns1:prstGeom prst="rect">
            <ns1:avLst/>
          </ns1:prstGeom>
          <ns1:noFill/>
          <ns1:ln w="33020">
            <ns1:solidFill>
              <ns1:srgbClr val="FF8B9B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</ns0:spTree>
  </ns0:cSld>
  <ns0:clrMapOvr>
    <ns1:masterClrMapping/>
  </ns0:clrMapOvr>
  <ns0:transition spd="slow">
    <ns0:fade/>
  </ns0:transition>
  <ns0:timing>
    <ns0:tnLst>
      <ns0:par>
        <ns0:cTn id="1" dur="indefinite" restart="never" nodeType="tmRoot">
          <ns0:childTnLst>
            <ns0:seq concurrent="1" nextAc="seek">
              <ns0:cTn id="2" dur="indefinite" nodeType="mainSeq">
                <ns0:childTnLst>
                  <ns0:par>
                    <ns0:cTn id="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" dur="220"/>
                                        <ns0:tgtEl>
                                          <ns0:spTgt spid="6"/>
                                        </ns0:tgtEl>
                                      </ns0:cBhvr>
                                    </ns0:animEffect>
                                    <ns0:set>
                                      <ns0:cBhvr>
                                        <ns0:cTn id="8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9" dur="220"/>
                                        <ns0:tgtEl>
                                          <ns0:spTgt spid="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0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1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2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3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4" dur="220"/>
                                        <ns0:tgtEl>
                                          <ns0:spTgt spid="8"/>
                                        </ns0:tgtEl>
                                      </ns0:cBhvr>
                                    </ns0:animEffect>
                                    <ns0:set>
                                      <ns0:cBhvr>
                                        <ns0:cTn id="15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6" dur="220"/>
                                        <ns0:tgtEl>
                                          <ns0:spTgt spid="9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7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8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9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0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1" dur="220"/>
                                        <ns0:tgtEl>
                                          <ns0:spTgt spid="1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22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23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24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5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6" dur="220"/>
                                        <ns0:tgtEl>
                                          <ns0:spTgt spid="11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27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28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29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0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1" dur="220"/>
                                        <ns0:tgtEl>
                                          <ns0:spTgt spid="1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32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33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34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5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3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6" dur="220"/>
                                        <ns0:tgtEl>
                                          <ns0:spTgt spid="13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37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38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39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0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1" dur="220"/>
                                        <ns0:tgtEl>
                                          <ns0:spTgt spid="1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42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3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44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5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6" dur="220"/>
                                        <ns0:tgtEl>
                                          <ns0:spTgt spid="1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47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8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49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50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1" dur="220"/>
                                        <ns0:tgtEl>
                                          <ns0:spTgt spid="16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52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53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4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55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6" dur="220"/>
                                        <ns0:tgtEl>
                                          <ns0:spTgt spid="17"/>
                                        </ns0:tgtEl>
                                      </ns0:cBhvr>
                                    </ns0:animEffect>
                                    <ns0:set>
                                      <ns0:cBhvr>
                                        <ns0:cTn id="57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8" dur="220"/>
                                        <ns0:tgtEl>
                                          <ns0:spTgt spid="18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59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60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61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2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63" dur="220"/>
                                        <ns0:tgtEl>
                                          <ns0:spTgt spid="19"/>
                                        </ns0:tgtEl>
                                      </ns0:cBhvr>
                                    </ns0:animEffect>
                                    <ns0:set>
                                      <ns0:cBhvr>
                                        <ns0:cTn id="64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65" dur="220"/>
                                        <ns0:tgtEl>
                                          <ns0:spTgt spid="2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66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67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68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9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0" dur="220"/>
                                        <ns0:tgtEl>
                                          <ns0:spTgt spid="21"/>
                                        </ns0:tgtEl>
                                      </ns0:cBhvr>
                                    </ns0:animEffect>
                                    <ns0:set>
                                      <ns0:cBhvr>
                                        <ns0:cTn id="7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2" dur="220"/>
                                        <ns0:tgtEl>
                                          <ns0:spTgt spid="2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</ns0:childTnLst>
              </ns0:cTn>
              <ns0:prevCondLst>
                <ns0:cond evt="onPrev" delay="0">
                  <ns0:tgtEl>
                    <ns0:sldTgt/>
                  </ns0:tgtEl>
                </ns0:cond>
              </ns0:prevCondLst>
              <ns0:nextCondLst>
                <ns0:cond evt="onNext" delay="0">
                  <ns0:tgtEl>
                    <ns0:sldTgt/>
                  </ns0:tgtEl>
                </ns0:cond>
              </ns0:nextCondLst>
            </ns0:seq>
          </ns0:childTnLst>
        </ns0:cTn>
      </ns0:par>
    </ns0:tnLst>
    <ns0:bldLst>
      <ns0:bldP spid="6" grpId="0" animBg="1"/>
      <ns0:bldP spid="7" grpId="0" animBg="1"/>
      <ns0:bldP spid="8" grpId="0" animBg="1"/>
      <ns0:bldP spid="9" grpId="0" animBg="1"/>
      <ns0:bldP spid="10" grpId="0" animBg="1"/>
      <ns0:bldP spid="11" grpId="0" animBg="1"/>
      <ns0:bldP spid="12" grpId="0" animBg="1"/>
      <ns0:bldP spid="13" grpId="0" animBg="1"/>
      <ns0:bldP spid="14" grpId="0" animBg="1"/>
      <ns0:bldP spid="15" grpId="0" animBg="1"/>
      <ns0:bldP spid="16" grpId="0" animBg="1"/>
      <ns0:bldP spid="17" grpId="0" animBg="1"/>
      <ns0:bldP spid="18" grpId="0" animBg="1"/>
      <ns0:bldP spid="19" grpId="0" animBg="1"/>
      <ns0:bldP spid="20" grpId="0" animBg="1"/>
      <ns0:bldP spid="21" grpId="0" animBg="1"/>
      <ns0:bldP spid="22" grpId="0" animBg="1"/>
    </ns0:bldLst>
  </ns0:timing>
</ns0:sld>
</file>

<file path=ppt/slides/slide13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spTree>
      <ns0:nvGrpSpPr>
        <ns0:cNvPr id="1" name=""/>
        <ns0:cNvGrpSpPr/>
        <ns0:nvPr/>
      </ns0:nvGrpSpPr>
      <ns0:grpSpPr/>
      <ns0:sp>
        <ns0:nvSpPr>
          <ns0:cNvPr id="2" name="Rectangle 1"/>
          <ns0:cNvSpPr/>
          <ns0:nvPr/>
        </ns0:nvSpPr>
        <ns0:spPr>
          <ns1:xfrm>
            <ns1:off x="0" y="0"/>
            <ns1:ext cx="12191695" cy="6858000"/>
          </ns1:xfrm>
          <ns1:prstGeom prst="rect">
            <ns1:avLst/>
          </ns1:prstGeom>
          <ns1:solidFill>
            <ns1:srgbClr val="0B1320"/>
          </ns1:solidFill>
          <ns1:ln>
            <ns1:solid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pic>
        <ns0:nvPicPr>
          <ns0:cNvPr id="3" name="Picture 2" descr="A1_bg_blueprint_overlay.png"/>
          <ns0:cNvPicPr>
            <ns1:picLocks noChangeAspect="1"/>
          </ns0:cNvPicPr>
          <ns0:nvPr/>
        </ns0:nvPicPr>
        <ns0:blipFill>
          <ns1:blip ns2:embed="rId8"/>
          <ns1:stretch>
            <ns1:fillRect/>
          </ns1:stretch>
        </ns0:blipFill>
        <ns0:spPr>
          <ns1:xfrm>
            <ns1:off x="0" y="0"/>
            <ns1:ext cx="12191695" cy="6858000"/>
          </ns1:xfrm>
          <ns1:prstGeom prst="rect">
            <ns1:avLst/>
          </ns1:prstGeom>
          <ns1:ln>
            <ns1:solidFill/>
          </ns1:ln>
        </ns0:spPr>
      </ns0:pic>
      <ns0:pic>
        <ns0:nvPicPr>
          <ns0:cNvPr id="4" name="Picture 3" descr="A4_header_bar.png"/>
          <ns0:cNvPicPr>
            <ns1:picLocks noChangeAspect="1"/>
          </ns0:cNvPicPr>
          <ns0:nvPr/>
        </ns0:nvPicPr>
        <ns0:blipFill>
          <ns1:blip ns2:embed="rId3"/>
          <ns1:stretch>
            <ns1:fillRect/>
          </ns1:stretch>
        </ns0:blipFill>
        <ns0:spPr>
          <ns1:xfrm>
            <ns1:off x="658368" y="256032"/>
            <ns1:ext cx="4206240" cy="365760"/>
          </ns1:xfrm>
          <ns1:prstGeom prst="rect">
            <ns1:avLst/>
          </ns1:prstGeom>
          <ns1:ln>
            <ns1:solidFill/>
          </ns1:ln>
        </ns0:spPr>
      </ns0:pic>
      <ns0:pic>
        <ns0:nvPicPr>
          <ns0:cNvPr id="5" name="Picture 4" descr="A2_card_texture.png"/>
          <ns0:cNvPicPr>
            <ns1:picLocks noChangeAspect="1"/>
          </ns0:cNvPicPr>
          <ns0:nvPr/>
        </ns0:nvPicPr>
        <ns0:blipFill>
          <ns1:blip ns2:embed="rId4">
            <ns1:alphaModFix amt="9000"/>
          </ns1:blip>
          <ns1:stretch>
            <ns1:fillRect/>
          </ns1:stretch>
        </ns0:blipFill>
        <ns0:spPr>
          <ns1:xfrm>
            <ns1:off x="566928" y="1207008"/>
            <ns1:ext cx="11064240" cy="5413248"/>
          </ns1:xfrm>
          <ns1:prstGeom prst="rect">
            <ns1:avLst/>
          </ns1:prstGeom>
          <ns1:ln>
            <ns1:solidFill/>
          </ns1:ln>
        </ns0:spPr>
      </ns0:pic>
      <ns0:sp>
        <ns0:nvSpPr>
          <ns0:cNvPr id="6" name="TextBox 5"/>
          <ns0:cNvSpPr txBox="1"/>
          <ns0:nvPr/>
        </ns0:nvSpPr>
        <ns0:spPr>
          <ns1:xfrm>
            <ns1:off x="658368" y="640080"/>
            <ns1:ext cx="9966960" cy="749808"/>
          </ns1:xfrm>
          <ns1:prstGeom prst="rect">
            <ns1:avLst/>
          </ns1:prstGeom>
          <ns1:noFill/>
          <ns1:ln>
            <ns1:solidFill/>
          </ns1:ln>
        </ns0:spPr>
        <ns0:txBody>
          <ns1:bodyPr wrap="square" lIns="18288" rIns="18288" tIns="9144" bIns="9144">
            <ns1:spAutoFit/>
          </ns1:bodyPr>
          <ns1:lstStyle/>
          <ns1:p>
            <ns1:pPr algn="l"/>
            <ns1:r>
              <ns1:rPr sz="3300" b="1">
                <ns1:solidFill>
                  <ns1:srgbClr val="F7F9FC"/>
                </ns1:solidFill>
                <ns1:latin typeface="Calibri"/>
              </ns1:rPr>
              <ns1:t>Data receipt: moderation decisions (flags + UI contexts)</ns1:t>
            </ns1:r>
          </ns1:p>
        </ns0:txBody>
      </ns0:sp>
      <ns0:sp>
        <ns0:nvSpPr>
          <ns0:cNvPr id="7" name="TextBox 6"/>
          <ns0:cNvSpPr txBox="1"/>
          <ns0:nvPr/>
        </ns0:nvSpPr>
        <ns0:spPr>
          <ns1:xfrm>
            <ns1:off x="658368" y="1389888"/>
            <ns1:ext cx="10241280" cy="384048"/>
          </ns1:xfrm>
          <ns1:prstGeom prst="rect">
            <ns1:avLst/>
          </ns1:prstGeom>
          <ns1:noFill/>
          <ns1:ln>
            <ns1:solidFill/>
          </ns1:ln>
        </ns0:spPr>
        <ns0:txBody>
          <ns1:bodyPr wrap="square" lIns="18288" rIns="18288" tIns="9144" bIns="9144">
            <ns1:spAutoFit/>
          </ns1:bodyPr>
          <ns1:lstStyle/>
          <ns1:p>
            <ns1:pPr algn="l"/>
            <ns1:r>
              <ns1:rPr sz="2000" b="0">
                <ns1:solidFill>
                  <ns1:srgbClr val="B7C2D6"/>
                </ns1:solidFill>
                <ns1:latin typeface="Calibri"/>
              </ns1:rPr>
              <ns1:t>Takeaway: the same label can blur/warn/filter depending on context + prefs.</ns1:t>
            </ns1:r>
          </ns1:p>
        </ns0:txBody>
      </ns0:sp>
      <ns0:pic>
        <ns0:nvPicPr>
          <ns0:cNvPr id="8" name="Picture 7" descr="B3_ui.png"/>
          <ns0:cNvPicPr>
            <ns1:picLocks noChangeAspect="1"/>
          </ns0:cNvPicPr>
          <ns0:nvPr/>
        </ns0:nvPicPr>
        <ns0:blipFill>
          <ns1:blip ns2:embed="rId9"/>
          <ns1:stretch>
            <ns1:fillRect/>
          </ns1:stretch>
        </ns0:blipFill>
        <ns0:spPr>
          <ns1:xfrm>
            <ns1:off x="3703320" y="1920240"/>
            <ns1:ext cx="7845552" cy="4413123"/>
          </ns1:xfrm>
          <ns1:prstGeom prst="rect">
            <ns1:avLst/>
          </ns1:prstGeom>
          <ns1:ln>
            <ns1:solidFill/>
          </ns1:ln>
        </ns0:spPr>
      </ns0:pic>
      <ns0:pic>
        <ns0:nvPicPr>
          <ns0:cNvPr id="9" name="Picture 8" descr="S3_icon.png"/>
          <ns0:cNvPicPr>
            <ns1:picLocks noChangeAspect="1"/>
          </ns0:cNvPicPr>
          <ns0:nvPr/>
        </ns0:nvPicPr>
        <ns0:blipFill>
          <ns1:blip ns2:embed="rId6"/>
          <ns1:stretch>
            <ns1:fillRect/>
          </ns1:stretch>
        </ns0:blipFill>
        <ns0:spPr>
          <ns1:xfrm>
            <ns1:off x="10314432" y="475488"/>
            <ns1:ext cx="1097280" cy="1097280"/>
          </ns1:xfrm>
          <ns1:prstGeom prst="rect">
            <ns1:avLst/>
          </ns1:prstGeom>
          <ns1:ln>
            <ns1:solidFill/>
          </ns1:ln>
        </ns0:spPr>
      </ns0:pic>
      <ns0:sp>
        <ns0:nvSpPr>
          <ns0:cNvPr id="10" name="Rounded Rectangle 9"/>
          <ns0:cNvSpPr/>
          <ns0:nvPr/>
        </ns0:nvSpPr>
        <ns0:spPr>
          <ns1:xfrm>
            <ns1:off x="658368" y="1883664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4130">
            <ns1:solidFill>
              <ns1:srgbClr val="AA6EE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A. moderatePost()</ns1:t>
            </ns1:r>
          </ns1:p>
        </ns0:txBody>
      </ns0:sp>
      <ns0:sp>
        <ns0:nvSpPr>
          <ns0:cNvPr id="11" name="Rounded Rectangle 10"/>
          <ns0:cNvSpPr/>
          <ns0:nvPr/>
        </ns0:nvSpPr>
        <ns0:spPr>
          <ns1:xfrm>
            <ns1:off x="658368" y="2395728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4130">
            <ns1:solidFill>
              <ns1:srgbClr val="AA6EE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post + prefs → decision</ns1:t>
            </ns1:r>
          </ns1:p>
        </ns0:txBody>
      </ns0:sp>
      <ns0:sp>
        <ns0:nvSpPr>
          <ns0:cNvPr id="12" name="Rounded Rectangle 11"/>
          <ns0:cNvSpPr/>
          <ns0:nvPr/>
        </ns0:nvSpPr>
        <ns0:spPr>
          <ns1:xfrm>
            <ns1:off x="658368" y="2907792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4130">
            <ns1:solidFill>
              <ns1:srgbClr val="FFA565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B. Output flags</ns1:t>
            </ns1:r>
          </ns1:p>
        </ns0:txBody>
      </ns0:sp>
      <ns0:sp>
        <ns0:nvSpPr>
          <ns0:cNvPr id="13" name="Rounded Rectangle 12"/>
          <ns0:cNvSpPr/>
          <ns0:nvPr/>
        </ns0:nvSpPr>
        <ns0:spPr>
          <ns1:xfrm>
            <ns1:off x="658368" y="3419856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4130">
            <ns1:solidFill>
              <ns1:srgbClr val="FFA565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filter / blur / alert / inform</ns1:t>
            </ns1:r>
          </ns1:p>
        </ns0:txBody>
      </ns0:sp>
      <ns0:sp>
        <ns0:nvSpPr>
          <ns0:cNvPr id="14" name="Rounded Rectangle 13"/>
          <ns0:cNvSpPr/>
          <ns0:nvPr/>
        </ns0:nvSpPr>
        <ns0:spPr>
          <ns1:xfrm>
            <ns1:off x="658368" y="3931920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4130">
            <ns1:solidFill>
              <ns1:srgbClr val="FF8B9B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C. UI contexts</ns1:t>
            </ns1:r>
          </ns1:p>
        </ns0:txBody>
      </ns0:sp>
      <ns0:sp>
        <ns0:nvSpPr>
          <ns0:cNvPr id="15" name="Rounded Rectangle 14"/>
          <ns0:cNvSpPr/>
          <ns0:nvPr/>
        </ns0:nvSpPr>
        <ns0:spPr>
          <ns1:xfrm>
            <ns1:off x="658368" y="4443984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4130">
            <ns1:solidFill>
              <ns1:srgbClr val="FF8B9B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contentList vs view vs media</ns1:t>
            </ns1:r>
          </ns1:p>
        </ns0:txBody>
      </ns0:sp>
      <ns0:sp>
        <ns0:nvSpPr>
          <ns0:cNvPr id="16" name="Rounded Rectangle 15"/>
          <ns0:cNvSpPr/>
          <ns0:nvPr/>
        </ns0:nvSpPr>
        <ns0:spPr>
          <ns1:xfrm>
            <ns1:off x="658368" y="4956048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4130">
            <ns1:solidFill>
              <ns1:srgbClr val="FF8B9B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Docs grounding</ns1:t>
            </ns1:r>
          </ns1:p>
        </ns0:txBody>
      </ns0:sp>
      <ns0:sp>
        <ns0:nvSpPr>
          <ns0:cNvPr id="17" name="Oval 16"/>
          <ns0:cNvSpPr/>
          <ns0:nvPr/>
        </ns0:nvSpPr>
        <ns0:spPr>
          <ns1:xfrm>
            <ns1:off x="3511296" y="2011680"/>
            <ns1:ext cx="310896" cy="310896"/>
          </ns1:xfrm>
          <ns1:prstGeom prst="ellipse">
            <ns1:avLst/>
          </ns1:prstGeom>
          <ns1:solidFill>
            <ns1:srgbClr val="AA6EE7"/>
          </ns1:solidFill>
          <ns1:ln>
            <ns1:solid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A</ns1:t>
            </ns1:r>
          </ns1:p>
        </ns0:txBody>
      </ns0:sp>
      <ns0:sp>
        <ns0:nvSpPr>
          <ns0:cNvPr id="18" name="Rectangle 17"/>
          <ns0:cNvSpPr/>
          <ns0:nvPr/>
        </ns0:nvSpPr>
        <ns0:spPr>
          <ns1:xfrm>
            <ns1:off x="3776472" y="1975104"/>
            <ns1:ext cx="7699248" cy="1304106"/>
          </ns1:xfrm>
          <ns1:prstGeom prst="rect">
            <ns1:avLst/>
          </ns1:prstGeom>
          <ns1:noFill/>
          <ns1:ln w="33020">
            <ns1:solidFill>
              <ns1:srgbClr val="AA6EE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9" name="Oval 18"/>
          <ns0:cNvSpPr/>
          <ns0:nvPr/>
        </ns0:nvSpPr>
        <ns0:spPr>
          <ns1:xfrm>
            <ns1:off x="3511296" y="3511325"/>
            <ns1:ext cx="310896" cy="310896"/>
          </ns1:xfrm>
          <ns1:prstGeom prst="ellipse">
            <ns1:avLst/>
          </ns1:prstGeom>
          <ns1:solidFill>
            <ns1:srgbClr val="FFA565"/>
          </ns1:solidFill>
          <ns1:ln>
            <ns1:solid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B</ns1:t>
            </ns1:r>
          </ns1:p>
        </ns0:txBody>
      </ns0:sp>
      <ns0:sp>
        <ns0:nvSpPr>
          <ns0:cNvPr id="20" name="Rectangle 19"/>
          <ns0:cNvSpPr/>
          <ns0:nvPr/>
        </ns0:nvSpPr>
        <ns0:spPr>
          <ns1:xfrm>
            <ns1:off x="3776472" y="3474749"/>
            <ns1:ext cx="7699248" cy="1304106"/>
          </ns1:xfrm>
          <ns1:prstGeom prst="rect">
            <ns1:avLst/>
          </ns1:prstGeom>
          <ns1:noFill/>
          <ns1:ln w="33020">
            <ns1:solidFill>
              <ns1:srgbClr val="FFA565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21" name="Oval 20"/>
          <ns0:cNvSpPr/>
          <ns0:nvPr/>
        </ns0:nvSpPr>
        <ns0:spPr>
          <ns1:xfrm>
            <ns1:off x="3511296" y="5010969"/>
            <ns1:ext cx="310896" cy="310896"/>
          </ns1:xfrm>
          <ns1:prstGeom prst="ellipse">
            <ns1:avLst/>
          </ns1:prstGeom>
          <ns1:solidFill>
            <ns1:srgbClr val="FF8B9B"/>
          </ns1:solidFill>
          <ns1:ln>
            <ns1:solid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C</ns1:t>
            </ns1:r>
          </ns1:p>
        </ns0:txBody>
      </ns0:sp>
      <ns0:sp>
        <ns0:nvSpPr>
          <ns0:cNvPr id="22" name="Rectangle 21"/>
          <ns0:cNvSpPr/>
          <ns0:nvPr/>
        </ns0:nvSpPr>
        <ns0:spPr>
          <ns1:xfrm>
            <ns1:off x="3776472" y="4974393"/>
            <ns1:ext cx="7699248" cy="1304106"/>
          </ns1:xfrm>
          <ns1:prstGeom prst="rect">
            <ns1:avLst/>
          </ns1:prstGeom>
          <ns1:noFill/>
          <ns1:ln w="33020">
            <ns1:solidFill>
              <ns1:srgbClr val="FF8B9B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</ns0:spTree>
  </ns0:cSld>
  <ns0:clrMapOvr>
    <ns1:masterClrMapping/>
  </ns0:clrMapOvr>
  <ns0:transition spd="slow">
    <ns0:fade/>
  </ns0:transition>
  <ns0:timing>
    <ns0:tnLst>
      <ns0:par>
        <ns0:cTn id="1" dur="indefinite" restart="never" nodeType="tmRoot">
          <ns0:childTnLst>
            <ns0:seq concurrent="1" nextAc="seek">
              <ns0:cTn id="2" dur="indefinite" nodeType="mainSeq">
                <ns0:childTnLst>
                  <ns0:par>
                    <ns0:cTn id="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" dur="220"/>
                                        <ns0:tgtEl>
                                          <ns0:spTgt spid="6"/>
                                        </ns0:tgtEl>
                                      </ns0:cBhvr>
                                    </ns0:animEffect>
                                    <ns0:set>
                                      <ns0:cBhvr>
                                        <ns0:cTn id="8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9" dur="220"/>
                                        <ns0:tgtEl>
                                          <ns0:spTgt spid="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0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1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2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3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4" dur="220"/>
                                        <ns0:tgtEl>
                                          <ns0:spTgt spid="8"/>
                                        </ns0:tgtEl>
                                      </ns0:cBhvr>
                                    </ns0:animEffect>
                                    <ns0:set>
                                      <ns0:cBhvr>
                                        <ns0:cTn id="15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6" dur="220"/>
                                        <ns0:tgtEl>
                                          <ns0:spTgt spid="9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7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8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9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0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1" dur="220"/>
                                        <ns0:tgtEl>
                                          <ns0:spTgt spid="1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22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23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24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5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6" dur="220"/>
                                        <ns0:tgtEl>
                                          <ns0:spTgt spid="11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27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28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29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0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1" dur="220"/>
                                        <ns0:tgtEl>
                                          <ns0:spTgt spid="1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32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33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34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5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3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6" dur="220"/>
                                        <ns0:tgtEl>
                                          <ns0:spTgt spid="13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37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38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39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0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1" dur="220"/>
                                        <ns0:tgtEl>
                                          <ns0:spTgt spid="1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42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3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44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5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6" dur="220"/>
                                        <ns0:tgtEl>
                                          <ns0:spTgt spid="1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47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8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49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50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1" dur="220"/>
                                        <ns0:tgtEl>
                                          <ns0:spTgt spid="16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52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53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4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55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6" dur="220"/>
                                        <ns0:tgtEl>
                                          <ns0:spTgt spid="17"/>
                                        </ns0:tgtEl>
                                      </ns0:cBhvr>
                                    </ns0:animEffect>
                                    <ns0:set>
                                      <ns0:cBhvr>
                                        <ns0:cTn id="57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8" dur="220"/>
                                        <ns0:tgtEl>
                                          <ns0:spTgt spid="18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59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60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61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2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63" dur="220"/>
                                        <ns0:tgtEl>
                                          <ns0:spTgt spid="19"/>
                                        </ns0:tgtEl>
                                      </ns0:cBhvr>
                                    </ns0:animEffect>
                                    <ns0:set>
                                      <ns0:cBhvr>
                                        <ns0:cTn id="64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65" dur="220"/>
                                        <ns0:tgtEl>
                                          <ns0:spTgt spid="2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66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67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68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9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0" dur="220"/>
                                        <ns0:tgtEl>
                                          <ns0:spTgt spid="21"/>
                                        </ns0:tgtEl>
                                      </ns0:cBhvr>
                                    </ns0:animEffect>
                                    <ns0:set>
                                      <ns0:cBhvr>
                                        <ns0:cTn id="7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2" dur="220"/>
                                        <ns0:tgtEl>
                                          <ns0:spTgt spid="2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</ns0:childTnLst>
              </ns0:cTn>
              <ns0:prevCondLst>
                <ns0:cond evt="onPrev" delay="0">
                  <ns0:tgtEl>
                    <ns0:sldTgt/>
                  </ns0:tgtEl>
                </ns0:cond>
              </ns0:prevCondLst>
              <ns0:nextCondLst>
                <ns0:cond evt="onNext" delay="0">
                  <ns0:tgtEl>
                    <ns0:sldTgt/>
                  </ns0:tgtEl>
                </ns0:cond>
              </ns0:nextCondLst>
            </ns0:seq>
          </ns0:childTnLst>
        </ns0:cTn>
      </ns0:par>
    </ns0:tnLst>
    <ns0:bldLst>
      <ns0:bldP spid="6" grpId="0" animBg="1"/>
      <ns0:bldP spid="7" grpId="0" animBg="1"/>
      <ns0:bldP spid="8" grpId="0" animBg="1"/>
      <ns0:bldP spid="9" grpId="0" animBg="1"/>
      <ns0:bldP spid="10" grpId="0" animBg="1"/>
      <ns0:bldP spid="11" grpId="0" animBg="1"/>
      <ns0:bldP spid="12" grpId="0" animBg="1"/>
      <ns0:bldP spid="13" grpId="0" animBg="1"/>
      <ns0:bldP spid="14" grpId="0" animBg="1"/>
      <ns0:bldP spid="15" grpId="0" animBg="1"/>
      <ns0:bldP spid="16" grpId="0" animBg="1"/>
      <ns0:bldP spid="17" grpId="0" animBg="1"/>
      <ns0:bldP spid="18" grpId="0" animBg="1"/>
      <ns0:bldP spid="19" grpId="0" animBg="1"/>
      <ns0:bldP spid="20" grpId="0" animBg="1"/>
      <ns0:bldP spid="21" grpId="0" animBg="1"/>
      <ns0:bldP spid="22" grpId="0" animBg="1"/>
    </ns0:bldLst>
  </ns0:timing>
</ns0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  <a:ln>
            <a:solidFill/>
          </a:ln>
        </p:spPr>
      </p:pic>
      <p:pic>
        <p:nvPicPr>
          <p:cNvPr id="4" name="Picture 3" descr="A3_divider_stri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320040"/>
          </a:xfrm>
          <a:prstGeom prst="rect">
            <a:avLst/>
          </a:prstGeom>
          <a:ln>
            <a:solidFill/>
          </a:ln>
        </p:spPr>
      </p:pic>
      <p:pic>
        <p:nvPicPr>
          <p:cNvPr id="5" name="Picture 4" descr="A7_photo_overla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5824" y="1335024"/>
            <a:ext cx="3840480" cy="4425696"/>
          </a:xfrm>
          <a:prstGeom prst="rect">
            <a:avLst/>
          </a:prstGeom>
          <a:ln>
            <a:solidFill/>
          </a:ln>
        </p:spPr>
      </p:pic>
      <p:pic>
        <p:nvPicPr>
          <p:cNvPr id="6" name="Picture 5" descr="A9_cha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79408" y="292608"/>
            <a:ext cx="1691640" cy="841248"/>
          </a:xfrm>
          <a:prstGeom prst="rect">
            <a:avLst/>
          </a:prstGeom>
          <a:ln>
            <a:solidFill/>
          </a:ln>
        </p:spPr>
      </p:pic>
      <p:pic>
        <p:nvPicPr>
          <p:cNvPr id="7" name="Picture 6" descr="S4_ic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87000" y="475488"/>
            <a:ext cx="1078992" cy="1078992"/>
          </a:xfrm>
          <a:prstGeom prst="rect">
            <a:avLst/>
          </a:prstGeom>
          <a:ln>
            <a:solidFill/>
          </a:ln>
        </p:spPr>
      </p:pic>
      <p:sp>
        <p:nvSpPr>
          <p:cNvPr id="8" name="TextBox 7"/>
          <p:cNvSpPr txBox="1"/>
          <p:nvPr/>
        </p:nvSpPr>
        <p:spPr>
          <a:xfrm>
            <a:off x="658368" y="566928"/>
            <a:ext cx="9326880" cy="749808"/>
          </a:xfrm>
          <a:prstGeom prst="rect">
            <a:avLst/>
          </a:prstGeom>
          <a:noFill/>
          <a:ln>
            <a:solidFill/>
          </a:ln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400" b="1">
                <a:solidFill>
                  <a:srgbClr val="F7F9FC"/>
                </a:solidFill>
                <a:latin typeface="Calibri"/>
              </a:rPr>
              <a:t>Collection credibility (one slide)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408176"/>
            <a:ext cx="4754880" cy="4480560"/>
          </a:xfrm>
          <a:prstGeom prst="roundRect">
            <a:avLst/>
          </a:prstGeom>
          <a:solidFill>
            <a:srgbClr val="111C2D"/>
          </a:solidFill>
          <a:ln w="17780">
            <a:solidFill>
              <a:srgbClr val="2B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Read-only XRPC summary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Relay + AppView reads.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GET-only in this run.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POST auth only if auth mode is used.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No posting actions.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23560" y="1408176"/>
            <a:ext cx="5897880" cy="4480560"/>
          </a:xfrm>
          <a:prstGeom prst="roundRect">
            <a:avLst/>
          </a:prstGeom>
          <a:solidFill>
            <a:srgbClr val="111C2D"/>
          </a:solidFill>
          <a:ln w="17780">
            <a:solidFill>
              <a:srgbClr val="2B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7-stage pipeline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relay -&gt; index -&gt; packs -&gt; popular -&gt; enrich -&gt; panel -&gt; snapshot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Reproducibility: state.db, manifest.csv, data_dictionary.csv, validation_report.csv.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</p:bld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  <a:ln>
            <a:solidFill/>
          </a:ln>
        </p:spPr>
      </p:pic>
      <p:pic>
        <p:nvPicPr>
          <p:cNvPr id="4" name="Picture 3" descr="A4_header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37744"/>
            <a:ext cx="4206240" cy="365760"/>
          </a:xfrm>
          <a:prstGeom prst="rect">
            <a:avLst/>
          </a:prstGeom>
          <a:ln>
            <a:solidFill/>
          </a:ln>
        </p:spPr>
      </p:pic>
      <p:pic>
        <p:nvPicPr>
          <p:cNvPr id="5" name="Picture 4" descr="A8_donu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85248" y="219456"/>
            <a:ext cx="1225296" cy="1225296"/>
          </a:xfrm>
          <a:prstGeom prst="rect">
            <a:avLst/>
          </a:prstGeom>
          <a:ln>
            <a:solidFill/>
          </a:ln>
        </p:spPr>
      </p:pic>
      <p:pic>
        <p:nvPicPr>
          <p:cNvPr id="6" name="Picture 5" descr="S5_ic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87000" y="475488"/>
            <a:ext cx="1078992" cy="1078992"/>
          </a:xfrm>
          <a:prstGeom prst="rect">
            <a:avLst/>
          </a:prstGeom>
          <a:ln>
            <a:solidFill/>
          </a:ln>
        </p:spPr>
      </p:pic>
      <p:sp>
        <p:nvSpPr>
          <p:cNvPr id="7" name="TextBox 6"/>
          <p:cNvSpPr txBox="1"/>
          <p:nvPr/>
        </p:nvSpPr>
        <p:spPr>
          <a:xfrm>
            <a:off x="658368" y="566928"/>
            <a:ext cx="9692640" cy="749808"/>
          </a:xfrm>
          <a:prstGeom prst="rect">
            <a:avLst/>
          </a:prstGeom>
          <a:noFill/>
          <a:ln>
            <a:solidFill/>
          </a:ln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400" b="1">
                <a:solidFill>
                  <a:srgbClr val="F7F9FC"/>
                </a:solidFill>
                <a:latin typeface="Calibri"/>
              </a:rPr>
              <a:t>What this enables next + advisor asks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426464"/>
            <a:ext cx="6766560" cy="4572000"/>
          </a:xfrm>
          <a:prstGeom prst="roundRect">
            <a:avLst/>
          </a:prstGeom>
          <a:solidFill>
            <a:srgbClr val="111C2D"/>
          </a:solidFill>
          <a:ln w="17780">
            <a:solidFill>
              <a:srgbClr val="2B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Ready measurements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RQ1: measure discovery concentration.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RQ2: map provider leverage.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RQ3: test same winner overlap.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RQ4: compare label variability.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44383" y="1792224"/>
            <a:ext cx="3840480" cy="3566160"/>
          </a:xfrm>
          <a:prstGeom prst="roundRect">
            <a:avLst/>
          </a:prstGeom>
          <a:solidFill>
            <a:srgbClr val="111C2D"/>
          </a:solidFill>
          <a:ln w="17780">
            <a:solidFill>
              <a:srgbClr val="2B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What I need from you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Ask 1: priority RQs and venue fit.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Ask 2: recollect longitudinal, auth mode, or experiments?</a:t>
            </a:r>
          </a:p>
        </p:txBody>
      </p:sp>
      <p:pic>
        <p:nvPicPr>
          <p:cNvPr id="10" name="Picture 9" descr="A6_illustrati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50224" y="3858768"/>
            <a:ext cx="2487168" cy="1938528"/>
          </a:xfrm>
          <a:prstGeom prst="rect">
            <a:avLst/>
          </a:prstGeom>
          <a:ln>
            <a:solidFill/>
          </a:ln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</p:bld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  <a:ln>
            <a:solidFill/>
          </a:ln>
        </p:spPr>
      </p:pic>
      <p:pic>
        <p:nvPicPr>
          <p:cNvPr id="4" name="Picture 3" descr="A4_header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37744"/>
            <a:ext cx="4206240" cy="365760"/>
          </a:xfrm>
          <a:prstGeom prst="rect">
            <a:avLst/>
          </a:prstGeom>
          <a:ln>
            <a:solidFill/>
          </a:ln>
        </p:spPr>
      </p:pic>
      <p:pic>
        <p:nvPicPr>
          <p:cNvPr id="5" name="Picture 4" descr="A9_ch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02368" y="237744"/>
            <a:ext cx="1627632" cy="841248"/>
          </a:xfrm>
          <a:prstGeom prst="rect">
            <a:avLst/>
          </a:prstGeom>
          <a:ln>
            <a:solidFill/>
          </a:ln>
        </p:spPr>
      </p:pic>
      <p:pic>
        <p:nvPicPr>
          <p:cNvPr id="6" name="Picture 5" descr="S2_ic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87000" y="475488"/>
            <a:ext cx="1078992" cy="1078992"/>
          </a:xfrm>
          <a:prstGeom prst="rect">
            <a:avLst/>
          </a:prstGeom>
          <a:ln>
            <a:solidFill/>
          </a:ln>
        </p:spPr>
      </p:pic>
      <p:sp>
        <p:nvSpPr>
          <p:cNvPr id="7" name="TextBox 6"/>
          <p:cNvSpPr txBox="1"/>
          <p:nvPr/>
        </p:nvSpPr>
        <p:spPr>
          <a:xfrm>
            <a:off x="658368" y="566928"/>
            <a:ext cx="9875520" cy="749808"/>
          </a:xfrm>
          <a:prstGeom prst="rect">
            <a:avLst/>
          </a:prstGeom>
          <a:noFill/>
          <a:ln>
            <a:solidFill/>
          </a:ln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200" b="1">
                <a:solidFill>
                  <a:srgbClr val="F7F9FC"/>
                </a:solidFill>
                <a:latin typeface="Calibri"/>
              </a:rPr>
              <a:t>Backup: API surfaces (names only)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554480"/>
            <a:ext cx="10515600" cy="4526280"/>
          </a:xfrm>
          <a:prstGeom prst="roundRect">
            <a:avLst/>
          </a:prstGeom>
          <a:solidFill>
            <a:srgbClr val="111C2D"/>
          </a:solidFill>
          <a:ln w="17780">
            <a:solidFill>
              <a:srgbClr val="2B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Surface | Names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Relay | com.atproto.sync.listReposByCollection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AppView | getActorFeeds, getFeedGenerators, getStarterPack, getFeed, getProfiles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PDS/Auth | createSession, refreshSession (auth mode only)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  <a:ln>
            <a:solidFill/>
          </a:ln>
        </p:spPr>
      </p:pic>
      <p:pic>
        <p:nvPicPr>
          <p:cNvPr id="4" name="Picture 3" descr="A3_divider_stri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301752"/>
          </a:xfrm>
          <a:prstGeom prst="rect">
            <a:avLst/>
          </a:prstGeom>
          <a:ln>
            <a:solidFill/>
          </a:ln>
        </p:spPr>
      </p:pic>
      <p:pic>
        <p:nvPicPr>
          <p:cNvPr id="5" name="Picture 4" descr="A2_card_texture.png"/>
          <p:cNvPicPr>
            <a:picLocks noChangeAspect="1"/>
          </p:cNvPicPr>
          <p:nvPr/>
        </p:nvPicPr>
        <p:blipFill>
          <a:blip r:embed="rId4">
            <a:alphaModFix amt="9000"/>
          </a:blip>
          <a:stretch>
            <a:fillRect/>
          </a:stretch>
        </p:blipFill>
        <p:spPr>
          <a:xfrm>
            <a:off x="566928" y="1188720"/>
            <a:ext cx="11064240" cy="5212080"/>
          </a:xfrm>
          <a:prstGeom prst="rect">
            <a:avLst/>
          </a:prstGeom>
          <a:ln>
            <a:solidFill/>
          </a:ln>
        </p:spPr>
      </p:pic>
      <p:pic>
        <p:nvPicPr>
          <p:cNvPr id="6" name="Picture 5" descr="S3_ic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87000" y="475488"/>
            <a:ext cx="1078992" cy="1078992"/>
          </a:xfrm>
          <a:prstGeom prst="rect">
            <a:avLst/>
          </a:prstGeom>
          <a:ln>
            <a:solidFill/>
          </a:ln>
        </p:spPr>
      </p:pic>
      <p:sp>
        <p:nvSpPr>
          <p:cNvPr id="7" name="TextBox 6"/>
          <p:cNvSpPr txBox="1"/>
          <p:nvPr/>
        </p:nvSpPr>
        <p:spPr>
          <a:xfrm>
            <a:off x="658368" y="566928"/>
            <a:ext cx="9875520" cy="749808"/>
          </a:xfrm>
          <a:prstGeom prst="rect">
            <a:avLst/>
          </a:prstGeom>
          <a:noFill/>
          <a:ln>
            <a:solidFill/>
          </a:ln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200" b="1">
                <a:solidFill>
                  <a:srgbClr val="F7F9FC"/>
                </a:solidFill>
                <a:latin typeface="Calibri"/>
              </a:rPr>
              <a:t>Backup: folder layout + trust stamps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572768"/>
            <a:ext cx="5486400" cy="4754880"/>
          </a:xfrm>
          <a:prstGeom prst="roundRect">
            <a:avLst/>
          </a:prstGeom>
          <a:solidFill>
            <a:srgbClr val="111C2D"/>
          </a:solidFill>
          <a:ln w="17780">
            <a:solidFill>
              <a:srgbClr val="2B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Run directory layout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01_state_db/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02_csv_exports/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03_postprocess_metrics/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04_logs/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05_manifest/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06_figures_preview/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07_archive_zip/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19088" y="1572768"/>
            <a:ext cx="5029200" cy="4754880"/>
          </a:xfrm>
          <a:prstGeom prst="roundRect">
            <a:avLst/>
          </a:prstGeom>
          <a:solidFill>
            <a:srgbClr val="111C2D"/>
          </a:solidFill>
          <a:ln w="17780">
            <a:solidFill>
              <a:srgbClr val="2B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Trust stamps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run_metadata.csv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run_summary.csv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manifest.csv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data_dictionary.csv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validation_report.csv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state.db</a:t>
            </a:r>
          </a:p>
        </p:txBody>
      </p:sp>
      <p:pic>
        <p:nvPicPr>
          <p:cNvPr id="10" name="Picture 9" descr="A5_illustrati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07424" y="4425696"/>
            <a:ext cx="2249424" cy="1755648"/>
          </a:xfrm>
          <a:prstGeom prst="rect">
            <a:avLst/>
          </a:prstGeom>
          <a:ln>
            <a:solidFill/>
          </a:ln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</p:bld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  <a:ln>
            <a:solidFill/>
          </a:ln>
        </p:spPr>
      </p:pic>
      <p:pic>
        <p:nvPicPr>
          <p:cNvPr id="4" name="Picture 3" descr="A4_header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56032"/>
            <a:ext cx="4206240" cy="365760"/>
          </a:xfrm>
          <a:prstGeom prst="rect">
            <a:avLst/>
          </a:prstGeom>
          <a:ln>
            <a:solidFill/>
          </a:ln>
        </p:spPr>
      </p:pic>
      <p:pic>
        <p:nvPicPr>
          <p:cNvPr id="5" name="Picture 4" descr="A2_card_texture.png"/>
          <p:cNvPicPr>
            <a:picLocks noChangeAspect="1"/>
          </p:cNvPicPr>
          <p:nvPr/>
        </p:nvPicPr>
        <p:blipFill>
          <a:blip r:embed="rId4">
            <a:alphaModFix amt="9000"/>
          </a:blip>
          <a:stretch>
            <a:fillRect/>
          </a:stretch>
        </p:blipFill>
        <p:spPr>
          <a:xfrm>
            <a:off x="566928" y="1207008"/>
            <a:ext cx="11064240" cy="5413248"/>
          </a:xfrm>
          <a:prstGeom prst="rect">
            <a:avLst/>
          </a:prstGeom>
          <a:ln>
            <a:solidFill/>
          </a:ln>
        </p:spPr>
      </p:pic>
      <p:sp>
        <p:nvSpPr>
          <p:cNvPr id="6" name="TextBox 5"/>
          <p:cNvSpPr txBox="1"/>
          <p:nvPr/>
        </p:nvSpPr>
        <p:spPr>
          <a:xfrm>
            <a:off x="658368" y="640080"/>
            <a:ext cx="9692640" cy="749808"/>
          </a:xfrm>
          <a:prstGeom prst="rect">
            <a:avLst/>
          </a:prstGeom>
          <a:noFill/>
          <a:ln>
            <a:solidFill/>
          </a:ln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300" b="1">
                <a:solidFill>
                  <a:srgbClr val="F7F9FC"/>
                </a:solidFill>
                <a:latin typeface="Calibri"/>
              </a:rPr>
              <a:t>Bluesky UI: labeling surfaces (official)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9875520" cy="384048"/>
          </a:xfrm>
          <a:prstGeom prst="rect">
            <a:avLst/>
          </a:prstGeom>
          <a:noFill/>
          <a:ln>
            <a:solidFill/>
          </a:ln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000" b="0">
                <a:solidFill>
                  <a:srgbClr val="B7C2D6"/>
                </a:solidFill>
                <a:latin typeface="Calibri"/>
              </a:rPr>
              <a:t>Takeaway: labels are user-facing controls that shape what gets shown or filtered.</a:t>
            </a:r>
          </a:p>
        </p:txBody>
      </p:sp>
      <p:pic>
        <p:nvPicPr>
          <p:cNvPr id="8" name="Picture 7" descr="B1_ui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03320" y="1920240"/>
            <a:ext cx="7845552" cy="4413123"/>
          </a:xfrm>
          <a:prstGeom prst="rect">
            <a:avLst/>
          </a:prstGeom>
          <a:ln>
            <a:solidFill/>
          </a:ln>
        </p:spPr>
      </p:pic>
      <p:pic>
        <p:nvPicPr>
          <p:cNvPr id="9" name="Picture 8" descr="S2_ic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14432" y="475488"/>
            <a:ext cx="1097280" cy="1097280"/>
          </a:xfrm>
          <a:prstGeom prst="rect">
            <a:avLst/>
          </a:prstGeom>
          <a:ln>
            <a:solidFill/>
          </a:ln>
        </p:spPr>
      </p:pic>
      <p:sp>
        <p:nvSpPr>
          <p:cNvPr id="10" name="Rounded Rectangle 9"/>
          <p:cNvSpPr/>
          <p:nvPr/>
        </p:nvSpPr>
        <p:spPr>
          <a:xfrm>
            <a:off x="658368" y="1883664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AA6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A. Self-label button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395728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AA6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Composer surface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907792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FFA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B. Content warning picker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419856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FFA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Adult Content options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931920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FF8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C. Labeled post banner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4443984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FF8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Attribution to labeler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956048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FF8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Why it matters: filtering + exposure</a:t>
            </a:r>
          </a:p>
        </p:txBody>
      </p:sp>
      <p:sp>
        <p:nvSpPr>
          <p:cNvPr id="17" name="Oval 16"/>
          <p:cNvSpPr/>
          <p:nvPr/>
        </p:nvSpPr>
        <p:spPr>
          <a:xfrm>
            <a:off x="3756870" y="2275542"/>
            <a:ext cx="310896" cy="310896"/>
          </a:xfrm>
          <a:prstGeom prst="ellipse">
            <a:avLst/>
          </a:prstGeom>
          <a:solidFill>
            <a:srgbClr val="AA6EE7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22046" y="2238966"/>
            <a:ext cx="7208101" cy="997039"/>
          </a:xfrm>
          <a:prstGeom prst="rect">
            <a:avLst/>
          </a:prstGeom>
          <a:noFill/>
          <a:ln w="33020">
            <a:solidFill>
              <a:srgbClr val="AA6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756870" y="3566789"/>
            <a:ext cx="310896" cy="310896"/>
          </a:xfrm>
          <a:prstGeom prst="ellipse">
            <a:avLst/>
          </a:prstGeom>
          <a:solidFill>
            <a:srgbClr val="FFA565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022046" y="3530213"/>
            <a:ext cx="3456946" cy="2484425"/>
          </a:xfrm>
          <a:prstGeom prst="rect">
            <a:avLst/>
          </a:prstGeom>
          <a:noFill/>
          <a:ln w="33020">
            <a:solidFill>
              <a:srgbClr val="FFA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508024" y="3566789"/>
            <a:ext cx="310896" cy="310896"/>
          </a:xfrm>
          <a:prstGeom prst="ellipse">
            <a:avLst/>
          </a:prstGeom>
          <a:solidFill>
            <a:srgbClr val="FF8B9B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3200" y="3530213"/>
            <a:ext cx="3456946" cy="2484425"/>
          </a:xfrm>
          <a:prstGeom prst="rect">
            <a:avLst/>
          </a:prstGeom>
          <a:noFill/>
          <a:ln w="33020">
            <a:solidFill>
              <a:srgbClr val="FF8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3511296" y="2368296"/>
            <a:ext cx="510750" cy="369190"/>
          </a:xfrm>
          <a:prstGeom prst="line">
            <a:avLst/>
          </a:prstGeom>
          <a:ln w="15240">
            <a:solidFill>
              <a:srgbClr val="B7C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511296" y="3392424"/>
            <a:ext cx="510750" cy="1380002"/>
          </a:xfrm>
          <a:prstGeom prst="line">
            <a:avLst/>
          </a:prstGeom>
          <a:ln w="15240">
            <a:solidFill>
              <a:srgbClr val="B7C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2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2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2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2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2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2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2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2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2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23" grpId="0" animBg="1"/>
      <p:bldP spid="19" grpId="0" animBg="1"/>
      <p:bldP spid="20" grpId="0" animBg="1"/>
      <p:bldP spid="24" grpId="0" animBg="1"/>
      <p:bldP spid="21" grpId="0" animBg="1"/>
      <p:bldP spid="22" grpId="0" animBg="1"/>
    </p:bld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  <a:ln>
            <a:solidFill/>
          </a:ln>
        </p:spPr>
      </p:pic>
      <p:pic>
        <p:nvPicPr>
          <p:cNvPr id="4" name="Picture 3" descr="A4_header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56032"/>
            <a:ext cx="4206240" cy="365760"/>
          </a:xfrm>
          <a:prstGeom prst="rect">
            <a:avLst/>
          </a:prstGeom>
          <a:ln>
            <a:solidFill/>
          </a:ln>
        </p:spPr>
      </p:pic>
      <p:pic>
        <p:nvPicPr>
          <p:cNvPr id="5" name="Picture 4" descr="A2_card_texture.png"/>
          <p:cNvPicPr>
            <a:picLocks noChangeAspect="1"/>
          </p:cNvPicPr>
          <p:nvPr/>
        </p:nvPicPr>
        <p:blipFill>
          <a:blip r:embed="rId4">
            <a:alphaModFix amt="9000"/>
          </a:blip>
          <a:stretch>
            <a:fillRect/>
          </a:stretch>
        </p:blipFill>
        <p:spPr>
          <a:xfrm>
            <a:off x="566928" y="1207008"/>
            <a:ext cx="11064240" cy="5413248"/>
          </a:xfrm>
          <a:prstGeom prst="rect">
            <a:avLst/>
          </a:prstGeom>
          <a:ln>
            <a:solidFill/>
          </a:ln>
        </p:spPr>
      </p:pic>
      <p:sp>
        <p:nvSpPr>
          <p:cNvPr id="6" name="TextBox 5"/>
          <p:cNvSpPr txBox="1"/>
          <p:nvPr/>
        </p:nvSpPr>
        <p:spPr>
          <a:xfrm>
            <a:off x="658368" y="640080"/>
            <a:ext cx="9692640" cy="749808"/>
          </a:xfrm>
          <a:prstGeom prst="rect">
            <a:avLst/>
          </a:prstGeom>
          <a:noFill/>
          <a:ln>
            <a:solidFill/>
          </a:ln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300" b="1">
                <a:solidFill>
                  <a:srgbClr val="F7F9FC"/>
                </a:solidFill>
                <a:latin typeface="Calibri"/>
              </a:rPr>
              <a:t>Bluesky UI: reply controls (official)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9875520" cy="384048"/>
          </a:xfrm>
          <a:prstGeom prst="rect">
            <a:avLst/>
          </a:prstGeom>
          <a:noFill/>
          <a:ln>
            <a:solidFill/>
          </a:ln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000" b="0">
                <a:solidFill>
                  <a:srgbClr val="B7C2D6"/>
                </a:solidFill>
                <a:latin typeface="Calibri"/>
              </a:rPr>
              <a:t>Takeaway: reply controls gate interaction, changing who can respond and what feedback loops form.</a:t>
            </a:r>
          </a:p>
        </p:txBody>
      </p:sp>
      <p:pic>
        <p:nvPicPr>
          <p:cNvPr id="8" name="Picture 7" descr="B1_ui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03320" y="1920240"/>
            <a:ext cx="7845552" cy="4413123"/>
          </a:xfrm>
          <a:prstGeom prst="rect">
            <a:avLst/>
          </a:prstGeom>
          <a:ln>
            <a:solidFill/>
          </a:ln>
        </p:spPr>
      </p:pic>
      <p:pic>
        <p:nvPicPr>
          <p:cNvPr id="9" name="Picture 8" descr="S2_ic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14432" y="475488"/>
            <a:ext cx="1097280" cy="1097280"/>
          </a:xfrm>
          <a:prstGeom prst="rect">
            <a:avLst/>
          </a:prstGeom>
          <a:ln>
            <a:solidFill/>
          </a:ln>
        </p:spPr>
      </p:pic>
      <p:sp>
        <p:nvSpPr>
          <p:cNvPr id="10" name="Rounded Rectangle 9"/>
          <p:cNvSpPr/>
          <p:nvPr/>
        </p:nvSpPr>
        <p:spPr>
          <a:xfrm>
            <a:off x="658368" y="1883664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AA6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A. Reply controls button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395728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AA6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Composer setting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907792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FFA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B. Who can reply picker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419856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FFA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Audience gating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931920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FF8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C. Post notice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4443984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FF8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Visible constraint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956048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FF8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Why it matters: interaction graphs</a:t>
            </a:r>
          </a:p>
        </p:txBody>
      </p:sp>
      <p:sp>
        <p:nvSpPr>
          <p:cNvPr id="17" name="Oval 16"/>
          <p:cNvSpPr/>
          <p:nvPr/>
        </p:nvSpPr>
        <p:spPr>
          <a:xfrm>
            <a:off x="3756870" y="2275542"/>
            <a:ext cx="310896" cy="310896"/>
          </a:xfrm>
          <a:prstGeom prst="ellipse">
            <a:avLst/>
          </a:prstGeom>
          <a:solidFill>
            <a:srgbClr val="AA6EE7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22046" y="2238966"/>
            <a:ext cx="7208101" cy="997039"/>
          </a:xfrm>
          <a:prstGeom prst="rect">
            <a:avLst/>
          </a:prstGeom>
          <a:noFill/>
          <a:ln w="33020">
            <a:solidFill>
              <a:srgbClr val="AA6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756870" y="3566789"/>
            <a:ext cx="310896" cy="310896"/>
          </a:xfrm>
          <a:prstGeom prst="ellipse">
            <a:avLst/>
          </a:prstGeom>
          <a:solidFill>
            <a:srgbClr val="FFA565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022046" y="3530213"/>
            <a:ext cx="3456946" cy="2484425"/>
          </a:xfrm>
          <a:prstGeom prst="rect">
            <a:avLst/>
          </a:prstGeom>
          <a:noFill/>
          <a:ln w="33020">
            <a:solidFill>
              <a:srgbClr val="FFA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508024" y="3566789"/>
            <a:ext cx="310896" cy="310896"/>
          </a:xfrm>
          <a:prstGeom prst="ellipse">
            <a:avLst/>
          </a:prstGeom>
          <a:solidFill>
            <a:srgbClr val="FF8B9B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3200" y="3530213"/>
            <a:ext cx="3456946" cy="2484425"/>
          </a:xfrm>
          <a:prstGeom prst="rect">
            <a:avLst/>
          </a:prstGeom>
          <a:noFill/>
          <a:ln w="33020">
            <a:solidFill>
              <a:srgbClr val="FF8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3511296" y="2368296"/>
            <a:ext cx="510750" cy="369190"/>
          </a:xfrm>
          <a:prstGeom prst="line">
            <a:avLst/>
          </a:prstGeom>
          <a:ln w="15240">
            <a:solidFill>
              <a:srgbClr val="B7C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511296" y="3392424"/>
            <a:ext cx="510750" cy="1380002"/>
          </a:xfrm>
          <a:prstGeom prst="line">
            <a:avLst/>
          </a:prstGeom>
          <a:ln w="15240">
            <a:solidFill>
              <a:srgbClr val="B7C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2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2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2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2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2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2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2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2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2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23" grpId="0" animBg="1"/>
      <p:bldP spid="19" grpId="0" animBg="1"/>
      <p:bldP spid="20" grpId="0" animBg="1"/>
      <p:bldP spid="24" grpId="0" animBg="1"/>
      <p:bldP spid="21" grpId="0" animBg="1"/>
      <p:bldP spid="22" grpId="0" animBg="1"/>
    </p:bld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  <a:ln>
            <a:solidFill/>
          </a:ln>
        </p:spPr>
      </p:pic>
      <p:pic>
        <p:nvPicPr>
          <p:cNvPr id="4" name="Picture 3" descr="A4_header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56032"/>
            <a:ext cx="4206240" cy="365760"/>
          </a:xfrm>
          <a:prstGeom prst="rect">
            <a:avLst/>
          </a:prstGeom>
          <a:ln>
            <a:solidFill/>
          </a:ln>
        </p:spPr>
      </p:pic>
      <p:pic>
        <p:nvPicPr>
          <p:cNvPr id="5" name="Picture 4" descr="A2_card_texture.png"/>
          <p:cNvPicPr>
            <a:picLocks noChangeAspect="1"/>
          </p:cNvPicPr>
          <p:nvPr/>
        </p:nvPicPr>
        <p:blipFill>
          <a:blip r:embed="rId4">
            <a:alphaModFix amt="9000"/>
          </a:blip>
          <a:stretch>
            <a:fillRect/>
          </a:stretch>
        </p:blipFill>
        <p:spPr>
          <a:xfrm>
            <a:off x="566928" y="1207008"/>
            <a:ext cx="11064240" cy="5413248"/>
          </a:xfrm>
          <a:prstGeom prst="rect">
            <a:avLst/>
          </a:prstGeom>
          <a:ln>
            <a:solidFill/>
          </a:ln>
        </p:spPr>
      </p:pic>
      <p:sp>
        <p:nvSpPr>
          <p:cNvPr id="6" name="TextBox 5"/>
          <p:cNvSpPr txBox="1"/>
          <p:nvPr/>
        </p:nvSpPr>
        <p:spPr>
          <a:xfrm>
            <a:off x="658368" y="640080"/>
            <a:ext cx="9692640" cy="749808"/>
          </a:xfrm>
          <a:prstGeom prst="rect">
            <a:avLst/>
          </a:prstGeom>
          <a:noFill/>
          <a:ln>
            <a:solidFill/>
          </a:ln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300" b="1">
                <a:solidFill>
                  <a:srgbClr val="F7F9FC"/>
                </a:solidFill>
                <a:latin typeface="Calibri"/>
              </a:rPr>
              <a:t>Bluesky UI: labelers + moderation tools (official)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9875520" cy="384048"/>
          </a:xfrm>
          <a:prstGeom prst="rect">
            <a:avLst/>
          </a:prstGeom>
          <a:noFill/>
          <a:ln>
            <a:solidFill/>
          </a:ln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000" b="0">
                <a:solidFill>
                  <a:srgbClr val="B7C2D6"/>
                </a:solidFill>
                <a:latin typeface="Calibri"/>
              </a:rPr>
              <a:t>Takeaway: moderation is modular—users can subscribe to labelers and tune label handling.</a:t>
            </a:r>
          </a:p>
        </p:txBody>
      </p:sp>
      <p:pic>
        <p:nvPicPr>
          <p:cNvPr id="8" name="Picture 7" descr="B1_ui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03320" y="1920240"/>
            <a:ext cx="7845552" cy="4413123"/>
          </a:xfrm>
          <a:prstGeom prst="rect">
            <a:avLst/>
          </a:prstGeom>
          <a:ln>
            <a:solidFill/>
          </a:ln>
        </p:spPr>
      </p:pic>
      <p:pic>
        <p:nvPicPr>
          <p:cNvPr id="9" name="Picture 8" descr="S2_ic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14432" y="475488"/>
            <a:ext cx="1097280" cy="1097280"/>
          </a:xfrm>
          <a:prstGeom prst="rect">
            <a:avLst/>
          </a:prstGeom>
          <a:ln>
            <a:solidFill/>
          </a:ln>
        </p:spPr>
      </p:pic>
      <p:sp>
        <p:nvSpPr>
          <p:cNvPr id="10" name="Rounded Rectangle 9"/>
          <p:cNvSpPr/>
          <p:nvPr/>
        </p:nvSpPr>
        <p:spPr>
          <a:xfrm>
            <a:off x="658368" y="1883664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AA6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A. Subscribe to labeler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395728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AA6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Third-party policies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907792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FFA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B. Per-label controls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419856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FFA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Off / Warn / Hide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931920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FF8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C. Ozone moderation UI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4443984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FF8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Operational tooling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956048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FF8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Why it matters: power shifts</a:t>
            </a:r>
          </a:p>
        </p:txBody>
      </p:sp>
      <p:sp>
        <p:nvSpPr>
          <p:cNvPr id="17" name="Oval 16"/>
          <p:cNvSpPr/>
          <p:nvPr/>
        </p:nvSpPr>
        <p:spPr>
          <a:xfrm>
            <a:off x="3756870" y="2275542"/>
            <a:ext cx="310896" cy="310896"/>
          </a:xfrm>
          <a:prstGeom prst="ellipse">
            <a:avLst/>
          </a:prstGeom>
          <a:solidFill>
            <a:srgbClr val="AA6EE7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22046" y="2238966"/>
            <a:ext cx="7208101" cy="1062418"/>
          </a:xfrm>
          <a:prstGeom prst="rect">
            <a:avLst/>
          </a:prstGeom>
          <a:noFill/>
          <a:ln w="33020">
            <a:solidFill>
              <a:srgbClr val="AA6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756870" y="3632168"/>
            <a:ext cx="310896" cy="310896"/>
          </a:xfrm>
          <a:prstGeom prst="ellipse">
            <a:avLst/>
          </a:prstGeom>
          <a:solidFill>
            <a:srgbClr val="FFA565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022046" y="3595592"/>
            <a:ext cx="7208101" cy="1062418"/>
          </a:xfrm>
          <a:prstGeom prst="rect">
            <a:avLst/>
          </a:prstGeom>
          <a:noFill/>
          <a:ln w="33020">
            <a:solidFill>
              <a:srgbClr val="FFA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756870" y="4988795"/>
            <a:ext cx="310896" cy="310896"/>
          </a:xfrm>
          <a:prstGeom prst="ellipse">
            <a:avLst/>
          </a:prstGeom>
          <a:solidFill>
            <a:srgbClr val="FF8B9B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22046" y="4952219"/>
            <a:ext cx="7208101" cy="1062418"/>
          </a:xfrm>
          <a:prstGeom prst="rect">
            <a:avLst/>
          </a:prstGeom>
          <a:noFill/>
          <a:ln w="33020">
            <a:solidFill>
              <a:srgbClr val="FF8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3511296" y="2368296"/>
            <a:ext cx="510750" cy="401879"/>
          </a:xfrm>
          <a:prstGeom prst="line">
            <a:avLst/>
          </a:prstGeom>
          <a:ln w="15240">
            <a:solidFill>
              <a:srgbClr val="B7C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511296" y="3392424"/>
            <a:ext cx="510750" cy="734377"/>
          </a:xfrm>
          <a:prstGeom prst="line">
            <a:avLst/>
          </a:prstGeom>
          <a:ln w="15240">
            <a:solidFill>
              <a:srgbClr val="B7C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2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2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2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2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2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2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2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2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2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23" grpId="0" animBg="1"/>
      <p:bldP spid="19" grpId="0" animBg="1"/>
      <p:bldP spid="20" grpId="0" animBg="1"/>
      <p:bldP spid="24" grpId="0" animBg="1"/>
      <p:bldP spid="21" grpId="0" animBg="1"/>
      <p:bldP spid="22" grpId="0" animBg="1"/>
    </p:bld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  <a:ln>
            <a:solidFill/>
          </a:ln>
        </p:spPr>
      </p:pic>
      <p:pic>
        <p:nvPicPr>
          <p:cNvPr id="4" name="Picture 3" descr="A4_header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56032"/>
            <a:ext cx="4206240" cy="365760"/>
          </a:xfrm>
          <a:prstGeom prst="rect">
            <a:avLst/>
          </a:prstGeom>
          <a:ln>
            <a:solidFill/>
          </a:ln>
        </p:spPr>
      </p:pic>
      <p:pic>
        <p:nvPicPr>
          <p:cNvPr id="5" name="Picture 4" descr="A2_card_texture.png"/>
          <p:cNvPicPr>
            <a:picLocks noChangeAspect="1"/>
          </p:cNvPicPr>
          <p:nvPr/>
        </p:nvPicPr>
        <p:blipFill>
          <a:blip r:embed="rId4">
            <a:alphaModFix amt="9000"/>
          </a:blip>
          <a:stretch>
            <a:fillRect/>
          </a:stretch>
        </p:blipFill>
        <p:spPr>
          <a:xfrm>
            <a:off x="566928" y="1207008"/>
            <a:ext cx="11064240" cy="5413248"/>
          </a:xfrm>
          <a:prstGeom prst="rect">
            <a:avLst/>
          </a:prstGeom>
          <a:ln>
            <a:solidFill/>
          </a:ln>
        </p:spPr>
      </p:pic>
      <p:sp>
        <p:nvSpPr>
          <p:cNvPr id="6" name="TextBox 5"/>
          <p:cNvSpPr txBox="1"/>
          <p:nvPr/>
        </p:nvSpPr>
        <p:spPr>
          <a:xfrm>
            <a:off x="658368" y="640080"/>
            <a:ext cx="9692640" cy="749808"/>
          </a:xfrm>
          <a:prstGeom prst="rect">
            <a:avLst/>
          </a:prstGeom>
          <a:noFill/>
          <a:ln>
            <a:solidFill/>
          </a:ln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300" b="1">
                <a:solidFill>
                  <a:srgbClr val="F7F9FC"/>
                </a:solidFill>
                <a:latin typeface="Calibri"/>
              </a:rPr>
              <a:t>Bluesky UI: discovery surfaces (official)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9875520" cy="384048"/>
          </a:xfrm>
          <a:prstGeom prst="rect">
            <a:avLst/>
          </a:prstGeom>
          <a:noFill/>
          <a:ln>
            <a:solidFill/>
          </a:ln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000" b="0">
                <a:solidFill>
                  <a:srgbClr val="B7C2D6"/>
                </a:solidFill>
                <a:latin typeface="Calibri"/>
              </a:rPr>
              <a:t>Takeaway: discovery is shaped by navigation, defaults, and safety settings surfaced in the UI.</a:t>
            </a:r>
          </a:p>
        </p:txBody>
      </p:sp>
      <p:pic>
        <p:nvPicPr>
          <p:cNvPr id="8" name="Picture 7" descr="B1_ui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03320" y="1920240"/>
            <a:ext cx="7845552" cy="4413123"/>
          </a:xfrm>
          <a:prstGeom prst="rect">
            <a:avLst/>
          </a:prstGeom>
          <a:ln>
            <a:solidFill/>
          </a:ln>
        </p:spPr>
      </p:pic>
      <p:pic>
        <p:nvPicPr>
          <p:cNvPr id="9" name="Picture 8" descr="S2_ic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14432" y="475488"/>
            <a:ext cx="1097280" cy="1097280"/>
          </a:xfrm>
          <a:prstGeom prst="rect">
            <a:avLst/>
          </a:prstGeom>
          <a:ln>
            <a:solidFill/>
          </a:ln>
        </p:spPr>
      </p:pic>
      <p:sp>
        <p:nvSpPr>
          <p:cNvPr id="10" name="Rounded Rectangle 9"/>
          <p:cNvSpPr/>
          <p:nvPr/>
        </p:nvSpPr>
        <p:spPr>
          <a:xfrm>
            <a:off x="658368" y="1883664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AA6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A. Custom feeds tab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395728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AA6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Algorithm marketplace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907792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FFA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B. Moderation menu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419856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FFA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Filtering settings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931920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FF8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C. Starter packs tab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4443984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FF8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Onboarding surface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956048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FF8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Why it matters: defaults steer</a:t>
            </a:r>
          </a:p>
        </p:txBody>
      </p:sp>
      <p:sp>
        <p:nvSpPr>
          <p:cNvPr id="17" name="Oval 16"/>
          <p:cNvSpPr/>
          <p:nvPr/>
        </p:nvSpPr>
        <p:spPr>
          <a:xfrm>
            <a:off x="3756870" y="2275542"/>
            <a:ext cx="310896" cy="310896"/>
          </a:xfrm>
          <a:prstGeom prst="ellipse">
            <a:avLst/>
          </a:prstGeom>
          <a:solidFill>
            <a:srgbClr val="AA6EE7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22046" y="2238966"/>
            <a:ext cx="3456946" cy="2566149"/>
          </a:xfrm>
          <a:prstGeom prst="rect">
            <a:avLst/>
          </a:prstGeom>
          <a:noFill/>
          <a:ln w="33020">
            <a:solidFill>
              <a:srgbClr val="AA6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508024" y="2275542"/>
            <a:ext cx="310896" cy="310896"/>
          </a:xfrm>
          <a:prstGeom prst="ellipse">
            <a:avLst/>
          </a:prstGeom>
          <a:solidFill>
            <a:srgbClr val="FFA565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3200" y="2238966"/>
            <a:ext cx="3456946" cy="2566149"/>
          </a:xfrm>
          <a:prstGeom prst="rect">
            <a:avLst/>
          </a:prstGeom>
          <a:noFill/>
          <a:ln w="33020">
            <a:solidFill>
              <a:srgbClr val="FFA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756870" y="5135899"/>
            <a:ext cx="310896" cy="310896"/>
          </a:xfrm>
          <a:prstGeom prst="ellipse">
            <a:avLst/>
          </a:prstGeom>
          <a:solidFill>
            <a:srgbClr val="FF8B9B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22046" y="5099323"/>
            <a:ext cx="7208101" cy="915314"/>
          </a:xfrm>
          <a:prstGeom prst="rect">
            <a:avLst/>
          </a:prstGeom>
          <a:noFill/>
          <a:ln w="33020">
            <a:solidFill>
              <a:srgbClr val="FF8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3511296" y="2368296"/>
            <a:ext cx="510750" cy="1153744"/>
          </a:xfrm>
          <a:prstGeom prst="line">
            <a:avLst/>
          </a:prstGeom>
          <a:ln w="15240">
            <a:solidFill>
              <a:srgbClr val="B7C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511296" y="3392424"/>
            <a:ext cx="4261904" cy="129616"/>
          </a:xfrm>
          <a:prstGeom prst="line">
            <a:avLst/>
          </a:prstGeom>
          <a:ln w="15240">
            <a:solidFill>
              <a:srgbClr val="B7C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2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2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2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2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2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2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2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2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2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23" grpId="0" animBg="1"/>
      <p:bldP spid="19" grpId="0" animBg="1"/>
      <p:bldP spid="20" grpId="0" animBg="1"/>
      <p:bldP spid="24" grpId="0" animBg="1"/>
      <p:bldP spid="21" grpId="0" animBg="1"/>
      <p:bldP spid="22" grpId="0" animBg="1"/>
    </p:bld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  <a:ln>
            <a:solidFill/>
          </a:ln>
        </p:spPr>
      </p:pic>
      <p:pic>
        <p:nvPicPr>
          <p:cNvPr id="4" name="Picture 3" descr="A4_header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56032"/>
            <a:ext cx="4206240" cy="365760"/>
          </a:xfrm>
          <a:prstGeom prst="rect">
            <a:avLst/>
          </a:prstGeom>
          <a:ln>
            <a:solidFill/>
          </a:ln>
        </p:spPr>
      </p:pic>
      <p:pic>
        <p:nvPicPr>
          <p:cNvPr id="5" name="Picture 4" descr="A2_card_texture.png"/>
          <p:cNvPicPr>
            <a:picLocks noChangeAspect="1"/>
          </p:cNvPicPr>
          <p:nvPr/>
        </p:nvPicPr>
        <p:blipFill>
          <a:blip r:embed="rId4">
            <a:alphaModFix amt="9000"/>
          </a:blip>
          <a:stretch>
            <a:fillRect/>
          </a:stretch>
        </p:blipFill>
        <p:spPr>
          <a:xfrm>
            <a:off x="566928" y="1207008"/>
            <a:ext cx="11064240" cy="5413248"/>
          </a:xfrm>
          <a:prstGeom prst="rect">
            <a:avLst/>
          </a:prstGeom>
          <a:ln>
            <a:solidFill/>
          </a:ln>
        </p:spPr>
      </p:pic>
      <p:sp>
        <p:nvSpPr>
          <p:cNvPr id="6" name="TextBox 5"/>
          <p:cNvSpPr txBox="1"/>
          <p:nvPr/>
        </p:nvSpPr>
        <p:spPr>
          <a:xfrm>
            <a:off x="658368" y="640080"/>
            <a:ext cx="9692640" cy="749808"/>
          </a:xfrm>
          <a:prstGeom prst="rect">
            <a:avLst/>
          </a:prstGeom>
          <a:noFill/>
          <a:ln>
            <a:solidFill/>
          </a:ln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300" b="1">
                <a:solidFill>
                  <a:srgbClr val="F7F9FC"/>
                </a:solidFill>
                <a:latin typeface="Calibri"/>
              </a:rPr>
              <a:t>Bluesky UI: starter packs flow (official)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9875520" cy="384048"/>
          </a:xfrm>
          <a:prstGeom prst="rect">
            <a:avLst/>
          </a:prstGeom>
          <a:noFill/>
          <a:ln>
            <a:solidFill/>
          </a:ln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000" b="0">
                <a:solidFill>
                  <a:srgbClr val="B7C2D6"/>
                </a:solidFill>
                <a:latin typeface="Calibri"/>
              </a:rPr>
              <a:t>Takeaway: starter packs bundle people (and context) into a single shareable onboarding object.</a:t>
            </a:r>
          </a:p>
        </p:txBody>
      </p:sp>
      <p:pic>
        <p:nvPicPr>
          <p:cNvPr id="8" name="Picture 7" descr="B1_ui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03320" y="1920240"/>
            <a:ext cx="7845552" cy="4413123"/>
          </a:xfrm>
          <a:prstGeom prst="rect">
            <a:avLst/>
          </a:prstGeom>
          <a:ln>
            <a:solidFill/>
          </a:ln>
        </p:spPr>
      </p:pic>
      <p:pic>
        <p:nvPicPr>
          <p:cNvPr id="9" name="Picture 8" descr="S2_ic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14432" y="475488"/>
            <a:ext cx="1097280" cy="1097280"/>
          </a:xfrm>
          <a:prstGeom prst="rect">
            <a:avLst/>
          </a:prstGeom>
          <a:ln>
            <a:solidFill/>
          </a:ln>
        </p:spPr>
      </p:pic>
      <p:sp>
        <p:nvSpPr>
          <p:cNvPr id="10" name="Rounded Rectangle 9"/>
          <p:cNvSpPr/>
          <p:nvPr/>
        </p:nvSpPr>
        <p:spPr>
          <a:xfrm>
            <a:off x="658368" y="1883664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AA6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A. Create starter pack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395728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AA6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Name + description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907792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FFA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B. Choose people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419856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FFA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Curation choices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931920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FF8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C. Share pack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4443984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FF8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Link / QR / image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956048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FF8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Why it matters: bundled exposure</a:t>
            </a:r>
          </a:p>
        </p:txBody>
      </p:sp>
      <p:sp>
        <p:nvSpPr>
          <p:cNvPr id="17" name="Oval 16"/>
          <p:cNvSpPr/>
          <p:nvPr/>
        </p:nvSpPr>
        <p:spPr>
          <a:xfrm>
            <a:off x="3756870" y="2275542"/>
            <a:ext cx="310896" cy="310896"/>
          </a:xfrm>
          <a:prstGeom prst="ellipse">
            <a:avLst/>
          </a:prstGeom>
          <a:solidFill>
            <a:srgbClr val="AA6EE7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22046" y="2238966"/>
            <a:ext cx="2206562" cy="3775672"/>
          </a:xfrm>
          <a:prstGeom prst="rect">
            <a:avLst/>
          </a:prstGeom>
          <a:noFill/>
          <a:ln w="33020">
            <a:solidFill>
              <a:srgbClr val="AA6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257639" y="2275542"/>
            <a:ext cx="310896" cy="310896"/>
          </a:xfrm>
          <a:prstGeom prst="ellipse">
            <a:avLst/>
          </a:prstGeom>
          <a:solidFill>
            <a:srgbClr val="FFA565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22815" y="2238966"/>
            <a:ext cx="2206562" cy="3775672"/>
          </a:xfrm>
          <a:prstGeom prst="rect">
            <a:avLst/>
          </a:prstGeom>
          <a:noFill/>
          <a:ln w="33020">
            <a:solidFill>
              <a:srgbClr val="FFA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758409" y="2275542"/>
            <a:ext cx="310896" cy="310896"/>
          </a:xfrm>
          <a:prstGeom prst="ellipse">
            <a:avLst/>
          </a:prstGeom>
          <a:solidFill>
            <a:srgbClr val="FF8B9B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23585" y="2238966"/>
            <a:ext cx="2206562" cy="3775672"/>
          </a:xfrm>
          <a:prstGeom prst="rect">
            <a:avLst/>
          </a:prstGeom>
          <a:noFill/>
          <a:ln w="33020">
            <a:solidFill>
              <a:srgbClr val="FF8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3511296" y="2368296"/>
            <a:ext cx="510750" cy="1758506"/>
          </a:xfrm>
          <a:prstGeom prst="line">
            <a:avLst/>
          </a:prstGeom>
          <a:ln w="15240">
            <a:solidFill>
              <a:srgbClr val="B7C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511296" y="3392424"/>
            <a:ext cx="3011519" cy="734378"/>
          </a:xfrm>
          <a:prstGeom prst="line">
            <a:avLst/>
          </a:prstGeom>
          <a:ln w="15240">
            <a:solidFill>
              <a:srgbClr val="B7C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2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2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2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2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2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2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2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2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2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23" grpId="0" animBg="1"/>
      <p:bldP spid="19" grpId="0" animBg="1"/>
      <p:bldP spid="20" grpId="0" animBg="1"/>
      <p:bldP spid="24" grpId="0" animBg="1"/>
      <p:bldP spid="21" grpId="0" animBg="1"/>
      <p:bldP spid="22" grpId="0" animBg="1"/>
    </p:bld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  <a:ln>
            <a:solidFill/>
          </a:ln>
        </p:spPr>
      </p:pic>
      <p:pic>
        <p:nvPicPr>
          <p:cNvPr id="4" name="Picture 3" descr="A4_header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56032"/>
            <a:ext cx="4206240" cy="365760"/>
          </a:xfrm>
          <a:prstGeom prst="rect">
            <a:avLst/>
          </a:prstGeom>
          <a:ln>
            <a:solidFill/>
          </a:ln>
        </p:spPr>
      </p:pic>
      <p:pic>
        <p:nvPicPr>
          <p:cNvPr id="5" name="Picture 4" descr="A2_card_texture.png"/>
          <p:cNvPicPr>
            <a:picLocks noChangeAspect="1"/>
          </p:cNvPicPr>
          <p:nvPr/>
        </p:nvPicPr>
        <p:blipFill>
          <a:blip r:embed="rId4">
            <a:alphaModFix amt="9000"/>
          </a:blip>
          <a:stretch>
            <a:fillRect/>
          </a:stretch>
        </p:blipFill>
        <p:spPr>
          <a:xfrm>
            <a:off x="566928" y="1207008"/>
            <a:ext cx="11064240" cy="5413248"/>
          </a:xfrm>
          <a:prstGeom prst="rect">
            <a:avLst/>
          </a:prstGeom>
          <a:ln>
            <a:solidFill/>
          </a:ln>
        </p:spPr>
      </p:pic>
      <p:sp>
        <p:nvSpPr>
          <p:cNvPr id="6" name="TextBox 5"/>
          <p:cNvSpPr txBox="1"/>
          <p:nvPr/>
        </p:nvSpPr>
        <p:spPr>
          <a:xfrm>
            <a:off x="658368" y="640080"/>
            <a:ext cx="9692640" cy="749808"/>
          </a:xfrm>
          <a:prstGeom prst="rect">
            <a:avLst/>
          </a:prstGeom>
          <a:noFill/>
          <a:ln>
            <a:solidFill/>
          </a:ln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300" b="1">
                <a:solidFill>
                  <a:srgbClr val="F7F9FC"/>
                </a:solidFill>
                <a:latin typeface="Calibri"/>
              </a:rPr>
              <a:t>Bluesky UI: domain handles (surface → settings) (official)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9875520" cy="384048"/>
          </a:xfrm>
          <a:prstGeom prst="rect">
            <a:avLst/>
          </a:prstGeom>
          <a:noFill/>
          <a:ln>
            <a:solidFill/>
          </a:ln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000" b="0">
                <a:solidFill>
                  <a:srgbClr val="B7C2D6"/>
                </a:solidFill>
                <a:latin typeface="Calibri"/>
              </a:rPr>
              <a:t>Takeaway: domain handles connect identity and credibility to a verifiable control channel (DNS).</a:t>
            </a:r>
          </a:p>
        </p:txBody>
      </p:sp>
      <p:pic>
        <p:nvPicPr>
          <p:cNvPr id="8" name="Picture 7" descr="B1_ui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03320" y="1920240"/>
            <a:ext cx="7845552" cy="4413123"/>
          </a:xfrm>
          <a:prstGeom prst="rect">
            <a:avLst/>
          </a:prstGeom>
          <a:ln>
            <a:solidFill/>
          </a:ln>
        </p:spPr>
      </p:pic>
      <p:pic>
        <p:nvPicPr>
          <p:cNvPr id="9" name="Picture 8" descr="S2_ic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14432" y="475488"/>
            <a:ext cx="1097280" cy="1097280"/>
          </a:xfrm>
          <a:prstGeom prst="rect">
            <a:avLst/>
          </a:prstGeom>
          <a:ln>
            <a:solidFill/>
          </a:ln>
        </p:spPr>
      </p:pic>
      <p:sp>
        <p:nvSpPr>
          <p:cNvPr id="10" name="Rounded Rectangle 9"/>
          <p:cNvSpPr/>
          <p:nvPr/>
        </p:nvSpPr>
        <p:spPr>
          <a:xfrm>
            <a:off x="658368" y="1883664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AA6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A. Domain handle profile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395728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AA6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Trust signal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907792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FFA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B. Settings: handle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419856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FFA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Entry point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931920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FF8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C. Use own domain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4443984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FF8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Verification flow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956048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FF8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Why it matters: credibility</a:t>
            </a:r>
          </a:p>
        </p:txBody>
      </p:sp>
      <p:sp>
        <p:nvSpPr>
          <p:cNvPr id="17" name="Oval 16"/>
          <p:cNvSpPr/>
          <p:nvPr/>
        </p:nvSpPr>
        <p:spPr>
          <a:xfrm>
            <a:off x="3756870" y="2275542"/>
            <a:ext cx="310896" cy="310896"/>
          </a:xfrm>
          <a:prstGeom prst="ellipse">
            <a:avLst/>
          </a:prstGeom>
          <a:solidFill>
            <a:srgbClr val="AA6EE7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22046" y="2238966"/>
            <a:ext cx="7208101" cy="997039"/>
          </a:xfrm>
          <a:prstGeom prst="rect">
            <a:avLst/>
          </a:prstGeom>
          <a:noFill/>
          <a:ln w="33020">
            <a:solidFill>
              <a:srgbClr val="AA6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756870" y="3566789"/>
            <a:ext cx="310896" cy="310896"/>
          </a:xfrm>
          <a:prstGeom prst="ellipse">
            <a:avLst/>
          </a:prstGeom>
          <a:solidFill>
            <a:srgbClr val="FFA565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022046" y="3530213"/>
            <a:ext cx="3456946" cy="2484425"/>
          </a:xfrm>
          <a:prstGeom prst="rect">
            <a:avLst/>
          </a:prstGeom>
          <a:noFill/>
          <a:ln w="33020">
            <a:solidFill>
              <a:srgbClr val="FFA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508024" y="3566789"/>
            <a:ext cx="310896" cy="310896"/>
          </a:xfrm>
          <a:prstGeom prst="ellipse">
            <a:avLst/>
          </a:prstGeom>
          <a:solidFill>
            <a:srgbClr val="FF8B9B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3200" y="3530213"/>
            <a:ext cx="3456946" cy="2484425"/>
          </a:xfrm>
          <a:prstGeom prst="rect">
            <a:avLst/>
          </a:prstGeom>
          <a:noFill/>
          <a:ln w="33020">
            <a:solidFill>
              <a:srgbClr val="FF8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3511296" y="2368296"/>
            <a:ext cx="510750" cy="369190"/>
          </a:xfrm>
          <a:prstGeom prst="line">
            <a:avLst/>
          </a:prstGeom>
          <a:ln w="15240">
            <a:solidFill>
              <a:srgbClr val="B7C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511296" y="3392424"/>
            <a:ext cx="510750" cy="1380002"/>
          </a:xfrm>
          <a:prstGeom prst="line">
            <a:avLst/>
          </a:prstGeom>
          <a:ln w="15240">
            <a:solidFill>
              <a:srgbClr val="B7C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2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2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2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2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2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2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2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2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2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23" grpId="0" animBg="1"/>
      <p:bldP spid="19" grpId="0" animBg="1"/>
      <p:bldP spid="20" grpId="0" animBg="1"/>
      <p:bldP spid="24" grpId="0" animBg="1"/>
      <p:bldP spid="21" grpId="0" animBg="1"/>
      <p:bldP spid="22" grpId="0" animBg="1"/>
    </p:bld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  <a:ln>
            <a:solidFill/>
          </a:ln>
        </p:spPr>
      </p:pic>
      <p:pic>
        <p:nvPicPr>
          <p:cNvPr id="4" name="Picture 3" descr="A4_header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56032"/>
            <a:ext cx="4206240" cy="365760"/>
          </a:xfrm>
          <a:prstGeom prst="rect">
            <a:avLst/>
          </a:prstGeom>
          <a:ln>
            <a:solidFill/>
          </a:ln>
        </p:spPr>
      </p:pic>
      <p:pic>
        <p:nvPicPr>
          <p:cNvPr id="5" name="Picture 4" descr="A2_card_texture.png"/>
          <p:cNvPicPr>
            <a:picLocks noChangeAspect="1"/>
          </p:cNvPicPr>
          <p:nvPr/>
        </p:nvPicPr>
        <p:blipFill>
          <a:blip r:embed="rId4">
            <a:alphaModFix amt="9000"/>
          </a:blip>
          <a:stretch>
            <a:fillRect/>
          </a:stretch>
        </p:blipFill>
        <p:spPr>
          <a:xfrm>
            <a:off x="566928" y="1207008"/>
            <a:ext cx="11064240" cy="5413248"/>
          </a:xfrm>
          <a:prstGeom prst="rect">
            <a:avLst/>
          </a:prstGeom>
          <a:ln>
            <a:solidFill/>
          </a:ln>
        </p:spPr>
      </p:pic>
      <p:sp>
        <p:nvSpPr>
          <p:cNvPr id="6" name="TextBox 5"/>
          <p:cNvSpPr txBox="1"/>
          <p:nvPr/>
        </p:nvSpPr>
        <p:spPr>
          <a:xfrm>
            <a:off x="658368" y="640080"/>
            <a:ext cx="9692640" cy="749808"/>
          </a:xfrm>
          <a:prstGeom prst="rect">
            <a:avLst/>
          </a:prstGeom>
          <a:noFill/>
          <a:ln>
            <a:solidFill/>
          </a:ln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300" b="1">
                <a:solidFill>
                  <a:srgbClr val="F7F9FC"/>
                </a:solidFill>
                <a:latin typeface="Calibri"/>
              </a:rPr>
              <a:t>Bluesky UI: domain verification + examples (official)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9875520" cy="384048"/>
          </a:xfrm>
          <a:prstGeom prst="rect">
            <a:avLst/>
          </a:prstGeom>
          <a:noFill/>
          <a:ln>
            <a:solidFill/>
          </a:ln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000" b="0">
                <a:solidFill>
                  <a:srgbClr val="B7C2D6"/>
                </a:solidFill>
                <a:latin typeface="Calibri"/>
              </a:rPr>
              <a:t>Takeaway: verification relies on external DNS tooling, creating measurable and potentially gameable steps.</a:t>
            </a:r>
          </a:p>
        </p:txBody>
      </p:sp>
      <p:pic>
        <p:nvPicPr>
          <p:cNvPr id="8" name="Picture 7" descr="B1_ui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03320" y="1920240"/>
            <a:ext cx="7845552" cy="4413123"/>
          </a:xfrm>
          <a:prstGeom prst="rect">
            <a:avLst/>
          </a:prstGeom>
          <a:ln>
            <a:solidFill/>
          </a:ln>
        </p:spPr>
      </p:pic>
      <p:pic>
        <p:nvPicPr>
          <p:cNvPr id="9" name="Picture 8" descr="S2_ic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14432" y="475488"/>
            <a:ext cx="1097280" cy="1097280"/>
          </a:xfrm>
          <a:prstGeom prst="rect">
            <a:avLst/>
          </a:prstGeom>
          <a:ln>
            <a:solidFill/>
          </a:ln>
        </p:spPr>
      </p:pic>
      <p:sp>
        <p:nvSpPr>
          <p:cNvPr id="10" name="Rounded Rectangle 9"/>
          <p:cNvSpPr/>
          <p:nvPr/>
        </p:nvSpPr>
        <p:spPr>
          <a:xfrm>
            <a:off x="658368" y="1883664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AA6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A. DNS TXT record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395728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AA6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Proof-of-control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907792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FFA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B. Domain handle example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419856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FFA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@npr.org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931920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FF8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C. DNS management UI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4443984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FF8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External dependency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956048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FF8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Why it matters: measurable steps</a:t>
            </a:r>
          </a:p>
        </p:txBody>
      </p:sp>
      <p:sp>
        <p:nvSpPr>
          <p:cNvPr id="17" name="Oval 16"/>
          <p:cNvSpPr/>
          <p:nvPr/>
        </p:nvSpPr>
        <p:spPr>
          <a:xfrm>
            <a:off x="3756870" y="2275542"/>
            <a:ext cx="310896" cy="310896"/>
          </a:xfrm>
          <a:prstGeom prst="ellipse">
            <a:avLst/>
          </a:prstGeom>
          <a:solidFill>
            <a:srgbClr val="AA6EE7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22046" y="2238966"/>
            <a:ext cx="3456946" cy="2566149"/>
          </a:xfrm>
          <a:prstGeom prst="rect">
            <a:avLst/>
          </a:prstGeom>
          <a:noFill/>
          <a:ln w="33020">
            <a:solidFill>
              <a:srgbClr val="AA6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508024" y="2275542"/>
            <a:ext cx="310896" cy="310896"/>
          </a:xfrm>
          <a:prstGeom prst="ellipse">
            <a:avLst/>
          </a:prstGeom>
          <a:solidFill>
            <a:srgbClr val="FFA565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3200" y="2238966"/>
            <a:ext cx="3456946" cy="2566149"/>
          </a:xfrm>
          <a:prstGeom prst="rect">
            <a:avLst/>
          </a:prstGeom>
          <a:noFill/>
          <a:ln w="33020">
            <a:solidFill>
              <a:srgbClr val="FFA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756870" y="5135899"/>
            <a:ext cx="310896" cy="310896"/>
          </a:xfrm>
          <a:prstGeom prst="ellipse">
            <a:avLst/>
          </a:prstGeom>
          <a:solidFill>
            <a:srgbClr val="FF8B9B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22046" y="5099323"/>
            <a:ext cx="7208101" cy="915314"/>
          </a:xfrm>
          <a:prstGeom prst="rect">
            <a:avLst/>
          </a:prstGeom>
          <a:noFill/>
          <a:ln w="33020">
            <a:solidFill>
              <a:srgbClr val="FF8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3511296" y="2368296"/>
            <a:ext cx="510750" cy="1153744"/>
          </a:xfrm>
          <a:prstGeom prst="line">
            <a:avLst/>
          </a:prstGeom>
          <a:ln w="15240">
            <a:solidFill>
              <a:srgbClr val="B7C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511296" y="3392424"/>
            <a:ext cx="4261904" cy="129616"/>
          </a:xfrm>
          <a:prstGeom prst="line">
            <a:avLst/>
          </a:prstGeom>
          <a:ln w="15240">
            <a:solidFill>
              <a:srgbClr val="B7C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2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2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2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2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2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2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2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2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2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23" grpId="0" animBg="1"/>
      <p:bldP spid="19" grpId="0" animBg="1"/>
      <p:bldP spid="20" grpId="0" animBg="1"/>
      <p:bldP spid="24" grpId="0" animBg="1"/>
      <p:bldP spid="21" grpId="0" animBg="1"/>
      <p:bldP spid="22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