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2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Relationship Id="rId8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Relationship Id="rId8" Type="http://schemas.openxmlformats.org/officeDocument/2006/relationships/image" Target="../media/image27.png"/><Relationship Id="rId9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B7C2D6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>
            <a:alphaModFix amt="9000"/>
          </a:blip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  <a:ln>
            <a:solidFill/>
          </a:ln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  <a:ln>
            <a:solidFill/>
          </a:ln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23113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2194560"/>
            <a:ext cx="4864242" cy="47548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962656"/>
            <a:ext cx="4864242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231136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2194560"/>
            <a:ext cx="1882932" cy="111556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67512" cy="6400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67512" cy="93830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491886" cy="56692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889504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852928"/>
            <a:ext cx="5491886" cy="2736136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98556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948984"/>
            <a:ext cx="2824398" cy="53035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295144"/>
            <a:ext cx="649224" cy="7315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649224" cy="82857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2048256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011680"/>
            <a:ext cx="5805708" cy="804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99923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962656"/>
            <a:ext cx="5805708" cy="65836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840480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803904"/>
            <a:ext cx="5805708" cy="2294823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649224" cy="4572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3291840"/>
            <a:ext cx="649224" cy="10058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  <a:ln>
            <a:solidFill/>
          </a:ln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  <a:ln>
            <a:solidFill/>
          </a:ln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058850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324026" y="1975104"/>
            <ns1:ext cx="6600053" cy="1434865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058850" y="3637998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4324026" y="3601422"/>
            <ns1:ext cx="6600053" cy="1242812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058850" y="507634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4324026" y="5039773"/>
            <ns1:ext cx="6600053" cy="123872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4933302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5198478" y="1975104"/>
            <ns1:ext cx="4851149" cy="1177433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4933302" y="3360134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5198478" y="3323558"/>
            <ns1:ext cx="4851149" cy="1394003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4933302" y="4925158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5198478" y="4888582"/>
            <ns1:ext cx="4851149" cy="1389917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self-labels)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8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>
            <ns1:alphaModFix amt="9000"/>
          </ns1:blip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  <ns1:ln>
            <ns1:solidFill/>
          </ns1:ln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B7C2D6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9"/>
          <ns1:stretch>
            <ns1:fillRect/>
          </ns1:stretch>
        </ns0:blipFill>
        <ns0:spPr>
          <ns1:xfrm>
            <ns1:off x="3703320" y="1920240"/>
            <ns1:ext cx="7845552" cy="4413123"/>
          </ns1:xfrm>
          <ns1:prstGeom prst="rect">
            <ns1:avLst/>
          </ns1:prstGeom>
          <ns1:ln>
            <ns1:solidFill/>
          </ns1:ln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  <ns1:ln>
            <ns1:solidFill/>
          </ns1:ln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11C2D"/>
          </ns1:solidFill>
          <ns1:ln w="2413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2011680"/>
            <ns1:ext cx="310896" cy="310896"/>
          </ns1:xfrm>
          <ns1:prstGeom prst="ellipse">
            <ns1:avLst/>
          </ns1:prstGeom>
          <ns1:solidFill>
            <ns1:srgbClr val="AA6EE7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975104"/>
            <ns1:ext cx="7699248" cy="1304106"/>
          </ns1:xfrm>
          <ns1:prstGeom prst="rect">
            <ns1:avLst/>
          </ns1:prstGeom>
          <ns1:noFill/>
          <ns1:ln w="33020">
            <ns1:solidFill>
              <ns1:srgbClr val="AA6EE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511325"/>
            <ns1:ext cx="310896" cy="310896"/>
          </ns1:xfrm>
          <ns1:prstGeom prst="ellipse">
            <ns1:avLst/>
          </ns1:prstGeom>
          <ns1:solidFill>
            <ns1:srgbClr val="FFA565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474749"/>
            <ns1:ext cx="7699248" cy="1304106"/>
          </ns1:xfrm>
          <ns1:prstGeom prst="rect">
            <ns1:avLst/>
          </ns1:prstGeom>
          <ns1:noFill/>
          <ns1:ln w="33020">
            <ns1:solidFill>
              <ns1:srgbClr val="FFA565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5010969"/>
            <ns1:ext cx="310896" cy="310896"/>
          </ns1:xfrm>
          <ns1:prstGeom prst="ellipse">
            <ns1:avLst/>
          </ns1:prstGeom>
          <ns1:solidFill>
            <ns1:srgbClr val="FF8B9B"/>
          </ns1:solidFill>
          <ns1:ln>
            <ns1:solid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974393"/>
            <ns1:ext cx="7699248" cy="1304106"/>
          </ns1:xfrm>
          <ns1:prstGeom prst="rect">
            <ns1:avLst/>
          </ns1:prstGeom>
          <ns1:noFill/>
          <ns1:ln w="33020">
            <ns1:solidFill>
              <ns1:srgbClr val="FF8B9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  <a:ln>
            <a:solidFill/>
          </a:ln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  <a:ln>
            <a:solidFill/>
          </a:ln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11C2D"/>
          </a:solidFill>
          <a:ln w="17780"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labeling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labels are user-facing controls that shape what gets shown or filtered.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Self-label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surface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Content warning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Adult Content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Labeled post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Attribution to labeler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filtering +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reply controls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reply controls gate interaction, changing who can respond and what feedback loops form.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Reply controls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Composer setting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Who can reply picker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Audience gating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notice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Visible constraint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interaction graphs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labelers + moderation tools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moderation is modular—users can subscribe to labelers and tune label handling.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Subscribe to labeler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Third-party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Per-label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Off / Warn / Hide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Ozone moderation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Operational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power shifts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1062418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632168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95592"/>
            <a:ext cx="7208101" cy="1062418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4988795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4952219"/>
            <a:ext cx="7208101" cy="1062418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401879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734377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discovery surfaces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discovery is shaped by navigation, defaults, and safety settings surfaced in the UI.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Custom feeds tab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Algorithm 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Moderation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Filtering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Starter packs tab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Onboarding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defaults steer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flow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starter packs bundle people (and context) into a single shareable onboarding object.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Create starter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Name +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Choose 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Share pack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Link / QR /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bundled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2206562" cy="3775672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57639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2815" y="2238966"/>
            <a:ext cx="2206562" cy="3775672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58409" y="2275542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3585" y="2238966"/>
            <a:ext cx="2206562" cy="3775672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75850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3011519" cy="734378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handles (surface → settings)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domain handles connect identity and credibility to a verifiable control channel (DNS).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Domain handle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Settings: handle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Entry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Use own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Verification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credibility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7208101" cy="99703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6870" y="3566789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2046" y="3530213"/>
            <a:ext cx="3456946" cy="2484425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8024" y="356678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3200" y="3530213"/>
            <a:ext cx="3456946" cy="2484425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369190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510750" cy="1380002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solidFill/>
          </a:ln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  <a:ln>
            <a:solidFill/>
          </a:ln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domain verification + examples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B7C2D6"/>
                </a:solidFill>
                <a:latin typeface="Calibri"/>
              </a:rPr>
              <a:t>Takeaway: verification relies on external DNS tooling, creating measurable and potentially gameable steps.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3320" y="1920240"/>
            <a:ext cx="7845552" cy="4413123"/>
          </a:xfrm>
          <a:prstGeom prst="rect">
            <a:avLst/>
          </a:prstGeom>
          <a:ln>
            <a:solidFill/>
          </a:ln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  <a:ln>
            <a:solidFill/>
          </a:ln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DNS TXT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Proof-of-control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Domain handle 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@npr.org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DNS management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External dependency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11C2D"/>
          </a:solidFill>
          <a:ln w="2413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it matters: measurable steps</a:t>
            </a:r>
          </a:p>
        </p:txBody>
      </p:sp>
      <p:sp>
        <p:nvSpPr>
          <p:cNvPr id="17" name="Oval 16"/>
          <p:cNvSpPr/>
          <p:nvPr/>
        </p:nvSpPr>
        <p:spPr>
          <a:xfrm>
            <a:off x="3756870" y="2275542"/>
            <a:ext cx="310896" cy="310896"/>
          </a:xfrm>
          <a:prstGeom prst="ellipse">
            <a:avLst/>
          </a:prstGeom>
          <a:solidFill>
            <a:srgbClr val="AA6EE7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2046" y="2238966"/>
            <a:ext cx="3456946" cy="2566149"/>
          </a:xfrm>
          <a:prstGeom prst="rect">
            <a:avLst/>
          </a:prstGeom>
          <a:noFill/>
          <a:ln w="33020">
            <a:solidFill>
              <a:srgbClr val="AA6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08024" y="2275542"/>
            <a:ext cx="310896" cy="310896"/>
          </a:xfrm>
          <a:prstGeom prst="ellipse">
            <a:avLst/>
          </a:prstGeom>
          <a:solidFill>
            <a:srgbClr val="FFA565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3200" y="2238966"/>
            <a:ext cx="3456946" cy="2566149"/>
          </a:xfrm>
          <a:prstGeom prst="rect">
            <a:avLst/>
          </a:prstGeom>
          <a:noFill/>
          <a:ln w="33020">
            <a:solidFill>
              <a:srgbClr val="FFA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56870" y="5135899"/>
            <a:ext cx="310896" cy="310896"/>
          </a:xfrm>
          <a:prstGeom prst="ellipse">
            <a:avLst/>
          </a:prstGeom>
          <a:solidFill>
            <a:srgbClr val="FF8B9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2046" y="5099323"/>
            <a:ext cx="7208101" cy="915314"/>
          </a:xfrm>
          <a:prstGeom prst="rect">
            <a:avLst/>
          </a:prstGeom>
          <a:noFill/>
          <a:ln w="33020">
            <a:solidFill>
              <a:srgbClr val="FF8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368296"/>
            <a:ext cx="510750" cy="1153744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3392424"/>
            <a:ext cx="4261904" cy="129616"/>
          </a:xfrm>
          <a:prstGeom prst="line">
            <a:avLst/>
          </a:prstGeom>
          <a:ln w="15240">
            <a:solidFill>
              <a:srgbClr val="B7C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