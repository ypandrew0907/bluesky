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9" r:id="rId10"/>
    <p:sldId id="289" r:id="rId73"/>
    <p:sldId id="290" r:id="rId74"/>
    <p:sldId id="291" r:id="rId75"/>
    <p:sldId id="258" r:id="rId9"/>
    <p:sldId id="262" r:id="rId13"/>
    <p:sldId id="292" r:id="rId76"/>
    <p:sldId id="293" r:id="rId77"/>
    <p:sldId id="294" r:id="rId78"/>
    <p:sldId id="295" r:id="rId79"/>
    <p:sldId id="296" r:id="rId80"/>
    <p:sldId id="297" r:id="rId81"/>
    <p:sldId id="298" r:id="rId82"/>
    <p:sldId id="299" r:id="rId83"/>
    <p:sldId id="261" r:id="rId12"/>
    <p:sldId id="307" r:id="rId91"/>
    <p:sldId id="300" r:id="rId84"/>
    <p:sldId id="301" r:id="rId85"/>
    <p:sldId id="302" r:id="rId86"/>
    <p:sldId id="303" r:id="rId87"/>
    <p:sldId id="304" r:id="rId88"/>
    <p:sldId id="305" r:id="rId89"/>
    <p:sldId id="306" r:id="rId90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Raleway SemiBold"/>
      <p:regular r:id="rId44"/>
      <p:bold r:id="rId45"/>
      <p:italic r:id="rId46"/>
      <p:boldItalic r:id="rId47"/>
    </p:embeddedFont>
    <p:embeddedFont>
      <p:font typeface="Hanken Grotesk"/>
      <p:regular r:id="rId48"/>
      <p:bold r:id="rId49"/>
      <p:italic r:id="rId50"/>
      <p:boldItalic r:id="rId51"/>
    </p:embeddedFont>
    <p:embeddedFont>
      <p:font typeface="Inter"/>
      <p:regular r:id="rId52"/>
      <p:bold r:id="rId53"/>
      <p:italic r:id="rId54"/>
      <p:boldItalic r:id="rId55"/>
    </p:embeddedFont>
    <p:embeddedFont>
      <p:font typeface="Kedebideri SemiBold"/>
      <p:regular r:id="rId56"/>
      <p:bold r:id="rId57"/>
    </p:embeddedFont>
    <p:embeddedFont>
      <p:font typeface="Stack Sans Notch Medium"/>
      <p:regular r:id="rId58"/>
      <p:bold r:id="rId59"/>
    </p:embeddedFont>
    <p:embeddedFont>
      <p:font typeface="Raleway Medium"/>
      <p:regular r:id="rId60"/>
      <p:bold r:id="rId61"/>
      <p:italic r:id="rId62"/>
      <p:boldItalic r:id="rId63"/>
    </p:embeddedFont>
    <p:embeddedFont>
      <p:font typeface="Kedebideri"/>
      <p:regular r:id="rId64"/>
      <p:bold r:id="rId65"/>
    </p:embeddedFont>
    <p:embeddedFont>
      <p:font typeface="Kedebideri ExtraBold"/>
      <p:bold r:id="rId66"/>
    </p:embeddedFont>
    <p:embeddedFont>
      <p:font typeface="Stack Sans Notch Light"/>
      <p:regular r:id="rId67"/>
      <p:bold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E97718-CCB1-4269-835A-FB05356AE4E7}">
  <a:tblStyle styleId="{1CE97718-CCB1-4269-835A-FB05356AE4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6.xml"/><Relationship Id="rId10" Type="http://schemas.openxmlformats.org/officeDocument/2006/relationships/slide" Target="slides/slide2.xml"/><Relationship Id="rId12" Type="http://schemas.openxmlformats.org/officeDocument/2006/relationships/slide" Target="slides/slide16.xml"/><Relationship Id="rId13" Type="http://schemas.openxmlformats.org/officeDocument/2006/relationships/slide" Target="slides/slide7.xml"/><Relationship Id="rId40" Type="http://schemas.openxmlformats.org/officeDocument/2006/relationships/font" Target="fonts/Raleway-regular.fntdata"/><Relationship Id="rId41" Type="http://schemas.openxmlformats.org/officeDocument/2006/relationships/font" Target="fonts/Raleway-bold.fntdata"/><Relationship Id="rId42" Type="http://schemas.openxmlformats.org/officeDocument/2006/relationships/font" Target="fonts/Raleway-italic.fntdata"/><Relationship Id="rId43" Type="http://schemas.openxmlformats.org/officeDocument/2006/relationships/font" Target="fonts/Raleway-boldItalic.fntdata"/><Relationship Id="rId44" Type="http://schemas.openxmlformats.org/officeDocument/2006/relationships/font" Target="fonts/RalewaySemiBold-regular.fntdata"/><Relationship Id="rId45" Type="http://schemas.openxmlformats.org/officeDocument/2006/relationships/font" Target="fonts/RalewaySemiBold-bold.fntdata"/><Relationship Id="rId46" Type="http://schemas.openxmlformats.org/officeDocument/2006/relationships/font" Target="fonts/RalewaySemiBold-italic.fntdata"/><Relationship Id="rId47" Type="http://schemas.openxmlformats.org/officeDocument/2006/relationships/font" Target="fonts/RalewaySemiBold-boldItalic.fntdata"/><Relationship Id="rId48" Type="http://schemas.openxmlformats.org/officeDocument/2006/relationships/font" Target="fonts/HankenGrotesk-regular.fntdata"/><Relationship Id="rId49" Type="http://schemas.openxmlformats.org/officeDocument/2006/relationships/font" Target="fonts/HankenGrotesk-bold.fntdata"/><Relationship Id="rId50" Type="http://schemas.openxmlformats.org/officeDocument/2006/relationships/font" Target="fonts/HankenGrotesk-italic.fntdata"/><Relationship Id="rId51" Type="http://schemas.openxmlformats.org/officeDocument/2006/relationships/font" Target="fonts/HankenGrotesk-boldItalic.fntdata"/><Relationship Id="rId52" Type="http://schemas.openxmlformats.org/officeDocument/2006/relationships/font" Target="fonts/Inter-regular.fntdata"/><Relationship Id="rId53" Type="http://schemas.openxmlformats.org/officeDocument/2006/relationships/font" Target="fonts/Inter-bold.fntdata"/><Relationship Id="rId54" Type="http://schemas.openxmlformats.org/officeDocument/2006/relationships/font" Target="fonts/Inter-italic.fntdata"/><Relationship Id="rId55" Type="http://schemas.openxmlformats.org/officeDocument/2006/relationships/font" Target="fonts/Inter-boldItalic.fntdata"/><Relationship Id="rId56" Type="http://schemas.openxmlformats.org/officeDocument/2006/relationships/font" Target="fonts/KedebideriSemiBold-regular.fntdata"/><Relationship Id="rId57" Type="http://schemas.openxmlformats.org/officeDocument/2006/relationships/font" Target="fonts/KedebideriSemiBold-bold.fntdata"/><Relationship Id="rId58" Type="http://schemas.openxmlformats.org/officeDocument/2006/relationships/font" Target="fonts/StackSansNotchMedium-regular.fntdata"/><Relationship Id="rId59" Type="http://schemas.openxmlformats.org/officeDocument/2006/relationships/font" Target="fonts/StackSansNotchMedium-bold.fntdata"/><Relationship Id="rId60" Type="http://schemas.openxmlformats.org/officeDocument/2006/relationships/font" Target="fonts/RalewayMedium-regular.fntdata"/><Relationship Id="rId61" Type="http://schemas.openxmlformats.org/officeDocument/2006/relationships/font" Target="fonts/RalewayMedium-bold.fntdata"/><Relationship Id="rId62" Type="http://schemas.openxmlformats.org/officeDocument/2006/relationships/font" Target="fonts/RalewayMedium-italic.fntdata"/><Relationship Id="rId63" Type="http://schemas.openxmlformats.org/officeDocument/2006/relationships/font" Target="fonts/RalewayMedium-boldItalic.fntdata"/><Relationship Id="rId64" Type="http://schemas.openxmlformats.org/officeDocument/2006/relationships/font" Target="fonts/Kedebideri-regular.fntdata"/><Relationship Id="rId65" Type="http://schemas.openxmlformats.org/officeDocument/2006/relationships/font" Target="fonts/Kedebideri-bold.fntdata"/><Relationship Id="rId66" Type="http://schemas.openxmlformats.org/officeDocument/2006/relationships/font" Target="fonts/KedebideriExtraBold-bold.fntdata"/><Relationship Id="rId67" Type="http://schemas.openxmlformats.org/officeDocument/2006/relationships/font" Target="fonts/StackSansNotchLight-regular.fntdata"/><Relationship Id="rId68" Type="http://schemas.openxmlformats.org/officeDocument/2006/relationships/font" Target="fonts/StackSansNotchLight-bold.fntdata"/><Relationship Id="rId69" Type="http://schemas.openxmlformats.org/officeDocument/2006/relationships/font" Target="fonts/OpenSans-regular.fntdata"/><Relationship Id="rId70" Type="http://schemas.openxmlformats.org/officeDocument/2006/relationships/font" Target="fonts/OpenSans-bold.fntdata"/><Relationship Id="rId71" Type="http://schemas.openxmlformats.org/officeDocument/2006/relationships/font" Target="fonts/OpenSans-italic.fntdata"/><Relationship Id="rId72" Type="http://schemas.openxmlformats.org/officeDocument/2006/relationships/font" Target="fonts/OpenSans-boldItalic.fntdata"/><Relationship Id="rId73" Type="http://schemas.openxmlformats.org/officeDocument/2006/relationships/slide" Target="slides/slide3.xml"/><Relationship Id="rId74" Type="http://schemas.openxmlformats.org/officeDocument/2006/relationships/slide" Target="slides/slide4.xml"/><Relationship Id="rId75" Type="http://schemas.openxmlformats.org/officeDocument/2006/relationships/slide" Target="slides/slide5.xml"/><Relationship Id="rId76" Type="http://schemas.openxmlformats.org/officeDocument/2006/relationships/slide" Target="slides/slide8.xml"/><Relationship Id="rId77" Type="http://schemas.openxmlformats.org/officeDocument/2006/relationships/slide" Target="slides/slide9.xml"/><Relationship Id="rId78" Type="http://schemas.openxmlformats.org/officeDocument/2006/relationships/slide" Target="slides/slide10.xml"/><Relationship Id="rId79" Type="http://schemas.openxmlformats.org/officeDocument/2006/relationships/slide" Target="slides/slide11.xml"/><Relationship Id="rId80" Type="http://schemas.openxmlformats.org/officeDocument/2006/relationships/slide" Target="slides/slide12.xml"/><Relationship Id="rId81" Type="http://schemas.openxmlformats.org/officeDocument/2006/relationships/slide" Target="slides/slide13.xml"/><Relationship Id="rId82" Type="http://schemas.openxmlformats.org/officeDocument/2006/relationships/slide" Target="slides/slide14.xml"/><Relationship Id="rId83" Type="http://schemas.openxmlformats.org/officeDocument/2006/relationships/slide" Target="slides/slide15.xml"/><Relationship Id="rId84" Type="http://schemas.openxmlformats.org/officeDocument/2006/relationships/slide" Target="slides/slide18.xml"/><Relationship Id="rId85" Type="http://schemas.openxmlformats.org/officeDocument/2006/relationships/slide" Target="slides/slide19.xml"/><Relationship Id="rId86" Type="http://schemas.openxmlformats.org/officeDocument/2006/relationships/slide" Target="slides/slide20.xml"/><Relationship Id="rId87" Type="http://schemas.openxmlformats.org/officeDocument/2006/relationships/slide" Target="slides/slide21.xml"/><Relationship Id="rId88" Type="http://schemas.openxmlformats.org/officeDocument/2006/relationships/slide" Target="slides/slide22.xml"/><Relationship Id="rId89" Type="http://schemas.openxmlformats.org/officeDocument/2006/relationships/slide" Target="slides/slide23.xml"/><Relationship Id="rId90" Type="http://schemas.openxmlformats.org/officeDocument/2006/relationships/slide" Target="slides/slide24.xml"/><Relationship Id="rId9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61485a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fb61485a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6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hasCustomPrompt="1"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hasCustomPrompt="1"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hasCustomPrompt="1"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hasCustomPrompt="1"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4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sz="2600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400" b="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9" name="SUBTITLE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FFFFFF"/>
                </a:solidFill>
              </a:rPr>
              <a:t>Research questions plus data artifacts collected (no results yet).</a:t>
            </a:r>
            <a:endParaRPr/>
          </a:p>
        </p:txBody>
      </p:sp>
      <p:sp>
        <p:nvSpPr>
          <p:cNvPr id="120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21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22" name="BADGE_NO_RESULTS"/>
          <p:cNvSpPr/>
          <p:nvPr/>
        </p:nvSpPr>
        <p:spPr>
          <a:xfrm>
            <a:off x="6720840" y="502920"/>
            <a:ext cx="1920240" cy="50292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NO RESULTS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modular services relocate concentration.</a:t>
            </a:r>
          </a:p>
        </p:txBody>
      </p:sp>
      <p:sp>
        <p:nvSpPr>
          <p:cNvPr id="199" name="NODE_VIEWER"/>
          <p:cNvSpPr/>
          <p:nvPr/>
        </p:nvSpPr>
        <p:spPr>
          <a:xfrm>
            <a:off x="594360" y="1965960"/>
            <a:ext cx="13258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viewer</a:t>
            </a:r>
          </a:p>
        </p:txBody>
      </p:sp>
      <p:sp>
        <p:nvSpPr>
          <p:cNvPr id="200" name="NODE_DISCOVERY"/>
          <p:cNvSpPr/>
          <p:nvPr/>
        </p:nvSpPr>
        <p:spPr>
          <a:xfrm>
            <a:off x="2148840" y="1965960"/>
            <a:ext cx="169164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discovery surfaces</a:t>
            </a:r>
          </a:p>
        </p:txBody>
      </p:sp>
      <p:sp>
        <p:nvSpPr>
          <p:cNvPr id="201" name="NODE_FEEDS"/>
          <p:cNvSpPr/>
          <p:nvPr/>
        </p:nvSpPr>
        <p:spPr>
          <a:xfrm>
            <a:off x="4069080" y="1965960"/>
            <a:ext cx="141732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feed generators</a:t>
            </a:r>
          </a:p>
        </p:txBody>
      </p:sp>
      <p:sp>
        <p:nvSpPr>
          <p:cNvPr id="202" name="NODE_HOSTING"/>
          <p:cNvSpPr/>
          <p:nvPr/>
        </p:nvSpPr>
        <p:spPr>
          <a:xfrm>
            <a:off x="5715000" y="1965960"/>
            <a:ext cx="150876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provider hosting</a:t>
            </a:r>
          </a:p>
        </p:txBody>
      </p:sp>
      <p:sp>
        <p:nvSpPr>
          <p:cNvPr id="203" name="NODE_OUTCOMES"/>
          <p:cNvSpPr/>
          <p:nvPr/>
        </p:nvSpPr>
        <p:spPr>
          <a:xfrm>
            <a:off x="7452360" y="1965960"/>
            <a:ext cx="141732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exposure outcomes</a:t>
            </a:r>
          </a:p>
        </p:txBody>
      </p:sp>
      <p:sp>
        <p:nvSpPr>
          <p:cNvPr id="204" name="NODE_LABELERS"/>
          <p:cNvSpPr/>
          <p:nvPr/>
        </p:nvSpPr>
        <p:spPr>
          <a:xfrm>
            <a:off x="4640580" y="2926080"/>
            <a:ext cx="196596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2626"/>
                </a:solidFill>
              </a:rPr>
              <a:t>labelers</a:t>
            </a:r>
          </a:p>
        </p:txBody>
      </p:sp>
      <p:cxnSp>
        <p:nvCxnSpPr>
          <p:cNvPr id="205" name="LINK_1"/>
          <p:cNvCxnSpPr/>
          <p:nvPr/>
        </p:nvCxnSpPr>
        <p:spPr>
          <a:xfrm>
            <a:off x="192024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LINK_2"/>
          <p:cNvCxnSpPr/>
          <p:nvPr/>
        </p:nvCxnSpPr>
        <p:spPr>
          <a:xfrm>
            <a:off x="384048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LINK_3"/>
          <p:cNvCxnSpPr/>
          <p:nvPr/>
        </p:nvCxnSpPr>
        <p:spPr>
          <a:xfrm>
            <a:off x="548640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LINK_4"/>
          <p:cNvCxnSpPr/>
          <p:nvPr/>
        </p:nvCxnSpPr>
        <p:spPr>
          <a:xfrm>
            <a:off x="722376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LINK_LABELERS"/>
          <p:cNvCxnSpPr/>
          <p:nvPr/>
        </p:nvCxnSpPr>
        <p:spPr>
          <a:xfrm>
            <a:off x="4777740" y="2587752"/>
            <a:ext cx="845820" cy="33832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BOTTOM"/>
          <p:cNvSpPr txBox="1"/>
          <p:nvPr/>
        </p:nvSpPr>
        <p:spPr>
          <a:xfrm>
            <a:off x="502920" y="4251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Discovery surfaces and provider hosting are key chokepoints.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feeds are discoverable + selectable algorithmic timelines.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f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/feeds directory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Search feeds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Feed cards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Creator + likes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Trending widget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Defaults matter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Discovery risk</a:t>
            </a:r>
          </a:p>
        </p:txBody>
      </p:sp>
      <p:sp>
        <p:nvSpPr>
          <p:cNvPr id="209" name="HILITE_A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7643797" y="1702190"/>
            <a:ext cx="1327708" cy="78661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7424341" y="1738766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869830"/>
            <a:ext cx="563879" cy="59554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563879" cy="364676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a feed page renders an algorithm into a timeline of posts.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feed_for_sc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Feed name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Demand signals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Timeline output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Exposure decisions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 actions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we measure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Manipulation risk</a:t>
            </a:r>
          </a:p>
        </p:txBody>
      </p:sp>
      <p:sp>
        <p:nvSpPr>
          <p:cNvPr id="209" name="HILITE_A"/>
          <p:cNvSpPr/>
          <p:nvPr/>
        </p:nvSpPr>
        <p:spPr>
          <a:xfrm>
            <a:off x="3797104" y="1573236"/>
            <a:ext cx="3872483" cy="399756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797104" y="2166424"/>
            <a:ext cx="3872483" cy="1929326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926058" y="3644412"/>
            <a:ext cx="1991562" cy="373966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706602" y="3680988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773115"/>
            <a:ext cx="550984" cy="15626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550984" cy="287303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starter packs bundle people (and sometimes feeds) for fast onboarding.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starter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Pack title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Curated list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Join button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1-click onboarding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People cards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Curation questions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Measure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856935"/>
            <a:ext cx="550984" cy="7244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475913"/>
            <a:ext cx="550984" cy="367871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168" name="RQ_SLOT_01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169" name="RQ_SLOT_02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170" name="RQ_SLOT_03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171" name="RQ_SLOT_04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172" name="RQ_SLOT_05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173" name="RQ_SLOT_06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RQ_SLOT_07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RQ_SLOT_0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RQ_NUM_04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177" name="RQ_NUM_02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178" name="RQ_NUM_01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179" name="RQ_NUM_03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180" name="RQ_NUM_06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RQ_NUM_07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RQ_NUM_0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RQ_NUM_05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05</a:t>
            </a:r>
            <a:endParaRPr/>
          </a:p>
        </p:txBody>
      </p:sp>
      <p:cxnSp>
        <p:nvCxnSpPr>
          <p:cNvPr id="184" name="Google Shape;184;p27"/>
          <p:cNvCxnSpPr/>
          <p:nvPr/>
        </p:nvCxnSpPr>
        <p:spPr>
          <a:xfrm>
            <a:off x="-165150" y="2816614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7"/>
          <p:cNvCxnSpPr/>
          <p:nvPr/>
        </p:nvCxnSpPr>
        <p:spPr>
          <a:xfrm>
            <a:off x="-165150" y="3396153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7"/>
          <p:cNvCxnSpPr/>
          <p:nvPr/>
        </p:nvCxnSpPr>
        <p:spPr>
          <a:xfrm>
            <a:off x="-165150" y="3975691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TAKEAWAY"/>
          <p:cNvSpPr txBox="1"/>
          <p:nvPr/>
        </p:nvSpPr>
        <p:spPr>
          <a:xfrm>
            <a:off x="502920" y="1051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</a:rPr>
              <a:t>Takeaway: security and privacy 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262626"/>
                </a:solidFill>
              </a:rPr>
              <a:t>Data artifacts collected (no results)</a:t>
            </a:r>
            <a:endParaRPr/>
          </a:p>
        </p:txBody>
      </p:sp>
      <p:sp>
        <p:nvSpPr>
          <p:cNvPr id="220" name="GROUP_01_HEAD"/>
          <p:cNvSpPr txBox="1"/>
          <p:nvPr/>
        </p:nvSpPr>
        <p:spPr>
          <a:xfrm>
            <a:off x="528316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Discovery inputs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ROUP_01_BODY"/>
          <p:cNvSpPr txBox="1"/>
          <p:nvPr/>
        </p:nvSpPr>
        <p:spPr>
          <a:xfrm>
            <a:off x="528296" y="4002858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feed_generators_index.csv • starterpacks.csv • starterpack_feeds.csv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ROUP_02_HEAD"/>
          <p:cNvSpPr txBox="1"/>
          <p:nvPr/>
        </p:nvSpPr>
        <p:spPr>
          <a:xfrm>
            <a:off x="2627558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Panel snapshots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ROUP_02_BODY"/>
          <p:cNvSpPr txBox="1"/>
          <p:nvPr/>
        </p:nvSpPr>
        <p:spPr>
          <a:xfrm>
            <a:off x="2627541" y="4002859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feed_panel.csv • feed_items.csv.gz • posts.csv.gz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ROUP_03_HEAD"/>
          <p:cNvSpPr txBox="1"/>
          <p:nvPr/>
        </p:nvSpPr>
        <p:spPr>
          <a:xfrm>
            <a:off x="4726800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Trust and reproducibility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5" name="GROUP_03_BODY"/>
          <p:cNvSpPr txBox="1"/>
          <p:nvPr/>
        </p:nvSpPr>
        <p:spPr>
          <a:xfrm>
            <a:off x="4726786" y="4002858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state.db • run_metadata.csv • run_summary.csv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ROUP_04_HEAD"/>
          <p:cNvSpPr txBox="1"/>
          <p:nvPr/>
        </p:nvSpPr>
        <p:spPr>
          <a:xfrm>
            <a:off x="6826042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Join spine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7" name="GROUP_04_BODY"/>
          <p:cNvSpPr txBox="1"/>
          <p:nvPr/>
        </p:nvSpPr>
        <p:spPr>
          <a:xfrm>
            <a:off x="6826031" y="4002859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feed_panel -&gt; feed_items -&gt; posts/authors • post_labels attaches by feed_uri, viewer_mode, post_uri, post_cid. • Result: joinable, reproducible, auditable artifacts.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ROUP_01_NUM"/>
          <p:cNvSpPr txBox="1"/>
          <p:nvPr/>
        </p:nvSpPr>
        <p:spPr>
          <a:xfrm>
            <a:off x="528325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01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9" name="GROUP_02_NUM"/>
          <p:cNvSpPr txBox="1"/>
          <p:nvPr/>
        </p:nvSpPr>
        <p:spPr>
          <a:xfrm>
            <a:off x="2627567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02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0" name="GROUP_03_NUM"/>
          <p:cNvSpPr txBox="1"/>
          <p:nvPr/>
        </p:nvSpPr>
        <p:spPr>
          <a:xfrm>
            <a:off x="4726808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03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1" name="GROUP_04_NUM"/>
          <p:cNvSpPr txBox="1"/>
          <p:nvPr/>
        </p:nvSpPr>
        <p:spPr>
          <a:xfrm>
            <a:off x="6826050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04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232" name="Google Shape;232;p31"/>
          <p:cNvCxnSpPr/>
          <p:nvPr/>
        </p:nvCxnSpPr>
        <p:spPr>
          <a:xfrm>
            <a:off x="2556396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1"/>
          <p:cNvCxnSpPr/>
          <p:nvPr/>
        </p:nvCxnSpPr>
        <p:spPr>
          <a:xfrm>
            <a:off x="4655573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1"/>
          <p:cNvCxnSpPr/>
          <p:nvPr/>
        </p:nvCxnSpPr>
        <p:spPr>
          <a:xfrm>
            <a:off x="6754750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1"/>
          <p:cNvCxnSpPr/>
          <p:nvPr/>
        </p:nvCxnSpPr>
        <p:spPr>
          <a:xfrm>
            <a:off x="455100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TAKEAWAY"/>
          <p:cNvSpPr txBox="1"/>
          <p:nvPr/>
        </p:nvSpPr>
        <p:spPr>
          <a:xfrm>
            <a:off x="502920" y="1325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B5563"/>
                </a:solidFill>
              </a:rPr>
              <a:t>Takeaway: artifacts are joinable, reproducible, and auditable.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discovery surfaces (starter packs + popular list)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discovery is measurable via starter-pack inclusion and popular list ranks.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Starter packs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starterpacks + starterpack_feeds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Inclusion_count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slot_count (position-weighted)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Popularity_rank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Concentration + provider leverage</a:t>
            </a:r>
          </a:p>
        </p:txBody>
      </p:sp>
      <p:sp>
        <p:nvSpPr>
          <p:cNvPr id="209" name="HILITE_A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feed_items + posts + labels already support H1-H6 (cross-sectional).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feed_items row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(feed_uri, viewer_mode, rank)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posts row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text + links + langs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post_labels row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H6: risk exposure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Feed auditing / mitigations</a:t>
            </a:r>
          </a:p>
        </p:txBody>
      </p:sp>
      <p:sp>
        <p:nvSpPr>
          <p:cNvPr id="209" name="HILITE_A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labels (schema + global values + prefs)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are structured safety signals; behavior depends on viewer prefs.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Label schema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(src, uri/cid, val, neg, cts)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Global values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protocol-defined strings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Viewer prefs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hide / warn / ignore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Docs grounding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custom labels (definitions + targets)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labelers can define custom taxonomies; we preserve raw label_val strings.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Custom definitions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blur + severity + defaults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Label targets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account vs profile vs content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Observed values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dataset examples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labelers (declarations + subscriptions + self-labels)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come from services; viewers choose which labelers to trust.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Declaration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values + policies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Subscriptions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viewer-selected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Self-labels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built-in values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moderation decisions (flags + UI contexts)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the same label can blur/warn/filter depending on context + prefs.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moderatePost()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post + prefs → decision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Output flags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filter / blur / alert / inform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UI contexts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contentList vs view vs media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Docs grounding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CARD_LEFT"/>
          <p:cNvSpPr/>
          <p:nvPr/>
        </p:nvSpPr>
        <p:spPr>
          <a:xfrm>
            <a:off x="50292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676FFE"/>
                </a:solidFill>
              </a:rPr>
              <a:t>Read-only XRPC summary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Relay + AppView reads.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GET-only in this run.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POST auth only if auth mode is used.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No posting actions.</a:t>
            </a:r>
          </a:p>
        </p:txBody>
      </p:sp>
      <p:sp>
        <p:nvSpPr>
          <p:cNvPr id="199" name="CARD_RIGHT"/>
          <p:cNvSpPr/>
          <p:nvPr/>
        </p:nvSpPr>
        <p:spPr>
          <a:xfrm>
            <a:off x="489204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929CF4"/>
                </a:solidFill>
              </a:rPr>
              <a:t>7-stage pipeline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relay -&gt; index -&gt; packs -&gt; popular -&gt; enrich -&gt; panel -&gt; snapshot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Reproducibility: state.db, manifest.csv, data_dictionary.csv, validation_report.csv.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CARD_LEFT"/>
          <p:cNvSpPr/>
          <p:nvPr/>
        </p:nvSpPr>
        <p:spPr>
          <a:xfrm>
            <a:off x="50292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676FFE"/>
                </a:solidFill>
              </a:rPr>
              <a:t>Ready measurements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RQ1: measure discovery concentration.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RQ2: map provider leverage.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RQ3: test same winner overlap.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RQ4: compare label variability.</a:t>
            </a:r>
          </a:p>
        </p:txBody>
      </p:sp>
      <p:sp>
        <p:nvSpPr>
          <p:cNvPr id="199" name="CARD_RIGHT"/>
          <p:cNvSpPr/>
          <p:nvPr/>
        </p:nvSpPr>
        <p:spPr>
          <a:xfrm>
            <a:off x="489204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929CF4"/>
                </a:solidFill>
              </a:rPr>
              <a:t>What I need from you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Ask 1: priority RQs and venue fit.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Ask 2: recollect longitudinal, auth mode, or experiments?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211" name="BODY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B5563"/>
                </a:solidFill>
              </a:rPr>
              <a:t>• Screenshots are official (for backup/citation).</a:t>
            </a:r>
            <a:endParaRPr/>
          </a:p>
          <a:p>
            <a:pPr algn="l"/>
            <a:r>
              <a:rPr sz="1800" b="0">
                <a:solidFill>
                  <a:srgbClr val="4B5563"/>
                </a:solidFill>
              </a:rPr>
              <a:t>• Each slide uses A/B/C chips + callouts.</a:t>
            </a:r>
          </a:p>
          <a:p>
            <a:pPr algn="l"/>
            <a:r>
              <a:rPr sz="1800" b="0">
                <a:solidFill>
                  <a:srgbClr val="4B5563"/>
                </a:solidFill>
              </a:rPr>
              <a:t>• Animations: chips cascade, then A → B → C.</a:t>
            </a:r>
          </a:p>
        </p:txBody>
      </p:sp>
      <p:sp>
        <p:nvSpPr>
          <p:cNvPr id="212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213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cxnSp>
        <p:nvCxnSpPr>
          <p:cNvPr id="214" name="Google Shape;214;p30"/>
          <p:cNvCxnSpPr/>
          <p:nvPr/>
        </p:nvCxnSpPr>
        <p:spPr>
          <a:xfrm>
            <a:off x="-165150" y="2950439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0" name="TITLE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262626"/>
                </a:solidFill>
              </a:rPr>
              <a:t>Appendix: how to read the callouts</a:t>
            </a:r>
            <a:endParaRPr/>
          </a:p>
        </p:txBody>
      </p:sp>
      <p:sp>
        <p:nvSpPr>
          <p:cNvPr id="211" name="BODY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B5563"/>
                </a:solidFill>
              </a:rPr>
              <a:t>• A/B/C badges map to highlighted regions in the screenshot.</a:t>
            </a:r>
            <a:endParaRPr/>
          </a:p>
          <a:p>
            <a:pPr algn="l"/>
            <a:r>
              <a:rPr sz="1800" b="0">
                <a:solidFill>
                  <a:srgbClr val="4B5563"/>
                </a:solidFill>
              </a:rPr>
              <a:t>• Chip text summarizes the surface + why it matters.</a:t>
            </a:r>
          </a:p>
          <a:p>
            <a:pPr algn="l"/>
            <a:r>
              <a:rPr sz="1800" b="0">
                <a:solidFill>
                  <a:srgbClr val="4B5563"/>
                </a:solidFill>
              </a:rPr>
              <a:t>• Use these as optional backup in the meeting.</a:t>
            </a:r>
          </a:p>
        </p:txBody>
      </p:sp>
      <p:sp>
        <p:nvSpPr>
          <p:cNvPr id="212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213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cxnSp>
        <p:nvCxnSpPr>
          <p:cNvPr id="214" name="Google Shape;214;p30"/>
          <p:cNvCxnSpPr/>
          <p:nvPr/>
        </p:nvCxnSpPr>
        <p:spPr>
          <a:xfrm>
            <a:off x="-165150" y="2950439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labeling surfaces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are user-facing controls that shape what gets shown or filtered.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Self-label button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Composer surface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Content warning picker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Adult Content options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Labeled post banner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Attribution to labeler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filtering +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reply controls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reply controls gate interaction, changing who can respond and what feedback loops form.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Reply controls button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Composer setting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Who can reply picker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Audience gating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 notice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Visible constraint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interaction graphs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labelers + moderation tools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moderation is modular—users can subscribe to labelers and tune label handling.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Subscribe to labeler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Third-party policies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Per-label controls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Off / Warn / Hide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Ozone moderation UI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Operational tooling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power shifts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7868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220884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discovery surfaces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discovery is shaped by navigation, defaults, and safety settings surfaced in the UI.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Custom feeds tab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Algorithm marketplace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Moderation menu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Filtering settings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Starter packs tab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Onboarding surface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defaults steer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70885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638234"/>
            <a:ext cx="3098387" cy="205550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starter packs flow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starter packs bundle people (and context) into a single shareable onboarding object.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Create starter pack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Name + description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Choose people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Curation choices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Share pack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Link / QR / image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bundled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135285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2216705" cy="220885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domain handles (surface → settings)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domain handles connect identity and credibility to a verifiable control channel (DNS).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Domain handle profile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Trust signal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Settings: handle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Entry point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Use own domain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Verification flow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credibility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domain verification + examples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verification relies on external DNS tooling, creating measurable and potentially gameable steps.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DNS TXT record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Proof-of-control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Domain handle example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@npr.org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DNS management UI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External dependency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measurable steps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70885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638234"/>
            <a:ext cx="3098387" cy="205550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