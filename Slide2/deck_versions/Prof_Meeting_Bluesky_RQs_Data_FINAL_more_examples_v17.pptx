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9" r:id="rId10"/>
    <p:sldId id="289" r:id="rId73"/>
    <p:sldId id="290" r:id="rId74"/>
    <p:sldId id="291" r:id="rId75"/>
    <p:sldId id="258" r:id="rId9"/>
    <p:sldId id="262" r:id="rId13"/>
    <p:sldId id="292" r:id="rId76"/>
    <p:sldId id="293" r:id="rId77"/>
    <p:sldId id="294" r:id="rId78"/>
    <p:sldId id="295" r:id="rId79"/>
    <p:sldId id="296" r:id="rId80"/>
    <p:sldId id="297" r:id="rId81"/>
    <p:sldId id="298" r:id="rId82"/>
    <p:sldId id="299" r:id="rId83"/>
    <p:sldId id="261" r:id="rId12"/>
    <p:sldId id="307" r:id="rId91"/>
    <p:sldId id="300" r:id="rId84"/>
    <p:sldId id="301" r:id="rId85"/>
    <p:sldId id="302" r:id="rId86"/>
    <p:sldId id="303" r:id="rId87"/>
    <p:sldId id="304" r:id="rId88"/>
    <p:sldId id="305" r:id="rId89"/>
    <p:sldId id="306" r:id="rId90"/>
  </p:sldIdLst>
  <p:sldSz cy="5143500" cx="9144000"/>
  <p:notesSz cx="6858000" cy="9144000"/>
  <p:embeddedFontLst>
    <p:embeddedFont>
      <p:font typeface="Raleway"/>
      <p:regular r:id="rId40"/>
      <p:bold r:id="rId41"/>
      <p:italic r:id="rId42"/>
      <p:boldItalic r:id="rId43"/>
    </p:embeddedFont>
    <p:embeddedFont>
      <p:font typeface="Raleway SemiBold"/>
      <p:regular r:id="rId44"/>
      <p:bold r:id="rId45"/>
      <p:italic r:id="rId46"/>
      <p:boldItalic r:id="rId47"/>
    </p:embeddedFont>
    <p:embeddedFont>
      <p:font typeface="Hanken Grotesk"/>
      <p:regular r:id="rId48"/>
      <p:bold r:id="rId49"/>
      <p:italic r:id="rId50"/>
      <p:boldItalic r:id="rId51"/>
    </p:embeddedFont>
    <p:embeddedFont>
      <p:font typeface="Inter"/>
      <p:regular r:id="rId52"/>
      <p:bold r:id="rId53"/>
      <p:italic r:id="rId54"/>
      <p:boldItalic r:id="rId55"/>
    </p:embeddedFont>
    <p:embeddedFont>
      <p:font typeface="Kedebideri SemiBold"/>
      <p:regular r:id="rId56"/>
      <p:bold r:id="rId57"/>
    </p:embeddedFont>
    <p:embeddedFont>
      <p:font typeface="Stack Sans Notch Medium"/>
      <p:regular r:id="rId58"/>
      <p:bold r:id="rId59"/>
    </p:embeddedFont>
    <p:embeddedFont>
      <p:font typeface="Raleway Medium"/>
      <p:regular r:id="rId60"/>
      <p:bold r:id="rId61"/>
      <p:italic r:id="rId62"/>
      <p:boldItalic r:id="rId63"/>
    </p:embeddedFont>
    <p:embeddedFont>
      <p:font typeface="Kedebideri"/>
      <p:regular r:id="rId64"/>
      <p:bold r:id="rId65"/>
    </p:embeddedFont>
    <p:embeddedFont>
      <p:font typeface="Kedebideri ExtraBold"/>
      <p:bold r:id="rId66"/>
    </p:embeddedFont>
    <p:embeddedFont>
      <p:font typeface="Stack Sans Notch Light"/>
      <p:regular r:id="rId67"/>
      <p:bold r:id="rId68"/>
    </p:embeddedFont>
    <p:embeddedFont>
      <p:font typeface="Open Sans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E97718-CCB1-4269-835A-FB05356AE4E7}">
  <a:tblStyle styleId="{1CE97718-CCB1-4269-835A-FB05356AE4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6.xml"/><Relationship Id="rId10" Type="http://schemas.openxmlformats.org/officeDocument/2006/relationships/slide" Target="slides/slide2.xml"/><Relationship Id="rId12" Type="http://schemas.openxmlformats.org/officeDocument/2006/relationships/slide" Target="slides/slide16.xml"/><Relationship Id="rId13" Type="http://schemas.openxmlformats.org/officeDocument/2006/relationships/slide" Target="slides/slide7.xml"/><Relationship Id="rId40" Type="http://schemas.openxmlformats.org/officeDocument/2006/relationships/font" Target="fonts/Raleway-regular.fntdata"/><Relationship Id="rId41" Type="http://schemas.openxmlformats.org/officeDocument/2006/relationships/font" Target="fonts/Raleway-bold.fntdata"/><Relationship Id="rId42" Type="http://schemas.openxmlformats.org/officeDocument/2006/relationships/font" Target="fonts/Raleway-italic.fntdata"/><Relationship Id="rId43" Type="http://schemas.openxmlformats.org/officeDocument/2006/relationships/font" Target="fonts/Raleway-boldItalic.fntdata"/><Relationship Id="rId44" Type="http://schemas.openxmlformats.org/officeDocument/2006/relationships/font" Target="fonts/RalewaySemiBold-regular.fntdata"/><Relationship Id="rId45" Type="http://schemas.openxmlformats.org/officeDocument/2006/relationships/font" Target="fonts/RalewaySemiBold-bold.fntdata"/><Relationship Id="rId46" Type="http://schemas.openxmlformats.org/officeDocument/2006/relationships/font" Target="fonts/RalewaySemiBold-italic.fntdata"/><Relationship Id="rId47" Type="http://schemas.openxmlformats.org/officeDocument/2006/relationships/font" Target="fonts/RalewaySemiBold-boldItalic.fntdata"/><Relationship Id="rId48" Type="http://schemas.openxmlformats.org/officeDocument/2006/relationships/font" Target="fonts/HankenGrotesk-regular.fntdata"/><Relationship Id="rId49" Type="http://schemas.openxmlformats.org/officeDocument/2006/relationships/font" Target="fonts/HankenGrotesk-bold.fntdata"/><Relationship Id="rId50" Type="http://schemas.openxmlformats.org/officeDocument/2006/relationships/font" Target="fonts/HankenGrotesk-italic.fntdata"/><Relationship Id="rId51" Type="http://schemas.openxmlformats.org/officeDocument/2006/relationships/font" Target="fonts/HankenGrotesk-boldItalic.fntdata"/><Relationship Id="rId52" Type="http://schemas.openxmlformats.org/officeDocument/2006/relationships/font" Target="fonts/Inter-regular.fntdata"/><Relationship Id="rId53" Type="http://schemas.openxmlformats.org/officeDocument/2006/relationships/font" Target="fonts/Inter-bold.fntdata"/><Relationship Id="rId54" Type="http://schemas.openxmlformats.org/officeDocument/2006/relationships/font" Target="fonts/Inter-italic.fntdata"/><Relationship Id="rId55" Type="http://schemas.openxmlformats.org/officeDocument/2006/relationships/font" Target="fonts/Inter-boldItalic.fntdata"/><Relationship Id="rId56" Type="http://schemas.openxmlformats.org/officeDocument/2006/relationships/font" Target="fonts/KedebideriSemiBold-regular.fntdata"/><Relationship Id="rId57" Type="http://schemas.openxmlformats.org/officeDocument/2006/relationships/font" Target="fonts/KedebideriSemiBold-bold.fntdata"/><Relationship Id="rId58" Type="http://schemas.openxmlformats.org/officeDocument/2006/relationships/font" Target="fonts/StackSansNotchMedium-regular.fntdata"/><Relationship Id="rId59" Type="http://schemas.openxmlformats.org/officeDocument/2006/relationships/font" Target="fonts/StackSansNotchMedium-bold.fntdata"/><Relationship Id="rId60" Type="http://schemas.openxmlformats.org/officeDocument/2006/relationships/font" Target="fonts/RalewayMedium-regular.fntdata"/><Relationship Id="rId61" Type="http://schemas.openxmlformats.org/officeDocument/2006/relationships/font" Target="fonts/RalewayMedium-bold.fntdata"/><Relationship Id="rId62" Type="http://schemas.openxmlformats.org/officeDocument/2006/relationships/font" Target="fonts/RalewayMedium-italic.fntdata"/><Relationship Id="rId63" Type="http://schemas.openxmlformats.org/officeDocument/2006/relationships/font" Target="fonts/RalewayMedium-boldItalic.fntdata"/><Relationship Id="rId64" Type="http://schemas.openxmlformats.org/officeDocument/2006/relationships/font" Target="fonts/Kedebideri-regular.fntdata"/><Relationship Id="rId65" Type="http://schemas.openxmlformats.org/officeDocument/2006/relationships/font" Target="fonts/Kedebideri-bold.fntdata"/><Relationship Id="rId66" Type="http://schemas.openxmlformats.org/officeDocument/2006/relationships/font" Target="fonts/KedebideriExtraBold-bold.fntdata"/><Relationship Id="rId67" Type="http://schemas.openxmlformats.org/officeDocument/2006/relationships/font" Target="fonts/StackSansNotchLight-regular.fntdata"/><Relationship Id="rId68" Type="http://schemas.openxmlformats.org/officeDocument/2006/relationships/font" Target="fonts/StackSansNotchLight-bold.fntdata"/><Relationship Id="rId69" Type="http://schemas.openxmlformats.org/officeDocument/2006/relationships/font" Target="fonts/OpenSans-regular.fntdata"/><Relationship Id="rId70" Type="http://schemas.openxmlformats.org/officeDocument/2006/relationships/font" Target="fonts/OpenSans-bold.fntdata"/><Relationship Id="rId71" Type="http://schemas.openxmlformats.org/officeDocument/2006/relationships/font" Target="fonts/OpenSans-italic.fntdata"/><Relationship Id="rId72" Type="http://schemas.openxmlformats.org/officeDocument/2006/relationships/font" Target="fonts/OpenSans-boldItalic.fntdata"/><Relationship Id="rId73" Type="http://schemas.openxmlformats.org/officeDocument/2006/relationships/slide" Target="slides/slide3.xml"/><Relationship Id="rId74" Type="http://schemas.openxmlformats.org/officeDocument/2006/relationships/slide" Target="slides/slide4.xml"/><Relationship Id="rId75" Type="http://schemas.openxmlformats.org/officeDocument/2006/relationships/slide" Target="slides/slide5.xml"/><Relationship Id="rId76" Type="http://schemas.openxmlformats.org/officeDocument/2006/relationships/slide" Target="slides/slide8.xml"/><Relationship Id="rId77" Type="http://schemas.openxmlformats.org/officeDocument/2006/relationships/slide" Target="slides/slide9.xml"/><Relationship Id="rId78" Type="http://schemas.openxmlformats.org/officeDocument/2006/relationships/slide" Target="slides/slide10.xml"/><Relationship Id="rId79" Type="http://schemas.openxmlformats.org/officeDocument/2006/relationships/slide" Target="slides/slide11.xml"/><Relationship Id="rId80" Type="http://schemas.openxmlformats.org/officeDocument/2006/relationships/slide" Target="slides/slide12.xml"/><Relationship Id="rId81" Type="http://schemas.openxmlformats.org/officeDocument/2006/relationships/slide" Target="slides/slide13.xml"/><Relationship Id="rId82" Type="http://schemas.openxmlformats.org/officeDocument/2006/relationships/slide" Target="slides/slide14.xml"/><Relationship Id="rId83" Type="http://schemas.openxmlformats.org/officeDocument/2006/relationships/slide" Target="slides/slide15.xml"/><Relationship Id="rId84" Type="http://schemas.openxmlformats.org/officeDocument/2006/relationships/slide" Target="slides/slide18.xml"/><Relationship Id="rId85" Type="http://schemas.openxmlformats.org/officeDocument/2006/relationships/slide" Target="slides/slide19.xml"/><Relationship Id="rId86" Type="http://schemas.openxmlformats.org/officeDocument/2006/relationships/slide" Target="slides/slide20.xml"/><Relationship Id="rId87" Type="http://schemas.openxmlformats.org/officeDocument/2006/relationships/slide" Target="slides/slide21.xml"/><Relationship Id="rId88" Type="http://schemas.openxmlformats.org/officeDocument/2006/relationships/slide" Target="slides/slide22.xml"/><Relationship Id="rId89" Type="http://schemas.openxmlformats.org/officeDocument/2006/relationships/slide" Target="slides/slide23.xml"/><Relationship Id="rId90" Type="http://schemas.openxmlformats.org/officeDocument/2006/relationships/slide" Target="slides/slide24.xml"/><Relationship Id="rId91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e1d838b6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e1d838b6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e1d838b627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e1d838b627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fb61485a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3fb61485a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fb61485a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3fb61485a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6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BG_111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900875" y="3933700"/>
            <a:ext cx="1697400" cy="53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4"/>
                </a:solidFill>
                <a:latin typeface="Kedebideri SemiBold"/>
                <a:ea typeface="Kedebideri SemiBold"/>
                <a:cs typeface="Kedebideri SemiBold"/>
                <a:sym typeface="Kedebideri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BG_3_Data-visual.jpg"/>
          <p:cNvPicPr preferRelativeResize="0"/>
          <p:nvPr/>
        </p:nvPicPr>
        <p:blipFill rotWithShape="1">
          <a:blip r:embed="rId2">
            <a:alphaModFix/>
          </a:blip>
          <a:srcRect b="347" l="0" r="0" t="347"/>
          <a:stretch/>
        </p:blipFill>
        <p:spPr>
          <a:xfrm flipH="1">
            <a:off x="-282600" y="-137625"/>
            <a:ext cx="9505951" cy="5305324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5086975" y="1736775"/>
            <a:ext cx="3828300" cy="1698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1326300" y="1862778"/>
            <a:ext cx="1489800" cy="1402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28600"/>
            <a:ext cx="3271200" cy="96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4669103" y="1041750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subTitle"/>
          </p:nvPr>
        </p:nvSpPr>
        <p:spPr>
          <a:xfrm>
            <a:off x="4669103" y="2852326"/>
            <a:ext cx="39414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3" type="subTitle"/>
          </p:nvPr>
        </p:nvSpPr>
        <p:spPr>
          <a:xfrm>
            <a:off x="4669103" y="1614448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4" type="subTitle"/>
          </p:nvPr>
        </p:nvSpPr>
        <p:spPr>
          <a:xfrm>
            <a:off x="4669103" y="3425025"/>
            <a:ext cx="3941400" cy="11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457200" y="228600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type="title"/>
          </p:nvPr>
        </p:nvSpPr>
        <p:spPr>
          <a:xfrm>
            <a:off x="5230250" y="3673925"/>
            <a:ext cx="3456600" cy="99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1362775" y="2348550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5" type="subTitle"/>
          </p:nvPr>
        </p:nvSpPr>
        <p:spPr>
          <a:xfrm>
            <a:off x="5107125" y="2348550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6" type="subTitle"/>
          </p:nvPr>
        </p:nvSpPr>
        <p:spPr>
          <a:xfrm>
            <a:off x="5475145" y="2918558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7" type="subTitle"/>
          </p:nvPr>
        </p:nvSpPr>
        <p:spPr>
          <a:xfrm>
            <a:off x="5843165" y="3488566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8" type="subTitle"/>
          </p:nvPr>
        </p:nvSpPr>
        <p:spPr>
          <a:xfrm>
            <a:off x="6211185" y="4058574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16" type="title"/>
          </p:nvPr>
        </p:nvSpPr>
        <p:spPr>
          <a:xfrm>
            <a:off x="4583003" y="2942369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17" type="title"/>
          </p:nvPr>
        </p:nvSpPr>
        <p:spPr>
          <a:xfrm>
            <a:off x="4964002" y="3512375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18" type="title"/>
          </p:nvPr>
        </p:nvSpPr>
        <p:spPr>
          <a:xfrm>
            <a:off x="5345004" y="4082381"/>
            <a:ext cx="865800" cy="310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hasCustomPrompt="1"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  <a:latin typeface="Stack Sans Notch Medium"/>
                <a:ea typeface="Stack Sans Notch Medium"/>
                <a:cs typeface="Stack Sans Notch Medium"/>
                <a:sym typeface="Stack Sans Notch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" type="subTitle"/>
          </p:nvPr>
        </p:nvSpPr>
        <p:spPr>
          <a:xfrm>
            <a:off x="3234325" y="3108700"/>
            <a:ext cx="5452500" cy="18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>
            <p:ph type="title"/>
          </p:nvPr>
        </p:nvSpPr>
        <p:spPr>
          <a:xfrm>
            <a:off x="457200" y="1126050"/>
            <a:ext cx="3998400" cy="131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1016100" y="2438575"/>
            <a:ext cx="4045500" cy="22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5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type="title"/>
          </p:nvPr>
        </p:nvSpPr>
        <p:spPr>
          <a:xfrm>
            <a:off x="457200" y="228600"/>
            <a:ext cx="4131900" cy="1041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BG_2_Data-visual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hasCustomPrompt="1" type="title"/>
          </p:nvPr>
        </p:nvSpPr>
        <p:spPr>
          <a:xfrm>
            <a:off x="4541700" y="925525"/>
            <a:ext cx="41451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5" name="Google Shape;85;p17"/>
          <p:cNvSpPr txBox="1"/>
          <p:nvPr>
            <p:ph idx="1" type="subTitle"/>
          </p:nvPr>
        </p:nvSpPr>
        <p:spPr>
          <a:xfrm>
            <a:off x="457200" y="1090584"/>
            <a:ext cx="2803500" cy="448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hasCustomPrompt="1" idx="2" type="title"/>
          </p:nvPr>
        </p:nvSpPr>
        <p:spPr>
          <a:xfrm>
            <a:off x="4541700" y="3082109"/>
            <a:ext cx="41451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7" name="Google Shape;87;p17"/>
          <p:cNvSpPr txBox="1"/>
          <p:nvPr>
            <p:ph idx="3" type="subTitle"/>
          </p:nvPr>
        </p:nvSpPr>
        <p:spPr>
          <a:xfrm>
            <a:off x="457200" y="3231511"/>
            <a:ext cx="2803500" cy="448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hasCustomPrompt="1" idx="4" type="title"/>
          </p:nvPr>
        </p:nvSpPr>
        <p:spPr>
          <a:xfrm>
            <a:off x="4541700" y="2003817"/>
            <a:ext cx="41451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89" name="Google Shape;89;p17"/>
          <p:cNvSpPr txBox="1"/>
          <p:nvPr>
            <p:ph idx="5" type="subTitle"/>
          </p:nvPr>
        </p:nvSpPr>
        <p:spPr>
          <a:xfrm>
            <a:off x="457200" y="2161047"/>
            <a:ext cx="2803500" cy="448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hasCustomPrompt="1" idx="6" type="title"/>
          </p:nvPr>
        </p:nvSpPr>
        <p:spPr>
          <a:xfrm>
            <a:off x="4541700" y="4160401"/>
            <a:ext cx="4145100" cy="75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accent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1" name="Google Shape;91;p17"/>
          <p:cNvSpPr txBox="1"/>
          <p:nvPr>
            <p:ph idx="7" type="subTitle"/>
          </p:nvPr>
        </p:nvSpPr>
        <p:spPr>
          <a:xfrm>
            <a:off x="457200" y="4301974"/>
            <a:ext cx="2803500" cy="4482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8" type="title"/>
          </p:nvPr>
        </p:nvSpPr>
        <p:spPr>
          <a:xfrm>
            <a:off x="457200" y="228600"/>
            <a:ext cx="7004400" cy="6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 title="BG_5_Data-visual.jpg"/>
          <p:cNvPicPr preferRelativeResize="0"/>
          <p:nvPr/>
        </p:nvPicPr>
        <p:blipFill rotWithShape="1">
          <a:blip r:embed="rId2">
            <a:alphaModFix/>
          </a:blip>
          <a:srcRect b="0" l="39" r="49" t="0"/>
          <a:stretch/>
        </p:blipFill>
        <p:spPr>
          <a:xfrm>
            <a:off x="0" y="0"/>
            <a:ext cx="914400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type="title"/>
          </p:nvPr>
        </p:nvSpPr>
        <p:spPr>
          <a:xfrm>
            <a:off x="661200" y="298700"/>
            <a:ext cx="3742800" cy="247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96" name="Google Shape;96;p18"/>
          <p:cNvSpPr txBox="1"/>
          <p:nvPr>
            <p:ph idx="1" type="subTitle"/>
          </p:nvPr>
        </p:nvSpPr>
        <p:spPr>
          <a:xfrm>
            <a:off x="5763000" y="2867058"/>
            <a:ext cx="31527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/>
        </p:nvSpPr>
        <p:spPr>
          <a:xfrm>
            <a:off x="5763000" y="4120830"/>
            <a:ext cx="2841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000">
                <a:solidFill>
                  <a:schemeClr val="lt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 title="BG_23_Data-visual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232"/>
            <a:ext cx="9144003" cy="513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 title="BG_2_Data-visual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1" y="2225"/>
            <a:ext cx="9144028" cy="513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23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24"/>
          <p:cNvSpPr txBox="1"/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4"/>
          <p:cNvSpPr txBox="1"/>
          <p:nvPr>
            <p:ph idx="2" type="title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2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b="1" sz="24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tack Sans Notch Light"/>
              <a:buNone/>
              <a:defRPr sz="2600">
                <a:solidFill>
                  <a:schemeClr val="dk1"/>
                </a:solidFill>
                <a:latin typeface="Stack Sans Notch Light"/>
                <a:ea typeface="Stack Sans Notch Light"/>
                <a:cs typeface="Stack Sans Notch Light"/>
                <a:sym typeface="Stack Sans Notch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"/>
              <a:buNone/>
              <a:defRPr b="1" sz="2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●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○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edebideri"/>
              <a:buChar char="■"/>
              <a:defRPr>
                <a:solidFill>
                  <a:schemeClr val="dk1"/>
                </a:solidFill>
                <a:latin typeface="Kedebideri"/>
                <a:ea typeface="Kedebideri"/>
                <a:cs typeface="Kedebideri"/>
                <a:sym typeface="Kedebide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44">
          <p15:clr>
            <a:srgbClr val="EA4335"/>
          </p15:clr>
        </p15:guide>
        <p15:guide id="2" orient="horz" pos="3096">
          <p15:clr>
            <a:srgbClr val="EA4335"/>
          </p15:clr>
        </p15:guide>
        <p15:guide id="3" pos="144">
          <p15:clr>
            <a:srgbClr val="EA4335"/>
          </p15:clr>
        </p15:guide>
        <p15:guide id="4" pos="5616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b="1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  <p:sldLayoutId id="2147483668" r:id="rId2"/>
    <p:sldLayoutId id="2147483669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4.jp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"/>
          <p:cNvSpPr txBox="1"/>
          <p:nvPr>
            <p:ph type="ctrTitle"/>
          </p:nvPr>
        </p:nvSpPr>
        <p:spPr>
          <a:xfrm>
            <a:off x="1326300" y="1587600"/>
            <a:ext cx="4702800" cy="19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5400" b="0">
                <a:solidFill>
                  <a:srgbClr val="FFFFFF"/>
                </a:solidFill>
              </a:rPr>
              <a:t>Algorithmic choice relocates power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9" name="SUBTITLE"/>
          <p:cNvSpPr txBox="1"/>
          <p:nvPr>
            <p:ph idx="1" type="subTitle"/>
          </p:nvPr>
        </p:nvSpPr>
        <p:spPr>
          <a:xfrm>
            <a:off x="6900875" y="3933700"/>
            <a:ext cx="1697400" cy="5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FFFFFF"/>
                </a:solidFill>
              </a:rPr>
              <a:t>Research questions plus data artifacts collected (no results yet).</a:t>
            </a:r>
            <a:endParaRPr/>
          </a:p>
        </p:txBody>
      </p:sp>
      <p:sp>
        <p:nvSpPr>
          <p:cNvPr id="120" name="PROJECT_LABEL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</a:rPr>
              <a:t>BLUESKY RQs + DATA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21" name="DATE_LABEL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FFFFF"/>
                </a:solidFill>
              </a:rPr>
              <a:t>FEB 2026</a:t>
            </a:r>
            <a:endParaRPr sz="800">
              <a:solidFill>
                <a:schemeClr val="accent4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22" name="BADGE_NO_RESULTS"/>
          <p:cNvSpPr/>
          <p:nvPr/>
        </p:nvSpPr>
        <p:spPr>
          <a:xfrm>
            <a:off x="6720840" y="502920"/>
            <a:ext cx="1920240" cy="502920"/>
          </a:xfrm>
          <a:prstGeom prst="round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FFFFF"/>
                </a:solidFill>
              </a:rPr>
              <a:t>NO RESULTS TODAY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19" grpId="0" animBg="1"/>
      <p:bldP spid="12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System framing: pluggable services, new chokepoints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modular services relocate concentration.</a:t>
            </a:r>
          </a:p>
        </p:txBody>
      </p:sp>
      <p:sp>
        <p:nvSpPr>
          <p:cNvPr id="199" name="NODE_VIEWER"/>
          <p:cNvSpPr/>
          <p:nvPr/>
        </p:nvSpPr>
        <p:spPr>
          <a:xfrm>
            <a:off x="594360" y="1965960"/>
            <a:ext cx="132588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62626"/>
                </a:solidFill>
              </a:rPr>
              <a:t>viewer</a:t>
            </a:r>
          </a:p>
        </p:txBody>
      </p:sp>
      <p:sp>
        <p:nvSpPr>
          <p:cNvPr id="200" name="NODE_DISCOVERY"/>
          <p:cNvSpPr/>
          <p:nvPr/>
        </p:nvSpPr>
        <p:spPr>
          <a:xfrm>
            <a:off x="2148840" y="1965960"/>
            <a:ext cx="169164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62626"/>
                </a:solidFill>
              </a:rPr>
              <a:t>discovery surfaces</a:t>
            </a:r>
          </a:p>
        </p:txBody>
      </p:sp>
      <p:sp>
        <p:nvSpPr>
          <p:cNvPr id="201" name="NODE_FEEDS"/>
          <p:cNvSpPr/>
          <p:nvPr/>
        </p:nvSpPr>
        <p:spPr>
          <a:xfrm>
            <a:off x="4069080" y="1965960"/>
            <a:ext cx="141732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62626"/>
                </a:solidFill>
              </a:rPr>
              <a:t>feed generators</a:t>
            </a:r>
          </a:p>
        </p:txBody>
      </p:sp>
      <p:sp>
        <p:nvSpPr>
          <p:cNvPr id="202" name="NODE_HOSTING"/>
          <p:cNvSpPr/>
          <p:nvPr/>
        </p:nvSpPr>
        <p:spPr>
          <a:xfrm>
            <a:off x="5715000" y="1965960"/>
            <a:ext cx="150876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62626"/>
                </a:solidFill>
              </a:rPr>
              <a:t>provider hosting</a:t>
            </a:r>
          </a:p>
        </p:txBody>
      </p:sp>
      <p:sp>
        <p:nvSpPr>
          <p:cNvPr id="203" name="NODE_OUTCOMES"/>
          <p:cNvSpPr/>
          <p:nvPr/>
        </p:nvSpPr>
        <p:spPr>
          <a:xfrm>
            <a:off x="7452360" y="1965960"/>
            <a:ext cx="141732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62626"/>
                </a:solidFill>
              </a:rPr>
              <a:t>exposure outcomes</a:t>
            </a:r>
          </a:p>
        </p:txBody>
      </p:sp>
      <p:sp>
        <p:nvSpPr>
          <p:cNvPr id="204" name="NODE_LABELERS"/>
          <p:cNvSpPr/>
          <p:nvPr/>
        </p:nvSpPr>
        <p:spPr>
          <a:xfrm>
            <a:off x="4640580" y="2926080"/>
            <a:ext cx="1965960" cy="6217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62626"/>
                </a:solidFill>
              </a:rPr>
              <a:t>labelers</a:t>
            </a:r>
          </a:p>
        </p:txBody>
      </p:sp>
      <p:cxnSp>
        <p:nvCxnSpPr>
          <p:cNvPr id="205" name="LINK_1"/>
          <p:cNvCxnSpPr/>
          <p:nvPr/>
        </p:nvCxnSpPr>
        <p:spPr>
          <a:xfrm>
            <a:off x="1920240" y="2276856"/>
            <a:ext cx="228600" cy="0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LINK_2"/>
          <p:cNvCxnSpPr/>
          <p:nvPr/>
        </p:nvCxnSpPr>
        <p:spPr>
          <a:xfrm>
            <a:off x="3840480" y="2276856"/>
            <a:ext cx="228600" cy="0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LINK_3"/>
          <p:cNvCxnSpPr/>
          <p:nvPr/>
        </p:nvCxnSpPr>
        <p:spPr>
          <a:xfrm>
            <a:off x="5486400" y="2276856"/>
            <a:ext cx="228600" cy="0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LINK_4"/>
          <p:cNvCxnSpPr/>
          <p:nvPr/>
        </p:nvCxnSpPr>
        <p:spPr>
          <a:xfrm>
            <a:off x="7223760" y="2276856"/>
            <a:ext cx="228600" cy="0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LINK_LABELERS"/>
          <p:cNvCxnSpPr/>
          <p:nvPr/>
        </p:nvCxnSpPr>
        <p:spPr>
          <a:xfrm>
            <a:off x="4777740" y="2587752"/>
            <a:ext cx="845820" cy="338328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BOTTOM"/>
          <p:cNvSpPr txBox="1"/>
          <p:nvPr/>
        </p:nvSpPr>
        <p:spPr>
          <a:xfrm>
            <a:off x="502920" y="42519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Discovery surfaces and provider hosting are key chokepoints.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feed marketplace (/feeds)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feeds are discoverable + selectable algorithmic timelines.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bsky_raw_fe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/feeds directory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Search feeds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Feed cards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Creator + likes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Trending widget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Defaults matter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Discovery risk</a:t>
            </a:r>
          </a:p>
        </p:txBody>
      </p:sp>
      <p:sp>
        <p:nvSpPr>
          <p:cNvPr id="209" name="HILITE_A"/>
          <p:cNvSpPr/>
          <p:nvPr/>
        </p:nvSpPr>
        <p:spPr>
          <a:xfrm>
            <a:off x="3809999" y="1702190"/>
            <a:ext cx="3429914" cy="335280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809999" y="2243796"/>
            <a:ext cx="3429914" cy="1929326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7643797" y="1702190"/>
            <a:ext cx="1327708" cy="786618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590543" y="1738766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590543" y="2280372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7424341" y="1738766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 flipV="1">
            <a:off x="3246120" y="1869830"/>
            <a:ext cx="563879" cy="59554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563879" cy="364676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5" grpId="0" animBg="1"/>
      <p:bldP spid="210" grpId="0" animBg="1"/>
      <p:bldP spid="213" grpId="0" animBg="1"/>
      <p:bldP spid="216" grpId="0" animBg="1"/>
      <p:bldP spid="211" grpId="0" animBg="1"/>
      <p:bldP spid="21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what a feed looks like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a feed page renders an algorithm into a timeline of posts.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bsky_raw_feed_for_sci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Feed name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Demand signals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Timeline output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Exposure decisions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Post actions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we measure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Manipulation risk</a:t>
            </a:r>
          </a:p>
        </p:txBody>
      </p:sp>
      <p:sp>
        <p:nvSpPr>
          <p:cNvPr id="209" name="HILITE_A"/>
          <p:cNvSpPr/>
          <p:nvPr/>
        </p:nvSpPr>
        <p:spPr>
          <a:xfrm>
            <a:off x="3797104" y="1573236"/>
            <a:ext cx="3872483" cy="399756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797104" y="2166424"/>
            <a:ext cx="3872483" cy="1929326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926058" y="3644412"/>
            <a:ext cx="1991562" cy="373966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577648" y="2203000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706602" y="3680988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 flipV="1">
            <a:off x="3246120" y="1773115"/>
            <a:ext cx="550984" cy="156269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550984" cy="287303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5" grpId="0" animBg="1"/>
      <p:bldP spid="210" grpId="0" animBg="1"/>
      <p:bldP spid="213" grpId="0" animBg="1"/>
      <p:bldP spid="216" grpId="0" animBg="1"/>
      <p:bldP spid="211" grpId="0" animBg="1"/>
      <p:bldP spid="21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starter packs (onboarding bundles)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starter packs bundle people (and sometimes feeds) for fast onboarding.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bsky_raw_starter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Pack title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Curated list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Join button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1-click onboarding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People cards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Curation questions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Measure exposure</a:t>
            </a:r>
          </a:p>
        </p:txBody>
      </p:sp>
      <p:sp>
        <p:nvSpPr>
          <p:cNvPr id="209" name="HILITE_A"/>
          <p:cNvSpPr/>
          <p:nvPr/>
        </p:nvSpPr>
        <p:spPr>
          <a:xfrm>
            <a:off x="3797104" y="1573236"/>
            <a:ext cx="4093768" cy="567396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797104" y="2243796"/>
            <a:ext cx="4093768" cy="464233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797104" y="2836984"/>
            <a:ext cx="4093768" cy="1618144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577648" y="160981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577648" y="2280372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577648" y="2873560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 flipV="1">
            <a:off x="3246120" y="1856935"/>
            <a:ext cx="550984" cy="72449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 flipV="1">
            <a:off x="3246120" y="2475913"/>
            <a:ext cx="550984" cy="367871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5" grpId="0" animBg="1"/>
      <p:bldP spid="210" grpId="0" animBg="1"/>
      <p:bldP spid="213" grpId="0" animBg="1"/>
      <p:bldP spid="216" grpId="0" animBg="1"/>
      <p:bldP spid="211" grpId="0" animBg="1"/>
      <p:bldP spid="2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"/>
          <p:cNvSpPr txBox="1"/>
          <p:nvPr>
            <p:ph type="title"/>
          </p:nvPr>
        </p:nvSpPr>
        <p:spPr>
          <a:xfrm>
            <a:off x="457200" y="1307125"/>
            <a:ext cx="8229600" cy="9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000" b="0">
                <a:solidFill>
                  <a:srgbClr val="262626"/>
                </a:solidFill>
              </a:rPr>
              <a:t>Research questions (R1-R5)</a:t>
            </a:r>
            <a:endParaRPr/>
          </a:p>
        </p:txBody>
      </p:sp>
      <p:sp>
        <p:nvSpPr>
          <p:cNvPr id="168" name="RQ_SLOT_01"/>
          <p:cNvSpPr txBox="1"/>
          <p:nvPr>
            <p:ph idx="1" type="subTitle"/>
          </p:nvPr>
        </p:nvSpPr>
        <p:spPr>
          <a:xfrm>
            <a:off x="1362775" y="2348550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62626"/>
                </a:solidFill>
              </a:rPr>
              <a:t>R1 Discovery chokepoints? governance.</a:t>
            </a:r>
            <a:endParaRPr/>
          </a:p>
        </p:txBody>
      </p:sp>
      <p:sp>
        <p:nvSpPr>
          <p:cNvPr id="169" name="RQ_SLOT_02"/>
          <p:cNvSpPr txBox="1"/>
          <p:nvPr>
            <p:ph idx="2" type="subTitle"/>
          </p:nvPr>
        </p:nvSpPr>
        <p:spPr>
          <a:xfrm>
            <a:off x="1724580" y="2918558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62626"/>
                </a:solidFill>
              </a:rPr>
              <a:t>R2 Provider buckets dominate? reliability.</a:t>
            </a:r>
            <a:endParaRPr/>
          </a:p>
        </p:txBody>
      </p:sp>
      <p:sp>
        <p:nvSpPr>
          <p:cNvPr id="170" name="RQ_SLOT_03"/>
          <p:cNvSpPr txBox="1"/>
          <p:nvPr>
            <p:ph idx="3" type="subTitle"/>
          </p:nvPr>
        </p:nvSpPr>
        <p:spPr>
          <a:xfrm>
            <a:off x="2086396" y="3488567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62626"/>
                </a:solidFill>
              </a:rPr>
              <a:t>R3 Same winners across feeds? manipulation.</a:t>
            </a:r>
            <a:endParaRPr/>
          </a:p>
        </p:txBody>
      </p:sp>
      <p:sp>
        <p:nvSpPr>
          <p:cNvPr id="171" name="RQ_SLOT_04"/>
          <p:cNvSpPr txBox="1"/>
          <p:nvPr>
            <p:ph idx="4" type="subTitle"/>
          </p:nvPr>
        </p:nvSpPr>
        <p:spPr>
          <a:xfrm>
            <a:off x="2448211" y="4058575"/>
            <a:ext cx="2658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62626"/>
                </a:solidFill>
              </a:rPr>
              <a:t>R4 Labels vary by viewer? safety.</a:t>
            </a:r>
            <a:endParaRPr/>
          </a:p>
        </p:txBody>
      </p:sp>
      <p:sp>
        <p:nvSpPr>
          <p:cNvPr id="172" name="RQ_SLOT_05"/>
          <p:cNvSpPr txBox="1"/>
          <p:nvPr>
            <p:ph idx="5" type="subTitle"/>
          </p:nvPr>
        </p:nvSpPr>
        <p:spPr>
          <a:xfrm>
            <a:off x="5107125" y="2348550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62626"/>
                </a:solidFill>
              </a:rPr>
              <a:t>R5 Future experiment: gaming plus privacy attacks. extra guardrails.</a:t>
            </a:r>
            <a:endParaRPr/>
          </a:p>
        </p:txBody>
      </p:sp>
      <p:sp>
        <p:nvSpPr>
          <p:cNvPr id="173" name="RQ_SLOT_06"/>
          <p:cNvSpPr txBox="1"/>
          <p:nvPr>
            <p:ph idx="6" type="subTitle"/>
          </p:nvPr>
        </p:nvSpPr>
        <p:spPr>
          <a:xfrm>
            <a:off x="5475145" y="2918558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RQ_SLOT_07"/>
          <p:cNvSpPr txBox="1"/>
          <p:nvPr>
            <p:ph idx="7" type="subTitle"/>
          </p:nvPr>
        </p:nvSpPr>
        <p:spPr>
          <a:xfrm>
            <a:off x="5843165" y="3488566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RQ_SLOT_08"/>
          <p:cNvSpPr txBox="1"/>
          <p:nvPr>
            <p:ph idx="8" type="subTitle"/>
          </p:nvPr>
        </p:nvSpPr>
        <p:spPr>
          <a:xfrm>
            <a:off x="6211185" y="4058574"/>
            <a:ext cx="270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RQ_NUM_04"/>
          <p:cNvSpPr txBox="1"/>
          <p:nvPr>
            <p:ph idx="9" type="title"/>
          </p:nvPr>
        </p:nvSpPr>
        <p:spPr>
          <a:xfrm>
            <a:off x="1587966" y="4082388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676FFE"/>
                </a:solidFill>
              </a:rPr>
              <a:t>04</a:t>
            </a:r>
            <a:endParaRPr/>
          </a:p>
        </p:txBody>
      </p:sp>
      <p:sp>
        <p:nvSpPr>
          <p:cNvPr id="177" name="RQ_NUM_02"/>
          <p:cNvSpPr txBox="1"/>
          <p:nvPr>
            <p:ph idx="13" type="title"/>
          </p:nvPr>
        </p:nvSpPr>
        <p:spPr>
          <a:xfrm>
            <a:off x="825966" y="2942171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676FFE"/>
                </a:solidFill>
              </a:rPr>
              <a:t>02</a:t>
            </a:r>
            <a:endParaRPr/>
          </a:p>
        </p:txBody>
      </p:sp>
      <p:sp>
        <p:nvSpPr>
          <p:cNvPr id="178" name="RQ_NUM_01"/>
          <p:cNvSpPr txBox="1"/>
          <p:nvPr>
            <p:ph idx="14" type="title"/>
          </p:nvPr>
        </p:nvSpPr>
        <p:spPr>
          <a:xfrm>
            <a:off x="445794" y="2372363"/>
            <a:ext cx="864300" cy="3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676FFE"/>
                </a:solidFill>
              </a:rPr>
              <a:t>01</a:t>
            </a:r>
            <a:endParaRPr/>
          </a:p>
        </p:txBody>
      </p:sp>
      <p:sp>
        <p:nvSpPr>
          <p:cNvPr id="179" name="RQ_NUM_03"/>
          <p:cNvSpPr txBox="1"/>
          <p:nvPr>
            <p:ph idx="15" type="title"/>
          </p:nvPr>
        </p:nvSpPr>
        <p:spPr>
          <a:xfrm>
            <a:off x="1206966" y="3512279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676FFE"/>
                </a:solidFill>
              </a:rPr>
              <a:t>03</a:t>
            </a:r>
            <a:endParaRPr/>
          </a:p>
        </p:txBody>
      </p:sp>
      <p:sp>
        <p:nvSpPr>
          <p:cNvPr id="180" name="RQ_NUM_06"/>
          <p:cNvSpPr txBox="1"/>
          <p:nvPr>
            <p:ph idx="16" type="title"/>
          </p:nvPr>
        </p:nvSpPr>
        <p:spPr>
          <a:xfrm>
            <a:off x="4583003" y="2942369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RQ_NUM_07"/>
          <p:cNvSpPr txBox="1"/>
          <p:nvPr>
            <p:ph idx="17" type="title"/>
          </p:nvPr>
        </p:nvSpPr>
        <p:spPr>
          <a:xfrm>
            <a:off x="4964002" y="3512375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RQ_NUM_08"/>
          <p:cNvSpPr txBox="1"/>
          <p:nvPr>
            <p:ph idx="18" type="title"/>
          </p:nvPr>
        </p:nvSpPr>
        <p:spPr>
          <a:xfrm>
            <a:off x="5345004" y="4082381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RQ_NUM_05"/>
          <p:cNvSpPr txBox="1"/>
          <p:nvPr>
            <p:ph idx="19" type="title"/>
          </p:nvPr>
        </p:nvSpPr>
        <p:spPr>
          <a:xfrm>
            <a:off x="4202003" y="2372363"/>
            <a:ext cx="865800" cy="31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>
                <a:solidFill>
                  <a:srgbClr val="676FFE"/>
                </a:solidFill>
              </a:rPr>
              <a:t>05</a:t>
            </a:r>
            <a:endParaRPr/>
          </a:p>
        </p:txBody>
      </p:sp>
      <p:cxnSp>
        <p:nvCxnSpPr>
          <p:cNvPr id="184" name="Google Shape;184;p27"/>
          <p:cNvCxnSpPr/>
          <p:nvPr/>
        </p:nvCxnSpPr>
        <p:spPr>
          <a:xfrm>
            <a:off x="-165150" y="2816614"/>
            <a:ext cx="943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7"/>
          <p:cNvCxnSpPr/>
          <p:nvPr/>
        </p:nvCxnSpPr>
        <p:spPr>
          <a:xfrm>
            <a:off x="-165150" y="3396153"/>
            <a:ext cx="943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7"/>
          <p:cNvCxnSpPr/>
          <p:nvPr/>
        </p:nvCxnSpPr>
        <p:spPr>
          <a:xfrm>
            <a:off x="-165150" y="3975691"/>
            <a:ext cx="943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TAKEAWAY"/>
          <p:cNvSpPr txBox="1"/>
          <p:nvPr/>
        </p:nvSpPr>
        <p:spPr>
          <a:xfrm>
            <a:off x="502920" y="10515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</a:rPr>
              <a:t>Takeaway: security and privacy scope.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2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2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2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2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2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87" grpId="0" animBg="1"/>
      <p:bldP spid="168" grpId="0" animBg="1"/>
      <p:bldP spid="178" grpId="0" animBg="1"/>
      <p:bldP spid="169" grpId="0" animBg="1"/>
      <p:bldP spid="177" grpId="0" animBg="1"/>
      <p:bldP spid="170" grpId="0" animBg="1"/>
      <p:bldP spid="179" grpId="0" animBg="1"/>
      <p:bldP spid="171" grpId="0" animBg="1"/>
      <p:bldP spid="176" grpId="0" animBg="1"/>
      <p:bldP spid="172" grpId="0" animBg="1"/>
      <p:bldP spid="18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ITLE"/>
          <p:cNvSpPr txBox="1"/>
          <p:nvPr>
            <p:ph type="title"/>
          </p:nvPr>
        </p:nvSpPr>
        <p:spPr>
          <a:xfrm>
            <a:off x="457200" y="228600"/>
            <a:ext cx="4131900" cy="104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262626"/>
                </a:solidFill>
              </a:rPr>
              <a:t>Data artifacts collected (no results)</a:t>
            </a:r>
            <a:endParaRPr/>
          </a:p>
        </p:txBody>
      </p:sp>
      <p:sp>
        <p:nvSpPr>
          <p:cNvPr id="220" name="GROUP_01_HEAD"/>
          <p:cNvSpPr txBox="1"/>
          <p:nvPr/>
        </p:nvSpPr>
        <p:spPr>
          <a:xfrm>
            <a:off x="528316" y="3469472"/>
            <a:ext cx="186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76FFE"/>
                </a:solidFill>
              </a:rPr>
              <a:t>Discovery inputs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1" name="GROUP_01_BODY"/>
          <p:cNvSpPr txBox="1"/>
          <p:nvPr/>
        </p:nvSpPr>
        <p:spPr>
          <a:xfrm>
            <a:off x="528296" y="4002858"/>
            <a:ext cx="1860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</a:rPr>
              <a:t>feed_generators_index.csv • starterpacks.csv • starterpack_feeds.csv • …</a:t>
            </a:r>
            <a:endParaRPr sz="120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ROUP_02_HEAD"/>
          <p:cNvSpPr txBox="1"/>
          <p:nvPr/>
        </p:nvSpPr>
        <p:spPr>
          <a:xfrm>
            <a:off x="2627558" y="3469472"/>
            <a:ext cx="186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76FFE"/>
                </a:solidFill>
              </a:rPr>
              <a:t>Panel snapshots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3" name="GROUP_02_BODY"/>
          <p:cNvSpPr txBox="1"/>
          <p:nvPr/>
        </p:nvSpPr>
        <p:spPr>
          <a:xfrm>
            <a:off x="2627541" y="4002859"/>
            <a:ext cx="1860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</a:rPr>
              <a:t>feed_panel.csv • feed_items.csv.gz • posts.csv.gz • …</a:t>
            </a:r>
            <a:endParaRPr sz="120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ROUP_03_HEAD"/>
          <p:cNvSpPr txBox="1"/>
          <p:nvPr/>
        </p:nvSpPr>
        <p:spPr>
          <a:xfrm>
            <a:off x="4726800" y="3469472"/>
            <a:ext cx="186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76FFE"/>
                </a:solidFill>
              </a:rPr>
              <a:t>Trust and reproducibility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5" name="GROUP_03_BODY"/>
          <p:cNvSpPr txBox="1"/>
          <p:nvPr/>
        </p:nvSpPr>
        <p:spPr>
          <a:xfrm>
            <a:off x="4726786" y="4002858"/>
            <a:ext cx="1860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</a:rPr>
              <a:t>state.db • run_metadata.csv • run_summary.csv • …</a:t>
            </a:r>
            <a:endParaRPr sz="120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ROUP_04_HEAD"/>
          <p:cNvSpPr txBox="1"/>
          <p:nvPr/>
        </p:nvSpPr>
        <p:spPr>
          <a:xfrm>
            <a:off x="6826042" y="3469472"/>
            <a:ext cx="1860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676FFE"/>
                </a:solidFill>
              </a:rPr>
              <a:t>Join spine</a:t>
            </a:r>
            <a:endParaRPr b="1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7" name="GROUP_04_BODY"/>
          <p:cNvSpPr txBox="1"/>
          <p:nvPr/>
        </p:nvSpPr>
        <p:spPr>
          <a:xfrm>
            <a:off x="6826031" y="4002859"/>
            <a:ext cx="18609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>
                <a:solidFill>
                  <a:srgbClr val="262626"/>
                </a:solidFill>
              </a:rPr>
              <a:t>feed_panel -&gt; feed_items -&gt; posts/authors • post_labels attaches by feed_uri, viewer_mode, post_uri, post_cid. • Result: joinable, reproducible, auditable artifacts.</a:t>
            </a:r>
            <a:endParaRPr sz="120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ROUP_01_NUM"/>
          <p:cNvSpPr txBox="1"/>
          <p:nvPr/>
        </p:nvSpPr>
        <p:spPr>
          <a:xfrm>
            <a:off x="528325" y="1738262"/>
            <a:ext cx="1860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676FFE"/>
                </a:solidFill>
              </a:rPr>
              <a:t>01</a:t>
            </a:r>
            <a:endParaRPr sz="2400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29" name="GROUP_02_NUM"/>
          <p:cNvSpPr txBox="1"/>
          <p:nvPr/>
        </p:nvSpPr>
        <p:spPr>
          <a:xfrm>
            <a:off x="2627567" y="1738262"/>
            <a:ext cx="1860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676FFE"/>
                </a:solidFill>
              </a:rPr>
              <a:t>02</a:t>
            </a:r>
            <a:endParaRPr sz="2400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30" name="GROUP_03_NUM"/>
          <p:cNvSpPr txBox="1"/>
          <p:nvPr/>
        </p:nvSpPr>
        <p:spPr>
          <a:xfrm>
            <a:off x="4726808" y="1738262"/>
            <a:ext cx="1860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676FFE"/>
                </a:solidFill>
              </a:rPr>
              <a:t>03</a:t>
            </a:r>
            <a:endParaRPr sz="2400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231" name="GROUP_04_NUM"/>
          <p:cNvSpPr txBox="1"/>
          <p:nvPr/>
        </p:nvSpPr>
        <p:spPr>
          <a:xfrm>
            <a:off x="6826050" y="1738262"/>
            <a:ext cx="18609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600" b="1">
                <a:solidFill>
                  <a:srgbClr val="676FFE"/>
                </a:solidFill>
              </a:rPr>
              <a:t>04</a:t>
            </a:r>
            <a:endParaRPr sz="2400">
              <a:solidFill>
                <a:schemeClr val="dk2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cxnSp>
        <p:nvCxnSpPr>
          <p:cNvPr id="232" name="Google Shape;232;p31"/>
          <p:cNvCxnSpPr/>
          <p:nvPr/>
        </p:nvCxnSpPr>
        <p:spPr>
          <a:xfrm>
            <a:off x="2556396" y="1888000"/>
            <a:ext cx="0" cy="2720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31"/>
          <p:cNvCxnSpPr/>
          <p:nvPr/>
        </p:nvCxnSpPr>
        <p:spPr>
          <a:xfrm>
            <a:off x="4655573" y="1888000"/>
            <a:ext cx="0" cy="2720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31"/>
          <p:cNvCxnSpPr/>
          <p:nvPr/>
        </p:nvCxnSpPr>
        <p:spPr>
          <a:xfrm>
            <a:off x="6754750" y="1888000"/>
            <a:ext cx="0" cy="2720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1"/>
          <p:cNvCxnSpPr/>
          <p:nvPr/>
        </p:nvCxnSpPr>
        <p:spPr>
          <a:xfrm>
            <a:off x="455100" y="1888000"/>
            <a:ext cx="0" cy="27204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TAKEAWAY"/>
          <p:cNvSpPr txBox="1"/>
          <p:nvPr/>
        </p:nvSpPr>
        <p:spPr>
          <a:xfrm>
            <a:off x="502920" y="13258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B5563"/>
                </a:solidFill>
              </a:rPr>
              <a:t>Takeaway: artifacts are joinable, reproducible, and auditable.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2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2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2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2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2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2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2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 animBg="1"/>
      <p:bldP spid="236" grpId="0" animBg="1"/>
      <p:bldP spid="220" grpId="0" animBg="1"/>
      <p:bldP spid="221" grpId="0" animBg="1"/>
      <p:bldP spid="228" grpId="0" animBg="1"/>
      <p:bldP spid="222" grpId="0" animBg="1"/>
      <p:bldP spid="223" grpId="0" animBg="1"/>
      <p:bldP spid="229" grpId="0" animBg="1"/>
      <p:bldP spid="224" grpId="0" animBg="1"/>
      <p:bldP spid="225" grpId="0" animBg="1"/>
      <p:bldP spid="230" grpId="0" animBg="1"/>
      <p:bldP spid="226" grpId="0" animBg="1"/>
      <p:bldP spid="227" grpId="0" animBg="1"/>
      <p:bldP spid="231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Data receipt: discovery surfaces (starter packs + popular list)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discovery is measurable via starter-pack inclusion and popular list ranks.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receipt_hd_slide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Starter packs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starterpacks + starterpack_feeds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Inclusion_count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slot_count (position-weighted)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Popularity_rank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Concentration + provider leverage</a:t>
            </a:r>
          </a:p>
        </p:txBody>
      </p:sp>
      <p:sp>
        <p:nvSpPr>
          <p:cNvPr id="209" name="HILITE_A"/>
          <p:cNvSpPr/>
          <p:nvPr/>
        </p:nvSpPr>
        <p:spPr>
          <a:xfrm>
            <a:off x="3912397" y="1547446"/>
            <a:ext cx="4653883" cy="1011763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912397" y="2694208"/>
            <a:ext cx="4653883" cy="876341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912397" y="3708430"/>
            <a:ext cx="4653883" cy="873460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692941" y="158402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692941" y="2730784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692941" y="3745006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0" grpId="0" animBg="1"/>
      <p:bldP spid="213" grpId="0" animBg="1"/>
      <p:bldP spid="211" grpId="0" animBg="1"/>
      <p:bldP spid="214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Data receipt: ranked exposure + risk labels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feed_items + posts + labels already support H1-H6 (cross-sectional).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receipt_hd_slide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feed_items row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(feed_uri, viewer_mode, rank)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posts row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text + links + langs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post_labels row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H6: risk exposure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Feed auditing / mitigations</a:t>
            </a:r>
          </a:p>
        </p:txBody>
      </p:sp>
      <p:sp>
        <p:nvSpPr>
          <p:cNvPr id="209" name="HILITE_A"/>
          <p:cNvSpPr/>
          <p:nvPr/>
        </p:nvSpPr>
        <p:spPr>
          <a:xfrm>
            <a:off x="4528998" y="1547446"/>
            <a:ext cx="3420681" cy="830241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4528998" y="2498279"/>
            <a:ext cx="3420681" cy="982950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4528998" y="3601821"/>
            <a:ext cx="3420681" cy="980069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4309542" y="158402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4309542" y="2534855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4309542" y="3638397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0" grpId="0" animBg="1"/>
      <p:bldP spid="213" grpId="0" animBg="1"/>
      <p:bldP spid="211" grpId="0" animBg="1"/>
      <p:bldP spid="214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Data receipt: labels (schema + global values + prefs)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labels are structured safety signals; behavior depends on viewer prefs.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receipt_hd_slid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Label schema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(src, uri/cid, val, neg, cts)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Global values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protocol-defined strings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Viewer prefs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hide / warn / ignore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Docs grounding</a:t>
            </a:r>
          </a:p>
        </p:txBody>
      </p:sp>
      <p:sp>
        <p:nvSpPr>
          <p:cNvPr id="209" name="HILITE_A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0" grpId="0" animBg="1"/>
      <p:bldP spid="213" grpId="0" animBg="1"/>
      <p:bldP spid="211" grpId="0" animBg="1"/>
      <p:bldP spid="214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Data receipt: custom labels (definitions + targets)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labelers can define custom taxonomies; we preserve raw label_val strings.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receipt_hd_slid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Custom definitions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blur + severity + defaults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Label targets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account vs profile vs content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Observed values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dataset examples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</a:t>
            </a:r>
          </a:p>
        </p:txBody>
      </p:sp>
      <p:sp>
        <p:nvSpPr>
          <p:cNvPr id="209" name="HILITE_A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0" grpId="0" animBg="1"/>
      <p:bldP spid="213" grpId="0" animBg="1"/>
      <p:bldP spid="211" grpId="0" animBg="1"/>
      <p:bldP spid="214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Data receipt: labelers (declarations + subscriptions + self-labels)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labels come from services; viewers choose which labelers to trust.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receipt_hd_slid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Declaration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values + policies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Subscriptions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viewer-selected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Self-labels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built-in values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</a:t>
            </a:r>
          </a:p>
        </p:txBody>
      </p:sp>
      <p:sp>
        <p:nvSpPr>
          <p:cNvPr id="209" name="HILITE_A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0" grpId="0" animBg="1"/>
      <p:bldP spid="213" grpId="0" animBg="1"/>
      <p:bldP spid="211" grpId="0" animBg="1"/>
      <p:bldP spid="214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Data receipt: moderation decisions (flags + UI contexts)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the same label can blur/warn/filter depending on context + prefs.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receipt_hd_slid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moderatePost()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post + prefs → decision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Output flags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filter / blur / alert / inform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UI contexts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contentList vs view vs media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Docs grounding</a:t>
            </a:r>
          </a:p>
        </p:txBody>
      </p:sp>
      <p:sp>
        <p:nvSpPr>
          <p:cNvPr id="209" name="HILITE_A"/>
          <p:cNvSpPr/>
          <p:nvPr/>
        </p:nvSpPr>
        <p:spPr>
          <a:xfrm>
            <a:off x="3526301" y="1547446"/>
            <a:ext cx="5428956" cy="919561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526301" y="2604888"/>
            <a:ext cx="5428956" cy="919561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526301" y="3662329"/>
            <a:ext cx="5428956" cy="919561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306845" y="1584022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306845" y="2641464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306845" y="3698905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0" grpId="0" animBg="1"/>
      <p:bldP spid="213" grpId="0" animBg="1"/>
      <p:bldP spid="211" grpId="0" animBg="1"/>
      <p:bldP spid="214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Collection credibility (one slide)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CARD_LEFT"/>
          <p:cNvSpPr/>
          <p:nvPr/>
        </p:nvSpPr>
        <p:spPr>
          <a:xfrm>
            <a:off x="502920" y="1417320"/>
            <a:ext cx="406908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800" b="1">
                <a:solidFill>
                  <a:srgbClr val="676FFE"/>
                </a:solidFill>
              </a:rPr>
              <a:t>Read-only XRPC summary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Relay + AppView reads.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GET-only in this run.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POST auth only if auth mode is used.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No posting actions.</a:t>
            </a:r>
          </a:p>
        </p:txBody>
      </p:sp>
      <p:sp>
        <p:nvSpPr>
          <p:cNvPr id="199" name="CARD_RIGHT"/>
          <p:cNvSpPr/>
          <p:nvPr/>
        </p:nvSpPr>
        <p:spPr>
          <a:xfrm>
            <a:off x="4892040" y="1417320"/>
            <a:ext cx="406908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800" b="1">
                <a:solidFill>
                  <a:srgbClr val="929CF4"/>
                </a:solidFill>
              </a:rPr>
              <a:t>7-stage pipeline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relay -&gt; index -&gt; packs -&gt; popular -&gt; enrich -&gt; panel -&gt; snapshot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What this enables next + advisor asks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CARD_LEFT"/>
          <p:cNvSpPr/>
          <p:nvPr/>
        </p:nvSpPr>
        <p:spPr>
          <a:xfrm>
            <a:off x="502920" y="1417320"/>
            <a:ext cx="406908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800" b="1">
                <a:solidFill>
                  <a:srgbClr val="676FFE"/>
                </a:solidFill>
              </a:rPr>
              <a:t>Ready measurements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RQ1: measure discovery concentration.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RQ2: map provider leverage.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RQ3: test same winner overlap.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RQ4: compare label variability.</a:t>
            </a:r>
          </a:p>
        </p:txBody>
      </p:sp>
      <p:sp>
        <p:nvSpPr>
          <p:cNvPr id="199" name="CARD_RIGHT"/>
          <p:cNvSpPr/>
          <p:nvPr/>
        </p:nvSpPr>
        <p:spPr>
          <a:xfrm>
            <a:off x="4892040" y="1417320"/>
            <a:ext cx="406908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/>
            <a:r>
              <a:rPr sz="1800" b="1">
                <a:solidFill>
                  <a:srgbClr val="929CF4"/>
                </a:solidFill>
              </a:rPr>
              <a:t>What I need from you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Ask 1: priority RQs and venue fit.</a:t>
            </a:r>
          </a:p>
          <a:p>
            <a:pPr algn="l"/>
            <a:r>
              <a:rPr sz="1400">
                <a:solidFill>
                  <a:srgbClr val="262626"/>
                </a:solidFill>
              </a:rPr>
              <a:t>• Ask 2: recollect longitudinal, auth mode, or experiments?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ITLE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262626"/>
                </a:solidFill>
              </a:rPr>
              <a:t>Appendix: official Bluesky UI screens</a:t>
            </a:r>
            <a:endParaRPr/>
          </a:p>
        </p:txBody>
      </p:sp>
      <p:sp>
        <p:nvSpPr>
          <p:cNvPr id="211" name="BODY"/>
          <p:cNvSpPr txBox="1"/>
          <p:nvPr>
            <p:ph idx="1" type="subTitle"/>
          </p:nvPr>
        </p:nvSpPr>
        <p:spPr>
          <a:xfrm>
            <a:off x="3234325" y="3108700"/>
            <a:ext cx="5452500" cy="18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4B5563"/>
                </a:solidFill>
              </a:rPr>
              <a:t>• Screenshots are official (for backup/citation).</a:t>
            </a:r>
            <a:endParaRPr/>
          </a:p>
          <a:p>
            <a:pPr algn="l"/>
            <a:r>
              <a:rPr sz="1800" b="0">
                <a:solidFill>
                  <a:srgbClr val="4B5563"/>
                </a:solidFill>
              </a:rPr>
              <a:t>• Each slide uses A/B/C chips + callouts.</a:t>
            </a:r>
          </a:p>
          <a:p>
            <a:pPr algn="l"/>
            <a:r>
              <a:rPr sz="1800" b="0">
                <a:solidFill>
                  <a:srgbClr val="4B5563"/>
                </a:solidFill>
              </a:rPr>
              <a:t>• Animations: chips cascade, then A → B → C.</a:t>
            </a:r>
          </a:p>
        </p:txBody>
      </p:sp>
      <p:sp>
        <p:nvSpPr>
          <p:cNvPr id="212" name="PROJECT_LABEL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213" name="DATE_LABEL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cxnSp>
        <p:nvCxnSpPr>
          <p:cNvPr id="214" name="Google Shape;214;p30"/>
          <p:cNvCxnSpPr/>
          <p:nvPr/>
        </p:nvCxnSpPr>
        <p:spPr>
          <a:xfrm>
            <a:off x="-165150" y="2950439"/>
            <a:ext cx="943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 animBg="1"/>
      <p:bldP spid="211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0" name="TITLE"/>
          <p:cNvSpPr txBox="1"/>
          <p:nvPr>
            <p:ph type="title"/>
          </p:nvPr>
        </p:nvSpPr>
        <p:spPr>
          <a:xfrm>
            <a:off x="1386575" y="1337225"/>
            <a:ext cx="3541800" cy="14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262626"/>
                </a:solidFill>
              </a:rPr>
              <a:t>Appendix: how to read the callouts</a:t>
            </a:r>
            <a:endParaRPr/>
          </a:p>
        </p:txBody>
      </p:sp>
      <p:sp>
        <p:nvSpPr>
          <p:cNvPr id="211" name="BODY"/>
          <p:cNvSpPr txBox="1"/>
          <p:nvPr>
            <p:ph idx="1" type="subTitle"/>
          </p:nvPr>
        </p:nvSpPr>
        <p:spPr>
          <a:xfrm>
            <a:off x="3234325" y="3108700"/>
            <a:ext cx="5452500" cy="18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4B5563"/>
                </a:solidFill>
              </a:rPr>
              <a:t>• A/B/C badges map to highlighted regions in the screenshot.</a:t>
            </a:r>
            <a:endParaRPr/>
          </a:p>
          <a:p>
            <a:pPr algn="l"/>
            <a:r>
              <a:rPr sz="1800" b="0">
                <a:solidFill>
                  <a:srgbClr val="4B5563"/>
                </a:solidFill>
              </a:rPr>
              <a:t>• Chip text summarizes the surface + why it matters.</a:t>
            </a:r>
          </a:p>
          <a:p>
            <a:pPr algn="l"/>
            <a:r>
              <a:rPr sz="1800" b="0">
                <a:solidFill>
                  <a:srgbClr val="4B5563"/>
                </a:solidFill>
              </a:rPr>
              <a:t>• Use these as optional backup in the meeting.</a:t>
            </a:r>
          </a:p>
        </p:txBody>
      </p:sp>
      <p:sp>
        <p:nvSpPr>
          <p:cNvPr id="212" name="PROJECT_LABEL"/>
          <p:cNvSpPr txBox="1"/>
          <p:nvPr>
            <p:ph idx="1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213" name="DATE_LABEL"/>
          <p:cNvSpPr txBox="1"/>
          <p:nvPr>
            <p:ph idx="1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cxnSp>
        <p:nvCxnSpPr>
          <p:cNvPr id="214" name="Google Shape;214;p30"/>
          <p:cNvCxnSpPr/>
          <p:nvPr/>
        </p:nvCxnSpPr>
        <p:spPr>
          <a:xfrm>
            <a:off x="-165150" y="2950439"/>
            <a:ext cx="9437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" grpId="0" animBg="1"/>
      <p:bldP spid="211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labeling surfaces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labels are user-facing controls that shape what gets shown or filtered.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Self-label button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Composer surface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Content warning picker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Adult Content options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Labeled post banner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Attribution to labeler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filtering + exposure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155638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453342" cy="676132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5" grpId="0" animBg="1"/>
      <p:bldP spid="210" grpId="0" animBg="1"/>
      <p:bldP spid="213" grpId="0" animBg="1"/>
      <p:bldP spid="216" grpId="0" animBg="1"/>
      <p:bldP spid="211" grpId="0" animBg="1"/>
      <p:bldP spid="214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reply controls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reply controls gate interaction, changing who can respond and what feedback loops form.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Reply controls button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Composer setting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Who can reply picker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Audience gating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Post notice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Visible constraint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interaction graphs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155638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453342" cy="676132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5" grpId="0" animBg="1"/>
      <p:bldP spid="210" grpId="0" animBg="1"/>
      <p:bldP spid="213" grpId="0" animBg="1"/>
      <p:bldP spid="216" grpId="0" animBg="1"/>
      <p:bldP spid="211" grpId="0" animBg="1"/>
      <p:bldP spid="214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labelers + moderation tools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moderation is modular—users can subscribe to labelers and tune label handling.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Subscribe to labeler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Third-party policies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Per-label controls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Off / Warn / Hide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Ozone moderation UI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Operational tooling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power shifts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5082635" cy="749140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699462" y="2690097"/>
            <a:ext cx="5082635" cy="749140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699462" y="3646693"/>
            <a:ext cx="5082635" cy="749140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480006" y="2726673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480006" y="3683269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178689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453342" cy="220884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5" grpId="0" animBg="1"/>
      <p:bldP spid="210" grpId="0" animBg="1"/>
      <p:bldP spid="213" grpId="0" animBg="1"/>
      <p:bldP spid="216" grpId="0" animBg="1"/>
      <p:bldP spid="211" grpId="0" animBg="1"/>
      <p:bldP spid="214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discovery surfaces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discovery is shaped by navigation, defaults, and safety settings surfaced in the UI.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Custom feeds tab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Algorithm marketplace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Moderation menu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Filtering settings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Starter packs tab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Onboarding surface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defaults steer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708850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 flipV="1">
            <a:off x="3246120" y="2638234"/>
            <a:ext cx="3098387" cy="205550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5" grpId="0" animBg="1"/>
      <p:bldP spid="210" grpId="0" animBg="1"/>
      <p:bldP spid="213" grpId="0" animBg="1"/>
      <p:bldP spid="216" grpId="0" animBg="1"/>
      <p:bldP spid="211" grpId="0" animBg="1"/>
      <p:bldP spid="214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starter packs flow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starter packs bundle people (and context) into a single shareable onboarding object.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Create starter pack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Name + description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Choose people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Curation choices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Share pack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Link / QR / image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bundled exposure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1555909" cy="2662332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5462825" y="1733502"/>
            <a:ext cx="1555909" cy="2662332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7226188" y="1733502"/>
            <a:ext cx="1555909" cy="2662332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5243369" y="1770078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7006732" y="1770078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1135285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2216705" cy="220885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5" grpId="0" animBg="1"/>
      <p:bldP spid="210" grpId="0" animBg="1"/>
      <p:bldP spid="213" grpId="0" animBg="1"/>
      <p:bldP spid="216" grpId="0" animBg="1"/>
      <p:bldP spid="211" grpId="0" animBg="1"/>
      <p:bldP spid="214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domain handles (surface → settings)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domain handles connect identity and credibility to a verifiable control channel (DNS).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Domain handle profile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Trust signal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Settings: handle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Entry point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Use own domain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Verification flow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credibility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5082635" cy="703040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3699462" y="2643997"/>
            <a:ext cx="2437590" cy="1751838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6344507" y="2643997"/>
            <a:ext cx="2437590" cy="1751838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3480006" y="2680573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6125051" y="2680573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155638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>
            <a:off x="3246120" y="2843784"/>
            <a:ext cx="453342" cy="676132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5" grpId="0" animBg="1"/>
      <p:bldP spid="210" grpId="0" animBg="1"/>
      <p:bldP spid="213" grpId="0" animBg="1"/>
      <p:bldP spid="216" grpId="0" animBg="1"/>
      <p:bldP spid="211" grpId="0" animBg="1"/>
      <p:bldP spid="214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2" name="TITLE"/>
          <p:cNvSpPr txBox="1"/>
          <p:nvPr>
            <p:ph type="title"/>
          </p:nvPr>
        </p:nvSpPr>
        <p:spPr>
          <a:xfrm>
            <a:off x="502920" y="320040"/>
            <a:ext cx="8503920" cy="640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0">
                <a:solidFill>
                  <a:srgbClr val="262626"/>
                </a:solidFill>
              </a:rPr>
              <a:t>Bluesky UI: domain verification + examples (official)</a:t>
            </a:r>
            <a:endParaRPr/>
          </a:p>
        </p:txBody>
      </p:sp>
      <p:sp>
        <p:nvSpPr>
          <p:cNvPr id="196" name="PROJECT_LABEL"/>
          <p:cNvSpPr txBox="1"/>
          <p:nvPr>
            <p:ph idx="4294967295" type="subTitle"/>
          </p:nvPr>
        </p:nvSpPr>
        <p:spPr>
          <a:xfrm>
            <a:off x="457200" y="228600"/>
            <a:ext cx="1202400" cy="3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BLUESKY RQs + DATA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7" name="DATE_LABEL"/>
          <p:cNvSpPr txBox="1"/>
          <p:nvPr>
            <p:ph idx="4294967295" type="subTitle"/>
          </p:nvPr>
        </p:nvSpPr>
        <p:spPr>
          <a:xfrm>
            <a:off x="457200" y="4608600"/>
            <a:ext cx="1202400" cy="3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4B5563"/>
                </a:solidFill>
              </a:rPr>
              <a:t>FEB 2026</a:t>
            </a:r>
            <a:endParaRPr sz="800">
              <a:solidFill>
                <a:schemeClr val="accent2"/>
              </a:solidFill>
              <a:latin typeface="Kedebideri ExtraBold"/>
              <a:ea typeface="Kedebideri ExtraBold"/>
              <a:cs typeface="Kedebideri ExtraBold"/>
              <a:sym typeface="Kedebideri ExtraBold"/>
            </a:endParaRPr>
          </a:p>
        </p:txBody>
      </p:sp>
      <p:sp>
        <p:nvSpPr>
          <p:cNvPr id="198" name="TAKEAWAY"/>
          <p:cNvSpPr txBox="1"/>
          <p:nvPr/>
        </p:nvSpPr>
        <p:spPr>
          <a:xfrm>
            <a:off x="502920" y="96012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5" b="0">
                <a:solidFill>
                  <a:srgbClr val="4B5563"/>
                </a:solidFill>
              </a:rPr>
              <a:t>Takeaway: verification relies on external DNS tooling, creating measurable and potentially gameable steps.</a:t>
            </a:r>
          </a:p>
        </p:txBody>
      </p:sp>
      <p:cxnSp>
        <p:nvCxnSpPr>
          <p:cNvPr id="199" name="DIVIDER"/>
          <p:cNvCxnSpPr/>
          <p:nvPr/>
        </p:nvCxnSpPr>
        <p:spPr>
          <a:xfrm>
            <a:off x="3337560" y="1463040"/>
            <a:ext cx="0" cy="3246120"/>
          </a:xfrm>
          <a:prstGeom prst="line">
            <a:avLst/>
          </a:prstGeom>
          <a:ln w="1587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IMAGE_FRAME"/>
          <p:cNvSpPr/>
          <p:nvPr/>
        </p:nvSpPr>
        <p:spPr>
          <a:xfrm>
            <a:off x="3474720" y="1508760"/>
            <a:ext cx="5532120" cy="3111817"/>
          </a:xfrm>
          <a:prstGeom prst="rect">
            <a:avLst/>
          </a:prstGeom>
          <a:noFill/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1" name="MAIN_IMAGE" descr="official_ui_slid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508760"/>
            <a:ext cx="5532120" cy="3111817"/>
          </a:xfrm>
          <a:prstGeom prst="rect">
            <a:avLst/>
          </a:prstGeom>
        </p:spPr>
      </p:pic>
      <p:sp>
        <p:nvSpPr>
          <p:cNvPr id="202" name="CHIP_01"/>
          <p:cNvSpPr/>
          <p:nvPr/>
        </p:nvSpPr>
        <p:spPr>
          <a:xfrm>
            <a:off x="502920" y="1508760"/>
            <a:ext cx="2743200" cy="384048"/>
          </a:xfrm>
          <a:prstGeom prst="roundRect">
            <a:avLst/>
          </a:prstGeom>
          <a:solidFill>
            <a:srgbClr val="E1EA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A. DNS TXT record</a:t>
            </a:r>
          </a:p>
        </p:txBody>
      </p:sp>
      <p:sp>
        <p:nvSpPr>
          <p:cNvPr id="203" name="CHIP_02"/>
          <p:cNvSpPr/>
          <p:nvPr/>
        </p:nvSpPr>
        <p:spPr>
          <a:xfrm>
            <a:off x="502920" y="19659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Proof-of-control</a:t>
            </a:r>
          </a:p>
        </p:txBody>
      </p:sp>
      <p:sp>
        <p:nvSpPr>
          <p:cNvPr id="204" name="CHIP_03"/>
          <p:cNvSpPr/>
          <p:nvPr/>
        </p:nvSpPr>
        <p:spPr>
          <a:xfrm>
            <a:off x="502920" y="2423160"/>
            <a:ext cx="2743200" cy="384048"/>
          </a:xfrm>
          <a:prstGeom prst="roundRect">
            <a:avLst/>
          </a:prstGeom>
          <a:solidFill>
            <a:srgbClr val="E6FBF3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B. Domain handle example</a:t>
            </a:r>
          </a:p>
        </p:txBody>
      </p:sp>
      <p:sp>
        <p:nvSpPr>
          <p:cNvPr id="205" name="CHIP_04"/>
          <p:cNvSpPr/>
          <p:nvPr/>
        </p:nvSpPr>
        <p:spPr>
          <a:xfrm>
            <a:off x="502920" y="28803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@npr.org</a:t>
            </a:r>
          </a:p>
        </p:txBody>
      </p:sp>
      <p:sp>
        <p:nvSpPr>
          <p:cNvPr id="206" name="CHIP_05"/>
          <p:cNvSpPr/>
          <p:nvPr/>
        </p:nvSpPr>
        <p:spPr>
          <a:xfrm>
            <a:off x="502920" y="33375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C. DNS management UI</a:t>
            </a:r>
          </a:p>
        </p:txBody>
      </p:sp>
      <p:sp>
        <p:nvSpPr>
          <p:cNvPr id="207" name="CHIP_06"/>
          <p:cNvSpPr/>
          <p:nvPr/>
        </p:nvSpPr>
        <p:spPr>
          <a:xfrm>
            <a:off x="502920" y="3794760"/>
            <a:ext cx="2743200" cy="38404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>
                <a:solidFill>
                  <a:srgbClr val="262626"/>
                </a:solidFill>
              </a:rPr>
              <a:t>External dependency</a:t>
            </a:r>
          </a:p>
        </p:txBody>
      </p:sp>
      <p:sp>
        <p:nvSpPr>
          <p:cNvPr id="208" name="CHIP_07"/>
          <p:cNvSpPr/>
          <p:nvPr/>
        </p:nvSpPr>
        <p:spPr>
          <a:xfrm>
            <a:off x="502920" y="4251960"/>
            <a:ext cx="2743200" cy="384048"/>
          </a:xfrm>
          <a:prstGeom prst="roundRect">
            <a:avLst/>
          </a:prstGeom>
          <a:solidFill>
            <a:srgbClr val="F0F1FF"/>
          </a:solidFill>
          <a:ln w="2540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25" b="1">
                <a:solidFill>
                  <a:srgbClr val="262626"/>
                </a:solidFill>
              </a:rPr>
              <a:t>Why it matters: measurable steps</a:t>
            </a:r>
          </a:p>
        </p:txBody>
      </p:sp>
      <p:sp>
        <p:nvSpPr>
          <p:cNvPr id="209" name="HILITE_A"/>
          <p:cNvSpPr/>
          <p:nvPr/>
        </p:nvSpPr>
        <p:spPr>
          <a:xfrm>
            <a:off x="3699462" y="1733502"/>
            <a:ext cx="2437590" cy="1809464"/>
          </a:xfrm>
          <a:prstGeom prst="rect">
            <a:avLst/>
          </a:prstGeom>
          <a:noFill/>
          <a:ln w="31750"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HILITE_B"/>
          <p:cNvSpPr/>
          <p:nvPr/>
        </p:nvSpPr>
        <p:spPr>
          <a:xfrm>
            <a:off x="6344507" y="1733502"/>
            <a:ext cx="2437590" cy="1809464"/>
          </a:xfrm>
          <a:prstGeom prst="rect">
            <a:avLst/>
          </a:prstGeom>
          <a:noFill/>
          <a:ln w="31750"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HILITE_C"/>
          <p:cNvSpPr/>
          <p:nvPr/>
        </p:nvSpPr>
        <p:spPr>
          <a:xfrm>
            <a:off x="3699462" y="3750421"/>
            <a:ext cx="5082635" cy="645413"/>
          </a:xfrm>
          <a:prstGeom prst="rect">
            <a:avLst/>
          </a:prstGeom>
          <a:noFill/>
          <a:ln w="31750"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BADGE_A"/>
          <p:cNvSpPr/>
          <p:nvPr/>
        </p:nvSpPr>
        <p:spPr>
          <a:xfrm>
            <a:off x="3480006" y="1770078"/>
            <a:ext cx="274320" cy="274320"/>
          </a:xfrm>
          <a:prstGeom prst="ellipse">
            <a:avLst/>
          </a:prstGeom>
          <a:solidFill>
            <a:srgbClr val="676FFE"/>
          </a:solidFill>
          <a:ln>
            <a:solidFill>
              <a:srgbClr val="676F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13" name="BADGE_B"/>
          <p:cNvSpPr/>
          <p:nvPr/>
        </p:nvSpPr>
        <p:spPr>
          <a:xfrm>
            <a:off x="6125051" y="1770078"/>
            <a:ext cx="274320" cy="274320"/>
          </a:xfrm>
          <a:prstGeom prst="ellipse">
            <a:avLst/>
          </a:prstGeom>
          <a:solidFill>
            <a:srgbClr val="1DD38B"/>
          </a:solidFill>
          <a:ln>
            <a:solidFill>
              <a:srgbClr val="1DD3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4" name="BADGE_C"/>
          <p:cNvSpPr/>
          <p:nvPr/>
        </p:nvSpPr>
        <p:spPr>
          <a:xfrm>
            <a:off x="3480006" y="3786997"/>
            <a:ext cx="274320" cy="274320"/>
          </a:xfrm>
          <a:prstGeom prst="ellipse">
            <a:avLst/>
          </a:prstGeom>
          <a:solidFill>
            <a:srgbClr val="929CF4"/>
          </a:solidFill>
          <a:ln>
            <a:solidFill>
              <a:srgbClr val="929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400">
                <a:solidFill>
                  <a:srgbClr val="FFFFFF"/>
                </a:solidFill>
              </a:rPr>
              <a:t>C</a:t>
            </a:r>
          </a:p>
        </p:txBody>
      </p:sp>
      <p:cxnSp>
        <p:nvCxnSpPr>
          <p:cNvPr id="215" name="CONN_A"/>
          <p:cNvCxnSpPr/>
          <p:nvPr/>
        </p:nvCxnSpPr>
        <p:spPr>
          <a:xfrm>
            <a:off x="3246120" y="1929384"/>
            <a:ext cx="453342" cy="708850"/>
          </a:xfrm>
          <a:prstGeom prst="line">
            <a:avLst/>
          </a:prstGeom>
          <a:ln w="25400">
            <a:solidFill>
              <a:srgbClr val="676F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_B"/>
          <p:cNvCxnSpPr/>
          <p:nvPr/>
        </p:nvCxnSpPr>
        <p:spPr>
          <a:xfrm flipV="1">
            <a:off x="3246120" y="2638234"/>
            <a:ext cx="3098387" cy="205550"/>
          </a:xfrm>
          <a:prstGeom prst="line">
            <a:avLst/>
          </a:prstGeom>
          <a:ln w="25400">
            <a:solidFill>
              <a:srgbClr val="1DD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2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2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2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2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2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2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2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2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2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2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2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2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2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2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2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2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2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2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2" grpId="0" animBg="1"/>
      <p:bldP spid="215" grpId="0" animBg="1"/>
      <p:bldP spid="210" grpId="0" animBg="1"/>
      <p:bldP spid="213" grpId="0" animBg="1"/>
      <p:bldP spid="216" grpId="0" animBg="1"/>
      <p:bldP spid="211" grpId="0" animBg="1"/>
      <p:bldP spid="214" grpId="0" animBg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Data Visual by Slidesgo">
  <a:themeElements>
    <a:clrScheme name="Simple Light">
      <a:dk1>
        <a:srgbClr val="262626"/>
      </a:dk1>
      <a:lt1>
        <a:srgbClr val="E1EAFF"/>
      </a:lt1>
      <a:dk2>
        <a:srgbClr val="4951E4"/>
      </a:dk2>
      <a:lt2>
        <a:srgbClr val="86E9C0"/>
      </a:lt2>
      <a:accent1>
        <a:srgbClr val="86E9C0"/>
      </a:accent1>
      <a:accent2>
        <a:srgbClr val="4951E4"/>
      </a:accent2>
      <a:accent3>
        <a:srgbClr val="929CF4"/>
      </a:accent3>
      <a:accent4>
        <a:srgbClr val="FFFFFF"/>
      </a:accent4>
      <a:accent5>
        <a:srgbClr val="FFFFFF"/>
      </a:accent5>
      <a:accent6>
        <a:srgbClr val="FFFFFF"/>
      </a:accent6>
      <a:hlink>
        <a:srgbClr val="2626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