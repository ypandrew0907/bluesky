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7" r:id="rId18"/>
    <p:sldId id="268" r:id="rId19"/>
    <p:sldId id="269" r:id="rId20"/>
    <p:sldId id="270" r:id="rId21"/>
    <p:sldId id="271" r:id="rId22"/>
    <p:sldId id="272" r:id="rId2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9.png"/><Relationship Id="rId8" Type="http://schemas.openxmlformats.org/officeDocument/2006/relationships/image" Target="../media/image14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7.png"/><Relationship Id="rId6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9184"/>
          </a:xfrm>
          <a:prstGeom prst="rect">
            <a:avLst/>
          </a:prstGeom>
        </p:spPr>
      </p:pic>
      <p:pic>
        <p:nvPicPr>
          <p:cNvPr id="5" name="Picture 4" descr="A4_header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54864"/>
            <a:ext cx="3291840" cy="256032"/>
          </a:xfrm>
          <a:prstGeom prst="rect">
            <a:avLst/>
          </a:prstGeom>
        </p:spPr>
      </p:pic>
      <p:pic>
        <p:nvPicPr>
          <p:cNvPr id="6" name="Picture 5" descr="A8_don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164592"/>
            <a:ext cx="1325880" cy="1325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822960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4000" b="1">
                <a:solidFill>
                  <a:srgbClr val="F7F9FC"/>
                </a:solidFill>
                <a:latin typeface="Calibri"/>
              </a:rPr>
              <a:t>Algorithmic choice relocates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17320"/>
            <a:ext cx="8138160" cy="603504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200" b="0">
                <a:solidFill>
                  <a:srgbClr val="C9D2E3"/>
                </a:solidFill>
                <a:latin typeface="Calibri"/>
              </a:rPr>
              <a:t>Research questions plus data artifacts collected (no results yet).</a:t>
            </a:r>
          </a:p>
        </p:txBody>
      </p:sp>
      <p:pic>
        <p:nvPicPr>
          <p:cNvPr id="9" name="Picture 8" descr="A2_card_tex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2304288"/>
            <a:ext cx="10881360" cy="20574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2304288"/>
            <a:ext cx="10881360" cy="20574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97480"/>
            <a:ext cx="10332720" cy="1325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Algorithmic choice does not remove power - it relocates it.</a:t>
            </a:r>
          </a:p>
          <a:p>
            <a:pPr algn="l"/>
            <a:r>
              <a:rPr sz="2400" b="0">
                <a:solidFill>
                  <a:srgbClr val="F7F9FC"/>
                </a:solidFill>
                <a:latin typeface="Calibri"/>
              </a:rPr>
              <a:t>Meeting focus: prioritize RQs and define what to recollect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627632"/>
            <a:ext cx="2468880" cy="566928"/>
          </a:xfrm>
          <a:prstGeom prst="roundRect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1A1A1A"/>
                </a:solidFill>
                <a:latin typeface="Calibri"/>
              </a:rPr>
              <a:t>NO RESULTS TODAY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0" y="3703320"/>
            <a:ext cx="2395728" cy="2011680"/>
          </a:xfrm>
          <a:prstGeom prst="rect">
            <a:avLst/>
          </a:prstGeom>
        </p:spPr>
      </p:pic>
      <p:pic>
        <p:nvPicPr>
          <p:cNvPr id="14" name="Picture 13" descr="S6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0" y="457200"/>
            <a:ext cx="1188720" cy="11887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3_divider_str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236208"/>
            <a:ext cx="10972800" cy="219456"/>
          </a:xfrm>
          <a:prstGeom prst="rect">
            <a:avLst/>
          </a:prstGeom>
        </p:spPr>
      </p:pic>
      <p:pic>
        <p:nvPicPr>
          <p:cNvPr id="6" name="Picture 5" descr="A2_card_tex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773936"/>
            <a:ext cx="11045952" cy="3054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5836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System framing: pluggable services, new chokepoints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89888"/>
            <a:ext cx="8686800" cy="4572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modular services relocate concentration.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004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discovery surfaces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feed generators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24927" y="1938528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provider hosting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2423160"/>
            <a:ext cx="173736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exposure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3703320"/>
            <a:ext cx="2103120" cy="8229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F7F9FC"/>
                </a:solidFill>
                <a:latin typeface="Calibri"/>
              </a:rPr>
              <a:t>labelers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39572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73168" y="2350008"/>
            <a:ext cx="274320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50608" y="2350008"/>
            <a:ext cx="274319" cy="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28048" y="2350008"/>
            <a:ext cx="274320" cy="4846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39128" y="2761488"/>
            <a:ext cx="0" cy="941832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5166360"/>
            <a:ext cx="8046720" cy="8686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Discovery surfaces and provider hosting are key chokepoints.</a:t>
            </a:r>
          </a:p>
        </p:txBody>
      </p:sp>
      <p:pic>
        <p:nvPicPr>
          <p:cNvPr id="22" name="Picture 21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3950208"/>
            <a:ext cx="2615184" cy="2029968"/>
          </a:xfrm>
          <a:prstGeom prst="rect">
            <a:avLst/>
          </a:prstGeom>
        </p:spPr>
      </p:pic>
      <p:pic>
        <p:nvPicPr>
          <p:cNvPr id="23" name="Picture 22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feed marketplace (/feeds)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feeds are discoverable + selectable algorithmic timelines.</a:t>
            </a:r>
          </a:p>
        </p:txBody>
      </p:sp>
      <p:pic>
        <p:nvPicPr>
          <p:cNvPr id="8" name="Picture 7" descr="B1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2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/feeds directory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Search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Feed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Creator + likes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Trending widget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Defaults matter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913632" y="201168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8808" y="1975104"/>
            <a:ext cx="4864242" cy="47548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913632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78808" y="2743200"/>
            <a:ext cx="4864242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50654" y="2011680"/>
            <a:ext cx="310896" cy="310896"/>
          </a:xfrm>
          <a:prstGeom prst="ellipse">
            <a:avLst/>
          </a:prstGeom>
          <a:solidFill>
            <a:srgbClr val="FF7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15830" y="1975104"/>
            <a:ext cx="1882932" cy="1115568"/>
          </a:xfrm>
          <a:prstGeom prst="rect">
            <a:avLst/>
          </a:prstGeom>
          <a:noFill/>
          <a:ln w="406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67512" cy="10972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99232"/>
            <a:ext cx="667512" cy="128016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what a feed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987552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a feed page renders an algorithm into a timeline of posts.</a:t>
            </a:r>
          </a:p>
        </p:txBody>
      </p:sp>
      <p:pic>
        <p:nvPicPr>
          <p:cNvPr id="8" name="Picture 7" descr="B2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Feed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Demand signals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Timeline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Exposure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Post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Why we measure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Manipulation risk</a:t>
            </a:r>
          </a:p>
        </p:txBody>
      </p:sp>
      <p:sp>
        <p:nvSpPr>
          <p:cNvPr id="17" name="Oval 16"/>
          <p:cNvSpPr/>
          <p:nvPr/>
        </p:nvSpPr>
        <p:spPr>
          <a:xfrm>
            <a:off x="3895344" y="182880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491886" cy="566928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95344" y="2670048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633472"/>
            <a:ext cx="5491886" cy="2736136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078224" y="476610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4729528"/>
            <a:ext cx="2824398" cy="530352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3511296" y="2084832"/>
            <a:ext cx="649224" cy="1828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3511296" y="2926080"/>
            <a:ext cx="649224" cy="201168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6032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07008"/>
            <a:ext cx="11064240" cy="5413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640080"/>
            <a:ext cx="996696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300" b="1">
                <a:solidFill>
                  <a:srgbClr val="F7F9FC"/>
                </a:solidFill>
                <a:latin typeface="Calibri"/>
              </a:rPr>
              <a:t>Bluesky UI: starter packs (onboarding bundles)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89888"/>
            <a:ext cx="1024128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starter packs bundle people (and sometimes feeds) for fast onboarding.</a:t>
            </a:r>
          </a:p>
        </p:txBody>
      </p:sp>
      <p:pic>
        <p:nvPicPr>
          <p:cNvPr id="8" name="Picture 7" descr="B3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700784"/>
            <a:ext cx="7845552" cy="4413123"/>
          </a:xfrm>
          <a:prstGeom prst="rect">
            <a:avLst/>
          </a:prstGeom>
        </p:spPr>
      </p:pic>
      <p:pic>
        <p:nvPicPr>
          <p:cNvPr id="9" name="Picture 8" descr="S3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475488"/>
            <a:ext cx="1097280" cy="10972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88366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A. Pack title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9572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Curated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07792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B. Join button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419856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1-click onboarding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931920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C. People cards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4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Curation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56048"/>
            <a:ext cx="2852928" cy="457200"/>
          </a:xfrm>
          <a:prstGeom prst="roundRect">
            <a:avLst/>
          </a:prstGeom>
          <a:solidFill>
            <a:srgbClr val="162033"/>
          </a:solidFill>
          <a:ln w="27940">
            <a:solidFill>
              <a:srgbClr val="FF7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Measure exposure</a:t>
            </a:r>
          </a:p>
        </p:txBody>
      </p:sp>
      <p:sp>
        <p:nvSpPr>
          <p:cNvPr id="17" name="Oval 16"/>
          <p:cNvSpPr/>
          <p:nvPr/>
        </p:nvSpPr>
        <p:spPr>
          <a:xfrm>
            <a:off x="3895344" y="1828800"/>
            <a:ext cx="310896" cy="310896"/>
          </a:xfrm>
          <a:prstGeom prst="ellipse">
            <a:avLst/>
          </a:prstGeom>
          <a:solidFill>
            <a:srgbClr val="58B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1792224"/>
            <a:ext cx="5805708" cy="804672"/>
          </a:xfrm>
          <a:prstGeom prst="rect">
            <a:avLst/>
          </a:prstGeom>
          <a:noFill/>
          <a:ln w="40640">
            <a:solidFill>
              <a:srgbClr val="58B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95344" y="2779776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2743200"/>
            <a:ext cx="5805708" cy="658368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95344" y="3621024"/>
            <a:ext cx="310896" cy="310896"/>
          </a:xfrm>
          <a:prstGeom prst="ellipse">
            <a:avLst/>
          </a:prstGeom>
          <a:solidFill>
            <a:srgbClr val="F4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ctr"/>
            <a:r>
              <a:rPr sz="2000" b="1">
                <a:solidFill>
                  <a:srgbClr val="0B1320"/>
                </a:solidFill>
                <a:latin typeface="Calibri"/>
              </a:rPr>
              <a:t>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584448"/>
            <a:ext cx="5805708" cy="2294823"/>
          </a:xfrm>
          <a:prstGeom prst="rect">
            <a:avLst/>
          </a:prstGeom>
          <a:noFill/>
          <a:ln w="40640">
            <a:solidFill>
              <a:srgbClr val="F4C5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3511296" y="2103120"/>
            <a:ext cx="649224" cy="9144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11296" y="2615184"/>
            <a:ext cx="649224" cy="457200"/>
          </a:xfrm>
          <a:prstGeom prst="line">
            <a:avLst/>
          </a:prstGeom>
          <a:ln w="20320">
            <a:solidFill>
              <a:srgbClr val="C9D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2_card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170432"/>
            <a:ext cx="11064240" cy="4553712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28600"/>
            <a:ext cx="1993392" cy="987552"/>
          </a:xfrm>
          <a:prstGeom prst="rect">
            <a:avLst/>
          </a:prstGeom>
        </p:spPr>
      </p:pic>
      <p:pic>
        <p:nvPicPr>
          <p:cNvPr id="6" name="Picture 5" descr="A3_divider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792224"/>
            <a:ext cx="3657600" cy="219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603504"/>
            <a:ext cx="71323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600" b="1">
                <a:solidFill>
                  <a:srgbClr val="F7F9FC"/>
                </a:solidFill>
                <a:latin typeface="Calibri"/>
              </a:rPr>
              <a:t>Research questions (R1-R5)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26464"/>
            <a:ext cx="98755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000" b="0">
                <a:solidFill>
                  <a:srgbClr val="C9D2E3"/>
                </a:solidFill>
                <a:latin typeface="Calibri"/>
              </a:rPr>
              <a:t>Takeaway: security and privacy scope.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R1 Discovery chokepoints? governance.</a:t>
            </a:r>
          </a:p>
        </p:txBody>
      </p:sp>
      <p:pic>
        <p:nvPicPr>
          <p:cNvPr id="10" name="Picture 9" descr="S1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59" y="1947672"/>
            <a:ext cx="530352" cy="5303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63056" y="1874519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R2 Provider buckets dominate? reliability.</a:t>
            </a:r>
          </a:p>
        </p:txBody>
      </p:sp>
      <p:pic>
        <p:nvPicPr>
          <p:cNvPr id="12" name="Picture 11" descr="S2_ic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1947672"/>
            <a:ext cx="530352" cy="53035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9808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R3 Same winners across feeds? manipulation.</a:t>
            </a:r>
          </a:p>
        </p:txBody>
      </p:sp>
      <p:pic>
        <p:nvPicPr>
          <p:cNvPr id="14" name="Picture 13" descr="S3_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59" y="2971800"/>
            <a:ext cx="530352" cy="53035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163056" y="2898648"/>
            <a:ext cx="5285232" cy="93268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R4 Labels vary by viewer? safety.</a:t>
            </a:r>
          </a:p>
        </p:txBody>
      </p:sp>
      <p:pic>
        <p:nvPicPr>
          <p:cNvPr id="16" name="Picture 15" descr="S4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2971800"/>
            <a:ext cx="530352" cy="53035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49808" y="3922776"/>
            <a:ext cx="10716768" cy="1042415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R5 Future experiment: gaming plus privacy attacks. extra guardrails.</a:t>
            </a:r>
          </a:p>
        </p:txBody>
      </p:sp>
      <p:pic>
        <p:nvPicPr>
          <p:cNvPr id="18" name="Picture 17" descr="S5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59" y="3995928"/>
            <a:ext cx="530352" cy="530352"/>
          </a:xfrm>
          <a:prstGeom prst="rect">
            <a:avLst/>
          </a:prstGeom>
        </p:spPr>
      </p:pic>
      <p:pic>
        <p:nvPicPr>
          <p:cNvPr id="19" name="Picture 18" descr="A8_donu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30384" y="3858768"/>
            <a:ext cx="1335024" cy="133502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4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4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133856"/>
            <a:ext cx="11155680" cy="5340096"/>
          </a:xfrm>
          <a:prstGeom prst="rect">
            <a:avLst/>
          </a:prstGeom>
        </p:spPr>
      </p:pic>
      <p:pic>
        <p:nvPicPr>
          <p:cNvPr id="6" name="Picture 5" descr="S6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9568" y="457200"/>
            <a:ext cx="1097280" cy="1097280"/>
          </a:xfrm>
          <a:prstGeom prst="rect">
            <a:avLst/>
          </a:prstGeom>
        </p:spPr>
      </p:pic>
      <p:pic>
        <p:nvPicPr>
          <p:cNvPr id="7" name="Picture 6" descr="A8_don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256" y="54864"/>
            <a:ext cx="1481328" cy="1481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85216"/>
            <a:ext cx="9326880" cy="7132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Data artifacts collected (no results)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Discovery inputs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feed_generators_index.csv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starterpack_feeds.csv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discovery_feed_inclusions.csv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popular_feeds.csv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Panel snapshots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feed_items.csv.gz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authors.csv.gz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post_labels.csv.gz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371600"/>
            <a:ext cx="3657600" cy="27889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and reproducibility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4297680"/>
            <a:ext cx="11119104" cy="192024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Join spine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feed_panel -&gt; feed_items -&gt; posts/authors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post_labels attaches by feed_uri, viewer_mode, post_uri, post_cid.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Result: joinable, reproducible, auditable artifacts.</a:t>
            </a:r>
          </a:p>
        </p:txBody>
      </p:sp>
      <p:pic>
        <p:nvPicPr>
          <p:cNvPr id="13" name="Picture 12" descr="A5_illustr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4334256"/>
            <a:ext cx="2258568" cy="173736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4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4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4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discovery surfaces (starter packs + popular list)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discovery is measurable via starter-pack inclusion and popular list ranks.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Starter packs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starterpacks + starterpack_feeds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Inclusion_count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slot_count (position-weighted)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Popularity_rank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Concentration + provider leverage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431974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420647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384071"/>
            <ns1:ext cx="7699248" cy="1239262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856357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819781"/>
            <ns1:ext cx="7699248" cy="1239262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9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ranked exposure + risk labels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feed_items + posts + labels already support H1-H6 (cross-sectional).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feed_items row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(feed_uri, viewer_mode, rank)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posts row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text + links + langs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post_labels row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H6: risk exposure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Feed auditing / mitigations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175648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14186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105292"/>
            <ns1:ext cx="7699248" cy="1389877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05742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669166"/>
            <ns1:ext cx="7699248" cy="1389877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labels (schema + global values + prefs)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labels are structured safety signals; behavior depends on viewer prefs.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Label schema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(src, uri/cid, val, neg, cts)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Global values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protocol-defined strings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Viewer prefs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hide / warn / ignore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Docs grounding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30247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292686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256110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9314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756572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1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custom labels (definitions + targets)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labelers can define custom taxonomies; we preserve raw label_val strings.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Custom definitions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blur + severity + defaults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Label targets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account vs profile vs content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Observed values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dataset examples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30247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292686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256110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9314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756572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2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labelers (declarations + subscriptions + self‑labels)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labels come from services; viewers choose which labelers to trust.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Declaration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values + policies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Subscriptions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viewer-selected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Self-labels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built-in values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Why it matters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30247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292686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256110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9314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756572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3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91695" cy="6858000"/>
          </ns1:xfrm>
          <ns1:prstGeom prst="rect">
            <ns1:avLst/>
          </ns1:prstGeom>
          <ns1:solidFill>
            <ns1:srgbClr val="0B1320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pic>
        <ns0:nvPicPr>
          <ns0:cNvPr id="3" name="Picture 2" descr="A1_bg_blueprint_overlay.png"/>
          <ns0:cNvPicPr>
            <ns1:picLocks noChangeAspect="1"/>
          </ns0:cNvPicPr>
          <ns0:nvPr/>
        </ns0:nvPicPr>
        <ns0:blipFill>
          <ns1:blip ns2:embed="rId2"/>
          <ns1:stretch>
            <ns1:fillRect/>
          </ns1:stretch>
        </ns0:blipFill>
        <ns0:spPr>
          <ns1:xfrm>
            <ns1:off x="0" y="0"/>
            <ns1:ext cx="12191695" cy="6858000"/>
          </ns1:xfrm>
          <ns1:prstGeom prst="rect">
            <ns1:avLst/>
          </ns1:prstGeom>
        </ns0:spPr>
      </ns0:pic>
      <ns0:pic>
        <ns0:nvPicPr>
          <ns0:cNvPr id="4" name="Picture 3" descr="A4_header_bar.png"/>
          <ns0:cNvPicPr>
            <ns1:picLocks noChangeAspect="1"/>
          </ns0:cNvPicPr>
          <ns0:nvPr/>
        </ns0:nvPicPr>
        <ns0:blipFill>
          <ns1:blip ns2:embed="rId3"/>
          <ns1:stretch>
            <ns1:fillRect/>
          </ns1:stretch>
        </ns0:blipFill>
        <ns0:spPr>
          <ns1:xfrm>
            <ns1:off x="658368" y="256032"/>
            <ns1:ext cx="4206240" cy="365760"/>
          </ns1:xfrm>
          <ns1:prstGeom prst="rect">
            <ns1:avLst/>
          </ns1:prstGeom>
        </ns0:spPr>
      </ns0:pic>
      <ns0:pic>
        <ns0:nvPicPr>
          <ns0:cNvPr id="5" name="Picture 4" descr="A2_card_texture.png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66928" y="1207008"/>
            <ns1:ext cx="11064240" cy="5413248"/>
          </ns1:xfrm>
          <ns1:prstGeom prst="rect">
            <ns1:avLst/>
          </ns1:prstGeom>
        </ns0:spPr>
      </ns0:pic>
      <ns0:sp>
        <ns0:nvSpPr>
          <ns0:cNvPr id="6" name="TextBox 5"/>
          <ns0:cNvSpPr txBox="1"/>
          <ns0:nvPr/>
        </ns0:nvSpPr>
        <ns0:spPr>
          <ns1:xfrm>
            <ns1:off x="658368" y="640080"/>
            <ns1:ext cx="9966960" cy="74980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3300" b="1">
                <ns1:solidFill>
                  <ns1:srgbClr val="F7F9FC"/>
                </ns1:solidFill>
                <ns1:latin typeface="Calibri"/>
              </ns1:rPr>
              <ns1:t>Data receipt: moderation decisions (flags + UI contexts)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58368" y="1389888"/>
            <ns1:ext cx="10241280" cy="384048"/>
          </ns1:xfrm>
          <ns1:prstGeom prst="rect">
            <ns1:avLst/>
          </ns1:prstGeom>
          <ns1:noFill/>
        </ns0:spPr>
        <ns0:txBody>
          <ns1:bodyPr wrap="square" lIns="18288" rIns="18288" tIns="9144" bIns="9144">
            <ns1:spAutoFit/>
          </ns1:bodyPr>
          <ns1:lstStyle/>
          <ns1:p>
            <ns1:pPr algn="l"/>
            <ns1:r>
              <ns1:rPr sz="2000" b="0">
                <ns1:solidFill>
                  <ns1:srgbClr val="C9D2E3"/>
                </ns1:solidFill>
                <ns1:latin typeface="Calibri"/>
              </ns1:rPr>
              <ns1:t>Takeaway: the same label can blur/warn/filter depending on context + prefs.</ns1:t>
            </ns1:r>
          </ns1:p>
        </ns0:txBody>
      </ns0:sp>
      <ns0:pic>
        <ns0:nvPicPr>
          <ns0:cNvPr id="8" name="Picture 7" descr="B3_ui.png"/>
          <ns0:cNvPicPr>
            <ns1:picLocks noChangeAspect="1"/>
          </ns0:cNvPicPr>
          <ns0:nvPr/>
        </ns0:nvPicPr>
        <ns0:blipFill>
          <ns1:blip ns2:embed="rId7"/>
          <ns1:stretch>
            <ns1:fillRect/>
          </ns1:stretch>
        </ns0:blipFill>
        <ns0:spPr>
          <ns1:xfrm>
            <ns1:off x="3703320" y="1700784"/>
            <ns1:ext cx="7845552" cy="4413123"/>
          </ns1:xfrm>
          <ns1:prstGeom prst="rect">
            <ns1:avLst/>
          </ns1:prstGeom>
        </ns0:spPr>
      </ns0:pic>
      <ns0:pic>
        <ns0:nvPicPr>
          <ns0:cNvPr id="9" name="Picture 8" descr="S3_icon.png"/>
          <ns0:cNvPicPr>
            <ns1:picLocks noChangeAspect="1"/>
          </ns0:cNvPicPr>
          <ns0:nvPr/>
        </ns0:nvPicPr>
        <ns0:blipFill>
          <ns1:blip ns2:embed="rId6"/>
          <ns1:stretch>
            <ns1:fillRect/>
          </ns1:stretch>
        </ns0:blipFill>
        <ns0:spPr>
          <ns1:xfrm>
            <ns1:off x="10314432" y="475488"/>
            <ns1:ext cx="1097280" cy="1097280"/>
          </ns1:xfrm>
          <ns1:prstGeom prst="rect">
            <ns1:avLst/>
          </ns1:prstGeom>
        </ns0:spPr>
      </ns0:pic>
      <ns0:sp>
        <ns0:nvSpPr>
          <ns0:cNvPr id="10" name="Rounded Rectangle 9"/>
          <ns0:cNvSpPr/>
          <ns0:nvPr/>
        </ns0:nvSpPr>
        <ns0:spPr>
          <ns1:xfrm>
            <ns1:off x="658368" y="188366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A. moderatePost()</ns1:t>
            </ns1:r>
          </ns1:p>
        </ns0:txBody>
      </ns0:sp>
      <ns0:sp>
        <ns0:nvSpPr>
          <ns0:cNvPr id="11" name="Rounded Rectangle 10"/>
          <ns0:cNvSpPr/>
          <ns0:nvPr/>
        </ns0:nvSpPr>
        <ns0:spPr>
          <ns1:xfrm>
            <ns1:off x="658368" y="239572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post + prefs → decision</ns1:t>
            </ns1:r>
          </ns1:p>
        </ns0:txBody>
      </ns0:sp>
      <ns0:sp>
        <ns0:nvSpPr>
          <ns0:cNvPr id="12" name="Rounded Rectangle 11"/>
          <ns0:cNvSpPr/>
          <ns0:nvPr/>
        </ns0:nvSpPr>
        <ns0:spPr>
          <ns1:xfrm>
            <ns1:off x="658368" y="2907792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B. Output flags</ns1:t>
            </ns1:r>
          </ns1:p>
        </ns0:txBody>
      </ns0:sp>
      <ns0:sp>
        <ns0:nvSpPr>
          <ns0:cNvPr id="13" name="Rounded Rectangle 12"/>
          <ns0:cNvSpPr/>
          <ns0:nvPr/>
        </ns0:nvSpPr>
        <ns0:spPr>
          <ns1:xfrm>
            <ns1:off x="658368" y="3419856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filter / blur / alert / inform</ns1:t>
            </ns1:r>
          </ns1:p>
        </ns0:txBody>
      </ns0:sp>
      <ns0:sp>
        <ns0:nvSpPr>
          <ns0:cNvPr id="14" name="Rounded Rectangle 13"/>
          <ns0:cNvSpPr/>
          <ns0:nvPr/>
        </ns0:nvSpPr>
        <ns0:spPr>
          <ns1:xfrm>
            <ns1:off x="658368" y="3931920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C. UI contexts</ns1:t>
            </ns1:r>
          </ns1:p>
        </ns0:txBody>
      </ns0:sp>
      <ns0:sp>
        <ns0:nvSpPr>
          <ns0:cNvPr id="15" name="Rounded Rectangle 14"/>
          <ns0:cNvSpPr/>
          <ns0:nvPr/>
        </ns0:nvSpPr>
        <ns0:spPr>
          <ns1:xfrm>
            <ns1:off x="658368" y="4443984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contentList vs view vs media</ns1:t>
            </ns1:r>
          </ns1:p>
        </ns0:txBody>
      </ns0:sp>
      <ns0:sp>
        <ns0:nvSpPr>
          <ns0:cNvPr id="16" name="Rounded Rectangle 15"/>
          <ns0:cNvSpPr/>
          <ns0:nvPr/>
        </ns0:nvSpPr>
        <ns0:spPr>
          <ns1:xfrm>
            <ns1:off x="658368" y="4956048"/>
            <ns1:ext cx="2852928" cy="457200"/>
          </ns1:xfrm>
          <ns1:prstGeom prst="roundRect">
            <ns1:avLst/>
          </ns1:prstGeom>
          <ns1:solidFill>
            <ns1:srgbClr val="162033"/>
          </ns1:solidFill>
          <ns1:ln w="27940">
            <ns1:solidFill>
              <ns1:srgbClr val="FF7D7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l"/>
            <ns1:r>
              <ns1:rPr sz="2000" b="1">
                <ns1:solidFill>
                  <ns1:srgbClr val="F7F9FC"/>
                </ns1:solidFill>
                <ns1:latin typeface="Calibri"/>
              </ns1:rPr>
              <ns1:t>Docs grounding</ns1:t>
            </ns1:r>
          </ns1:p>
        </ns0:txBody>
      </ns0:sp>
      <ns0:sp>
        <ns0:nvSpPr>
          <ns0:cNvPr id="17" name="Oval 16"/>
          <ns0:cNvSpPr/>
          <ns0:nvPr/>
        </ns0:nvSpPr>
        <ns0:spPr>
          <ns1:xfrm>
            <ns1:off x="3511296" y="1792224"/>
            <ns1:ext cx="310896" cy="310896"/>
          </ns1:xfrm>
          <ns1:prstGeom prst="ellipse">
            <ns1:avLst/>
          </ns1:prstGeom>
          <ns1:solidFill>
            <ns1:srgbClr val="58B7E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A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3776472" y="1755648"/>
            <ns1:ext cx="7699248" cy="1302471"/>
          </ns1:xfrm>
          <ns1:prstGeom prst="rect">
            <ns1:avLst/>
          </ns1:prstGeom>
          <ns1:noFill/>
          <ns1:ln w="40640">
            <ns1:solidFill>
              <ns1:srgbClr val="58B7E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Oval 18"/>
          <ns0:cNvSpPr/>
          <ns0:nvPr/>
        </ns0:nvSpPr>
        <ns0:spPr>
          <ns1:xfrm>
            <ns1:off x="3511296" y="3292686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B</ns1:t>
            </ns1:r>
          </ns1:p>
        </ns0:txBody>
      </ns0:sp>
      <ns0:sp>
        <ns0:nvSpPr>
          <ns0:cNvPr id="20" name="Rectangle 19"/>
          <ns0:cNvSpPr/>
          <ns0:nvPr/>
        </ns0:nvSpPr>
        <ns0:spPr>
          <ns1:xfrm>
            <ns1:off x="3776472" y="3256110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Oval 20"/>
          <ns0:cNvSpPr/>
          <ns0:nvPr/>
        </ns0:nvSpPr>
        <ns0:spPr>
          <ns1:xfrm>
            <ns1:off x="3511296" y="4793148"/>
            <ns1:ext cx="310896" cy="310896"/>
          </ns1:xfrm>
          <ns1:prstGeom prst="ellipse">
            <ns1:avLst/>
          </ns1:prstGeom>
          <ns1:solidFill>
            <ns1:srgbClr val="F4C55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 wrap="square" lIns="18288" rIns="18288" tIns="9144" bIns="9144"/>
          <ns1:lstStyle/>
          <ns1:p>
            <ns1:pPr algn="ctr"/>
            <ns1:r>
              <ns1:rPr sz="2000" b="1">
                <ns1:solidFill>
                  <ns1:srgbClr val="0B1320"/>
                </ns1:solidFill>
                <ns1:latin typeface="Calibri"/>
              </ns1:rPr>
              <ns1:t>C</ns1:t>
            </ns1:r>
          </ns1:p>
        </ns0:txBody>
      </ns0:sp>
      <ns0:sp>
        <ns0:nvSpPr>
          <ns0:cNvPr id="22" name="Rectangle 21"/>
          <ns0:cNvSpPr/>
          <ns0:nvPr/>
        </ns0:nvSpPr>
        <ns0:spPr>
          <ns1:xfrm>
            <ns1:off x="3776472" y="4756572"/>
            <ns1:ext cx="7699248" cy="1302471"/>
          </ns1:xfrm>
          <ns1:prstGeom prst="rect">
            <ns1:avLst/>
          </ns1:prstGeom>
          <ns1:noFill/>
          <ns1:ln w="40640">
            <ns1:solidFill>
              <ns1:srgbClr val="F4C55D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</ns0:spTree>
  </ns0:cSld>
  <ns0:clrMapOvr>
    <ns1:masterClrMapping/>
  </ns0:clrMapOvr>
  <ns0:transition spd="slow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" dur="240"/>
                                        <ns0:tgtEl>
                                          <ns0:spTgt spid="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2" dur="240"/>
                                        <ns0:tgtEl>
                                          <ns0:spTgt spid="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7" dur="240"/>
                                        <ns0:tgtEl>
                                          <ns0:spTgt spid="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2" dur="240"/>
                                        <ns0:tgtEl>
                                          <ns0:spTgt spid="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2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2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27" dur="240"/>
                                        <ns0:tgtEl>
                                          <ns0:spTgt spid="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2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2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2" dur="240"/>
                                        <ns0:tgtEl>
                                          <ns0:spTgt spid="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3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3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37" dur="240"/>
                                        <ns0:tgtEl>
                                          <ns0:spTgt spid="1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3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3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2" dur="240"/>
                                        <ns0:tgtEl>
                                          <ns0:spTgt spid="1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4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4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47" dur="240"/>
                                        <ns0:tgtEl>
                                          <ns0:spTgt spid="1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4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2" dur="240"/>
                                        <ns0:tgtEl>
                                          <ns0:spTgt spid="1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5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57" dur="240"/>
                                        <ns0:tgtEl>
                                          <ns0:spTgt spid="1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5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5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2" dur="240"/>
                                        <ns0:tgtEl>
                                          <ns0:spTgt spid="15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6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67" dur="240"/>
                                        <ns0:tgtEl>
                                          <ns0:spTgt spid="1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6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6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2" dur="240"/>
                                        <ns0:tgtEl>
                                          <ns0:spTgt spid="1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7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7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77" dur="240"/>
                                        <ns0:tgtEl>
                                          <ns0:spTgt spid="18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7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7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1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2" dur="240"/>
                                        <ns0:tgtEl>
                                          <ns0:spTgt spid="19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8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8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87" dur="24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8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8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2" dur="240"/>
                                        <ns0:tgtEl>
                                          <ns0:spTgt spid="21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9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9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97" dur="240"/>
                                        <ns0:tgtEl>
                                          <ns0:spTgt spid="22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98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99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0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2" dur="24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  <ns0:par>
                    <ns0:cTn id="10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10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105" presetID="10" presetClass="entr" presetSubtype="0" fill="hold" grpId="0" nodeType="clickEffect">
                                  <ns0:stCondLst>
                                    <ns0:cond delay="0"/>
                                  </ns0:stCondLst>
                                  <ns0:childTnLst>
                                    <ns0:set>
                                      <ns0:cBhvr>
                                        <ns0:cTn id="10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fade">
                                      <ns0:cBhvr>
                                        <ns0:cTn id="107" dur="240"/>
                                        <ns0:tgtEl>
                                          <ns0:spTgt spid="24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  <ns0:bldLst>
      <ns0:bldP spid="4" grpId="0" animBg="1"/>
      <ns0:bldP spid="5" grpId="0" animBg="1"/>
      <ns0:bldP spid="6" grpId="0" animBg="1"/>
      <ns0:bldP spid="7" grpId="0" animBg="1"/>
      <ns0:bldP spid="8" grpId="0" animBg="1"/>
      <ns0:bldP spid="9" grpId="0" animBg="1"/>
      <ns0:bldP spid="10" grpId="0" animBg="1"/>
      <ns0:bldP spid="11" grpId="0" animBg="1"/>
      <ns0:bldP spid="12" grpId="0" animBg="1"/>
      <ns0:bldP spid="13" grpId="0" animBg="1"/>
      <ns0:bldP spid="14" grpId="0" animBg="1"/>
      <ns0:bldP spid="15" grpId="0" animBg="1"/>
      <ns0:bldP spid="16" grpId="0" animBg="1"/>
      <ns0:bldP spid="17" grpId="0" animBg="1"/>
      <ns0:bldP spid="18" grpId="0" animBg="1"/>
      <ns0:bldP spid="19" grpId="0" animBg="1"/>
      <ns0:bldP spid="20" grpId="0" animBg="1"/>
      <ns0:bldP spid="21" grpId="0" animBg="1"/>
      <ns0:bldP spid="22" grpId="0" animBg="1"/>
      <ns0:bldP spid="23" grpId="0" animBg="1"/>
      <ns0:bldP spid="24" grpId="0" animBg="1"/>
    </ns0:bldLst>
  </ns0:timing>
</ns0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20040"/>
          </a:xfrm>
          <a:prstGeom prst="rect">
            <a:avLst/>
          </a:prstGeom>
        </p:spPr>
      </p:pic>
      <p:pic>
        <p:nvPicPr>
          <p:cNvPr id="5" name="Picture 4" descr="A7_photo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1335024"/>
            <a:ext cx="3840480" cy="4425696"/>
          </a:xfrm>
          <a:prstGeom prst="rect">
            <a:avLst/>
          </a:prstGeom>
        </p:spPr>
      </p:pic>
      <p:pic>
        <p:nvPicPr>
          <p:cNvPr id="6" name="Picture 5" descr="A9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292608"/>
            <a:ext cx="1691640" cy="841248"/>
          </a:xfrm>
          <a:prstGeom prst="rect">
            <a:avLst/>
          </a:prstGeom>
        </p:spPr>
      </p:pic>
      <p:pic>
        <p:nvPicPr>
          <p:cNvPr id="7" name="Picture 6" descr="S4_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66928"/>
            <a:ext cx="932688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Collection credibility (one slide)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08176"/>
            <a:ext cx="4754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Read-only XRPC summary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+ AppView reads.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GET-only in this run.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POST auth only if auth mode is used.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No posting 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408176"/>
            <a:ext cx="5897880" cy="44805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7-stage pipeline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-&gt; index -&gt; packs -&gt; popular -&gt; enrich -&gt; panel -&gt; snapshot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Reproducibility: state.db, manifest.csv, data_dictionary.csv, validation_report.csv.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8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8" y="219456"/>
            <a:ext cx="1225296" cy="1225296"/>
          </a:xfrm>
          <a:prstGeom prst="rect">
            <a:avLst/>
          </a:prstGeom>
        </p:spPr>
      </p:pic>
      <p:pic>
        <p:nvPicPr>
          <p:cNvPr id="6" name="Picture 5" descr="S5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69264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Calibri"/>
              </a:rPr>
              <a:t>What this enables next + advisor asks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26464"/>
            <a:ext cx="6766560" cy="45720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Ready measurements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RQ1: measure discovery concentration.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RQ2: map provider leverage.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RQ3: test same winner overlap.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RQ4: compare label variability.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44383" y="1792224"/>
            <a:ext cx="3840480" cy="356616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What I need from you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1: priority RQs and venue fit.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Ask 2: recollect longitudinal, auth mode, or experiments?</a:t>
            </a:r>
          </a:p>
        </p:txBody>
      </p:sp>
      <p:pic>
        <p:nvPicPr>
          <p:cNvPr id="10" name="Picture 9" descr="A6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3858768"/>
            <a:ext cx="2487168" cy="193852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4_heade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37744"/>
            <a:ext cx="4206240" cy="365760"/>
          </a:xfrm>
          <a:prstGeom prst="rect">
            <a:avLst/>
          </a:prstGeom>
        </p:spPr>
      </p:pic>
      <p:pic>
        <p:nvPicPr>
          <p:cNvPr id="5" name="Picture 4" descr="A9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2368" y="237744"/>
            <a:ext cx="1627632" cy="841248"/>
          </a:xfrm>
          <a:prstGeom prst="rect">
            <a:avLst/>
          </a:prstGeom>
        </p:spPr>
      </p:pic>
      <p:pic>
        <p:nvPicPr>
          <p:cNvPr id="6" name="Picture 5" descr="S2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API surfaces (names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45262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Surface | Names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Relay | com.atproto.sync.listReposByCollection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AppView | getActorFeeds, getFeedGenerators, getStarterPack, getFeed, getProfiles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PDS/Auth | createSession, refreshSession (auth mode only)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A3_divider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301752"/>
          </a:xfrm>
          <a:prstGeom prst="rect">
            <a:avLst/>
          </a:prstGeom>
        </p:spPr>
      </p:pic>
      <p:pic>
        <p:nvPicPr>
          <p:cNvPr id="5" name="Picture 4" descr="A2_card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188720"/>
            <a:ext cx="11064240" cy="5212080"/>
          </a:xfrm>
          <a:prstGeom prst="rect">
            <a:avLst/>
          </a:prstGeom>
        </p:spPr>
      </p:pic>
      <p:pic>
        <p:nvPicPr>
          <p:cNvPr id="6" name="Picture 5" descr="S3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0" y="475488"/>
            <a:ext cx="1078992" cy="1078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66928"/>
            <a:ext cx="9875520" cy="7498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200" b="1">
                <a:solidFill>
                  <a:srgbClr val="F7F9FC"/>
                </a:solidFill>
                <a:latin typeface="Calibri"/>
              </a:rPr>
              <a:t>Backup: folder layout + trust stamps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54864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Run directory layout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01_state_db/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02_csv_exports/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03_postprocess_metrics/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04_logs/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05_manifest/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06_figures_preview/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07_archive_zip/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9088" y="1572768"/>
            <a:ext cx="5029200" cy="4754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A4D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9144" bIns="9144"/>
          <a:lstStyle/>
          <a:p>
            <a:pPr algn="l"/>
            <a:r>
              <a:rPr sz="2000" b="1">
                <a:solidFill>
                  <a:srgbClr val="F7F9FC"/>
                </a:solidFill>
                <a:latin typeface="Calibri"/>
              </a:rPr>
              <a:t>Trust stamps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run_metadata.csv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run_summary.csv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manifest.csv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data_dictionary.csv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validation_report.csv</a:t>
            </a:r>
          </a:p>
          <a:p>
            <a:pPr algn="l"/>
            <a:r>
              <a:rPr sz="2000" b="0">
                <a:solidFill>
                  <a:srgbClr val="F7F9FC"/>
                </a:solidFill>
                <a:latin typeface="Calibri"/>
              </a:rPr>
              <a:t>state.db</a:t>
            </a:r>
          </a:p>
        </p:txBody>
      </p:sp>
      <p:pic>
        <p:nvPicPr>
          <p:cNvPr id="10" name="Picture 9" descr="A5_illustr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7424" y="4425696"/>
            <a:ext cx="2249424" cy="1755648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4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4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4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4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4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4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