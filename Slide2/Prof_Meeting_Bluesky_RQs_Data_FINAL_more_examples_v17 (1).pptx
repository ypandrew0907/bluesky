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Kedebideri SemiBold"/>
      <p:regular r:id="rId43"/>
      <p:bold r:id="rId44"/>
    </p:embeddedFont>
    <p:embeddedFont>
      <p:font typeface="Stack Sans Notch Medium"/>
      <p:regular r:id="rId45"/>
      <p:bold r:id="rId46"/>
    </p:embeddedFont>
    <p:embeddedFont>
      <p:font typeface="Raleway Medium"/>
      <p:regular r:id="rId47"/>
      <p:bold r:id="rId48"/>
      <p:italic r:id="rId49"/>
      <p:boldItalic r:id="rId50"/>
    </p:embeddedFont>
    <p:embeddedFont>
      <p:font typeface="Kedebideri"/>
      <p:regular r:id="rId51"/>
      <p:bold r:id="rId52"/>
    </p:embeddedFont>
    <p:embeddedFont>
      <p:font typeface="Kedebideri ExtraBold"/>
      <p:bold r:id="rId53"/>
    </p:embeddedFont>
    <p:embeddedFont>
      <p:font typeface="Stack Sans Notch Light"/>
      <p:regular r:id="rId54"/>
      <p:bold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X744wfujY8jBioN1FfWaQ9V3C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44" Type="http://schemas.openxmlformats.org/officeDocument/2006/relationships/font" Target="fonts/KedebideriSemiBold-bold.fntdata"/><Relationship Id="rId43" Type="http://schemas.openxmlformats.org/officeDocument/2006/relationships/font" Target="fonts/KedebideriSemiBold-regular.fntdata"/><Relationship Id="rId46" Type="http://schemas.openxmlformats.org/officeDocument/2006/relationships/font" Target="fonts/StackSansNotchMedium-bold.fntdata"/><Relationship Id="rId45" Type="http://schemas.openxmlformats.org/officeDocument/2006/relationships/font" Target="fonts/StackSansNotch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alewayMedium-bold.fntdata"/><Relationship Id="rId47" Type="http://schemas.openxmlformats.org/officeDocument/2006/relationships/font" Target="fonts/RalewayMedium-regular.fntdata"/><Relationship Id="rId49" Type="http://schemas.openxmlformats.org/officeDocument/2006/relationships/font" Target="fonts/Raleway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font" Target="fonts/Raleway-regular.fntdata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customschemas.google.com/relationships/presentationmetadata" Target="meta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Kedebideri-regular.fntdata"/><Relationship Id="rId50" Type="http://schemas.openxmlformats.org/officeDocument/2006/relationships/font" Target="fonts/RalewayMedium-boldItalic.fntdata"/><Relationship Id="rId53" Type="http://schemas.openxmlformats.org/officeDocument/2006/relationships/font" Target="fonts/KedebideriExtraBold-bold.fntdata"/><Relationship Id="rId52" Type="http://schemas.openxmlformats.org/officeDocument/2006/relationships/font" Target="fonts/Kedebideri-bold.fntdata"/><Relationship Id="rId11" Type="http://schemas.openxmlformats.org/officeDocument/2006/relationships/slide" Target="slides/slide7.xml"/><Relationship Id="rId55" Type="http://schemas.openxmlformats.org/officeDocument/2006/relationships/font" Target="fonts/StackSansNotchLight-bold.fntdata"/><Relationship Id="rId10" Type="http://schemas.openxmlformats.org/officeDocument/2006/relationships/slide" Target="slides/slide6.xml"/><Relationship Id="rId54" Type="http://schemas.openxmlformats.org/officeDocument/2006/relationships/font" Target="fonts/StackSansNotchLight-regular.fntdata"/><Relationship Id="rId13" Type="http://schemas.openxmlformats.org/officeDocument/2006/relationships/slide" Target="slides/slide9.xml"/><Relationship Id="rId57" Type="http://schemas.openxmlformats.org/officeDocument/2006/relationships/font" Target="fonts/OpenSans-bold.fntdata"/><Relationship Id="rId12" Type="http://schemas.openxmlformats.org/officeDocument/2006/relationships/slide" Target="slides/slide8.xml"/><Relationship Id="rId56" Type="http://schemas.openxmlformats.org/officeDocument/2006/relationships/font" Target="fonts/OpenSans-regular.fntdata"/><Relationship Id="rId15" Type="http://schemas.openxmlformats.org/officeDocument/2006/relationships/slide" Target="slides/slide11.xml"/><Relationship Id="rId59" Type="http://schemas.openxmlformats.org/officeDocument/2006/relationships/font" Target="fonts/OpenSans-boldItalic.fntdata"/><Relationship Id="rId14" Type="http://schemas.openxmlformats.org/officeDocument/2006/relationships/slide" Target="slides/slide10.xml"/><Relationship Id="rId58" Type="http://schemas.openxmlformats.org/officeDocument/2006/relationships/font" Target="fonts/OpenSan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68144b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68144b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8144bd4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68144bd4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68144bd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c68144bd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68144bd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68144bd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68144bd4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68144bd4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68144bd4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68144bd4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68144bd4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c68144bd4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68144bd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c68144bd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68144bd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68144bd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68144bd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68144bd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68144bd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68144bd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68144bd4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68144bd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6" title="BG_111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6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4"/>
                </a:solidFill>
                <a:latin typeface="Kedebideri SemiBold"/>
                <a:ea typeface="Kedebideri SemiBold"/>
                <a:cs typeface="Kedebideri SemiBold"/>
                <a:sym typeface="Kedebide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/>
          <p:nvPr>
            <p:ph type="title"/>
          </p:nvPr>
        </p:nvSpPr>
        <p:spPr>
          <a:xfrm>
            <a:off x="457200" y="1126050"/>
            <a:ext cx="39984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1016100" y="2438575"/>
            <a:ext cx="40455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8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8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28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" name="Google Shape;28;p28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28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28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1" name="Google Shape;31;p28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2" name="Google Shape;32;p28"/>
          <p:cNvSpPr txBox="1"/>
          <p:nvPr>
            <p:ph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28"/>
          <p:cNvSpPr txBox="1"/>
          <p:nvPr>
            <p:ph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28"/>
          <p:cNvSpPr txBox="1"/>
          <p:nvPr>
            <p:ph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8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0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0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1" title="BG_3_Data-visual.jpg"/>
          <p:cNvPicPr preferRelativeResize="0"/>
          <p:nvPr/>
        </p:nvPicPr>
        <p:blipFill rotWithShape="1">
          <a:blip r:embed="rId2">
            <a:alphaModFix/>
          </a:blip>
          <a:srcRect b="347" l="0" r="0" t="347"/>
          <a:stretch/>
        </p:blipFill>
        <p:spPr>
          <a:xfrm flipH="1">
            <a:off x="-282600" y="-137625"/>
            <a:ext cx="9505951" cy="5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1"/>
          <p:cNvSpPr txBox="1"/>
          <p:nvPr>
            <p:ph type="title"/>
          </p:nvPr>
        </p:nvSpPr>
        <p:spPr>
          <a:xfrm>
            <a:off x="5086975" y="1736775"/>
            <a:ext cx="38283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1"/>
          <p:cNvSpPr txBox="1"/>
          <p:nvPr>
            <p:ph idx="2" type="title"/>
          </p:nvPr>
        </p:nvSpPr>
        <p:spPr>
          <a:xfrm>
            <a:off x="1326300" y="1862778"/>
            <a:ext cx="14898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2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2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p3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3"/>
          <p:cNvSpPr txBox="1"/>
          <p:nvPr>
            <p:ph idx="1" type="subTitle"/>
          </p:nvPr>
        </p:nvSpPr>
        <p:spPr>
          <a:xfrm>
            <a:off x="4669103" y="1041750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33"/>
          <p:cNvSpPr txBox="1"/>
          <p:nvPr>
            <p:ph idx="2" type="subTitle"/>
          </p:nvPr>
        </p:nvSpPr>
        <p:spPr>
          <a:xfrm>
            <a:off x="4669103" y="285232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33"/>
          <p:cNvSpPr txBox="1"/>
          <p:nvPr>
            <p:ph idx="3" type="subTitle"/>
          </p:nvPr>
        </p:nvSpPr>
        <p:spPr>
          <a:xfrm>
            <a:off x="4669103" y="1614448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4" type="subTitle"/>
          </p:nvPr>
        </p:nvSpPr>
        <p:spPr>
          <a:xfrm>
            <a:off x="4669103" y="342502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4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5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5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3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6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6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7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8"/>
          <p:cNvSpPr txBox="1"/>
          <p:nvPr>
            <p:ph type="title"/>
          </p:nvPr>
        </p:nvSpPr>
        <p:spPr>
          <a:xfrm>
            <a:off x="5230250" y="3673925"/>
            <a:ext cx="3456600" cy="9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9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" name="Google Shape;80;p39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1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1"/>
          <p:cNvSpPr txBox="1"/>
          <p:nvPr>
            <p:ph type="title"/>
          </p:nvPr>
        </p:nvSpPr>
        <p:spPr>
          <a:xfrm>
            <a:off x="4541700" y="925525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5" name="Google Shape;85;p41"/>
          <p:cNvSpPr txBox="1"/>
          <p:nvPr>
            <p:ph idx="1" type="subTitle"/>
          </p:nvPr>
        </p:nvSpPr>
        <p:spPr>
          <a:xfrm>
            <a:off x="457200" y="109058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2" type="title"/>
          </p:nvPr>
        </p:nvSpPr>
        <p:spPr>
          <a:xfrm>
            <a:off x="4541700" y="3082109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" name="Google Shape;87;p41"/>
          <p:cNvSpPr txBox="1"/>
          <p:nvPr>
            <p:ph idx="3" type="subTitle"/>
          </p:nvPr>
        </p:nvSpPr>
        <p:spPr>
          <a:xfrm>
            <a:off x="457200" y="3231511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4" type="title"/>
          </p:nvPr>
        </p:nvSpPr>
        <p:spPr>
          <a:xfrm>
            <a:off x="4541700" y="2003817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9" name="Google Shape;89;p41"/>
          <p:cNvSpPr txBox="1"/>
          <p:nvPr>
            <p:ph idx="5" type="subTitle"/>
          </p:nvPr>
        </p:nvSpPr>
        <p:spPr>
          <a:xfrm>
            <a:off x="457200" y="2161047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6" type="title"/>
          </p:nvPr>
        </p:nvSpPr>
        <p:spPr>
          <a:xfrm>
            <a:off x="4541700" y="4160401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1" name="Google Shape;91;p41"/>
          <p:cNvSpPr txBox="1"/>
          <p:nvPr>
            <p:ph idx="7" type="subTitle"/>
          </p:nvPr>
        </p:nvSpPr>
        <p:spPr>
          <a:xfrm>
            <a:off x="457200" y="430197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8" type="title"/>
          </p:nvPr>
        </p:nvSpPr>
        <p:spPr>
          <a:xfrm>
            <a:off x="457200" y="228600"/>
            <a:ext cx="70044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2" title="BG_5_Data-visual.jpg"/>
          <p:cNvPicPr preferRelativeResize="0"/>
          <p:nvPr/>
        </p:nvPicPr>
        <p:blipFill rotWithShape="1">
          <a:blip r:embed="rId2">
            <a:alphaModFix/>
          </a:blip>
          <a:srcRect b="0" l="39" r="49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2"/>
          <p:cNvSpPr txBox="1"/>
          <p:nvPr>
            <p:ph type="title"/>
          </p:nvPr>
        </p:nvSpPr>
        <p:spPr>
          <a:xfrm>
            <a:off x="661200" y="298700"/>
            <a:ext cx="37428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6" name="Google Shape;96;p42"/>
          <p:cNvSpPr txBox="1"/>
          <p:nvPr>
            <p:ph idx="1" type="subTitle"/>
          </p:nvPr>
        </p:nvSpPr>
        <p:spPr>
          <a:xfrm>
            <a:off x="5763000" y="2867058"/>
            <a:ext cx="31527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/>
        </p:nvSpPr>
        <p:spPr>
          <a:xfrm>
            <a:off x="5763000" y="4120830"/>
            <a:ext cx="2841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4" title="BG_2_Data-visua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tack Sans Notch Light"/>
              <a:buNone/>
              <a:defRPr b="0" i="0" sz="2600" u="none" cap="none" strike="noStrike">
                <a:solidFill>
                  <a:schemeClr val="dk1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A4335"/>
          </p15:clr>
        </p15:guide>
        <p15:guide id="2" orient="horz" pos="3096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-US" sz="5400">
                <a:solidFill>
                  <a:srgbClr val="FFFFFF"/>
                </a:solidFill>
              </a:rPr>
              <a:t>Algorithmic choice relocates power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BLUESKY RQs + DATA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FEB 2026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6720840" y="502920"/>
            <a:ext cx="1920240" cy="50292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In data collection phase…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System framing: pluggable services, new chokepoints</a:t>
            </a:r>
            <a:endParaRPr/>
          </a:p>
        </p:txBody>
      </p:sp>
      <p:sp>
        <p:nvSpPr>
          <p:cNvPr id="116" name="Google Shape;116;p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02982" y="1307183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modular services relocate concentration.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94360" y="196596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2148840" y="1965960"/>
            <a:ext cx="169164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surfaces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406908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generators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5715000" y="1965960"/>
            <a:ext cx="15087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provider hosting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45236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outcomes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640580" y="2926080"/>
            <a:ext cx="19659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labelers</a:t>
            </a:r>
            <a:endParaRPr/>
          </a:p>
        </p:txBody>
      </p:sp>
      <p:cxnSp>
        <p:nvCxnSpPr>
          <p:cNvPr id="124" name="Google Shape;124;p2"/>
          <p:cNvCxnSpPr/>
          <p:nvPr/>
        </p:nvCxnSpPr>
        <p:spPr>
          <a:xfrm>
            <a:off x="192024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5" name="Google Shape;125;p2"/>
          <p:cNvCxnSpPr/>
          <p:nvPr/>
        </p:nvCxnSpPr>
        <p:spPr>
          <a:xfrm>
            <a:off x="384048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6" name="Google Shape;126;p2"/>
          <p:cNvCxnSpPr/>
          <p:nvPr/>
        </p:nvCxnSpPr>
        <p:spPr>
          <a:xfrm>
            <a:off x="548640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7" name="Google Shape;127;p2"/>
          <p:cNvCxnSpPr/>
          <p:nvPr/>
        </p:nvCxnSpPr>
        <p:spPr>
          <a:xfrm>
            <a:off x="722376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8" name="Google Shape;128;p2"/>
          <p:cNvCxnSpPr/>
          <p:nvPr/>
        </p:nvCxnSpPr>
        <p:spPr>
          <a:xfrm>
            <a:off x="4777740" y="2587752"/>
            <a:ext cx="845820" cy="33832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9" name="Google Shape;129;p2"/>
          <p:cNvSpPr txBox="1"/>
          <p:nvPr/>
        </p:nvSpPr>
        <p:spPr>
          <a:xfrm>
            <a:off x="502920" y="425196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Discovery surfaces and provider hosting are key ch</a:t>
            </a:r>
            <a:r>
              <a:rPr lang="en-US" sz="1425">
                <a:solidFill>
                  <a:srgbClr val="4B5563"/>
                </a:solidFill>
              </a:rPr>
              <a:t>e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kepoints.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feed marketplace (/feeds)</a:t>
            </a:r>
            <a:endParaRPr/>
          </a:p>
        </p:txBody>
      </p:sp>
      <p:sp>
        <p:nvSpPr>
          <p:cNvPr id="135" name="Google Shape;135;p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feeds are discoverable + selectable algorithmic timelines.</a:t>
            </a:r>
            <a:endParaRPr/>
          </a:p>
        </p:txBody>
      </p:sp>
      <p:cxnSp>
        <p:nvCxnSpPr>
          <p:cNvPr id="137" name="Google Shape;137;p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8" name="Google Shape;138;p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s.png"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/feeds directory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Search feeds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Feed cards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Creator + likes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Trending widget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Defaults matter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risk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809999" y="1702190"/>
            <a:ext cx="3429914" cy="33528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809999" y="2243796"/>
            <a:ext cx="3429914" cy="1929326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199197" y="1636540"/>
            <a:ext cx="1327800" cy="7866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590543" y="1738766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590543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7239929" y="1463041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53" name="Google Shape;153;p3"/>
          <p:cNvCxnSpPr/>
          <p:nvPr/>
        </p:nvCxnSpPr>
        <p:spPr>
          <a:xfrm flipH="1" rot="10800000">
            <a:off x="3246120" y="1869830"/>
            <a:ext cx="563879" cy="59554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>
            <a:off x="3246120" y="2843784"/>
            <a:ext cx="563879" cy="364676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what a feed looks like</a:t>
            </a:r>
            <a:endParaRPr/>
          </a:p>
        </p:txBody>
      </p:sp>
      <p:sp>
        <p:nvSpPr>
          <p:cNvPr id="160" name="Google Shape;160;p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a feed page renders an algorithm into a timeline of posts.</a:t>
            </a:r>
            <a:endParaRPr/>
          </a:p>
        </p:txBody>
      </p:sp>
      <p:cxnSp>
        <p:nvCxnSpPr>
          <p:cNvPr id="162" name="Google Shape;162;p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_for_science.png" id="164" name="Google Shape;1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 name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Demand signals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Timeline output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decisions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actions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we measure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Manipulation risk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797100" y="1371600"/>
            <a:ext cx="4117200" cy="48900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797104" y="2122324"/>
            <a:ext cx="3872400" cy="192930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245008" y="3955312"/>
            <a:ext cx="1991700" cy="3741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577648" y="2203000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063000" y="3681000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78" name="Google Shape;178;p4"/>
          <p:cNvCxnSpPr/>
          <p:nvPr/>
        </p:nvCxnSpPr>
        <p:spPr>
          <a:xfrm flipH="1" rot="10800000">
            <a:off x="3246120" y="1773115"/>
            <a:ext cx="550984" cy="15626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79" name="Google Shape;179;p4"/>
          <p:cNvCxnSpPr/>
          <p:nvPr/>
        </p:nvCxnSpPr>
        <p:spPr>
          <a:xfrm>
            <a:off x="3246120" y="2843784"/>
            <a:ext cx="550984" cy="287303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(onboarding bundles)</a:t>
            </a:r>
            <a:endParaRPr/>
          </a:p>
        </p:txBody>
      </p:sp>
      <p:sp>
        <p:nvSpPr>
          <p:cNvPr id="185" name="Google Shape;185;p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sometimes feeds) for fast onboarding.</a:t>
            </a:r>
            <a:endParaRPr/>
          </a:p>
        </p:txBody>
      </p:sp>
      <p:cxnSp>
        <p:nvCxnSpPr>
          <p:cNvPr id="187" name="Google Shape;187;p5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8" name="Google Shape;188;p5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starterpack.png"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Pack title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Curated list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Join button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1-click onboarding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People cards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questions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Measure exposure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797104" y="1573236"/>
            <a:ext cx="4093768" cy="567396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797104" y="2243796"/>
            <a:ext cx="4093768" cy="464233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797104" y="2836984"/>
            <a:ext cx="4093768" cy="1618144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577648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577648" y="2873560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03" name="Google Shape;203;p5"/>
          <p:cNvCxnSpPr/>
          <p:nvPr/>
        </p:nvCxnSpPr>
        <p:spPr>
          <a:xfrm flipH="1" rot="10800000">
            <a:off x="3246120" y="1856935"/>
            <a:ext cx="550984" cy="7244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04" name="Google Shape;204;p5"/>
          <p:cNvCxnSpPr/>
          <p:nvPr/>
        </p:nvCxnSpPr>
        <p:spPr>
          <a:xfrm flipH="1" rot="10800000">
            <a:off x="3246120" y="2475913"/>
            <a:ext cx="550984" cy="367871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labeling surfaces 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user-facing controls that shape what gets shown or filtered.</a:t>
            </a:r>
            <a:endParaRPr/>
          </a:p>
        </p:txBody>
      </p:sp>
      <p:cxnSp>
        <p:nvCxnSpPr>
          <p:cNvPr id="211" name="Google Shape;211;p1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2" name="Google Shape;212;p1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8.png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Self-label button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surface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Content warning picker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Adult Content options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Labeled post banner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Attribution to labeler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filtering + exposure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8" name="Google Shape;228;p18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reply controls 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reply controls gate interaction, changing who can respond and what feedback loops form.</a:t>
            </a:r>
            <a:endParaRPr/>
          </a:p>
        </p:txBody>
      </p:sp>
      <p:cxnSp>
        <p:nvCxnSpPr>
          <p:cNvPr id="235" name="Google Shape;235;p1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36" name="Google Shape;236;p1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9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Reply controls button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setting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Who can reply picker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Audience gating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notice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Visible constraint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interaction graphs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51" name="Google Shape;251;p19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2" name="Google Shape;252;p19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>
            <p:ph type="title"/>
          </p:nvPr>
        </p:nvSpPr>
        <p:spPr>
          <a:xfrm>
            <a:off x="502920" y="32004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labelers + moderation tools 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moderation is modular</a:t>
            </a:r>
            <a:r>
              <a:rPr lang="en-US" sz="1425">
                <a:solidFill>
                  <a:srgbClr val="4B5563"/>
                </a:solidFill>
              </a:rPr>
              <a:t>, 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users can subscribe to labelers and tune label handling.</a:t>
            </a:r>
            <a:endParaRPr/>
          </a:p>
        </p:txBody>
      </p:sp>
      <p:cxnSp>
        <p:nvCxnSpPr>
          <p:cNvPr id="259" name="Google Shape;259;p2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60" name="Google Shape;260;p2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0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Subscribe to labeler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Third-party policies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Per-label controls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Off / Warn / Hide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Ozone moderation UI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Operational tooling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power shifts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699462" y="1733502"/>
            <a:ext cx="5082635" cy="7491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99462" y="2690097"/>
            <a:ext cx="5082635" cy="74914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699462" y="3646693"/>
            <a:ext cx="5082635" cy="74914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3480006" y="27266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3480006" y="3683269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75" name="Google Shape;275;p20"/>
          <p:cNvCxnSpPr/>
          <p:nvPr/>
        </p:nvCxnSpPr>
        <p:spPr>
          <a:xfrm>
            <a:off x="3246120" y="1929384"/>
            <a:ext cx="453342" cy="17868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76" name="Google Shape;276;p20"/>
          <p:cNvCxnSpPr/>
          <p:nvPr/>
        </p:nvCxnSpPr>
        <p:spPr>
          <a:xfrm>
            <a:off x="3246120" y="2843784"/>
            <a:ext cx="453342" cy="220884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flow 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context) into a single shareable onboarding object.</a:t>
            </a:r>
            <a:endParaRPr/>
          </a:p>
        </p:txBody>
      </p:sp>
      <p:cxnSp>
        <p:nvCxnSpPr>
          <p:cNvPr id="283" name="Google Shape;283;p2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84" name="Google Shape;284;p2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2.png"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Create starter pack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Name + description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Choose people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choices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Share pack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Link / QR / image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bundled exposure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3699462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462825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226188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243369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7006732" y="1770078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99" name="Google Shape;299;p22"/>
          <p:cNvCxnSpPr/>
          <p:nvPr/>
        </p:nvCxnSpPr>
        <p:spPr>
          <a:xfrm>
            <a:off x="3246120" y="1929384"/>
            <a:ext cx="453342" cy="1135285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0" name="Google Shape;300;p22"/>
          <p:cNvCxnSpPr/>
          <p:nvPr/>
        </p:nvCxnSpPr>
        <p:spPr>
          <a:xfrm>
            <a:off x="3246120" y="2843784"/>
            <a:ext cx="2216705" cy="220885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01" name="Google Shape;3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971" y="1484609"/>
            <a:ext cx="5697926" cy="32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discovery surfaces 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shaped by navigation, defaults, and safety settings surfaced in the UI.</a:t>
            </a:r>
            <a:endParaRPr/>
          </a:p>
        </p:txBody>
      </p:sp>
      <p:cxnSp>
        <p:nvCxnSpPr>
          <p:cNvPr id="308" name="Google Shape;308;p2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09" name="Google Shape;309;p2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1.png"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feeds tab</a:t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Algorithm marketplace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Moderation menu</a:t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Filtering settings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Starter packs tab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Onboarding surface</a:t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defaults steer</a:t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5" name="Google Shape;325;p21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handles (surface → settings) </a:t>
            </a:r>
            <a:endParaRPr/>
          </a:p>
        </p:txBody>
      </p:sp>
      <p:cxnSp>
        <p:nvCxnSpPr>
          <p:cNvPr id="331" name="Google Shape;331;p2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2" name="Google Shape;332;p2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3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Domain handle profile</a:t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Trust signal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Settings: handle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Entry point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Use own domain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Verification flow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credibility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47" name="Google Shape;347;p23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8" name="Google Shape;348;p23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verification + examples </a:t>
            </a:r>
            <a:endParaRPr/>
          </a:p>
        </p:txBody>
      </p:sp>
      <p:sp>
        <p:nvSpPr>
          <p:cNvPr id="354" name="Google Shape;354;p24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BLUESKY RQs + DATA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verification relies on external DNS tooling, creating measurable and potentially gameable steps.</a:t>
            </a:r>
            <a:endParaRPr/>
          </a:p>
        </p:txBody>
      </p:sp>
      <p:cxnSp>
        <p:nvCxnSpPr>
          <p:cNvPr id="356" name="Google Shape;356;p2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57" name="Google Shape;357;p2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4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DNS TXT record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Proof-of-control</a:t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Domain handle example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@npr.org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DNS management UI</a:t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External dependency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measurable steps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72" name="Google Shape;372;p24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73" name="Google Shape;373;p24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000">
                <a:solidFill>
                  <a:srgbClr val="262626"/>
                </a:solidFill>
              </a:rPr>
              <a:t>Research questions (R1-R5)</a:t>
            </a:r>
            <a:endParaRPr/>
          </a:p>
        </p:txBody>
      </p:sp>
      <p:sp>
        <p:nvSpPr>
          <p:cNvPr id="379" name="Google Shape;379;p6"/>
          <p:cNvSpPr txBox="1"/>
          <p:nvPr>
            <p:ph idx="1" type="subTitle"/>
          </p:nvPr>
        </p:nvSpPr>
        <p:spPr>
          <a:xfrm>
            <a:off x="1362775" y="2348550"/>
            <a:ext cx="2974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R1 Discovery chokepoints? governance.</a:t>
            </a:r>
            <a:endParaRPr/>
          </a:p>
        </p:txBody>
      </p:sp>
      <p:sp>
        <p:nvSpPr>
          <p:cNvPr id="380" name="Google Shape;380;p6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R2 Provider buckets dominate? reliability.</a:t>
            </a:r>
            <a:endParaRPr/>
          </a:p>
        </p:txBody>
      </p:sp>
      <p:sp>
        <p:nvSpPr>
          <p:cNvPr id="381" name="Google Shape;381;p6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R3 Same winners across feeds? manipulation.</a:t>
            </a:r>
            <a:endParaRPr/>
          </a:p>
        </p:txBody>
      </p:sp>
      <p:sp>
        <p:nvSpPr>
          <p:cNvPr id="382" name="Google Shape;382;p6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R4 Labels vary by viewer? safety.</a:t>
            </a:r>
            <a:endParaRPr/>
          </a:p>
        </p:txBody>
      </p:sp>
      <p:sp>
        <p:nvSpPr>
          <p:cNvPr id="383" name="Google Shape;383;p6"/>
          <p:cNvSpPr txBox="1"/>
          <p:nvPr>
            <p:ph idx="5" type="subTitle"/>
          </p:nvPr>
        </p:nvSpPr>
        <p:spPr>
          <a:xfrm>
            <a:off x="5107125" y="2348550"/>
            <a:ext cx="3191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R5 Future experiment: gaming plus privacy attacks. extra guardrails.</a:t>
            </a:r>
            <a:endParaRPr/>
          </a:p>
        </p:txBody>
      </p:sp>
      <p:sp>
        <p:nvSpPr>
          <p:cNvPr id="384" name="Google Shape;384;p6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04</a:t>
            </a:r>
            <a:endParaRPr/>
          </a:p>
        </p:txBody>
      </p:sp>
      <p:sp>
        <p:nvSpPr>
          <p:cNvPr id="385" name="Google Shape;385;p6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02</a:t>
            </a:r>
            <a:endParaRPr/>
          </a:p>
        </p:txBody>
      </p:sp>
      <p:sp>
        <p:nvSpPr>
          <p:cNvPr id="386" name="Google Shape;386;p6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01</a:t>
            </a:r>
            <a:endParaRPr/>
          </a:p>
        </p:txBody>
      </p:sp>
      <p:sp>
        <p:nvSpPr>
          <p:cNvPr id="387" name="Google Shape;387;p6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03</a:t>
            </a:r>
            <a:endParaRPr/>
          </a:p>
        </p:txBody>
      </p:sp>
      <p:sp>
        <p:nvSpPr>
          <p:cNvPr id="388" name="Google Shape;388;p6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05</a:t>
            </a:r>
            <a:endParaRPr/>
          </a:p>
        </p:txBody>
      </p:sp>
      <p:sp>
        <p:nvSpPr>
          <p:cNvPr id="389" name="Google Shape;389;p6"/>
          <p:cNvSpPr txBox="1"/>
          <p:nvPr/>
        </p:nvSpPr>
        <p:spPr>
          <a:xfrm>
            <a:off x="502920" y="105156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security and privacy scope.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8144bd4a_0_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RQ1</a:t>
            </a:r>
            <a:endParaRPr/>
          </a:p>
        </p:txBody>
      </p:sp>
      <p:sp>
        <p:nvSpPr>
          <p:cNvPr id="395" name="Google Shape;395;g3c68144bd4a_0_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In Bluesky, which is ‘pluggable,’ or </a:t>
            </a:r>
            <a:r>
              <a:rPr lang="en-US" sz="1600"/>
              <a:t>decentralized.</a:t>
            </a:r>
            <a:r>
              <a:rPr lang="en-US" sz="1600"/>
              <a:t> does onboarding/discovery behave like a centralized platform anyway? Concretely: how concentrated are starter packs and other discovery surfaces, and how much leverage do a few feed providers get over what new users see?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starterpack_feeds.csv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discovery_feed_inclusions.csv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popular_feeds.csv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68144bd4a_0_8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c68144bd4a_0_8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68144bd4a_0_4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68144bd4a_0_4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68144bd4a_0_26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RQ2</a:t>
            </a:r>
            <a:endParaRPr/>
          </a:p>
        </p:txBody>
      </p:sp>
      <p:sp>
        <p:nvSpPr>
          <p:cNvPr id="413" name="Google Shape;413;g3c68144bd4a_0_2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Across feeds that people commonly discover/use, does exposure concentrate among fewer creators, do the same creators win everywhere, and do large accounts get boosted more than in long-tail feeds?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authors.csv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68144bd4a_0_5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c68144bd4a_0_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8144bd4a_0_7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c68144bd4a_0_7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68144bd4a_0_3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RQ3</a:t>
            </a:r>
            <a:endParaRPr/>
          </a:p>
        </p:txBody>
      </p:sp>
      <p:sp>
        <p:nvSpPr>
          <p:cNvPr id="431" name="Google Shape;431;g3c68144bd4a_0_3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What attacks are feasible when (a) feed generators are third-party services, and (b) they can be ‘growth-gaming’ by design? How do injected interactions (bots/sybils), collusion, and malicious ranking policies change exposure — and what defenses can labelers/users/platform enforce?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</a:t>
            </a:r>
            <a:r>
              <a:rPr lang="en-US" sz="1600"/>
              <a:t>eed_snapshot_status.csv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errors.csv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68144bd4a_0_5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68144bd4a_0_5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68144bd4a_0_7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68144bd4a_0_7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68144bd4a_0_4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RQ4</a:t>
            </a:r>
            <a:endParaRPr/>
          </a:p>
        </p:txBody>
      </p:sp>
      <p:sp>
        <p:nvSpPr>
          <p:cNvPr id="449" name="Google Shape;449;g3c68144bd4a_0_4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How does ‘subscribe-to-labelers’ moderation behave in practice across feeds and communities? Where do labelers fail (coverage gaps, underrepresented groups, cross-community abuse), and how can labelers share models/signals without introducing privacy leakage or poisoning risks?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 (especially post_labels_json and author_labels_json)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68144bd4a_0_6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c68144bd4a_0_6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68144bd4a_0_6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c68144bd4a_0_6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300">
                <a:solidFill>
                  <a:srgbClr val="262626"/>
                </a:solidFill>
              </a:rPr>
              <a:t>Data receipt: discovery surfaces (starter packs + popular list)</a:t>
            </a:r>
            <a:endParaRPr sz="1700"/>
          </a:p>
        </p:txBody>
      </p:sp>
      <p:sp>
        <p:nvSpPr>
          <p:cNvPr id="467" name="Google Shape;467;p8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measurable via starter-pack inclusion and popular list ranks.</a:t>
            </a:r>
            <a:endParaRPr/>
          </a:p>
        </p:txBody>
      </p:sp>
      <p:cxnSp>
        <p:nvCxnSpPr>
          <p:cNvPr id="469" name="Google Shape;469;p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0" name="Google Shape;470;p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8.png" id="471" name="Google Shape;4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Starter packs</a:t>
            </a:r>
            <a:endParaRPr/>
          </a:p>
        </p:txBody>
      </p:sp>
      <p:sp>
        <p:nvSpPr>
          <p:cNvPr id="473" name="Google Shape;473;p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starterpacks + starterpack_feeds</a:t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Inclusion_count</a:t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slot_count (position-weighted)</a:t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Popularity_rank</a:t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Concentration + provider leverage</a:t>
            </a:r>
            <a:endParaRPr/>
          </a:p>
        </p:txBody>
      </p:sp>
      <p:sp>
        <p:nvSpPr>
          <p:cNvPr id="479" name="Google Shape;479;p8"/>
          <p:cNvSpPr/>
          <p:nvPr/>
        </p:nvSpPr>
        <p:spPr>
          <a:xfrm>
            <a:off x="3912397" y="1547446"/>
            <a:ext cx="4653883" cy="1011763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3912397" y="2694208"/>
            <a:ext cx="4653883" cy="87634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3912397" y="3708430"/>
            <a:ext cx="4653883" cy="87346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3692941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3692941" y="273078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3692941" y="3745006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Data receipt: ranked exposure + risk labels</a:t>
            </a:r>
            <a:endParaRPr/>
          </a:p>
        </p:txBody>
      </p:sp>
      <p:sp>
        <p:nvSpPr>
          <p:cNvPr id="490" name="Google Shape;490;p9"/>
          <p:cNvSpPr txBox="1"/>
          <p:nvPr/>
        </p:nvSpPr>
        <p:spPr>
          <a:xfrm>
            <a:off x="502920" y="96012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92" name="Google Shape;492;p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9.png" id="493" name="Google Shape;4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feed_items row</a:t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(feed_uri, viewer_mode, rank)</a:t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posts row</a:t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text + links + langs</a:t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post_labels row</a:t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H6: risk exposure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auditing / mitigations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4528998" y="1547446"/>
            <a:ext cx="3420681" cy="83024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4528998" y="2498279"/>
            <a:ext cx="3420681" cy="98295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4528998" y="3601821"/>
            <a:ext cx="3420681" cy="980069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4309542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4309542" y="2534855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4309542" y="36383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labels (schema + global values + prefs)</a:t>
            </a:r>
            <a:endParaRPr sz="2200"/>
          </a:p>
        </p:txBody>
      </p:sp>
      <p:sp>
        <p:nvSpPr>
          <p:cNvPr id="512" name="Google Shape;512;p10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structured safety signals; behavior depends on viewer prefs.</a:t>
            </a:r>
            <a:endParaRPr/>
          </a:p>
        </p:txBody>
      </p:sp>
      <p:cxnSp>
        <p:nvCxnSpPr>
          <p:cNvPr id="513" name="Google Shape;513;p1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14" name="Google Shape;514;p1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0.png" id="515" name="Google Shape;5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Label schema</a:t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(src, uri/cid, val, neg, cts)</a:t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Global values</a:t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protocol-defined strings</a:t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Viewer prefs</a:t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hide / warn / ignore</a:t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custom labels (definitions + targets)</a:t>
            </a:r>
            <a:endParaRPr sz="2200"/>
          </a:p>
        </p:txBody>
      </p:sp>
      <p:sp>
        <p:nvSpPr>
          <p:cNvPr id="534" name="Google Shape;534;p11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35" name="Google Shape;535;p1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labelers can define custom taxonomies; we preserve raw label_val strings.</a:t>
            </a:r>
            <a:endParaRPr/>
          </a:p>
        </p:txBody>
      </p:sp>
      <p:cxnSp>
        <p:nvCxnSpPr>
          <p:cNvPr id="536" name="Google Shape;536;p1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37" name="Google Shape;537;p1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1.png" id="538" name="Google Shape;5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definitions</a:t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blur + severity + defaults</a:t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Label targets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account vs profile vs content</a:t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Observed values</a:t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dataset examples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200">
                <a:solidFill>
                  <a:srgbClr val="262626"/>
                </a:solidFill>
              </a:rPr>
              <a:t>Data receipt: labelers (declarations + subscriptions + self-labels)</a:t>
            </a:r>
            <a:endParaRPr sz="1600"/>
          </a:p>
        </p:txBody>
      </p:sp>
      <p:sp>
        <p:nvSpPr>
          <p:cNvPr id="557" name="Google Shape;557;p1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58" name="Google Shape;558;p1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come from services; viewers choose which labelers to trust.</a:t>
            </a:r>
            <a:endParaRPr/>
          </a:p>
        </p:txBody>
      </p:sp>
      <p:cxnSp>
        <p:nvCxnSpPr>
          <p:cNvPr id="559" name="Google Shape;559;p1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60" name="Google Shape;560;p1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2.png" id="561" name="Google Shape;5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Declaration</a:t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values + policies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Subscriptions</a:t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viewer-selected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Self-labels</a:t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built-in values</a:t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600">
                <a:solidFill>
                  <a:srgbClr val="262626"/>
                </a:solidFill>
              </a:rPr>
              <a:t>Data receipt: moderation decisions (flags + UI contexts)</a:t>
            </a:r>
            <a:endParaRPr sz="2000"/>
          </a:p>
        </p:txBody>
      </p:sp>
      <p:sp>
        <p:nvSpPr>
          <p:cNvPr id="580" name="Google Shape;580;p1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81" name="Google Shape;581;p1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the same label can blur/warn/filter depending on context + prefs.</a:t>
            </a:r>
            <a:endParaRPr/>
          </a:p>
        </p:txBody>
      </p:sp>
      <p:cxnSp>
        <p:nvCxnSpPr>
          <p:cNvPr id="582" name="Google Shape;582;p1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83" name="Google Shape;583;p1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3.png" id="584" name="Google Shape;5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moderatePost()</a:t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 + prefs → decision</a:t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Output flags</a:t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 / blur / alert / inform</a:t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UI contexts</a:t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contentList vs view vs media</a:t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Collection credibility (one slide)</a:t>
            </a:r>
            <a:endParaRPr/>
          </a:p>
        </p:txBody>
      </p:sp>
      <p:sp>
        <p:nvSpPr>
          <p:cNvPr id="603" name="Google Shape;603;p1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Read-only XRPC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+ AppView reads.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GET-only in this run.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POST auth only if auth mode is used.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No posting actions.</a:t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489204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7-stage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-&gt; index -&gt; packs -&gt; popular -&gt; enrich -&gt; panel -&gt; snapshot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Reproducibility: state.db, manifest.csv, data_dictionary.csv, validation_report.csv.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What this enables next + advisor asks</a:t>
            </a:r>
            <a:endParaRPr/>
          </a:p>
        </p:txBody>
      </p:sp>
      <p:sp>
        <p:nvSpPr>
          <p:cNvPr id="611" name="Google Shape;611;p1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Ready measurements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RQ1: measure discovery concentration.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RQ2: map provider leverage.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RQ3: test same winner overlap.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RQ4: compare label variability.</a:t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4846315" y="1417320"/>
            <a:ext cx="40692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What I need from you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1: priority RQs and venue fit.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2: recollect longitudinal, auth mode, or experiments?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6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400">
                <a:solidFill>
                  <a:srgbClr val="262626"/>
                </a:solidFill>
              </a:rPr>
              <a:t>Appendix: official Bluesky UI screens</a:t>
            </a:r>
            <a:endParaRPr/>
          </a:p>
        </p:txBody>
      </p:sp>
      <p:sp>
        <p:nvSpPr>
          <p:cNvPr id="619" name="Google Shape;619;p16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20" name="Google Shape;620;p16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Visual by Slidesgo">
  <a:themeElements>
    <a:clrScheme name="Simple Light">
      <a:dk1>
        <a:srgbClr val="262626"/>
      </a:dk1>
      <a:lt1>
        <a:srgbClr val="E1EAFF"/>
      </a:lt1>
      <a:dk2>
        <a:srgbClr val="4951E4"/>
      </a:dk2>
      <a:lt2>
        <a:srgbClr val="86E9C0"/>
      </a:lt2>
      <a:accent1>
        <a:srgbClr val="86E9C0"/>
      </a:accent1>
      <a:accent2>
        <a:srgbClr val="4951E4"/>
      </a:accent2>
      <a:accent3>
        <a:srgbClr val="929CF4"/>
      </a:accent3>
      <a:accent4>
        <a:srgbClr val="FFFFFF"/>
      </a:accent4>
      <a:accent5>
        <a:srgbClr val="FFFFFF"/>
      </a:accent5>
      <a:accent6>
        <a:srgbClr val="FFFFFF"/>
      </a:accent6>
      <a:hlink>
        <a:srgbClr val="2626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