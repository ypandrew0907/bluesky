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17"/>
    <p:sldId id="294" r:id="rId45"/>
    <p:sldId id="295" r:id="rId46"/>
    <p:sldId id="296" r:id="rId47"/>
    <p:sldId id="273" r:id="rId19"/>
    <p:sldId id="297" r:id="rId48"/>
    <p:sldId id="268" r:id="rId14"/>
    <p:sldId id="298" r:id="rId49"/>
    <p:sldId id="277" r:id="rId28"/>
    <p:sldId id="299" r:id="rId50"/>
    <p:sldId id="278" r:id="rId29"/>
    <p:sldId id="300" r:id="rId51"/>
    <p:sldId id="279" r:id="rId30"/>
    <p:sldId id="301" r:id="rId52"/>
    <p:sldId id="302" r:id="rId53"/>
    <p:sldId id="274" r:id="rId25"/>
    <p:sldId id="260" r:id="rId6"/>
    <p:sldId id="259" r:id="rId5"/>
    <p:sldId id="258" r:id="rId4"/>
    <p:sldId id="280" r:id="rId31"/>
    <p:sldId id="303" r:id="rId54"/>
    <p:sldId id="281" r:id="rId32"/>
    <p:sldId id="304" r:id="rId55"/>
    <p:sldId id="275" r:id="rId26"/>
    <p:sldId id="261" r:id="rId7"/>
    <p:sldId id="262" r:id="rId8"/>
    <p:sldId id="282" r:id="rId33"/>
    <p:sldId id="263" r:id="rId9"/>
    <p:sldId id="283" r:id="rId34"/>
    <p:sldId id="284" r:id="rId35"/>
    <p:sldId id="264" r:id="rId10"/>
    <p:sldId id="285" r:id="rId36"/>
    <p:sldId id="265" r:id="rId11"/>
    <p:sldId id="286" r:id="rId37"/>
    <p:sldId id="269" r:id="rId15"/>
    <p:sldId id="276" r:id="rId27"/>
    <p:sldId id="266" r:id="rId12"/>
    <p:sldId id="287" r:id="rId38"/>
    <p:sldId id="305" r:id="rId56"/>
    <p:sldId id="267" r:id="rId13"/>
    <p:sldId id="288" r:id="rId39"/>
    <p:sldId id="289" r:id="rId40"/>
    <p:sldId id="290" r:id="rId41"/>
    <p:sldId id="306" r:id="rId57"/>
    <p:sldId id="291" r:id="rId42"/>
    <p:sldId id="270" r:id="rId16"/>
    <p:sldId id="293" r:id="rId44"/>
    <p:sldId id="307" r:id="rId58"/>
    <p:sldId id="272" r:id="rId18"/>
    <p:sldId id="292" r:id="rId43"/>
    <p:sldId id="308" r:id="rId59"/>
    <p:sldId id="309" r:id="rId60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Collecting Bluesky Feed Data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step-by-step, read-only pipeline (with real run receipts)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Focus: discovery → panel → ranked impressions → posts/authors.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you should believe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pipeline is step-by-step and reproducible.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Each stage produces a concrete artifact (tables/keys).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dataset is joinable: panel → impressions → posts → authors.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We keep numbers minimal: just enough to establish “this is real”.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Pipeline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run turns public APIs into analysis-ready datasets.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Relay scan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Enumerate candidate actors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9476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 index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76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Hydrate feed generators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D9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Extract discovery signals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0684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4692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0684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 ranking surface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657600"/>
            <a:ext cx="310896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7160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1168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Enrich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42793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Fill missing metadata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3657600"/>
            <a:ext cx="310896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916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4924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09160" y="42793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Select feeds to snapshot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3657600"/>
            <a:ext cx="310896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4672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7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68680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Snapshot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46720" y="42793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Ranked posts + authors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0614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01218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61822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320540" y="41605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658100" y="41605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06984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↘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Next: we walk through each stage and show receipts from the real run.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07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530"/>
                            </p:stCondLst>
                            <p:childTnLst>
                              <p:par>
                                <p:cTn id="2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930"/>
                            </p:stCondLst>
                            <p:childTnLst>
                              <p:par>
                                <p:cTn id="26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39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2790"/>
                            </p:stCondLst>
                            <p:childTnLst>
                              <p:par>
                                <p:cTn id="28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3250"/>
                            </p:stCondLst>
                            <p:childTnLst>
                              <p:par>
                                <p:cTn id="2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3650"/>
                            </p:stCondLst>
                            <p:childTnLst>
                              <p:par>
                                <p:cTn id="30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4110"/>
                            </p:stCondLst>
                            <p:childTnLst>
                              <p:par>
                                <p:cTn id="3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4510"/>
                            </p:stCondLst>
                            <p:childTnLst>
                              <p:par>
                                <p:cTn id="32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4970"/>
                            </p:stCondLst>
                            <p:childTnLst>
                              <p:par>
                                <p:cTn id="3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370"/>
                            </p:stCondLst>
                            <p:childTnLst>
                              <p:par>
                                <p:cTn id="3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830"/>
                            </p:stCondLst>
                            <p:childTnLst>
                              <p:par>
                                <p:cTn id="3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6230"/>
                            </p:stCondLst>
                            <p:childTnLst>
                              <p:par>
                                <p:cTn id="37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Where requests go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Different hosts serve different slices of the protocol.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2011680" cy="1097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6E6E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30906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Collector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Relay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01752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Bulk enumeration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(actor DIDs)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AppView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Read APIs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(feeds, profiles)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FF5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5256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Session APIs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(auth context)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641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Most calls are AppView reads; Relay is for discovery; PDS is for auth.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2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42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82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How we talk to Bluesky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HTTP XRPC requests = host + method + parameters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1430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212140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https://public.api.bsky.app/xrpc/app.bsky.feed.getFeed?feed=at://…&amp;limit=50&amp;cursor=…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5486400" cy="23774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“Which service am I asking?”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AppView (public): feeds, posts, profiles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Relay: network index for enumeration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3337560"/>
            <a:ext cx="4800600" cy="23774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12280" y="3474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Method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12280" y="388620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stable API name describing what you fetch.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Example: app.bsky.feed.getFeed = “return a ranked feed view”.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(We keep slides non-code: method names are the “API surface”.)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Parameters control paging + filtering (e.g., feed URI, limit, cursor).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2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2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1 — Relay scan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enumerate candidate actors that publish a record type.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record type (collection)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e.g., app.bsky.feed.generator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 call: com.atproto.sync.listReposByCollection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com.atproto.sync.listReposByCollection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actor DIDs → candidates for hydration.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actor DIDs (candidates)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2 — Build a feed index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map each feed generator to metadata (creator, name, provider).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actor DID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APIs: app.bsky.feed.getActorFeeds + app.bsky.feed.getFeedGenerators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getActorFeeds + getFeedGenerators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feed_generators_index.csv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feed_generators_index.csv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3 — Starter packs (discovery)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observe discovery via starter-pack inclusions.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APIs: app.bsky.graph.getActorStarterPacks + getStarterPack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getActorStarterPacks + getStarterPack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starterpacks.csv + discovery_feed_inclusions.csv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starterpacks.csv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discovery_feed_inclusions.csv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4 — Popular feeds (ranking surface)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capture the platform’s “popular feed generators” list.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public AppView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API: app.bsky.unspecced.getPopularFeedGenerators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getPopularFeedGenerators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popular_feeds.csv (rank + time)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popular_feeds.csv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5 — Enrich missing metadata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batch hydrate missing feed metadata (provider balanced).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 URIs (missing metadata)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API: app.bsky.feed.getFeedGenerators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getFeedGenerators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enriched index + provider_stats.csv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feed_generators_index.csv (enriched)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provider_stats.csv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6 — Build the feed panel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choose a fixed set of feeds we will snapshot.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candidate pools (discovery + popular + long tail)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Rules: discovery surfaced + popular ranking + less-known sampling.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(selection rules)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feed_panel.csv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feed_panel.csv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Stage 7 — Snapshot each feed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Goal: fetch ranked items for each feed (unauth + auth when available).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 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 mode (unauth/auth)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API: app.bsky.feed.getFeed (paged until N posts)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getFeed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Output: ranked impressions + posts/authors tables.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feed_items.csv.gz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posts.csv.gz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authors.csv.gz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Click to reveal → (like writing on a board).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 leaves artifacts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We can point to concrete rows, not anecdotes.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5778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 → included feeds</a:t>
            </a:r>
            <a:endParaRPr lang="en-US" sz="2200" dirty="0"/>
          </a:p>
        </p:txBody>
      </p:sp>
      <p:pic>
        <p:nvPicPr>
          <p:cNvPr id="6" name="Image 0" descr="/tmp/bsky_pptx_receipts_20260201/starterpack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5029200" cy="1173480"/>
          </a:xfrm>
          <a:prstGeom prst="rect">
            <a:avLst/>
          </a:prstGeom>
        </p:spPr>
      </p:pic>
      <p:pic>
        <p:nvPicPr>
          <p:cNvPr id="7" name="Image 1" descr="/tmp/bsky_pptx_receipts_20260201/starterpack_inclusion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88080"/>
            <a:ext cx="5029200" cy="1005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1783080"/>
            <a:ext cx="475488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85800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 list (ranked)</a:t>
            </a:r>
            <a:endParaRPr lang="en-US" sz="2200" dirty="0"/>
          </a:p>
        </p:txBody>
      </p:sp>
      <p:pic>
        <p:nvPicPr>
          <p:cNvPr id="10" name="Image 2" descr="/tmp/bsky_pptx_receipts_20260201/popular_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31720"/>
            <a:ext cx="4206240" cy="9113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These are inputs to the panel selection rules.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stitched example (keys line up)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→ Impression → Post metadata → Author 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7920" y="18288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7920" y="43434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entry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Ranked impression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Post metadata (no text)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Author profile</a:t>
            </a:r>
            <a:endParaRPr lang="en-US" sz="1800" dirty="0"/>
          </a:p>
        </p:txBody>
      </p:sp>
      <p:pic>
        <p:nvPicPr>
          <p:cNvPr id="12" name="Image 0" descr="/tmp/bsky_pptx_receipts_20260201/panel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4663440" cy="1165860"/>
          </a:xfrm>
          <a:prstGeom prst="rect">
            <a:avLst/>
          </a:prstGeom>
        </p:spPr>
      </p:pic>
      <p:pic>
        <p:nvPicPr>
          <p:cNvPr id="13" name="Image 1" descr="/tmp/bsky_pptx_receipts_20260201/impression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663440" cy="1165860"/>
          </a:xfrm>
          <a:prstGeom prst="rect">
            <a:avLst/>
          </a:prstGeom>
        </p:spPr>
      </p:pic>
      <p:pic>
        <p:nvPicPr>
          <p:cNvPr id="14" name="Image 2" descr="/tmp/bsky_pptx_receipts_20260201/post_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46320"/>
            <a:ext cx="4663440" cy="1132550"/>
          </a:xfrm>
          <a:prstGeom prst="rect">
            <a:avLst/>
          </a:prstGeom>
        </p:spPr>
      </p:pic>
      <p:pic>
        <p:nvPicPr>
          <p:cNvPr id="15" name="Image 3" descr="/tmp/bsky_pptx_receipts_20260201/author_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846320"/>
            <a:ext cx="4663440" cy="10881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2900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↓</a:t>
            </a:r>
            <a:endParaRPr lang="en-US" sz="3400" dirty="0"/>
          </a:p>
        </p:txBody>
      </p:sp>
      <p:sp>
        <p:nvSpPr>
          <p:cNvPr id="17" name="Text 11"/>
          <p:cNvSpPr/>
          <p:nvPr/>
        </p:nvSpPr>
        <p:spPr>
          <a:xfrm>
            <a:off x="882396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↓</a:t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Reproducible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tiny “trust stamp”: manifest + data dictionary.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manifest.csv (hash list)</a:t>
            </a:r>
            <a:endParaRPr lang="en-US" sz="2000" dirty="0"/>
          </a:p>
        </p:txBody>
      </p:sp>
      <p:pic>
        <p:nvPicPr>
          <p:cNvPr id="6" name="Image 0" descr="/tmp/bsky_pptx_receipts_20260201/manifest_excer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23160"/>
            <a:ext cx="4663440" cy="866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828800"/>
            <a:ext cx="51206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4652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data_dictionary.csv (column meanings)</a:t>
            </a:r>
            <a:endParaRPr lang="en-US" sz="2000" dirty="0"/>
          </a:p>
        </p:txBody>
      </p:sp>
      <p:pic>
        <p:nvPicPr>
          <p:cNvPr id="9" name="Image 1" descr="/tmp/bsky_pptx_receipts_20260201/data_dictionary_excer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23160"/>
            <a:ext cx="4663440" cy="999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the collected data lets us ask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Fairness-style questions about discovery, exposure, and safety signals.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156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H1  Discovery concentration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 a few feeds dominate starter-pack inclusion?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1772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H2  Provider leverage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Which hosting providers get the most exposure?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388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H3  Exposure concentration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How concentrated are ranked impressions?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H4  Feed overlap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How similar are feeds in what they show?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342900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17720" y="3611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H5  Exposure vs author size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 larger authors get outsized exposure?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End.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47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92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37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82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you should believe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pipeline is step-by-step and reproducible.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Each stage produces a concrete artifact (tables/keys).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dataset is joinable: panel → impressions → posts → authors.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We keep numbers minimal: just enough to establish “this is real”.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you should believe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pipeline is step-by-step and reproducible.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Each stage produces a concrete artifact (tables/keys).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dataset is joinable: panel → impressions → posts → authors.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We keep numbers minimal: just enough to establish “this is real”.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you should believe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pipeline is step-by-step and reproducible.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Each stage produces a concrete artifact (tables/keys).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The dataset is joinable: panel → impressions → posts → authors.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We keep numbers minimal: just enough to establish “this is real”.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~601k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(example: one row from the index)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 leaves artifacts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We can point to concrete rows, not anecdotes.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5778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 → included feeds</a:t>
            </a:r>
            <a:endParaRPr lang="en-US" sz="2200" dirty="0"/>
          </a:p>
        </p:txBody>
      </p:sp>
      <p:pic>
        <p:nvPicPr>
          <p:cNvPr id="6" name="Image 0" descr="/tmp/bsky_pptx_receipts_20260201/starterpack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5029200" cy="1173480"/>
          </a:xfrm>
          <a:prstGeom prst="rect">
            <a:avLst/>
          </a:prstGeom>
        </p:spPr>
      </p:pic>
      <p:pic>
        <p:nvPicPr>
          <p:cNvPr id="7" name="Image 1" descr="/tmp/bsky_pptx_receipts_20260201/starterpack_inclusion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88080"/>
            <a:ext cx="5029200" cy="1005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1783080"/>
            <a:ext cx="475488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85800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 list (ranked)</a:t>
            </a:r>
            <a:endParaRPr lang="en-US" sz="2200" dirty="0"/>
          </a:p>
        </p:txBody>
      </p:sp>
      <p:pic>
        <p:nvPicPr>
          <p:cNvPr id="10" name="Image 2" descr="/tmp/bsky_pptx_receipts_20260201/popular_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31720"/>
            <a:ext cx="4206240" cy="9113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These are inputs to the panel selection rules.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stitched example (keys line up)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→ Impression → Post metadata → Author 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7920" y="18288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7920" y="43434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entry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Ranked impression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Post metadata (no text)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Author profile</a:t>
            </a:r>
            <a:endParaRPr lang="en-US" sz="1800" dirty="0"/>
          </a:p>
        </p:txBody>
      </p:sp>
      <p:pic>
        <p:nvPicPr>
          <p:cNvPr id="12" name="Image 0" descr="/tmp/bsky_pptx_receipts_20260201/panel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4663440" cy="1165860"/>
          </a:xfrm>
          <a:prstGeom prst="rect">
            <a:avLst/>
          </a:prstGeom>
        </p:spPr>
      </p:pic>
      <p:pic>
        <p:nvPicPr>
          <p:cNvPr id="13" name="Image 1" descr="/tmp/bsky_pptx_receipts_20260201/impression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663440" cy="1165860"/>
          </a:xfrm>
          <a:prstGeom prst="rect">
            <a:avLst/>
          </a:prstGeom>
        </p:spPr>
      </p:pic>
      <p:pic>
        <p:nvPicPr>
          <p:cNvPr id="14" name="Image 2" descr="/tmp/bsky_pptx_receipts_20260201/post_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46320"/>
            <a:ext cx="4663440" cy="1132550"/>
          </a:xfrm>
          <a:prstGeom prst="rect">
            <a:avLst/>
          </a:prstGeom>
        </p:spPr>
      </p:pic>
      <p:pic>
        <p:nvPicPr>
          <p:cNvPr id="15" name="Image 3" descr="/tmp/bsky_pptx_receipts_20260201/author_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846320"/>
            <a:ext cx="4663440" cy="10881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2900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↓</a:t>
            </a:r>
            <a:endParaRPr lang="en-US" sz="3400" dirty="0"/>
          </a:p>
        </p:txBody>
      </p:sp>
      <p:sp>
        <p:nvSpPr>
          <p:cNvPr id="17" name="Text 11"/>
          <p:cNvSpPr/>
          <p:nvPr/>
        </p:nvSpPr>
        <p:spPr>
          <a:xfrm>
            <a:off x="882396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↓</a:t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Resumability + outputs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One canonical state DB, deterministic exports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SQLite is the single source of truth for the entire run.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It stores discovered feeds, the panel, every snapshot, posts, labels, and authors — so we can resume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Cursor checkpoints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Idempotent writes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 snapshot is reproducible,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auditable, and easy to analyze.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Exports → analysis-ready CSVs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index (catalog)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starter-pack inclusions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ranking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snapshots (impressions + posts + labels)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authors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halkboard S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halkboard S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BlueSky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Collecting Bluesky feed data (blackboard animated)</dc:title>
  <dc:subject>Bluesky data collection pipeline</dc:subject>
  <dc:creator>BlueSky</dc:creator>
  <cp:lastModifiedBy>BlueSky</cp:lastModifiedBy>
  <cp:revision>1</cp:revision>
  <dcterms:created xsi:type="dcterms:W3CDTF">2026-02-04T07:23:47Z</dcterms:created>
  <dcterms:modified xsi:type="dcterms:W3CDTF">2026-02-04T07:23:47Z</dcterms:modified>
</cp:coreProperties>
</file>