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5143500" cx="9144000"/>
  <p:notesSz cx="6858000" cy="9144000"/>
  <p:embeddedFontLst>
    <p:embeddedFont>
      <p:font typeface="Raleway"/>
      <p:regular r:id="rId39"/>
      <p:bold r:id="rId40"/>
      <p:italic r:id="rId41"/>
      <p:boldItalic r:id="rId42"/>
    </p:embeddedFont>
    <p:embeddedFont>
      <p:font typeface="Kedebideri SemiBold"/>
      <p:regular r:id="rId43"/>
      <p:bold r:id="rId44"/>
    </p:embeddedFont>
    <p:embeddedFont>
      <p:font typeface="Stack Sans Notch Medium"/>
      <p:regular r:id="rId45"/>
      <p:bold r:id="rId46"/>
    </p:embeddedFont>
    <p:embeddedFont>
      <p:font typeface="Raleway Medium"/>
      <p:regular r:id="rId47"/>
      <p:bold r:id="rId48"/>
      <p:italic r:id="rId49"/>
      <p:boldItalic r:id="rId50"/>
    </p:embeddedFont>
    <p:embeddedFont>
      <p:font typeface="Kedebideri"/>
      <p:regular r:id="rId51"/>
      <p:bold r:id="rId52"/>
    </p:embeddedFont>
    <p:embeddedFont>
      <p:font typeface="Kedebideri ExtraBold"/>
      <p:bold r:id="rId53"/>
    </p:embeddedFont>
    <p:embeddedFont>
      <p:font typeface="Stack Sans Notch Light"/>
      <p:regular r:id="rId54"/>
      <p:bold r:id="rId55"/>
    </p:embeddedFont>
    <p:embeddedFont>
      <p:font typeface="Open Sans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0" roundtripDataSignature="AMtx7miX744wfujY8jBioN1FfWaQ9V3C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font" Target="fonts/Raleway-regular.fntdata"/><Relationship Id="rId40" Type="http://schemas.openxmlformats.org/officeDocument/2006/relationships/font" Target="fonts/Raleway-bold.fntdata"/><Relationship Id="rId41" Type="http://schemas.openxmlformats.org/officeDocument/2006/relationships/font" Target="fonts/Raleway-italic.fntdata"/><Relationship Id="rId42" Type="http://schemas.openxmlformats.org/officeDocument/2006/relationships/font" Target="fonts/Raleway-boldItalic.fntdata"/><Relationship Id="rId43" Type="http://schemas.openxmlformats.org/officeDocument/2006/relationships/font" Target="fonts/KedebideriSemiBold-regular.fntdata"/><Relationship Id="rId44" Type="http://schemas.openxmlformats.org/officeDocument/2006/relationships/font" Target="fonts/KedebideriSemiBold-bold.fntdata"/><Relationship Id="rId45" Type="http://schemas.openxmlformats.org/officeDocument/2006/relationships/font" Target="fonts/StackSansNotchMedium-regular.fntdata"/><Relationship Id="rId46" Type="http://schemas.openxmlformats.org/officeDocument/2006/relationships/font" Target="fonts/StackSansNotchMedium-bold.fntdata"/><Relationship Id="rId47" Type="http://schemas.openxmlformats.org/officeDocument/2006/relationships/font" Target="fonts/RalewayMedium-regular.fntdata"/><Relationship Id="rId48" Type="http://schemas.openxmlformats.org/officeDocument/2006/relationships/font" Target="fonts/RalewayMedium-bold.fntdata"/><Relationship Id="rId49" Type="http://schemas.openxmlformats.org/officeDocument/2006/relationships/font" Target="fonts/RalewayMedium-italic.fntdata"/><Relationship Id="rId50" Type="http://schemas.openxmlformats.org/officeDocument/2006/relationships/font" Target="fonts/RalewayMedium-boldItalic.fntdata"/><Relationship Id="rId51" Type="http://schemas.openxmlformats.org/officeDocument/2006/relationships/font" Target="fonts/Kedebideri-regular.fntdata"/><Relationship Id="rId52" Type="http://schemas.openxmlformats.org/officeDocument/2006/relationships/font" Target="fonts/Kedebideri-bold.fntdata"/><Relationship Id="rId53" Type="http://schemas.openxmlformats.org/officeDocument/2006/relationships/font" Target="fonts/KedebideriExtraBold-bold.fntdata"/><Relationship Id="rId54" Type="http://schemas.openxmlformats.org/officeDocument/2006/relationships/font" Target="fonts/StackSansNotchLight-regular.fntdata"/><Relationship Id="rId55" Type="http://schemas.openxmlformats.org/officeDocument/2006/relationships/font" Target="fonts/StackSansNotchLight-bold.fntdata"/><Relationship Id="rId56" Type="http://schemas.openxmlformats.org/officeDocument/2006/relationships/font" Target="fonts/OpenSans-regular.fntdata"/><Relationship Id="rId57" Type="http://schemas.openxmlformats.org/officeDocument/2006/relationships/font" Target="fonts/OpenSans-bold.fntdata"/><Relationship Id="rId58" Type="http://schemas.openxmlformats.org/officeDocument/2006/relationships/font" Target="fonts/OpenSans-italic.fntdata"/><Relationship Id="rId59" Type="http://schemas.openxmlformats.org/officeDocument/2006/relationships/font" Target="fonts/OpenSans-boldItalic.fntdata"/><Relationship Id="rId6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c68144bd4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c68144bd4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c68144bd4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c68144bd4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c68144bd4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c68144bd4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c68144bd4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c68144bd4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c68144bd4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c68144bd4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c68144bd4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c68144bd4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c68144bd4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c68144bd4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c68144bd4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c68144bd4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68144bd4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c68144bd4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c68144bd4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c68144bd4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c68144bd4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c68144bd4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c68144bd4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c68144bd4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6" title="BG_111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6"/>
          <p:cNvSpPr txBox="1"/>
          <p:nvPr>
            <p:ph type="ctrTitle"/>
          </p:nvPr>
        </p:nvSpPr>
        <p:spPr>
          <a:xfrm>
            <a:off x="1326300" y="1587600"/>
            <a:ext cx="4702800" cy="19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" type="subTitle"/>
          </p:nvPr>
        </p:nvSpPr>
        <p:spPr>
          <a:xfrm>
            <a:off x="6900875" y="3933700"/>
            <a:ext cx="16974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4"/>
                </a:solidFill>
                <a:latin typeface="Kedebideri SemiBold"/>
                <a:ea typeface="Kedebideri SemiBold"/>
                <a:cs typeface="Kedebideri SemiBold"/>
                <a:sym typeface="Kedebideri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7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7"/>
          <p:cNvSpPr txBox="1"/>
          <p:nvPr>
            <p:ph type="title"/>
          </p:nvPr>
        </p:nvSpPr>
        <p:spPr>
          <a:xfrm>
            <a:off x="457200" y="1126050"/>
            <a:ext cx="3998400" cy="13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5" name="Google Shape;15;p27"/>
          <p:cNvSpPr txBox="1"/>
          <p:nvPr>
            <p:ph idx="1" type="body"/>
          </p:nvPr>
        </p:nvSpPr>
        <p:spPr>
          <a:xfrm>
            <a:off x="1016100" y="2438575"/>
            <a:ext cx="4045500" cy="22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7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8" title="BG_2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8"/>
          <p:cNvSpPr txBox="1"/>
          <p:nvPr>
            <p:ph type="title"/>
          </p:nvPr>
        </p:nvSpPr>
        <p:spPr>
          <a:xfrm>
            <a:off x="457200" y="1307125"/>
            <a:ext cx="82296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" type="subTitle"/>
          </p:nvPr>
        </p:nvSpPr>
        <p:spPr>
          <a:xfrm>
            <a:off x="1362775" y="2348550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" name="Google Shape;21;p28"/>
          <p:cNvSpPr txBox="1"/>
          <p:nvPr>
            <p:ph idx="2" type="subTitle"/>
          </p:nvPr>
        </p:nvSpPr>
        <p:spPr>
          <a:xfrm>
            <a:off x="1724580" y="2918558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28"/>
          <p:cNvSpPr txBox="1"/>
          <p:nvPr>
            <p:ph idx="3" type="subTitle"/>
          </p:nvPr>
        </p:nvSpPr>
        <p:spPr>
          <a:xfrm>
            <a:off x="2086396" y="3488567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" name="Google Shape;23;p28"/>
          <p:cNvSpPr txBox="1"/>
          <p:nvPr>
            <p:ph idx="4" type="subTitle"/>
          </p:nvPr>
        </p:nvSpPr>
        <p:spPr>
          <a:xfrm>
            <a:off x="2448211" y="4058575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" name="Google Shape;24;p28"/>
          <p:cNvSpPr txBox="1"/>
          <p:nvPr>
            <p:ph idx="5" type="subTitle"/>
          </p:nvPr>
        </p:nvSpPr>
        <p:spPr>
          <a:xfrm>
            <a:off x="5107125" y="2348550"/>
            <a:ext cx="27045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" name="Google Shape;25;p28"/>
          <p:cNvSpPr txBox="1"/>
          <p:nvPr>
            <p:ph idx="6" type="subTitle"/>
          </p:nvPr>
        </p:nvSpPr>
        <p:spPr>
          <a:xfrm>
            <a:off x="5475145" y="2918558"/>
            <a:ext cx="27045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" name="Google Shape;26;p28"/>
          <p:cNvSpPr txBox="1"/>
          <p:nvPr>
            <p:ph idx="7" type="subTitle"/>
          </p:nvPr>
        </p:nvSpPr>
        <p:spPr>
          <a:xfrm>
            <a:off x="5843165" y="3488566"/>
            <a:ext cx="27045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" name="Google Shape;27;p28"/>
          <p:cNvSpPr txBox="1"/>
          <p:nvPr>
            <p:ph idx="8" type="subTitle"/>
          </p:nvPr>
        </p:nvSpPr>
        <p:spPr>
          <a:xfrm>
            <a:off x="6211185" y="4058574"/>
            <a:ext cx="27045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8" name="Google Shape;28;p28"/>
          <p:cNvSpPr txBox="1"/>
          <p:nvPr>
            <p:ph idx="9" type="title"/>
          </p:nvPr>
        </p:nvSpPr>
        <p:spPr>
          <a:xfrm>
            <a:off x="1587966" y="4082388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" name="Google Shape;29;p28"/>
          <p:cNvSpPr txBox="1"/>
          <p:nvPr>
            <p:ph idx="13" type="title"/>
          </p:nvPr>
        </p:nvSpPr>
        <p:spPr>
          <a:xfrm>
            <a:off x="825966" y="2942171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28"/>
          <p:cNvSpPr txBox="1"/>
          <p:nvPr>
            <p:ph idx="14" type="title"/>
          </p:nvPr>
        </p:nvSpPr>
        <p:spPr>
          <a:xfrm>
            <a:off x="445794" y="2372363"/>
            <a:ext cx="86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1" name="Google Shape;31;p28"/>
          <p:cNvSpPr txBox="1"/>
          <p:nvPr>
            <p:ph idx="15" type="title"/>
          </p:nvPr>
        </p:nvSpPr>
        <p:spPr>
          <a:xfrm>
            <a:off x="1206966" y="3512279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32" name="Google Shape;32;p28"/>
          <p:cNvSpPr txBox="1"/>
          <p:nvPr>
            <p:ph idx="16" type="title"/>
          </p:nvPr>
        </p:nvSpPr>
        <p:spPr>
          <a:xfrm>
            <a:off x="4583003" y="2942369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" name="Google Shape;33;p28"/>
          <p:cNvSpPr txBox="1"/>
          <p:nvPr>
            <p:ph idx="17" type="title"/>
          </p:nvPr>
        </p:nvSpPr>
        <p:spPr>
          <a:xfrm>
            <a:off x="4964002" y="3512375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" name="Google Shape;34;p28"/>
          <p:cNvSpPr txBox="1"/>
          <p:nvPr>
            <p:ph idx="18" type="title"/>
          </p:nvPr>
        </p:nvSpPr>
        <p:spPr>
          <a:xfrm>
            <a:off x="5345004" y="4082381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28"/>
          <p:cNvSpPr txBox="1"/>
          <p:nvPr>
            <p:ph idx="19" type="title"/>
          </p:nvPr>
        </p:nvSpPr>
        <p:spPr>
          <a:xfrm>
            <a:off x="4202003" y="2372363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29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9"/>
          <p:cNvSpPr txBox="1"/>
          <p:nvPr>
            <p:ph type="title"/>
          </p:nvPr>
        </p:nvSpPr>
        <p:spPr>
          <a:xfrm>
            <a:off x="457200" y="228600"/>
            <a:ext cx="41319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30" title="BG_2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1" y="2225"/>
            <a:ext cx="9144028" cy="5139051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0"/>
          <p:cNvSpPr txBox="1"/>
          <p:nvPr>
            <p:ph type="title"/>
          </p:nvPr>
        </p:nvSpPr>
        <p:spPr>
          <a:xfrm>
            <a:off x="1386575" y="1337225"/>
            <a:ext cx="35418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subTitle"/>
          </p:nvPr>
        </p:nvSpPr>
        <p:spPr>
          <a:xfrm>
            <a:off x="3234325" y="3108700"/>
            <a:ext cx="5452500" cy="18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31" title="BG_3_Data-visual.jpg"/>
          <p:cNvPicPr preferRelativeResize="0"/>
          <p:nvPr/>
        </p:nvPicPr>
        <p:blipFill rotWithShape="1">
          <a:blip r:embed="rId2">
            <a:alphaModFix/>
          </a:blip>
          <a:srcRect b="347" l="0" r="0" t="347"/>
          <a:stretch/>
        </p:blipFill>
        <p:spPr>
          <a:xfrm flipH="1">
            <a:off x="-282600" y="-137625"/>
            <a:ext cx="9505951" cy="530532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1"/>
          <p:cNvSpPr txBox="1"/>
          <p:nvPr>
            <p:ph type="title"/>
          </p:nvPr>
        </p:nvSpPr>
        <p:spPr>
          <a:xfrm>
            <a:off x="5086975" y="1736775"/>
            <a:ext cx="3828300" cy="16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31"/>
          <p:cNvSpPr txBox="1"/>
          <p:nvPr>
            <p:ph idx="2" type="title"/>
          </p:nvPr>
        </p:nvSpPr>
        <p:spPr>
          <a:xfrm>
            <a:off x="1326300" y="1862778"/>
            <a:ext cx="1489800" cy="14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32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2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0" name="Google Shape;50;p32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3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3"/>
          <p:cNvSpPr txBox="1"/>
          <p:nvPr>
            <p:ph idx="1" type="subTitle"/>
          </p:nvPr>
        </p:nvSpPr>
        <p:spPr>
          <a:xfrm>
            <a:off x="4669103" y="1041750"/>
            <a:ext cx="394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" name="Google Shape;54;p33"/>
          <p:cNvSpPr txBox="1"/>
          <p:nvPr>
            <p:ph idx="2" type="subTitle"/>
          </p:nvPr>
        </p:nvSpPr>
        <p:spPr>
          <a:xfrm>
            <a:off x="4669103" y="2852326"/>
            <a:ext cx="394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" name="Google Shape;55;p33"/>
          <p:cNvSpPr txBox="1"/>
          <p:nvPr>
            <p:ph idx="3" type="subTitle"/>
          </p:nvPr>
        </p:nvSpPr>
        <p:spPr>
          <a:xfrm>
            <a:off x="4669103" y="1614448"/>
            <a:ext cx="3941400" cy="11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4" type="subTitle"/>
          </p:nvPr>
        </p:nvSpPr>
        <p:spPr>
          <a:xfrm>
            <a:off x="4669103" y="3425025"/>
            <a:ext cx="3941400" cy="11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34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4"/>
          <p:cNvSpPr txBox="1"/>
          <p:nvPr>
            <p:ph type="title"/>
          </p:nvPr>
        </p:nvSpPr>
        <p:spPr>
          <a:xfrm>
            <a:off x="457200" y="2286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35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5"/>
          <p:cNvSpPr txBox="1"/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64" name="Google Shape;64;p35"/>
          <p:cNvSpPr txBox="1"/>
          <p:nvPr>
            <p:ph idx="1" type="body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35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36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6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37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7"/>
          <p:cNvSpPr txBox="1"/>
          <p:nvPr>
            <p:ph idx="1" type="subTitle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2" type="subTitle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38"/>
          <p:cNvSpPr txBox="1"/>
          <p:nvPr>
            <p:ph type="title"/>
          </p:nvPr>
        </p:nvSpPr>
        <p:spPr>
          <a:xfrm>
            <a:off x="5230250" y="3673925"/>
            <a:ext cx="3456600" cy="99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39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9"/>
          <p:cNvSpPr txBox="1"/>
          <p:nvPr>
            <p:ph hasCustomPrompt="1" type="title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0" name="Google Shape;80;p39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41" title="BG_2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1"/>
          <p:cNvSpPr txBox="1"/>
          <p:nvPr>
            <p:ph type="title"/>
          </p:nvPr>
        </p:nvSpPr>
        <p:spPr>
          <a:xfrm>
            <a:off x="4541700" y="925525"/>
            <a:ext cx="41451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5" name="Google Shape;85;p41"/>
          <p:cNvSpPr txBox="1"/>
          <p:nvPr>
            <p:ph idx="1" type="subTitle"/>
          </p:nvPr>
        </p:nvSpPr>
        <p:spPr>
          <a:xfrm>
            <a:off x="457200" y="1090584"/>
            <a:ext cx="2803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1"/>
          <p:cNvSpPr txBox="1"/>
          <p:nvPr>
            <p:ph idx="2" type="title"/>
          </p:nvPr>
        </p:nvSpPr>
        <p:spPr>
          <a:xfrm>
            <a:off x="4541700" y="3082109"/>
            <a:ext cx="41451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7" name="Google Shape;87;p41"/>
          <p:cNvSpPr txBox="1"/>
          <p:nvPr>
            <p:ph idx="3" type="subTitle"/>
          </p:nvPr>
        </p:nvSpPr>
        <p:spPr>
          <a:xfrm>
            <a:off x="457200" y="3231511"/>
            <a:ext cx="2803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1"/>
          <p:cNvSpPr txBox="1"/>
          <p:nvPr>
            <p:ph idx="4" type="title"/>
          </p:nvPr>
        </p:nvSpPr>
        <p:spPr>
          <a:xfrm>
            <a:off x="4541700" y="2003817"/>
            <a:ext cx="41451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9" name="Google Shape;89;p41"/>
          <p:cNvSpPr txBox="1"/>
          <p:nvPr>
            <p:ph idx="5" type="subTitle"/>
          </p:nvPr>
        </p:nvSpPr>
        <p:spPr>
          <a:xfrm>
            <a:off x="457200" y="2161047"/>
            <a:ext cx="2803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1"/>
          <p:cNvSpPr txBox="1"/>
          <p:nvPr>
            <p:ph idx="6" type="title"/>
          </p:nvPr>
        </p:nvSpPr>
        <p:spPr>
          <a:xfrm>
            <a:off x="4541700" y="4160401"/>
            <a:ext cx="41451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91" name="Google Shape;91;p41"/>
          <p:cNvSpPr txBox="1"/>
          <p:nvPr>
            <p:ph idx="7" type="subTitle"/>
          </p:nvPr>
        </p:nvSpPr>
        <p:spPr>
          <a:xfrm>
            <a:off x="457200" y="4301974"/>
            <a:ext cx="2803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1"/>
          <p:cNvSpPr txBox="1"/>
          <p:nvPr>
            <p:ph idx="8" type="title"/>
          </p:nvPr>
        </p:nvSpPr>
        <p:spPr>
          <a:xfrm>
            <a:off x="457200" y="228600"/>
            <a:ext cx="70044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42" title="BG_5_Data-visual.jpg"/>
          <p:cNvPicPr preferRelativeResize="0"/>
          <p:nvPr/>
        </p:nvPicPr>
        <p:blipFill rotWithShape="1">
          <a:blip r:embed="rId2">
            <a:alphaModFix/>
          </a:blip>
          <a:srcRect b="0" l="39" r="49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2"/>
          <p:cNvSpPr txBox="1"/>
          <p:nvPr>
            <p:ph type="title"/>
          </p:nvPr>
        </p:nvSpPr>
        <p:spPr>
          <a:xfrm>
            <a:off x="661200" y="298700"/>
            <a:ext cx="3742800" cy="247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96" name="Google Shape;96;p42"/>
          <p:cNvSpPr txBox="1"/>
          <p:nvPr>
            <p:ph idx="1" type="subTitle"/>
          </p:nvPr>
        </p:nvSpPr>
        <p:spPr>
          <a:xfrm>
            <a:off x="5763000" y="2867058"/>
            <a:ext cx="31527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2"/>
          <p:cNvSpPr txBox="1"/>
          <p:nvPr/>
        </p:nvSpPr>
        <p:spPr>
          <a:xfrm>
            <a:off x="5763000" y="4120830"/>
            <a:ext cx="28410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b="0" i="0" lang="en-US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i="0" lang="en-US" sz="1000" u="none" cap="none" strike="noStrike">
                <a:solidFill>
                  <a:schemeClr val="lt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-US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b="1" i="0" lang="en-US" sz="1000" u="none" cap="none" strike="noStrike">
                <a:solidFill>
                  <a:schemeClr val="lt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-US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i="0" sz="1000" u="sng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3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4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4" title="BG_2_Data-visual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2225"/>
            <a:ext cx="9144028" cy="513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tack Sans Notch Light"/>
              <a:buNone/>
              <a:defRPr b="0" i="0" sz="2600" u="none" cap="none" strike="noStrike">
                <a:solidFill>
                  <a:schemeClr val="dk1"/>
                </a:solidFill>
                <a:latin typeface="Stack Sans Notch Light"/>
                <a:ea typeface="Stack Sans Notch Light"/>
                <a:cs typeface="Stack Sans Notch Light"/>
                <a:sym typeface="Stack Sans Notch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●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○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■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●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○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■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●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○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■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44">
          <p15:clr>
            <a:srgbClr val="EA4335"/>
          </p15:clr>
        </p15:guide>
        <p15:guide id="2" orient="horz" pos="3096">
          <p15:clr>
            <a:srgbClr val="EA4335"/>
          </p15:clr>
        </p15:guide>
        <p15:guide id="3" pos="144">
          <p15:clr>
            <a:srgbClr val="EA4335"/>
          </p15:clr>
        </p15:guide>
        <p15:guide id="4" pos="5616">
          <p15:clr>
            <a:srgbClr val="EA4335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/>
          <p:nvPr>
            <p:ph type="ctrTitle"/>
          </p:nvPr>
        </p:nvSpPr>
        <p:spPr>
          <a:xfrm>
            <a:off x="1326300" y="1587600"/>
            <a:ext cx="4702800" cy="19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0" lang="en-US" sz="5400">
                <a:solidFill>
                  <a:srgbClr val="FFFFFF"/>
                </a:solidFill>
              </a:rPr>
              <a:t>Algorithmic choice relocates power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08" name="Google Shape;108;p1"/>
          <p:cNvSpPr txBox="1"/>
          <p:nvPr>
            <p:ph idx="1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100">
                <a:solidFill>
                  <a:srgbClr val="FFFFFF"/>
                </a:solidFill>
              </a:rPr>
              <a:t>BLUESKY RQs + DATA</a:t>
            </a:r>
            <a:endParaRPr sz="800">
              <a:solidFill>
                <a:schemeClr val="accent4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09" name="Google Shape;109;p1"/>
          <p:cNvSpPr txBox="1"/>
          <p:nvPr>
            <p:ph idx="1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100">
                <a:solidFill>
                  <a:srgbClr val="FFFFFF"/>
                </a:solidFill>
              </a:rPr>
              <a:t>FEB 2026</a:t>
            </a:r>
            <a:endParaRPr sz="800">
              <a:solidFill>
                <a:schemeClr val="accent4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6720840" y="502920"/>
            <a:ext cx="1920240" cy="50292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</a:rPr>
              <a:t>In data collection phase…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System framing: pluggable services, new chokepoints</a:t>
            </a:r>
            <a:endParaRPr/>
          </a:p>
        </p:txBody>
      </p:sp>
      <p:sp>
        <p:nvSpPr>
          <p:cNvPr id="116" name="Google Shape;116;p2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502982" y="1307183"/>
            <a:ext cx="85038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modular services relocate concentration.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594360" y="1965960"/>
            <a:ext cx="132588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viewer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2148840" y="1965960"/>
            <a:ext cx="169164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discovery surfaces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4069080" y="1965960"/>
            <a:ext cx="141732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feed generators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5715000" y="1965960"/>
            <a:ext cx="150876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provider hosting</a:t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7452360" y="1965960"/>
            <a:ext cx="141732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exposure outcomes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4640580" y="2926080"/>
            <a:ext cx="196596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labelers</a:t>
            </a:r>
            <a:endParaRPr/>
          </a:p>
        </p:txBody>
      </p:sp>
      <p:cxnSp>
        <p:nvCxnSpPr>
          <p:cNvPr id="124" name="Google Shape;124;p2"/>
          <p:cNvCxnSpPr/>
          <p:nvPr/>
        </p:nvCxnSpPr>
        <p:spPr>
          <a:xfrm>
            <a:off x="1920240" y="2276856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25" name="Google Shape;125;p2"/>
          <p:cNvCxnSpPr/>
          <p:nvPr/>
        </p:nvCxnSpPr>
        <p:spPr>
          <a:xfrm>
            <a:off x="3840480" y="2276856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26" name="Google Shape;126;p2"/>
          <p:cNvCxnSpPr/>
          <p:nvPr/>
        </p:nvCxnSpPr>
        <p:spPr>
          <a:xfrm>
            <a:off x="5486400" y="2276856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27" name="Google Shape;127;p2"/>
          <p:cNvCxnSpPr/>
          <p:nvPr/>
        </p:nvCxnSpPr>
        <p:spPr>
          <a:xfrm>
            <a:off x="7223760" y="2276856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28" name="Google Shape;128;p2"/>
          <p:cNvCxnSpPr/>
          <p:nvPr/>
        </p:nvCxnSpPr>
        <p:spPr>
          <a:xfrm>
            <a:off x="4777740" y="2587752"/>
            <a:ext cx="845820" cy="338328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29" name="Google Shape;129;p2"/>
          <p:cNvSpPr txBox="1"/>
          <p:nvPr/>
        </p:nvSpPr>
        <p:spPr>
          <a:xfrm>
            <a:off x="502920" y="4251960"/>
            <a:ext cx="85038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Discovery surfaces and provider hosting are key ch</a:t>
            </a:r>
            <a:r>
              <a:rPr lang="en-US" sz="1425">
                <a:solidFill>
                  <a:srgbClr val="4B5563"/>
                </a:solidFill>
              </a:rPr>
              <a:t>e</a:t>
            </a: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kepoints.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feed marketplace (/feeds)</a:t>
            </a:r>
            <a:endParaRPr/>
          </a:p>
        </p:txBody>
      </p:sp>
      <p:sp>
        <p:nvSpPr>
          <p:cNvPr id="135" name="Google Shape;135;p3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feeds are discoverable + selectable algorithmic timelines.</a:t>
            </a:r>
            <a:endParaRPr/>
          </a:p>
        </p:txBody>
      </p:sp>
      <p:cxnSp>
        <p:nvCxnSpPr>
          <p:cNvPr id="137" name="Google Shape;137;p3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38" name="Google Shape;138;p3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sky_raw_feeds.png" id="139" name="Google Shape;13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/feeds directory</a:t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Search feeds</a:t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Feed cards</a:t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Creator + likes</a:t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Trending widget</a:t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Defaults matter</a:t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Discovery risk</a:t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3809999" y="1702190"/>
            <a:ext cx="3429914" cy="33528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3809999" y="2243796"/>
            <a:ext cx="3429914" cy="1929326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7199197" y="1636540"/>
            <a:ext cx="1327800" cy="786600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3590543" y="1738766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3590543" y="2280372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7239929" y="1463041"/>
            <a:ext cx="274200" cy="27420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153" name="Google Shape;153;p3"/>
          <p:cNvCxnSpPr/>
          <p:nvPr/>
        </p:nvCxnSpPr>
        <p:spPr>
          <a:xfrm flipH="1" rot="10800000">
            <a:off x="3246120" y="1869830"/>
            <a:ext cx="563879" cy="59554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54" name="Google Shape;154;p3"/>
          <p:cNvCxnSpPr/>
          <p:nvPr/>
        </p:nvCxnSpPr>
        <p:spPr>
          <a:xfrm>
            <a:off x="3246120" y="2843784"/>
            <a:ext cx="563879" cy="364676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what a feed looks like</a:t>
            </a:r>
            <a:endParaRPr/>
          </a:p>
        </p:txBody>
      </p:sp>
      <p:sp>
        <p:nvSpPr>
          <p:cNvPr id="160" name="Google Shape;160;p4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a feed page renders an algorithm into a timeline of posts.</a:t>
            </a:r>
            <a:endParaRPr/>
          </a:p>
        </p:txBody>
      </p:sp>
      <p:cxnSp>
        <p:nvCxnSpPr>
          <p:cNvPr id="162" name="Google Shape;162;p4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63" name="Google Shape;163;p4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sky_raw_feed_for_science.png" id="164" name="Google Shape;16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4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Feed name</a:t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Demand signals</a:t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Timeline output</a:t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Exposure decisions</a:t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Post actions</a:t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we measure</a:t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Manipulation risk</a:t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3797100" y="1371600"/>
            <a:ext cx="4117200" cy="48900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3797104" y="2122324"/>
            <a:ext cx="3872400" cy="1929300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5245008" y="3955312"/>
            <a:ext cx="1991700" cy="374100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3577648" y="160981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3577648" y="2203000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5063000" y="3681000"/>
            <a:ext cx="274200" cy="27420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178" name="Google Shape;178;p4"/>
          <p:cNvCxnSpPr/>
          <p:nvPr/>
        </p:nvCxnSpPr>
        <p:spPr>
          <a:xfrm flipH="1" rot="10800000">
            <a:off x="3246120" y="1773115"/>
            <a:ext cx="550984" cy="156269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79" name="Google Shape;179;p4"/>
          <p:cNvCxnSpPr/>
          <p:nvPr/>
        </p:nvCxnSpPr>
        <p:spPr>
          <a:xfrm>
            <a:off x="3246120" y="2843784"/>
            <a:ext cx="550984" cy="287303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starter packs (onboarding bundles)</a:t>
            </a:r>
            <a:endParaRPr/>
          </a:p>
        </p:txBody>
      </p:sp>
      <p:sp>
        <p:nvSpPr>
          <p:cNvPr id="185" name="Google Shape;185;p5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starter packs bundle people (and sometimes feeds) for fast onboarding.</a:t>
            </a:r>
            <a:endParaRPr/>
          </a:p>
        </p:txBody>
      </p:sp>
      <p:cxnSp>
        <p:nvCxnSpPr>
          <p:cNvPr id="187" name="Google Shape;187;p5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88" name="Google Shape;188;p5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sky_raw_starterpack.png" id="189" name="Google Shape;18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5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Pack title</a:t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Curated list</a:t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Join button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1-click onboarding</a:t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People cards</a:t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Curation questions</a:t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Measure exposure</a:t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3797104" y="1573236"/>
            <a:ext cx="4093768" cy="567396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3797104" y="2243796"/>
            <a:ext cx="4093768" cy="464233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3797104" y="2836984"/>
            <a:ext cx="4093768" cy="1618144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3577648" y="160981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3577648" y="2280372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3577648" y="2873560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203" name="Google Shape;203;p5"/>
          <p:cNvCxnSpPr/>
          <p:nvPr/>
        </p:nvCxnSpPr>
        <p:spPr>
          <a:xfrm flipH="1" rot="10800000">
            <a:off x="3246120" y="1856935"/>
            <a:ext cx="550984" cy="72449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04" name="Google Shape;204;p5"/>
          <p:cNvCxnSpPr/>
          <p:nvPr/>
        </p:nvCxnSpPr>
        <p:spPr>
          <a:xfrm flipH="1" rot="10800000">
            <a:off x="3246120" y="2475913"/>
            <a:ext cx="550984" cy="367871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labeling surfaces 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labels are user-facing controls that shape what gets shown or filtered.</a:t>
            </a:r>
            <a:endParaRPr/>
          </a:p>
        </p:txBody>
      </p:sp>
      <p:cxnSp>
        <p:nvCxnSpPr>
          <p:cNvPr id="211" name="Google Shape;211;p18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12" name="Google Shape;212;p18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18.png" id="213" name="Google Shape;21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Self-label button</a:t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Composer surface</a:t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Content warning picker</a:t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Adult Content options</a:t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Labeled post banner</a:t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Attribution to labeler</a:t>
            </a:r>
            <a:endParaRPr/>
          </a:p>
        </p:txBody>
      </p:sp>
      <p:sp>
        <p:nvSpPr>
          <p:cNvPr id="220" name="Google Shape;220;p18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filtering + exposure</a:t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3699462" y="1733502"/>
            <a:ext cx="5082635" cy="70304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3699462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6344507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25" name="Google Shape;225;p18"/>
          <p:cNvSpPr/>
          <p:nvPr/>
        </p:nvSpPr>
        <p:spPr>
          <a:xfrm>
            <a:off x="3480006" y="2680573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6125051" y="2680573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227" name="Google Shape;227;p18"/>
          <p:cNvCxnSpPr/>
          <p:nvPr/>
        </p:nvCxnSpPr>
        <p:spPr>
          <a:xfrm>
            <a:off x="3246120" y="1929384"/>
            <a:ext cx="453342" cy="155638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28" name="Google Shape;228;p18"/>
          <p:cNvCxnSpPr/>
          <p:nvPr/>
        </p:nvCxnSpPr>
        <p:spPr>
          <a:xfrm>
            <a:off x="3246120" y="2843784"/>
            <a:ext cx="453342" cy="676132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reply controls 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reply controls gate interaction, changing who can respond and what feedback loops form.</a:t>
            </a:r>
            <a:endParaRPr/>
          </a:p>
        </p:txBody>
      </p:sp>
      <p:cxnSp>
        <p:nvCxnSpPr>
          <p:cNvPr id="235" name="Google Shape;235;p19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36" name="Google Shape;236;p19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19.png" id="237" name="Google Shape;2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9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Reply controls button</a:t>
            </a:r>
            <a:endParaRPr/>
          </a:p>
        </p:txBody>
      </p:sp>
      <p:sp>
        <p:nvSpPr>
          <p:cNvPr id="239" name="Google Shape;239;p19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Composer setting</a:t>
            </a:r>
            <a:endParaRPr/>
          </a:p>
        </p:txBody>
      </p:sp>
      <p:sp>
        <p:nvSpPr>
          <p:cNvPr id="240" name="Google Shape;240;p19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Who can reply picker</a:t>
            </a:r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Audience gating</a:t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Post notice</a:t>
            </a:r>
            <a:endParaRPr/>
          </a:p>
        </p:txBody>
      </p:sp>
      <p:sp>
        <p:nvSpPr>
          <p:cNvPr id="243" name="Google Shape;243;p19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Visible constraint</a:t>
            </a: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interaction graphs</a:t>
            </a: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3699462" y="1733502"/>
            <a:ext cx="5082635" cy="70304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699462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6344507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480006" y="2680573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6125051" y="2680573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251" name="Google Shape;251;p19"/>
          <p:cNvCxnSpPr/>
          <p:nvPr/>
        </p:nvCxnSpPr>
        <p:spPr>
          <a:xfrm>
            <a:off x="3246120" y="1929384"/>
            <a:ext cx="453342" cy="155638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52" name="Google Shape;252;p19"/>
          <p:cNvCxnSpPr/>
          <p:nvPr/>
        </p:nvCxnSpPr>
        <p:spPr>
          <a:xfrm>
            <a:off x="3246120" y="2843784"/>
            <a:ext cx="453342" cy="676132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0"/>
          <p:cNvSpPr txBox="1"/>
          <p:nvPr>
            <p:ph type="title"/>
          </p:nvPr>
        </p:nvSpPr>
        <p:spPr>
          <a:xfrm>
            <a:off x="502920" y="320040"/>
            <a:ext cx="8503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labelers + moderation tools 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502920" y="960120"/>
            <a:ext cx="85038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moderation is modular</a:t>
            </a:r>
            <a:r>
              <a:rPr lang="en-US" sz="1425">
                <a:solidFill>
                  <a:srgbClr val="4B5563"/>
                </a:solidFill>
              </a:rPr>
              <a:t>, </a:t>
            </a: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users can subscribe to labelers and tune label handling.</a:t>
            </a:r>
            <a:endParaRPr/>
          </a:p>
        </p:txBody>
      </p:sp>
      <p:cxnSp>
        <p:nvCxnSpPr>
          <p:cNvPr id="259" name="Google Shape;259;p20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60" name="Google Shape;260;p20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20.png" id="261" name="Google Shape;2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Subscribe to labeler</a:t>
            </a:r>
            <a:endParaRPr/>
          </a:p>
        </p:txBody>
      </p:sp>
      <p:sp>
        <p:nvSpPr>
          <p:cNvPr id="263" name="Google Shape;263;p20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Third-party policies</a:t>
            </a:r>
            <a:endParaRPr/>
          </a:p>
        </p:txBody>
      </p:sp>
      <p:sp>
        <p:nvSpPr>
          <p:cNvPr id="264" name="Google Shape;264;p20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Per-label controls</a:t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Off / Warn / Hide</a:t>
            </a:r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Ozone moderation UI</a:t>
            </a:r>
            <a:endParaRPr/>
          </a:p>
        </p:txBody>
      </p:sp>
      <p:sp>
        <p:nvSpPr>
          <p:cNvPr id="267" name="Google Shape;267;p20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Operational tooling</a:t>
            </a:r>
            <a:endParaRPr/>
          </a:p>
        </p:txBody>
      </p:sp>
      <p:sp>
        <p:nvSpPr>
          <p:cNvPr id="268" name="Google Shape;268;p20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power shifts</a:t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3699462" y="1733502"/>
            <a:ext cx="5082635" cy="74914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3699462" y="2690097"/>
            <a:ext cx="5082635" cy="749140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3699462" y="3646693"/>
            <a:ext cx="5082635" cy="749140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73" name="Google Shape;273;p20"/>
          <p:cNvSpPr/>
          <p:nvPr/>
        </p:nvSpPr>
        <p:spPr>
          <a:xfrm>
            <a:off x="3480006" y="2726673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3480006" y="3683269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275" name="Google Shape;275;p20"/>
          <p:cNvCxnSpPr/>
          <p:nvPr/>
        </p:nvCxnSpPr>
        <p:spPr>
          <a:xfrm>
            <a:off x="3246120" y="1929384"/>
            <a:ext cx="453342" cy="178689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76" name="Google Shape;276;p20"/>
          <p:cNvCxnSpPr/>
          <p:nvPr/>
        </p:nvCxnSpPr>
        <p:spPr>
          <a:xfrm>
            <a:off x="3246120" y="2843784"/>
            <a:ext cx="453342" cy="220884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starter packs flow 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starter packs bundle people (and context) into a single shareable onboarding object.</a:t>
            </a:r>
            <a:endParaRPr/>
          </a:p>
        </p:txBody>
      </p:sp>
      <p:cxnSp>
        <p:nvCxnSpPr>
          <p:cNvPr id="283" name="Google Shape;283;p22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84" name="Google Shape;284;p22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22.png" id="285" name="Google Shape;2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2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Create starter pack</a:t>
            </a:r>
            <a:endParaRPr/>
          </a:p>
        </p:txBody>
      </p:sp>
      <p:sp>
        <p:nvSpPr>
          <p:cNvPr id="287" name="Google Shape;287;p22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Name + description</a:t>
            </a:r>
            <a:endParaRPr/>
          </a:p>
        </p:txBody>
      </p:sp>
      <p:sp>
        <p:nvSpPr>
          <p:cNvPr id="288" name="Google Shape;288;p22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Choose people</a:t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Curation choices</a:t>
            </a:r>
            <a:endParaRPr/>
          </a:p>
        </p:txBody>
      </p:sp>
      <p:sp>
        <p:nvSpPr>
          <p:cNvPr id="290" name="Google Shape;290;p22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Share pack</a:t>
            </a:r>
            <a:endParaRPr/>
          </a:p>
        </p:txBody>
      </p:sp>
      <p:sp>
        <p:nvSpPr>
          <p:cNvPr id="291" name="Google Shape;291;p22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Link / QR / image</a:t>
            </a:r>
            <a:endParaRPr/>
          </a:p>
        </p:txBody>
      </p:sp>
      <p:sp>
        <p:nvSpPr>
          <p:cNvPr id="292" name="Google Shape;292;p22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bundled exposure</a:t>
            </a:r>
            <a:endParaRPr/>
          </a:p>
        </p:txBody>
      </p:sp>
      <p:sp>
        <p:nvSpPr>
          <p:cNvPr id="293" name="Google Shape;293;p22"/>
          <p:cNvSpPr/>
          <p:nvPr/>
        </p:nvSpPr>
        <p:spPr>
          <a:xfrm>
            <a:off x="3699462" y="1733502"/>
            <a:ext cx="1555909" cy="2662332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5462825" y="1733502"/>
            <a:ext cx="1555909" cy="2662332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7226188" y="1733502"/>
            <a:ext cx="1555909" cy="2662332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97" name="Google Shape;297;p22"/>
          <p:cNvSpPr/>
          <p:nvPr/>
        </p:nvSpPr>
        <p:spPr>
          <a:xfrm>
            <a:off x="5243369" y="1770078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98" name="Google Shape;298;p22"/>
          <p:cNvSpPr/>
          <p:nvPr/>
        </p:nvSpPr>
        <p:spPr>
          <a:xfrm>
            <a:off x="7006732" y="1770078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299" name="Google Shape;299;p22"/>
          <p:cNvCxnSpPr/>
          <p:nvPr/>
        </p:nvCxnSpPr>
        <p:spPr>
          <a:xfrm>
            <a:off x="3246120" y="1929384"/>
            <a:ext cx="453342" cy="1135285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00" name="Google Shape;300;p22"/>
          <p:cNvCxnSpPr/>
          <p:nvPr/>
        </p:nvCxnSpPr>
        <p:spPr>
          <a:xfrm>
            <a:off x="3246120" y="2843784"/>
            <a:ext cx="2216705" cy="220885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pic>
        <p:nvPicPr>
          <p:cNvPr id="301" name="Google Shape;30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8971" y="1484609"/>
            <a:ext cx="5697926" cy="320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1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discovery surfaces 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discovery is shaped by navigation, defaults, and safety settings surfaced in the UI.</a:t>
            </a:r>
            <a:endParaRPr/>
          </a:p>
        </p:txBody>
      </p:sp>
      <p:cxnSp>
        <p:nvCxnSpPr>
          <p:cNvPr id="308" name="Google Shape;308;p21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09" name="Google Shape;309;p21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21.png" id="310" name="Google Shape;3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1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Custom feeds tab</a:t>
            </a:r>
            <a:endParaRPr/>
          </a:p>
        </p:txBody>
      </p:sp>
      <p:sp>
        <p:nvSpPr>
          <p:cNvPr id="312" name="Google Shape;312;p21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Algorithm marketplace</a:t>
            </a:r>
            <a:endParaRPr/>
          </a:p>
        </p:txBody>
      </p:sp>
      <p:sp>
        <p:nvSpPr>
          <p:cNvPr id="313" name="Google Shape;313;p21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Moderation menu</a:t>
            </a:r>
            <a:endParaRPr/>
          </a:p>
        </p:txBody>
      </p:sp>
      <p:sp>
        <p:nvSpPr>
          <p:cNvPr id="314" name="Google Shape;314;p21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Filtering settings</a:t>
            </a:r>
            <a:endParaRPr/>
          </a:p>
        </p:txBody>
      </p:sp>
      <p:sp>
        <p:nvSpPr>
          <p:cNvPr id="315" name="Google Shape;315;p21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Starter packs tab</a:t>
            </a: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Onboarding surface</a:t>
            </a:r>
            <a:endParaRPr/>
          </a:p>
        </p:txBody>
      </p:sp>
      <p:sp>
        <p:nvSpPr>
          <p:cNvPr id="317" name="Google Shape;317;p21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defaults steer</a:t>
            </a:r>
            <a:endParaRPr/>
          </a:p>
        </p:txBody>
      </p:sp>
      <p:sp>
        <p:nvSpPr>
          <p:cNvPr id="318" name="Google Shape;318;p21"/>
          <p:cNvSpPr/>
          <p:nvPr/>
        </p:nvSpPr>
        <p:spPr>
          <a:xfrm>
            <a:off x="3699462" y="1733502"/>
            <a:ext cx="2437590" cy="1809464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6344507" y="1733502"/>
            <a:ext cx="2437590" cy="1809464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3699462" y="3750421"/>
            <a:ext cx="5082635" cy="645413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22" name="Google Shape;322;p21"/>
          <p:cNvSpPr/>
          <p:nvPr/>
        </p:nvSpPr>
        <p:spPr>
          <a:xfrm>
            <a:off x="6125051" y="1770078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23" name="Google Shape;323;p21"/>
          <p:cNvSpPr/>
          <p:nvPr/>
        </p:nvSpPr>
        <p:spPr>
          <a:xfrm>
            <a:off x="3480006" y="3786997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324" name="Google Shape;324;p21"/>
          <p:cNvCxnSpPr/>
          <p:nvPr/>
        </p:nvCxnSpPr>
        <p:spPr>
          <a:xfrm>
            <a:off x="3246120" y="1929384"/>
            <a:ext cx="453342" cy="70885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25" name="Google Shape;325;p21"/>
          <p:cNvCxnSpPr/>
          <p:nvPr/>
        </p:nvCxnSpPr>
        <p:spPr>
          <a:xfrm flipH="1" rot="10800000">
            <a:off x="3246120" y="2638234"/>
            <a:ext cx="3098387" cy="205550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3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domain handles (surface → settings) </a:t>
            </a:r>
            <a:endParaRPr/>
          </a:p>
        </p:txBody>
      </p:sp>
      <p:cxnSp>
        <p:nvCxnSpPr>
          <p:cNvPr id="331" name="Google Shape;331;p23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32" name="Google Shape;332;p23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23.png" id="333" name="Google Shape;3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3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Domain handle profile</a:t>
            </a:r>
            <a:endParaRPr/>
          </a:p>
        </p:txBody>
      </p:sp>
      <p:sp>
        <p:nvSpPr>
          <p:cNvPr id="335" name="Google Shape;335;p23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Trust signal</a:t>
            </a:r>
            <a:endParaRPr/>
          </a:p>
        </p:txBody>
      </p:sp>
      <p:sp>
        <p:nvSpPr>
          <p:cNvPr id="336" name="Google Shape;336;p23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Settings: handle</a:t>
            </a:r>
            <a:endParaRPr/>
          </a:p>
        </p:txBody>
      </p:sp>
      <p:sp>
        <p:nvSpPr>
          <p:cNvPr id="337" name="Google Shape;337;p23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Entry point</a:t>
            </a:r>
            <a:endParaRPr/>
          </a:p>
        </p:txBody>
      </p:sp>
      <p:sp>
        <p:nvSpPr>
          <p:cNvPr id="338" name="Google Shape;338;p23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Use own domain</a:t>
            </a:r>
            <a:endParaRPr/>
          </a:p>
        </p:txBody>
      </p:sp>
      <p:sp>
        <p:nvSpPr>
          <p:cNvPr id="339" name="Google Shape;339;p23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Verification flow</a:t>
            </a:r>
            <a:endParaRPr/>
          </a:p>
        </p:txBody>
      </p:sp>
      <p:sp>
        <p:nvSpPr>
          <p:cNvPr id="340" name="Google Shape;340;p23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credibility</a:t>
            </a:r>
            <a:endParaRPr/>
          </a:p>
        </p:txBody>
      </p:sp>
      <p:sp>
        <p:nvSpPr>
          <p:cNvPr id="341" name="Google Shape;341;p23"/>
          <p:cNvSpPr/>
          <p:nvPr/>
        </p:nvSpPr>
        <p:spPr>
          <a:xfrm>
            <a:off x="3699462" y="1733502"/>
            <a:ext cx="5082635" cy="70304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3699462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6344507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45" name="Google Shape;345;p23"/>
          <p:cNvSpPr/>
          <p:nvPr/>
        </p:nvSpPr>
        <p:spPr>
          <a:xfrm>
            <a:off x="3480006" y="2680573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46" name="Google Shape;346;p23"/>
          <p:cNvSpPr/>
          <p:nvPr/>
        </p:nvSpPr>
        <p:spPr>
          <a:xfrm>
            <a:off x="6125051" y="2680573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347" name="Google Shape;347;p23"/>
          <p:cNvCxnSpPr/>
          <p:nvPr/>
        </p:nvCxnSpPr>
        <p:spPr>
          <a:xfrm>
            <a:off x="3246120" y="1929384"/>
            <a:ext cx="453342" cy="155638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48" name="Google Shape;348;p23"/>
          <p:cNvCxnSpPr/>
          <p:nvPr/>
        </p:nvCxnSpPr>
        <p:spPr>
          <a:xfrm>
            <a:off x="3246120" y="2843784"/>
            <a:ext cx="453342" cy="676132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4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domain verification + examples </a:t>
            </a:r>
            <a:endParaRPr/>
          </a:p>
        </p:txBody>
      </p:sp>
      <p:sp>
        <p:nvSpPr>
          <p:cNvPr id="354" name="Google Shape;354;p24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BLUESKY RQs + DATA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355" name="Google Shape;355;p24"/>
          <p:cNvSpPr txBox="1"/>
          <p:nvPr/>
        </p:nvSpPr>
        <p:spPr>
          <a:xfrm>
            <a:off x="502920" y="960120"/>
            <a:ext cx="85038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verification relies on external DNS tooling, creating measurable and potentially gameable steps.</a:t>
            </a:r>
            <a:endParaRPr/>
          </a:p>
        </p:txBody>
      </p:sp>
      <p:cxnSp>
        <p:nvCxnSpPr>
          <p:cNvPr id="356" name="Google Shape;356;p24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57" name="Google Shape;357;p24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24.png" id="358" name="Google Shape;3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4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DNS TXT record</a:t>
            </a:r>
            <a:endParaRPr/>
          </a:p>
        </p:txBody>
      </p:sp>
      <p:sp>
        <p:nvSpPr>
          <p:cNvPr id="360" name="Google Shape;360;p24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Proof-of-control</a:t>
            </a:r>
            <a:endParaRPr/>
          </a:p>
        </p:txBody>
      </p:sp>
      <p:sp>
        <p:nvSpPr>
          <p:cNvPr id="361" name="Google Shape;361;p24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Domain handle example</a:t>
            </a:r>
            <a:endParaRPr/>
          </a:p>
        </p:txBody>
      </p:sp>
      <p:sp>
        <p:nvSpPr>
          <p:cNvPr id="362" name="Google Shape;362;p24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@npr.org</a:t>
            </a:r>
            <a:endParaRPr/>
          </a:p>
        </p:txBody>
      </p:sp>
      <p:sp>
        <p:nvSpPr>
          <p:cNvPr id="363" name="Google Shape;363;p24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DNS management UI</a:t>
            </a:r>
            <a:endParaRPr/>
          </a:p>
        </p:txBody>
      </p:sp>
      <p:sp>
        <p:nvSpPr>
          <p:cNvPr id="364" name="Google Shape;364;p24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External dependency</a:t>
            </a:r>
            <a:endParaRPr/>
          </a:p>
        </p:txBody>
      </p:sp>
      <p:sp>
        <p:nvSpPr>
          <p:cNvPr id="365" name="Google Shape;365;p24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measurable steps</a:t>
            </a:r>
            <a:endParaRPr/>
          </a:p>
        </p:txBody>
      </p:sp>
      <p:sp>
        <p:nvSpPr>
          <p:cNvPr id="366" name="Google Shape;366;p24"/>
          <p:cNvSpPr/>
          <p:nvPr/>
        </p:nvSpPr>
        <p:spPr>
          <a:xfrm>
            <a:off x="3699462" y="1733502"/>
            <a:ext cx="2437590" cy="1809464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4"/>
          <p:cNvSpPr/>
          <p:nvPr/>
        </p:nvSpPr>
        <p:spPr>
          <a:xfrm>
            <a:off x="6344507" y="1733502"/>
            <a:ext cx="2437590" cy="1809464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4"/>
          <p:cNvSpPr/>
          <p:nvPr/>
        </p:nvSpPr>
        <p:spPr>
          <a:xfrm>
            <a:off x="3699462" y="3750421"/>
            <a:ext cx="5082635" cy="645413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4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70" name="Google Shape;370;p24"/>
          <p:cNvSpPr/>
          <p:nvPr/>
        </p:nvSpPr>
        <p:spPr>
          <a:xfrm>
            <a:off x="6125051" y="1770078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71" name="Google Shape;371;p24"/>
          <p:cNvSpPr/>
          <p:nvPr/>
        </p:nvSpPr>
        <p:spPr>
          <a:xfrm>
            <a:off x="3480006" y="3786997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372" name="Google Shape;372;p24"/>
          <p:cNvCxnSpPr/>
          <p:nvPr/>
        </p:nvCxnSpPr>
        <p:spPr>
          <a:xfrm>
            <a:off x="3246120" y="1929384"/>
            <a:ext cx="453342" cy="70885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73" name="Google Shape;373;p24"/>
          <p:cNvCxnSpPr/>
          <p:nvPr/>
        </p:nvCxnSpPr>
        <p:spPr>
          <a:xfrm flipH="1" rot="10800000">
            <a:off x="3246120" y="2638234"/>
            <a:ext cx="3098387" cy="205550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"/>
          <p:cNvSpPr txBox="1"/>
          <p:nvPr>
            <p:ph type="title"/>
          </p:nvPr>
        </p:nvSpPr>
        <p:spPr>
          <a:xfrm>
            <a:off x="457200" y="1307125"/>
            <a:ext cx="82296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4000">
                <a:solidFill>
                  <a:srgbClr val="262626"/>
                </a:solidFill>
              </a:rPr>
              <a:t>Research questions (R1-R5)</a:t>
            </a:r>
            <a:endParaRPr/>
          </a:p>
        </p:txBody>
      </p:sp>
      <p:sp>
        <p:nvSpPr>
          <p:cNvPr id="379" name="Google Shape;379;p6"/>
          <p:cNvSpPr txBox="1"/>
          <p:nvPr>
            <p:ph idx="1" type="subTitle"/>
          </p:nvPr>
        </p:nvSpPr>
        <p:spPr>
          <a:xfrm>
            <a:off x="1362775" y="2348550"/>
            <a:ext cx="29742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00">
                <a:solidFill>
                  <a:srgbClr val="262626"/>
                </a:solidFill>
              </a:rPr>
              <a:t>R1 Discovery chokepoints? governance.</a:t>
            </a:r>
            <a:endParaRPr/>
          </a:p>
        </p:txBody>
      </p:sp>
      <p:sp>
        <p:nvSpPr>
          <p:cNvPr id="380" name="Google Shape;380;p6"/>
          <p:cNvSpPr txBox="1"/>
          <p:nvPr>
            <p:ph idx="2" type="subTitle"/>
          </p:nvPr>
        </p:nvSpPr>
        <p:spPr>
          <a:xfrm>
            <a:off x="1724580" y="2918558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00">
                <a:solidFill>
                  <a:srgbClr val="262626"/>
                </a:solidFill>
              </a:rPr>
              <a:t>R2 Provider buckets dominate? reliability.</a:t>
            </a:r>
            <a:endParaRPr/>
          </a:p>
        </p:txBody>
      </p:sp>
      <p:sp>
        <p:nvSpPr>
          <p:cNvPr id="381" name="Google Shape;381;p6"/>
          <p:cNvSpPr txBox="1"/>
          <p:nvPr>
            <p:ph idx="3" type="subTitle"/>
          </p:nvPr>
        </p:nvSpPr>
        <p:spPr>
          <a:xfrm>
            <a:off x="2086396" y="3488567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00">
                <a:solidFill>
                  <a:srgbClr val="262626"/>
                </a:solidFill>
              </a:rPr>
              <a:t>R3 Same winners across feeds? manipulation.</a:t>
            </a:r>
            <a:endParaRPr/>
          </a:p>
        </p:txBody>
      </p:sp>
      <p:sp>
        <p:nvSpPr>
          <p:cNvPr id="382" name="Google Shape;382;p6"/>
          <p:cNvSpPr txBox="1"/>
          <p:nvPr>
            <p:ph idx="4" type="subTitle"/>
          </p:nvPr>
        </p:nvSpPr>
        <p:spPr>
          <a:xfrm>
            <a:off x="2448211" y="4058575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00">
                <a:solidFill>
                  <a:srgbClr val="262626"/>
                </a:solidFill>
              </a:rPr>
              <a:t>R4 Labels vary by viewer? safety.</a:t>
            </a:r>
            <a:endParaRPr/>
          </a:p>
        </p:txBody>
      </p:sp>
      <p:sp>
        <p:nvSpPr>
          <p:cNvPr id="383" name="Google Shape;383;p6"/>
          <p:cNvSpPr txBox="1"/>
          <p:nvPr>
            <p:ph idx="5" type="subTitle"/>
          </p:nvPr>
        </p:nvSpPr>
        <p:spPr>
          <a:xfrm>
            <a:off x="5107125" y="2348550"/>
            <a:ext cx="31911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00">
                <a:solidFill>
                  <a:srgbClr val="262626"/>
                </a:solidFill>
              </a:rPr>
              <a:t>R5 Future experiment: gaming plus privacy attacks. extra guardrails.</a:t>
            </a:r>
            <a:endParaRPr/>
          </a:p>
        </p:txBody>
      </p:sp>
      <p:sp>
        <p:nvSpPr>
          <p:cNvPr id="384" name="Google Shape;384;p6"/>
          <p:cNvSpPr txBox="1"/>
          <p:nvPr>
            <p:ph idx="9" type="title"/>
          </p:nvPr>
        </p:nvSpPr>
        <p:spPr>
          <a:xfrm>
            <a:off x="1587966" y="4082388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solidFill>
                  <a:srgbClr val="676FFE"/>
                </a:solidFill>
              </a:rPr>
              <a:t>04</a:t>
            </a:r>
            <a:endParaRPr/>
          </a:p>
        </p:txBody>
      </p:sp>
      <p:sp>
        <p:nvSpPr>
          <p:cNvPr id="385" name="Google Shape;385;p6"/>
          <p:cNvSpPr txBox="1"/>
          <p:nvPr>
            <p:ph idx="13" type="title"/>
          </p:nvPr>
        </p:nvSpPr>
        <p:spPr>
          <a:xfrm>
            <a:off x="825966" y="2942171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solidFill>
                  <a:srgbClr val="676FFE"/>
                </a:solidFill>
              </a:rPr>
              <a:t>02</a:t>
            </a:r>
            <a:endParaRPr/>
          </a:p>
        </p:txBody>
      </p:sp>
      <p:sp>
        <p:nvSpPr>
          <p:cNvPr id="386" name="Google Shape;386;p6"/>
          <p:cNvSpPr txBox="1"/>
          <p:nvPr>
            <p:ph idx="14" type="title"/>
          </p:nvPr>
        </p:nvSpPr>
        <p:spPr>
          <a:xfrm>
            <a:off x="445794" y="2372363"/>
            <a:ext cx="86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solidFill>
                  <a:srgbClr val="676FFE"/>
                </a:solidFill>
              </a:rPr>
              <a:t>01</a:t>
            </a:r>
            <a:endParaRPr/>
          </a:p>
        </p:txBody>
      </p:sp>
      <p:sp>
        <p:nvSpPr>
          <p:cNvPr id="387" name="Google Shape;387;p6"/>
          <p:cNvSpPr txBox="1"/>
          <p:nvPr>
            <p:ph idx="15" type="title"/>
          </p:nvPr>
        </p:nvSpPr>
        <p:spPr>
          <a:xfrm>
            <a:off x="1206966" y="3512279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solidFill>
                  <a:srgbClr val="676FFE"/>
                </a:solidFill>
              </a:rPr>
              <a:t>03</a:t>
            </a:r>
            <a:endParaRPr/>
          </a:p>
        </p:txBody>
      </p:sp>
      <p:sp>
        <p:nvSpPr>
          <p:cNvPr id="388" name="Google Shape;388;p6"/>
          <p:cNvSpPr txBox="1"/>
          <p:nvPr>
            <p:ph idx="19" type="title"/>
          </p:nvPr>
        </p:nvSpPr>
        <p:spPr>
          <a:xfrm>
            <a:off x="4202003" y="2372363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solidFill>
                  <a:srgbClr val="676FFE"/>
                </a:solidFill>
              </a:rPr>
              <a:t>05</a:t>
            </a:r>
            <a:endParaRPr/>
          </a:p>
        </p:txBody>
      </p:sp>
      <p:sp>
        <p:nvSpPr>
          <p:cNvPr id="389" name="Google Shape;389;p6"/>
          <p:cNvSpPr txBox="1"/>
          <p:nvPr/>
        </p:nvSpPr>
        <p:spPr>
          <a:xfrm>
            <a:off x="502920" y="1051560"/>
            <a:ext cx="850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security and privacy scope.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c68144bd4a_0_1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RQ1</a:t>
            </a:r>
            <a:endParaRPr/>
          </a:p>
        </p:txBody>
      </p:sp>
      <p:sp>
        <p:nvSpPr>
          <p:cNvPr id="395" name="Google Shape;395;g3c68144bd4a_0_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In Bluesky, which is ‘pluggable,’ or </a:t>
            </a:r>
            <a:r>
              <a:rPr lang="en-US" sz="1600"/>
              <a:t>decentralized.</a:t>
            </a:r>
            <a:r>
              <a:rPr lang="en-US" sz="1600"/>
              <a:t> does onboarding/discovery behave like a centralized platform anyway? Concretely: how concentrated are starter packs and other discovery surfaces, and how much leverage do a few feed providers get over what new users see?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starterpacks.csv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starterpack_feeds.csv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discovery_feed_inclusions.csv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feed_generators_index.csv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popular_feeds.csv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c68144bd4a_0_83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c68144bd4a_0_8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TextBox 401"/>
          <p:cNvSpPr txBox="1"/>
          <p:nvPr/>
        </p:nvSpPr>
        <p:spPr>
          <a:xfrm>
            <a:off x="822960" y="310896"/>
            <a:ext cx="75438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RQ1 Examples: Starter Packs (Rows)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822960" y="713232"/>
            <a:ext cx="754380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C8D4E7"/>
                </a:solidFill>
                <a:latin typeface="Arial"/>
              </a:rPr>
              <a:t>Real sample rows from starterpacks.csv (minimal columns)</a:t>
            </a:r>
          </a:p>
        </p:txBody>
      </p:sp>
      <p:graphicFrame>
        <p:nvGraphicFramePr>
          <p:cNvPr id="404" name="Table 403"/>
          <p:cNvGraphicFramePr>
            <a:graphicFrameLocks noGrp="1"/>
          </p:cNvGraphicFramePr>
          <p:nvPr/>
        </p:nvGraphicFramePr>
        <p:xfrm>
          <a:off x="822960" y="1078992"/>
          <a:ext cx="7406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828800"/>
                <a:gridCol w="2743200"/>
                <a:gridCol w="914400"/>
              </a:tblGrid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starterpack_id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creator_did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collected_at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3legy77zxsq2z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did:plc:26pj...h5xb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Pawn Addicted's Starter Pack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2026-02-06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3lbvimzzllz2n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did:plc:2flx...5txp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Great Friends - Definite Must Follo...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2026-02-06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3lbvjglqfew2x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did:plc:2flx...5txp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More Great Friends of Yodamonkey. V...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2026-02-06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3lbxesvv7wi2t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did:plc:2flx...5txp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New friends to follow. Vetted 150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2026-02-06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3lbxfkyqo4f2s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did:plc:2flx...5txp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More new friends to follow. Vetted 150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2026-02-06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9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3lbxfywcbvn2y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did:plc:2flx...5txp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Lovely Follows, Vetted 150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2026-02-06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c68144bd4a_0_48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c68144bd4a_0_48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TextBox 407"/>
          <p:cNvSpPr txBox="1"/>
          <p:nvPr/>
        </p:nvSpPr>
        <p:spPr>
          <a:xfrm>
            <a:off x="822960" y="310896"/>
            <a:ext cx="75438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RQ1 Examples: Discovery Exposure (Rows)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822960" y="713232"/>
            <a:ext cx="754380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C8D4E7"/>
                </a:solidFill>
                <a:latin typeface="Arial"/>
              </a:rPr>
              <a:t>Real sample rows joined on feed_uri: discovery_feed_inclusions + popular_feeds + feed_generators_index</a:t>
            </a:r>
          </a:p>
        </p:txBody>
      </p:sp>
      <p:graphicFrame>
        <p:nvGraphicFramePr>
          <p:cNvPr id="410" name="Table 409"/>
          <p:cNvGraphicFramePr>
            <a:graphicFrameLocks noGrp="1"/>
          </p:cNvGraphicFramePr>
          <p:nvPr/>
        </p:nvGraphicFramePr>
        <p:xfrm>
          <a:off x="822960" y="1078992"/>
          <a:ext cx="7406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80160"/>
                <a:gridCol w="1280160"/>
                <a:gridCol w="2743200"/>
              </a:tblGrid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feed_id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inclusion_count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popularity_rank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provider_bucket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with-friends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discover.bsky.app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bsky-team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discover.bsky.app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hot-classic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discover.bsky.app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aaabrbjcg4hmk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api.graze.social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skyfeed.me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9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aaai4f7awwzkc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skyfeed.me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c68144bd4a_0_26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RQ2</a:t>
            </a:r>
            <a:endParaRPr/>
          </a:p>
        </p:txBody>
      </p:sp>
      <p:sp>
        <p:nvSpPr>
          <p:cNvPr id="413" name="Google Shape;413;g3c68144bd4a_0_26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Across feeds that people commonly discover/use, does exposure concentrate among fewer creators, do the same creators win everywhere, and do large accounts get boosted more than in long-tail feeds?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feed_panel.csv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feed_items.csv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posts.csv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authors.csv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c68144bd4a_0_53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c68144bd4a_0_5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TextBox 419"/>
          <p:cNvSpPr txBox="1"/>
          <p:nvPr/>
        </p:nvSpPr>
        <p:spPr>
          <a:xfrm>
            <a:off x="822960" y="310896"/>
            <a:ext cx="75438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RQ2 Examples: Feed Exposure (Rows)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822960" y="713232"/>
            <a:ext cx="754380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C8D4E7"/>
                </a:solidFill>
                <a:latin typeface="Arial"/>
              </a:rPr>
              <a:t>Real sample rows from feed_items.csv.gz joined to authors.csv.gz</a:t>
            </a:r>
          </a:p>
        </p:txBody>
      </p:sp>
      <p:graphicFrame>
        <p:nvGraphicFramePr>
          <p:cNvPr id="422" name="Table 421"/>
          <p:cNvGraphicFramePr>
            <a:graphicFrameLocks noGrp="1"/>
          </p:cNvGraphicFramePr>
          <p:nvPr/>
        </p:nvGraphicFramePr>
        <p:xfrm>
          <a:off x="822960" y="1078992"/>
          <a:ext cx="7406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731520"/>
                <a:gridCol w="3017520"/>
                <a:gridCol w="1463040"/>
              </a:tblGrid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feed_id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author_handle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followers_count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onecuriousoul.bsky.social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danielleforrest.bsky.social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joharraharper.bsky.social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1106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alexcahemma.bsky.social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fsmith827.bsky.social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5256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9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joharraharper.bsky.social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1106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c68144bd4a_0_78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c68144bd4a_0_78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TextBox 425"/>
          <p:cNvSpPr txBox="1"/>
          <p:nvPr/>
        </p:nvSpPr>
        <p:spPr>
          <a:xfrm>
            <a:off x="822960" y="310896"/>
            <a:ext cx="75438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RQ2 Examples: Post Engagement (Rows)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822960" y="713232"/>
            <a:ext cx="754380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C8D4E7"/>
                </a:solidFill>
                <a:latin typeface="Arial"/>
              </a:rPr>
              <a:t>Real sample rows from posts.csv.gz (top by like_count)</a:t>
            </a:r>
          </a:p>
        </p:txBody>
      </p:sp>
      <p:graphicFrame>
        <p:nvGraphicFramePr>
          <p:cNvPr id="428" name="Table 427"/>
          <p:cNvGraphicFramePr>
            <a:graphicFrameLocks noGrp="1"/>
          </p:cNvGraphicFramePr>
          <p:nvPr/>
        </p:nvGraphicFramePr>
        <p:xfrm>
          <a:off x="822960" y="1078992"/>
          <a:ext cx="7406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  <a:gridCol w="1280160"/>
                <a:gridCol w="1280160"/>
              </a:tblGrid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post_id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author_handle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like_count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repost_count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3kl33otd6ob2s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danirabaiotti.bsky.social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30370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2211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3lh6ae3uenk25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bsky.art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10164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877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3mdjcrkcav22j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bsky.app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8385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5664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3mdni342e422l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bsky.app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7613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888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3mcibezwvxk2g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bsky.app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6292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1509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9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3mbuch6tggk2f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bsky.app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5298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572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c68144bd4a_0_33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RQ3</a:t>
            </a:r>
            <a:endParaRPr/>
          </a:p>
        </p:txBody>
      </p:sp>
      <p:sp>
        <p:nvSpPr>
          <p:cNvPr id="431" name="Google Shape;431;g3c68144bd4a_0_3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What attacks are feasible when (a) feed generators are third-party services, and (b) they can be ‘growth-gaming’ by design? How do injected interactions (bots/sybils), collusion, and malicious ranking policies change exposure — and what defenses can labelers/users/platform enforce?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feed_generators_index.csv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feed_panel.csv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feed_items.csv.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posts.csv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post_labels.csv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</a:t>
            </a:r>
            <a:r>
              <a:rPr lang="en-US" sz="1600"/>
              <a:t>eed_snapshot_status.csv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errors.csv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68144bd4a_0_58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c68144bd4a_0_58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TextBox 437"/>
          <p:cNvSpPr txBox="1"/>
          <p:nvPr/>
        </p:nvSpPr>
        <p:spPr>
          <a:xfrm>
            <a:off x="822960" y="310896"/>
            <a:ext cx="75438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RQ3 Examples: Feed Generators (Rows)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822960" y="713232"/>
            <a:ext cx="754380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C8D4E7"/>
                </a:solidFill>
                <a:latin typeface="Arial"/>
              </a:rPr>
              <a:t>Real sample rows from feed_generators_index.csv (focus on interaction + content_mode)</a:t>
            </a:r>
          </a:p>
        </p:txBody>
      </p:sp>
      <p:graphicFrame>
        <p:nvGraphicFramePr>
          <p:cNvPr id="440" name="Table 439"/>
          <p:cNvGraphicFramePr>
            <a:graphicFrameLocks noGrp="1"/>
          </p:cNvGraphicFramePr>
          <p:nvPr/>
        </p:nvGraphicFramePr>
        <p:xfrm>
          <a:off x="822960" y="1078992"/>
          <a:ext cx="7406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1371600"/>
                <a:gridCol w="731520"/>
              </a:tblGrid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feed_id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provider_bucket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accepts_interaction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content_mode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Testing-Grounds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api.graze.social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japanese-jazz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bluesky-japanese-jazz-static-...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app.bsky.feed.defs#contentModeUnspecified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for-you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linklonk.com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og-videos-kps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bsky.surf.social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app.bsky.feed.defs#contentModeVideo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bsky.one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app.bsky.feed.defs#contentModeUnspecified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9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freelanceDevs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feeds.renrah.dev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app.bsky.feed.defs#contentModeUnspecified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c68144bd4a_0_73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c68144bd4a_0_7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TextBox 443"/>
          <p:cNvSpPr txBox="1"/>
          <p:nvPr/>
        </p:nvSpPr>
        <p:spPr>
          <a:xfrm>
            <a:off x="822960" y="310896"/>
            <a:ext cx="75438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RQ3 Examples: Collection Outcomes (Rows)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822960" y="713232"/>
            <a:ext cx="754380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C8D4E7"/>
                </a:solidFill>
                <a:latin typeface="Arial"/>
              </a:rPr>
              <a:t>Real sample rows from feed_snapshot_status.csv (mix of failures and successes)</a:t>
            </a:r>
          </a:p>
        </p:txBody>
      </p:sp>
      <p:graphicFrame>
        <p:nvGraphicFramePr>
          <p:cNvPr id="446" name="Table 445"/>
          <p:cNvGraphicFramePr>
            <a:graphicFrameLocks noGrp="1"/>
          </p:cNvGraphicFramePr>
          <p:nvPr/>
        </p:nvGraphicFramePr>
        <p:xfrm>
          <a:off x="822960" y="1078992"/>
          <a:ext cx="7406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22960"/>
                <a:gridCol w="1097280"/>
                <a:gridCol w="3108960"/>
              </a:tblGrid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feed_id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http_status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error_type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with-friends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http_error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trend-links-24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http_error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99634313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http_error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mutuals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401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http_error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9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aaai4f7awwzkc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c68144bd4a_0_41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RQ4</a:t>
            </a:r>
            <a:endParaRPr/>
          </a:p>
        </p:txBody>
      </p:sp>
      <p:sp>
        <p:nvSpPr>
          <p:cNvPr id="449" name="Google Shape;449;g3c68144bd4a_0_4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How does ‘subscribe-to-labelers’ moderation behave in practice across feeds and communities? Where do labelers fail (coverage gaps, underrepresented groups, cross-community abuse), and how can labelers share models/signals without introducing privacy leakage or poisoning risks?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post_labels.csv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posts.csv (especially post_labels_json and author_labels_json)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feed_items.csv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feed_panel.csv</a:t>
            </a:r>
            <a:endParaRPr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c68144bd4a_0_63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c68144bd4a_0_6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TextBox 455"/>
          <p:cNvSpPr txBox="1"/>
          <p:nvPr/>
        </p:nvSpPr>
        <p:spPr>
          <a:xfrm>
            <a:off x="822960" y="310896"/>
            <a:ext cx="75438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RQ4 Examples: Labels In Post Rows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822960" y="713232"/>
            <a:ext cx="754380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C8D4E7"/>
                </a:solidFill>
                <a:latin typeface="Arial"/>
              </a:rPr>
              <a:t>Real sample rows from posts.csv.gz (post_labels_json + author_labels_json)</a:t>
            </a:r>
          </a:p>
        </p:txBody>
      </p:sp>
      <p:graphicFrame>
        <p:nvGraphicFramePr>
          <p:cNvPr id="458" name="Table 457"/>
          <p:cNvGraphicFramePr>
            <a:graphicFrameLocks noGrp="1"/>
          </p:cNvGraphicFramePr>
          <p:nvPr/>
        </p:nvGraphicFramePr>
        <p:xfrm>
          <a:off x="822960" y="1078992"/>
          <a:ext cx="7406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011680"/>
                <a:gridCol w="1920240"/>
                <a:gridCol w="1920240"/>
              </a:tblGrid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post_id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author_handle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post_labels_json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author_labels_json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3me5ms3rxgk2t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nixostorme.bsky.social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[{"cid":"bafyreidlcamcru5jukaxs7kqpzhkebr...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[{"cid":"bafyreiepojrble3nljd6mzi2vgrxm5u...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3me55z4anic2n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buriedbybooks.bsky....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[]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[{"cid":"bafyreihqknakbogt36ywrjoj6krgwi6...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3me4ubu5qoc2c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arnaerr.bsky.social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[]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[{"cid":"bafyreifzcwbucu754e4jumyz5j7vy4a...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3me4aq2qwvs2d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kameronhurley.com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[]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[{"cid":"bafyreidblw6ebbktlhft5r3z4rluujc...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3me5kdk4djk2k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enjoytheday.bsky.so...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[]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[{"cid":"bafyreibe6xu6j7zuyaoo2la4x6ux25p...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9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3me4u4ljsqs2i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votebiue.bsky.social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[]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[{"cid":"bafyreicmc5rkisn7tixycb2zparkvdj...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c68144bd4a_0_68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c68144bd4a_0_68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TextBox 461"/>
          <p:cNvSpPr txBox="1"/>
          <p:nvPr/>
        </p:nvSpPr>
        <p:spPr>
          <a:xfrm>
            <a:off x="822960" y="310896"/>
            <a:ext cx="75438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RQ4 Examples: Label Events (Rows)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822960" y="713232"/>
            <a:ext cx="754380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C8D4E7"/>
                </a:solidFill>
                <a:latin typeface="Arial"/>
              </a:rPr>
              <a:t>Real sample rows from post_labels.csv.gz + author_labels_json (first label per post)</a:t>
            </a:r>
          </a:p>
        </p:txBody>
      </p:sp>
      <p:graphicFrame>
        <p:nvGraphicFramePr>
          <p:cNvPr id="464" name="Table 463"/>
          <p:cNvGraphicFramePr>
            <a:graphicFrameLocks noGrp="1"/>
          </p:cNvGraphicFramePr>
          <p:nvPr/>
        </p:nvGraphicFramePr>
        <p:xfrm>
          <a:off x="822960" y="1078992"/>
          <a:ext cx="7406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097280"/>
                <a:gridCol w="2468880"/>
              </a:tblGrid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subject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label_src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label_val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label_uri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post:3me5ms3rxgk2t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did:plc:ar7c...ndac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porn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post:3me5ms3rxgk2t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post:3me5ms3rxgk2t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did:plc:l55j...qx7r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nudity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post:3me5ms3rxgk2t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author:did:plc:22tk...fkoa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did:plc:22tk...fkoa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!no-unauthenticated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at://did:plc:22tkvmk7w5...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author:did:plc:22zz...vkgq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did:plc:22zz...vkgq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!no-unauthenticated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at://did:plc:22zzzyts3x...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author:did:plc:24dv...7gkr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did:plc:24dv...7gkr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!no-unauthenticated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at://did:plc:24dvnnvkld...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9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author:did:plc:25np...zajn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did:plc:25np...zajn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!no-unauthenticated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at://did:plc:25npfbvwi3...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2300">
                <a:solidFill>
                  <a:srgbClr val="262626"/>
                </a:solidFill>
              </a:rPr>
              <a:t>Data receipt: discovery surfaces (starter packs + popular list)</a:t>
            </a:r>
            <a:endParaRPr sz="1700"/>
          </a:p>
        </p:txBody>
      </p:sp>
      <p:sp>
        <p:nvSpPr>
          <p:cNvPr id="467" name="Google Shape;467;p8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468" name="Google Shape;468;p8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discovery is measurable via starter-pack inclusion and popular list ranks.</a:t>
            </a:r>
            <a:endParaRPr/>
          </a:p>
        </p:txBody>
      </p:sp>
      <p:cxnSp>
        <p:nvCxnSpPr>
          <p:cNvPr id="469" name="Google Shape;469;p8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470" name="Google Shape;470;p8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08.png" id="471" name="Google Shape;4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8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Starter packs</a:t>
            </a:r>
            <a:endParaRPr/>
          </a:p>
        </p:txBody>
      </p:sp>
      <p:sp>
        <p:nvSpPr>
          <p:cNvPr id="473" name="Google Shape;473;p8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starterpacks + starterpack_feeds</a:t>
            </a:r>
            <a:endParaRPr/>
          </a:p>
        </p:txBody>
      </p:sp>
      <p:sp>
        <p:nvSpPr>
          <p:cNvPr id="474" name="Google Shape;474;p8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Inclusion_count</a:t>
            </a:r>
            <a:endParaRPr/>
          </a:p>
        </p:txBody>
      </p:sp>
      <p:sp>
        <p:nvSpPr>
          <p:cNvPr id="475" name="Google Shape;475;p8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slot_count (position-weighted)</a:t>
            </a:r>
            <a:endParaRPr/>
          </a:p>
        </p:txBody>
      </p:sp>
      <p:sp>
        <p:nvSpPr>
          <p:cNvPr id="476" name="Google Shape;476;p8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Popularity_rank</a:t>
            </a:r>
            <a:endParaRPr/>
          </a:p>
        </p:txBody>
      </p:sp>
      <p:sp>
        <p:nvSpPr>
          <p:cNvPr id="477" name="Google Shape;477;p8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/>
          </a:p>
        </p:txBody>
      </p:sp>
      <p:sp>
        <p:nvSpPr>
          <p:cNvPr id="478" name="Google Shape;478;p8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Concentration + provider leverage</a:t>
            </a:r>
            <a:endParaRPr/>
          </a:p>
        </p:txBody>
      </p:sp>
      <p:sp>
        <p:nvSpPr>
          <p:cNvPr id="479" name="Google Shape;479;p8"/>
          <p:cNvSpPr/>
          <p:nvPr/>
        </p:nvSpPr>
        <p:spPr>
          <a:xfrm>
            <a:off x="3912397" y="1547446"/>
            <a:ext cx="4653883" cy="1011763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8"/>
          <p:cNvSpPr/>
          <p:nvPr/>
        </p:nvSpPr>
        <p:spPr>
          <a:xfrm>
            <a:off x="3912397" y="2694208"/>
            <a:ext cx="4653883" cy="876341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8"/>
          <p:cNvSpPr/>
          <p:nvPr/>
        </p:nvSpPr>
        <p:spPr>
          <a:xfrm>
            <a:off x="3912397" y="3708430"/>
            <a:ext cx="4653883" cy="873460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8"/>
          <p:cNvSpPr/>
          <p:nvPr/>
        </p:nvSpPr>
        <p:spPr>
          <a:xfrm>
            <a:off x="3692941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483" name="Google Shape;483;p8"/>
          <p:cNvSpPr/>
          <p:nvPr/>
        </p:nvSpPr>
        <p:spPr>
          <a:xfrm>
            <a:off x="3692941" y="2730784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484" name="Google Shape;484;p8"/>
          <p:cNvSpPr/>
          <p:nvPr/>
        </p:nvSpPr>
        <p:spPr>
          <a:xfrm>
            <a:off x="3692941" y="3745006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Data receipt: ranked exposure + risk labels</a:t>
            </a:r>
            <a:endParaRPr/>
          </a:p>
        </p:txBody>
      </p:sp>
      <p:sp>
        <p:nvSpPr>
          <p:cNvPr id="490" name="Google Shape;490;p9"/>
          <p:cNvSpPr txBox="1"/>
          <p:nvPr/>
        </p:nvSpPr>
        <p:spPr>
          <a:xfrm>
            <a:off x="502920" y="960120"/>
            <a:ext cx="850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1" name="Google Shape;491;p9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492" name="Google Shape;492;p9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09.png" id="493" name="Google Shape;4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9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feed_items row</a:t>
            </a:r>
            <a:endParaRPr/>
          </a:p>
        </p:txBody>
      </p:sp>
      <p:sp>
        <p:nvSpPr>
          <p:cNvPr id="495" name="Google Shape;495;p9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(feed_uri, viewer_mode, rank)</a:t>
            </a:r>
            <a:endParaRPr/>
          </a:p>
        </p:txBody>
      </p:sp>
      <p:sp>
        <p:nvSpPr>
          <p:cNvPr id="496" name="Google Shape;496;p9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posts row</a:t>
            </a:r>
            <a:endParaRPr/>
          </a:p>
        </p:txBody>
      </p:sp>
      <p:sp>
        <p:nvSpPr>
          <p:cNvPr id="497" name="Google Shape;497;p9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text + links + langs</a:t>
            </a:r>
            <a:endParaRPr/>
          </a:p>
        </p:txBody>
      </p:sp>
      <p:sp>
        <p:nvSpPr>
          <p:cNvPr id="498" name="Google Shape;498;p9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post_labels row</a:t>
            </a:r>
            <a:endParaRPr/>
          </a:p>
        </p:txBody>
      </p:sp>
      <p:sp>
        <p:nvSpPr>
          <p:cNvPr id="499" name="Google Shape;499;p9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H6: risk exposure</a:t>
            </a:r>
            <a:endParaRPr/>
          </a:p>
        </p:txBody>
      </p:sp>
      <p:sp>
        <p:nvSpPr>
          <p:cNvPr id="500" name="Google Shape;500;p9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Feed auditing / mitigations</a:t>
            </a:r>
            <a:endParaRPr/>
          </a:p>
        </p:txBody>
      </p:sp>
      <p:sp>
        <p:nvSpPr>
          <p:cNvPr id="501" name="Google Shape;501;p9"/>
          <p:cNvSpPr/>
          <p:nvPr/>
        </p:nvSpPr>
        <p:spPr>
          <a:xfrm>
            <a:off x="4528998" y="1547446"/>
            <a:ext cx="3420681" cy="830241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9"/>
          <p:cNvSpPr/>
          <p:nvPr/>
        </p:nvSpPr>
        <p:spPr>
          <a:xfrm>
            <a:off x="4528998" y="2498279"/>
            <a:ext cx="3420681" cy="982950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9"/>
          <p:cNvSpPr/>
          <p:nvPr/>
        </p:nvSpPr>
        <p:spPr>
          <a:xfrm>
            <a:off x="4528998" y="3601821"/>
            <a:ext cx="3420681" cy="980069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9"/>
          <p:cNvSpPr/>
          <p:nvPr/>
        </p:nvSpPr>
        <p:spPr>
          <a:xfrm>
            <a:off x="4309542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05" name="Google Shape;505;p9"/>
          <p:cNvSpPr/>
          <p:nvPr/>
        </p:nvSpPr>
        <p:spPr>
          <a:xfrm>
            <a:off x="4309542" y="2534855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06" name="Google Shape;506;p9"/>
          <p:cNvSpPr/>
          <p:nvPr/>
        </p:nvSpPr>
        <p:spPr>
          <a:xfrm>
            <a:off x="4309542" y="3638397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0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2800">
                <a:solidFill>
                  <a:srgbClr val="262626"/>
                </a:solidFill>
              </a:rPr>
              <a:t>Data receipt: labels (schema + global values + prefs)</a:t>
            </a:r>
            <a:endParaRPr sz="2200"/>
          </a:p>
        </p:txBody>
      </p:sp>
      <p:sp>
        <p:nvSpPr>
          <p:cNvPr id="512" name="Google Shape;512;p10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labels are structured safety signals; behavior depends on viewer prefs.</a:t>
            </a:r>
            <a:endParaRPr/>
          </a:p>
        </p:txBody>
      </p:sp>
      <p:cxnSp>
        <p:nvCxnSpPr>
          <p:cNvPr id="513" name="Google Shape;513;p10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14" name="Google Shape;514;p10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10.png" id="515" name="Google Shape;5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0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Label schema</a:t>
            </a:r>
            <a:endParaRPr/>
          </a:p>
        </p:txBody>
      </p:sp>
      <p:sp>
        <p:nvSpPr>
          <p:cNvPr id="517" name="Google Shape;517;p10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(src, uri/cid, val, neg, cts)</a:t>
            </a:r>
            <a:endParaRPr/>
          </a:p>
        </p:txBody>
      </p:sp>
      <p:sp>
        <p:nvSpPr>
          <p:cNvPr id="518" name="Google Shape;518;p10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Global values</a:t>
            </a:r>
            <a:endParaRPr/>
          </a:p>
        </p:txBody>
      </p:sp>
      <p:sp>
        <p:nvSpPr>
          <p:cNvPr id="519" name="Google Shape;519;p10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protocol-defined strings</a:t>
            </a:r>
            <a:endParaRPr/>
          </a:p>
        </p:txBody>
      </p:sp>
      <p:sp>
        <p:nvSpPr>
          <p:cNvPr id="520" name="Google Shape;520;p10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Viewer prefs</a:t>
            </a:r>
            <a:endParaRPr/>
          </a:p>
        </p:txBody>
      </p:sp>
      <p:sp>
        <p:nvSpPr>
          <p:cNvPr id="521" name="Google Shape;521;p10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hide / warn / ignore</a:t>
            </a:r>
            <a:endParaRPr/>
          </a:p>
        </p:txBody>
      </p:sp>
      <p:sp>
        <p:nvSpPr>
          <p:cNvPr id="522" name="Google Shape;522;p10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Docs grounding</a:t>
            </a:r>
            <a:endParaRPr/>
          </a:p>
        </p:txBody>
      </p:sp>
      <p:sp>
        <p:nvSpPr>
          <p:cNvPr id="523" name="Google Shape;523;p10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0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0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0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27" name="Google Shape;527;p10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28" name="Google Shape;528;p10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1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2800">
                <a:solidFill>
                  <a:srgbClr val="262626"/>
                </a:solidFill>
              </a:rPr>
              <a:t>Data receipt: custom labels (definitions + targets)</a:t>
            </a:r>
            <a:endParaRPr sz="2200"/>
          </a:p>
        </p:txBody>
      </p:sp>
      <p:sp>
        <p:nvSpPr>
          <p:cNvPr id="534" name="Google Shape;534;p11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535" name="Google Shape;535;p11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labelers can define custom taxonomies; we preserve raw label_val strings.</a:t>
            </a:r>
            <a:endParaRPr/>
          </a:p>
        </p:txBody>
      </p:sp>
      <p:cxnSp>
        <p:nvCxnSpPr>
          <p:cNvPr id="536" name="Google Shape;536;p11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37" name="Google Shape;537;p11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11.png" id="538" name="Google Shape;5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11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Custom definitions</a:t>
            </a:r>
            <a:endParaRPr/>
          </a:p>
        </p:txBody>
      </p:sp>
      <p:sp>
        <p:nvSpPr>
          <p:cNvPr id="540" name="Google Shape;540;p11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blur + severity + defaults</a:t>
            </a:r>
            <a:endParaRPr/>
          </a:p>
        </p:txBody>
      </p:sp>
      <p:sp>
        <p:nvSpPr>
          <p:cNvPr id="541" name="Google Shape;541;p11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Label targets</a:t>
            </a:r>
            <a:endParaRPr/>
          </a:p>
        </p:txBody>
      </p:sp>
      <p:sp>
        <p:nvSpPr>
          <p:cNvPr id="542" name="Google Shape;542;p11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account vs profile vs content</a:t>
            </a:r>
            <a:endParaRPr/>
          </a:p>
        </p:txBody>
      </p:sp>
      <p:sp>
        <p:nvSpPr>
          <p:cNvPr id="543" name="Google Shape;543;p11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Observed values</a:t>
            </a:r>
            <a:endParaRPr/>
          </a:p>
        </p:txBody>
      </p:sp>
      <p:sp>
        <p:nvSpPr>
          <p:cNvPr id="544" name="Google Shape;544;p11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dataset examples</a:t>
            </a:r>
            <a:endParaRPr/>
          </a:p>
        </p:txBody>
      </p:sp>
      <p:sp>
        <p:nvSpPr>
          <p:cNvPr id="545" name="Google Shape;545;p11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/>
          </a:p>
        </p:txBody>
      </p:sp>
      <p:sp>
        <p:nvSpPr>
          <p:cNvPr id="546" name="Google Shape;546;p11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1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1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1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50" name="Google Shape;550;p11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51" name="Google Shape;551;p11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2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2200">
                <a:solidFill>
                  <a:srgbClr val="262626"/>
                </a:solidFill>
              </a:rPr>
              <a:t>Data receipt: labelers (declarations + subscriptions + self-labels)</a:t>
            </a:r>
            <a:endParaRPr sz="1600"/>
          </a:p>
        </p:txBody>
      </p:sp>
      <p:sp>
        <p:nvSpPr>
          <p:cNvPr id="557" name="Google Shape;557;p12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558" name="Google Shape;558;p12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labels come from services; viewers choose which labelers to trust.</a:t>
            </a:r>
            <a:endParaRPr/>
          </a:p>
        </p:txBody>
      </p:sp>
      <p:cxnSp>
        <p:nvCxnSpPr>
          <p:cNvPr id="559" name="Google Shape;559;p12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60" name="Google Shape;560;p12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12.png" id="561" name="Google Shape;5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12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Declaration</a:t>
            </a:r>
            <a:endParaRPr/>
          </a:p>
        </p:txBody>
      </p:sp>
      <p:sp>
        <p:nvSpPr>
          <p:cNvPr id="563" name="Google Shape;563;p12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values + policies</a:t>
            </a:r>
            <a:endParaRPr/>
          </a:p>
        </p:txBody>
      </p:sp>
      <p:sp>
        <p:nvSpPr>
          <p:cNvPr id="564" name="Google Shape;564;p12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Subscriptions</a:t>
            </a:r>
            <a:endParaRPr/>
          </a:p>
        </p:txBody>
      </p:sp>
      <p:sp>
        <p:nvSpPr>
          <p:cNvPr id="565" name="Google Shape;565;p12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viewer-selected</a:t>
            </a:r>
            <a:endParaRPr/>
          </a:p>
        </p:txBody>
      </p:sp>
      <p:sp>
        <p:nvSpPr>
          <p:cNvPr id="566" name="Google Shape;566;p12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Self-labels</a:t>
            </a:r>
            <a:endParaRPr/>
          </a:p>
        </p:txBody>
      </p:sp>
      <p:sp>
        <p:nvSpPr>
          <p:cNvPr id="567" name="Google Shape;567;p12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built-in values</a:t>
            </a:r>
            <a:endParaRPr/>
          </a:p>
        </p:txBody>
      </p:sp>
      <p:sp>
        <p:nvSpPr>
          <p:cNvPr id="568" name="Google Shape;568;p12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/>
          </a:p>
        </p:txBody>
      </p:sp>
      <p:sp>
        <p:nvSpPr>
          <p:cNvPr id="569" name="Google Shape;569;p12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2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2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2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73" name="Google Shape;573;p12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74" name="Google Shape;574;p12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3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2600">
                <a:solidFill>
                  <a:srgbClr val="262626"/>
                </a:solidFill>
              </a:rPr>
              <a:t>Data receipt: moderation decisions (flags + UI contexts)</a:t>
            </a:r>
            <a:endParaRPr sz="2000"/>
          </a:p>
        </p:txBody>
      </p:sp>
      <p:sp>
        <p:nvSpPr>
          <p:cNvPr id="580" name="Google Shape;580;p13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581" name="Google Shape;581;p13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the same label can blur/warn/filter depending on context + prefs.</a:t>
            </a:r>
            <a:endParaRPr/>
          </a:p>
        </p:txBody>
      </p:sp>
      <p:cxnSp>
        <p:nvCxnSpPr>
          <p:cNvPr id="582" name="Google Shape;582;p13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83" name="Google Shape;583;p13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13.png" id="584" name="Google Shape;5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13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moderatePost()</a:t>
            </a:r>
            <a:endParaRPr/>
          </a:p>
        </p:txBody>
      </p:sp>
      <p:sp>
        <p:nvSpPr>
          <p:cNvPr id="586" name="Google Shape;586;p13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post + prefs → decision</a:t>
            </a:r>
            <a:endParaRPr/>
          </a:p>
        </p:txBody>
      </p:sp>
      <p:sp>
        <p:nvSpPr>
          <p:cNvPr id="587" name="Google Shape;587;p13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Output flags</a:t>
            </a:r>
            <a:endParaRPr/>
          </a:p>
        </p:txBody>
      </p:sp>
      <p:sp>
        <p:nvSpPr>
          <p:cNvPr id="588" name="Google Shape;588;p13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filter / blur / alert / inform</a:t>
            </a:r>
            <a:endParaRPr/>
          </a:p>
        </p:txBody>
      </p:sp>
      <p:sp>
        <p:nvSpPr>
          <p:cNvPr id="589" name="Google Shape;589;p13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UI contexts</a:t>
            </a:r>
            <a:endParaRPr/>
          </a:p>
        </p:txBody>
      </p:sp>
      <p:sp>
        <p:nvSpPr>
          <p:cNvPr id="590" name="Google Shape;590;p13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contentList vs view vs media</a:t>
            </a:r>
            <a:endParaRPr/>
          </a:p>
        </p:txBody>
      </p:sp>
      <p:sp>
        <p:nvSpPr>
          <p:cNvPr id="591" name="Google Shape;591;p13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Docs grounding</a:t>
            </a:r>
            <a:endParaRPr/>
          </a:p>
        </p:txBody>
      </p:sp>
      <p:sp>
        <p:nvSpPr>
          <p:cNvPr id="592" name="Google Shape;592;p13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3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3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3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96" name="Google Shape;596;p13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97" name="Google Shape;597;p13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4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Collection credibility (one slide)</a:t>
            </a:r>
            <a:endParaRPr/>
          </a:p>
        </p:txBody>
      </p:sp>
      <p:sp>
        <p:nvSpPr>
          <p:cNvPr id="603" name="Google Shape;603;p14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604" name="Google Shape;604;p14"/>
          <p:cNvSpPr/>
          <p:nvPr/>
        </p:nvSpPr>
        <p:spPr>
          <a:xfrm>
            <a:off x="502920" y="1417320"/>
            <a:ext cx="406908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64575" lIns="228600" spcFirstLastPara="1" rIns="22860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76FFE"/>
                </a:solidFill>
                <a:latin typeface="Arial"/>
                <a:ea typeface="Arial"/>
                <a:cs typeface="Arial"/>
                <a:sym typeface="Arial"/>
              </a:rPr>
              <a:t>Read-only XRPC summary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Relay + AppView reads.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GET-only in this run.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POST auth only if auth mode is used.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No posting actions.</a:t>
            </a:r>
            <a:endParaRPr/>
          </a:p>
        </p:txBody>
      </p:sp>
      <p:sp>
        <p:nvSpPr>
          <p:cNvPr id="605" name="Google Shape;605;p14"/>
          <p:cNvSpPr/>
          <p:nvPr/>
        </p:nvSpPr>
        <p:spPr>
          <a:xfrm>
            <a:off x="4892040" y="1417320"/>
            <a:ext cx="406908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64575" lIns="228600" spcFirstLastPara="1" rIns="22860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29CF4"/>
                </a:solidFill>
                <a:latin typeface="Arial"/>
                <a:ea typeface="Arial"/>
                <a:cs typeface="Arial"/>
                <a:sym typeface="Arial"/>
              </a:rPr>
              <a:t>7-stage pipeline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relay -&gt; index -&gt; packs -&gt; popular -&gt; enrich -&gt; panel -&gt; snapshot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Reproducibility: state.db, manifest.csv, data_dictionary.csv, validation_report.csv.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5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What this enables next + advisor asks</a:t>
            </a:r>
            <a:endParaRPr/>
          </a:p>
        </p:txBody>
      </p:sp>
      <p:sp>
        <p:nvSpPr>
          <p:cNvPr id="611" name="Google Shape;611;p15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612" name="Google Shape;612;p15"/>
          <p:cNvSpPr/>
          <p:nvPr/>
        </p:nvSpPr>
        <p:spPr>
          <a:xfrm>
            <a:off x="502920" y="1417320"/>
            <a:ext cx="406908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64575" lIns="228600" spcFirstLastPara="1" rIns="22860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76FFE"/>
                </a:solidFill>
                <a:latin typeface="Arial"/>
                <a:ea typeface="Arial"/>
                <a:cs typeface="Arial"/>
                <a:sym typeface="Arial"/>
              </a:rPr>
              <a:t>Ready measurements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RQ1: measure discovery concentration.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RQ2: map provider leverage.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RQ3: test same winner overlap.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RQ4: compare label variability.</a:t>
            </a:r>
            <a:endParaRPr/>
          </a:p>
        </p:txBody>
      </p:sp>
      <p:sp>
        <p:nvSpPr>
          <p:cNvPr id="613" name="Google Shape;613;p15"/>
          <p:cNvSpPr/>
          <p:nvPr/>
        </p:nvSpPr>
        <p:spPr>
          <a:xfrm>
            <a:off x="4846315" y="1417320"/>
            <a:ext cx="40692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64575" lIns="228600" spcFirstLastPara="1" rIns="22860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29CF4"/>
                </a:solidFill>
                <a:latin typeface="Arial"/>
                <a:ea typeface="Arial"/>
                <a:cs typeface="Arial"/>
                <a:sym typeface="Arial"/>
              </a:rPr>
              <a:t>What I need from you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Ask 1: priority RQs and venue fit.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Ask 2: recollect longitudinal, auth mode, or experiments?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6"/>
          <p:cNvSpPr txBox="1"/>
          <p:nvPr>
            <p:ph type="title"/>
          </p:nvPr>
        </p:nvSpPr>
        <p:spPr>
          <a:xfrm>
            <a:off x="1386575" y="1337225"/>
            <a:ext cx="35418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4400">
                <a:solidFill>
                  <a:srgbClr val="262626"/>
                </a:solidFill>
              </a:rPr>
              <a:t>Appendix: official Bluesky UI screens</a:t>
            </a:r>
            <a:endParaRPr/>
          </a:p>
        </p:txBody>
      </p:sp>
      <p:sp>
        <p:nvSpPr>
          <p:cNvPr id="619" name="Google Shape;619;p16"/>
          <p:cNvSpPr txBox="1"/>
          <p:nvPr>
            <p:ph idx="1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100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620" name="Google Shape;620;p16"/>
          <p:cNvSpPr txBox="1"/>
          <p:nvPr>
            <p:ph idx="1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100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Visual by Slidesgo">
  <a:themeElements>
    <a:clrScheme name="Simple Light">
      <a:dk1>
        <a:srgbClr val="262626"/>
      </a:dk1>
      <a:lt1>
        <a:srgbClr val="E1EAFF"/>
      </a:lt1>
      <a:dk2>
        <a:srgbClr val="4951E4"/>
      </a:dk2>
      <a:lt2>
        <a:srgbClr val="86E9C0"/>
      </a:lt2>
      <a:accent1>
        <a:srgbClr val="86E9C0"/>
      </a:accent1>
      <a:accent2>
        <a:srgbClr val="4951E4"/>
      </a:accent2>
      <a:accent3>
        <a:srgbClr val="929CF4"/>
      </a:accent3>
      <a:accent4>
        <a:srgbClr val="FFFFFF"/>
      </a:accent4>
      <a:accent5>
        <a:srgbClr val="FFFFFF"/>
      </a:accent5>
      <a:accent6>
        <a:srgbClr val="FFFFFF"/>
      </a:accent6>
      <a:hlink>
        <a:srgbClr val="26262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