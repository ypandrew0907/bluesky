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Kedebideri SemiBold"/>
      <p:regular r:id="rId43"/>
      <p:bold r:id="rId44"/>
    </p:embeddedFont>
    <p:embeddedFont>
      <p:font typeface="Stack Sans Notch Medium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  <p:embeddedFont>
      <p:font typeface="Kedebideri"/>
      <p:regular r:id="rId51"/>
      <p:bold r:id="rId52"/>
    </p:embeddedFont>
    <p:embeddedFont>
      <p:font typeface="Kedebideri ExtraBold"/>
      <p:bold r:id="rId53"/>
    </p:embeddedFont>
    <p:embeddedFont>
      <p:font typeface="Stack Sans Notch Light"/>
      <p:regular r:id="rId54"/>
      <p:bold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744wfujY8jBioN1FfWaQ9V3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font" Target="fonts/Raleway-regular.fntdata"/><Relationship Id="rId40" Type="http://schemas.openxmlformats.org/officeDocument/2006/relationships/font" Target="fonts/Raleway-bold.fntdata"/><Relationship Id="rId41" Type="http://schemas.openxmlformats.org/officeDocument/2006/relationships/font" Target="fonts/Raleway-italic.fntdata"/><Relationship Id="rId42" Type="http://schemas.openxmlformats.org/officeDocument/2006/relationships/font" Target="fonts/Raleway-boldItalic.fntdata"/><Relationship Id="rId43" Type="http://schemas.openxmlformats.org/officeDocument/2006/relationships/font" Target="fonts/KedebideriSemiBold-regular.fntdata"/><Relationship Id="rId44" Type="http://schemas.openxmlformats.org/officeDocument/2006/relationships/font" Target="fonts/KedebideriSemiBold-bold.fntdata"/><Relationship Id="rId45" Type="http://schemas.openxmlformats.org/officeDocument/2006/relationships/font" Target="fonts/StackSansNotchMedium-regular.fntdata"/><Relationship Id="rId46" Type="http://schemas.openxmlformats.org/officeDocument/2006/relationships/font" Target="fonts/StackSansNotchMedium-bold.fntdata"/><Relationship Id="rId47" Type="http://schemas.openxmlformats.org/officeDocument/2006/relationships/font" Target="fonts/RalewayMedium-regular.fntdata"/><Relationship Id="rId48" Type="http://schemas.openxmlformats.org/officeDocument/2006/relationships/font" Target="fonts/RalewayMedium-bold.fntdata"/><Relationship Id="rId49" Type="http://schemas.openxmlformats.org/officeDocument/2006/relationships/font" Target="fonts/RalewayMedium-italic.fntdata"/><Relationship Id="rId50" Type="http://schemas.openxmlformats.org/officeDocument/2006/relationships/font" Target="fonts/RalewayMedium-boldItalic.fntdata"/><Relationship Id="rId51" Type="http://schemas.openxmlformats.org/officeDocument/2006/relationships/font" Target="fonts/Kedebideri-regular.fntdata"/><Relationship Id="rId52" Type="http://schemas.openxmlformats.org/officeDocument/2006/relationships/font" Target="fonts/Kedebideri-bold.fntdata"/><Relationship Id="rId53" Type="http://schemas.openxmlformats.org/officeDocument/2006/relationships/font" Target="fonts/KedebideriExtraBold-bold.fntdata"/><Relationship Id="rId54" Type="http://schemas.openxmlformats.org/officeDocument/2006/relationships/font" Target="fonts/StackSansNotchLight-regular.fntdata"/><Relationship Id="rId55" Type="http://schemas.openxmlformats.org/officeDocument/2006/relationships/font" Target="fonts/StackSansNotchLight-bold.fntdata"/><Relationship Id="rId56" Type="http://schemas.openxmlformats.org/officeDocument/2006/relationships/font" Target="fonts/OpenSans-regular.fntdata"/><Relationship Id="rId57" Type="http://schemas.openxmlformats.org/officeDocument/2006/relationships/font" Target="fonts/OpenSans-bold.fntdata"/><Relationship Id="rId58" Type="http://schemas.openxmlformats.org/officeDocument/2006/relationships/font" Target="fonts/OpenSans-italic.fntdata"/><Relationship Id="rId59" Type="http://schemas.openxmlformats.org/officeDocument/2006/relationships/font" Target="fonts/OpenSans-boldItalic.fntdata"/><Relationship Id="rId6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8144b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68144b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8144bd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8144bd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68144bd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68144bd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8144bd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8144bd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8144bd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68144bd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8144bd4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68144bd4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8144bd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68144bd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8144bd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68144bd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8144bd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8144bd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68144bd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68144bd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68144bd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68144bd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8144bd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8144bd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6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6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8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8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2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8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8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1" name="Google Shape;31;p28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2" name="Google Shape;32;p28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28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8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0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0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1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1"/>
          <p:cNvSpPr txBox="1"/>
          <p:nvPr>
            <p:ph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2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2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p3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3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33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5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6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8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1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/>
          <p:nvPr>
            <p:ph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5" name="Google Shape;85;p41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41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41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1" name="Google Shape;91;p41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2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2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42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4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b="0" i="0" sz="2600" u="none" cap="none" strike="noStrike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540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6720840" y="502920"/>
            <a:ext cx="1920240" cy="50292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 data collection phase…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16" name="Google Shape;116;p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82" y="1307183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modular services relocate concentration.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196596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148840" y="1965960"/>
            <a:ext cx="169164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surfaces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406908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generators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715000" y="1965960"/>
            <a:ext cx="15087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provider hosting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45236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outcomes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640580" y="2926080"/>
            <a:ext cx="19659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labelers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92024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" name="Google Shape;125;p2"/>
          <p:cNvCxnSpPr/>
          <p:nvPr/>
        </p:nvCxnSpPr>
        <p:spPr>
          <a:xfrm>
            <a:off x="384048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6" name="Google Shape;126;p2"/>
          <p:cNvCxnSpPr/>
          <p:nvPr/>
        </p:nvCxnSpPr>
        <p:spPr>
          <a:xfrm>
            <a:off x="548640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7" name="Google Shape;127;p2"/>
          <p:cNvCxnSpPr/>
          <p:nvPr/>
        </p:nvCxnSpPr>
        <p:spPr>
          <a:xfrm>
            <a:off x="722376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8" name="Google Shape;128;p2"/>
          <p:cNvCxnSpPr/>
          <p:nvPr/>
        </p:nvCxnSpPr>
        <p:spPr>
          <a:xfrm>
            <a:off x="4777740" y="2587752"/>
            <a:ext cx="845820" cy="33832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" name="Google Shape;129;p2"/>
          <p:cNvSpPr txBox="1"/>
          <p:nvPr/>
        </p:nvSpPr>
        <p:spPr>
          <a:xfrm>
            <a:off x="502920" y="425196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Discovery surfaces and provider hosting are key ch</a:t>
            </a:r>
            <a:r>
              <a:rPr lang="en-US" sz="1425">
                <a:solidFill>
                  <a:srgbClr val="4B5563"/>
                </a:solidFill>
              </a:rPr>
              <a:t>e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kepoints.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35" name="Google Shape;135;p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feeds are discoverable + selectable algorithmic timelines.</a:t>
            </a:r>
            <a:endParaRPr/>
          </a:p>
        </p:txBody>
      </p:sp>
      <p:cxnSp>
        <p:nvCxnSpPr>
          <p:cNvPr id="137" name="Google Shape;137;p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8" name="Google Shape;138;p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s.pn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/feeds directory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Search feeds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Feed cards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Creator + likes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Trending widget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Defaults matter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risk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199197" y="1636540"/>
            <a:ext cx="1327800" cy="7866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239929" y="1463041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 flipH="1" rot="10800000">
            <a:off x="3246120" y="1869830"/>
            <a:ext cx="563879" cy="59554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3246120" y="2843784"/>
            <a:ext cx="563879" cy="364676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60" name="Google Shape;160;p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a feed page renders an algorithm into a timeline of posts.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_for_science.png"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 name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Demand signals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Timeline output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decisions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actions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we measure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Manipulation risk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797100" y="1371600"/>
            <a:ext cx="4117200" cy="48900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97104" y="2122324"/>
            <a:ext cx="3872400" cy="192930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45008" y="3955312"/>
            <a:ext cx="1991700" cy="3741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063000" y="3681000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 flipH="1" rot="10800000">
            <a:off x="3246120" y="1773115"/>
            <a:ext cx="550984" cy="15626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79" name="Google Shape;179;p4"/>
          <p:cNvCxnSpPr/>
          <p:nvPr/>
        </p:nvCxnSpPr>
        <p:spPr>
          <a:xfrm>
            <a:off x="3246120" y="2843784"/>
            <a:ext cx="550984" cy="287303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85" name="Google Shape;185;p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sometimes feeds) for fast onboarding.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8" name="Google Shape;188;p5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starterpack.png"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Pack title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Curated list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Join button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1-click onboarding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People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questions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Measure exposure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 flipH="1" rot="10800000">
            <a:off x="3246120" y="1856935"/>
            <a:ext cx="550984" cy="7244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4" name="Google Shape;204;p5"/>
          <p:cNvCxnSpPr/>
          <p:nvPr/>
        </p:nvCxnSpPr>
        <p:spPr>
          <a:xfrm flipH="1" rot="10800000">
            <a:off x="3246120" y="2475913"/>
            <a:ext cx="550984" cy="367871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labeling surfaces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user-facing controls that shape what gets shown or filtered.</a:t>
            </a:r>
            <a:endParaRPr/>
          </a:p>
        </p:txBody>
      </p:sp>
      <p:cxnSp>
        <p:nvCxnSpPr>
          <p:cNvPr id="211" name="Google Shape;211;p1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2" name="Google Shape;212;p1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8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Self-label button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surface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Content warning picker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Adult Content options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Labeled post banner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Attribution to labeler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filtering + exposure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18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reply controls 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reply controls gate interaction, changing who can respond and what feedback loops form.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9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Reply controls button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setting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Who can reply picker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Audience gating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notice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Visible constraint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interaction graphs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51" name="Google Shape;251;p19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2" name="Google Shape;252;p19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502920" y="32004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labelers + moderation tools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moderation is modular</a:t>
            </a:r>
            <a:r>
              <a:rPr lang="en-US" sz="1425">
                <a:solidFill>
                  <a:srgbClr val="4B5563"/>
                </a:solidFill>
              </a:rPr>
              <a:t>, 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users can subscribe to labelers and tune label handling.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2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0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Subscribe to labeler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Third-party policies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Per-label controls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 / Warn / Hide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Ozone moderation UI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Operational tooling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power shifts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75" name="Google Shape;275;p20"/>
          <p:cNvCxnSpPr/>
          <p:nvPr/>
        </p:nvCxnSpPr>
        <p:spPr>
          <a:xfrm>
            <a:off x="3246120" y="1929384"/>
            <a:ext cx="453342" cy="17868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76" name="Google Shape;276;p20"/>
          <p:cNvCxnSpPr/>
          <p:nvPr/>
        </p:nvCxnSpPr>
        <p:spPr>
          <a:xfrm>
            <a:off x="3246120" y="2843784"/>
            <a:ext cx="453342" cy="220884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flow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context) into a single shareable onboarding object.</a:t>
            </a:r>
            <a:endParaRPr/>
          </a:p>
        </p:txBody>
      </p:sp>
      <p:cxnSp>
        <p:nvCxnSpPr>
          <p:cNvPr id="283" name="Google Shape;283;p2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2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2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Create starter pack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 + description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Choose people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choices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Share pack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Link / QR / image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bundled exposure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99" name="Google Shape;299;p22"/>
          <p:cNvCxnSpPr/>
          <p:nvPr/>
        </p:nvCxnSpPr>
        <p:spPr>
          <a:xfrm>
            <a:off x="3246120" y="1929384"/>
            <a:ext cx="453342" cy="1135285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22"/>
          <p:cNvCxnSpPr/>
          <p:nvPr/>
        </p:nvCxnSpPr>
        <p:spPr>
          <a:xfrm>
            <a:off x="3246120" y="2843784"/>
            <a:ext cx="2216705" cy="220885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971" y="1484609"/>
            <a:ext cx="5697926" cy="3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discovery surfaces 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shaped by navigation, defaults, and safety settings surfaced in the UI.</a:t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9" name="Google Shape;309;p2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1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feeds tab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Algorithm marketplace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Moderation menu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Filtering settings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Starter packs tab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Onboarding surface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defaults steer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handles (surface → settings) </a:t>
            </a:r>
            <a:endParaRPr/>
          </a:p>
        </p:txBody>
      </p:sp>
      <p:cxnSp>
        <p:nvCxnSpPr>
          <p:cNvPr id="331" name="Google Shape;331;p2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2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3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Domain handle profile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Trust signal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Settings: handle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Entry point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Use own domain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Verification flow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credibility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47" name="Google Shape;347;p23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23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verification + examples </a:t>
            </a:r>
            <a:endParaRPr/>
          </a:p>
        </p:txBody>
      </p:sp>
      <p:sp>
        <p:nvSpPr>
          <p:cNvPr id="354" name="Google Shape;354;p24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BLUESKY RQs + DATA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verification relies on external DNS tooling, creating measurable and potentially gameable steps.</a:t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57" name="Google Shape;357;p2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4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DNS TXT record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Proof-of-control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Domain handle example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@npr.org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DNS management UI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 dependency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measurable steps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72" name="Google Shape;372;p24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3" name="Google Shape;373;p24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00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379" name="Google Shape;379;p6"/>
          <p:cNvSpPr txBox="1"/>
          <p:nvPr>
            <p:ph idx="1" type="subTitle"/>
          </p:nvPr>
        </p:nvSpPr>
        <p:spPr>
          <a:xfrm>
            <a:off x="1362775" y="2348550"/>
            <a:ext cx="2974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380" name="Google Shape;380;p6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381" name="Google Shape;381;p6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382" name="Google Shape;382;p6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383" name="Google Shape;383;p6"/>
          <p:cNvSpPr txBox="1"/>
          <p:nvPr>
            <p:ph idx="5" type="subTitle"/>
          </p:nvPr>
        </p:nvSpPr>
        <p:spPr>
          <a:xfrm>
            <a:off x="5107125" y="2348550"/>
            <a:ext cx="3191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384" name="Google Shape;384;p6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385" name="Google Shape;385;p6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386" name="Google Shape;386;p6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387" name="Google Shape;387;p6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388" name="Google Shape;388;p6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05</a:t>
            </a:r>
            <a:endParaRPr/>
          </a:p>
        </p:txBody>
      </p:sp>
      <p:sp>
        <p:nvSpPr>
          <p:cNvPr id="389" name="Google Shape;389;p6"/>
          <p:cNvSpPr txBox="1"/>
          <p:nvPr/>
        </p:nvSpPr>
        <p:spPr>
          <a:xfrm>
            <a:off x="502920" y="105156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security and privacy scope.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8144bd4a_0_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RQ1</a:t>
            </a:r>
            <a:endParaRPr/>
          </a:p>
        </p:txBody>
      </p:sp>
      <p:sp>
        <p:nvSpPr>
          <p:cNvPr id="395" name="Google Shape;395;g3c68144bd4a_0_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 Bluesky, which is ‘pluggable,’ or </a:t>
            </a:r>
            <a:r>
              <a:rPr lang="en-US" sz="1600"/>
              <a:t>decentralized.</a:t>
            </a:r>
            <a:r>
              <a:rPr lang="en-US" sz="1600"/>
              <a:t> does onboarding/discovery behave like a centralized platform anyway? Concretely: how concentrated are starter packs and other discovery surfaces, and how much leverage do a few feed providers get over what new users see?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starterpack_feeds.csv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discovery_feed_inclusions.csv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popular_feeds.csv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8144bd4a_0_8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68144bd4a_0_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RQ1: Exact Data We Will Use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Discovery concentration and provider leverage</a:t>
            </a:r>
          </a:p>
        </p:txBody>
      </p:sp>
      <p:graphicFrame>
        <p:nvGraphicFramePr>
          <p:cNvPr id="404" name="Table 40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Minimum columns used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Purpose for RQ1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starterpack_uri, creator_did, name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Identify who creates influential starter packs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starterpack_feeds.csv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starterpack_uri, feed_uri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Map packs to promoted feeds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discovery_feed_inclusions.csv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inclusion_count, inclusion_rank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Measure discovery concentration across feeds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feed_generators_index.csv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provider_bucket, service_did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Estimate provider-level leverage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popular_feeds.csv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popularity_rank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Compare discovery vs popularity baseline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8144bd4a_0_4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8144bd4a_0_4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RQ1: Conceptual Metrics (Minimal Inputs)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Keep only columns needed for brief professor-facing analysis plan</a:t>
            </a:r>
          </a:p>
        </p:txBody>
      </p:sp>
      <p:graphicFrame>
        <p:nvGraphicFramePr>
          <p:cNvPr id="410" name="Table 40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Minimal fields kept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 we can compute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starterpack_uri, creator_did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Creator concentration of starter packs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starterpack_feeds.csv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starterpack_uri, feed_uri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Pack-to-feed dependency network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discovery_feed_inclusions.csv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inclusion_count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Top-k share / concentration curve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feed_generators_index.csv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provider_bucket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Provider concentration (e.g., HHI/Gini)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579120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popular_feeds.csv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popularity_rank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Rank-correlation with discovery exposure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8144bd4a_0_26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RQ2</a:t>
            </a:r>
            <a:endParaRPr/>
          </a:p>
        </p:txBody>
      </p:sp>
      <p:sp>
        <p:nvSpPr>
          <p:cNvPr id="413" name="Google Shape;413;g3c68144bd4a_0_2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Across feeds that people commonly discover/use, does exposure concentrate among fewer creators, do the same creators win everywhere, and do large accounts get boosted more than in long-tail feeds?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authors.csv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8144bd4a_0_5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68144bd4a_0_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RQ2: Exact Data We Will Use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Exposure concentration, overlap of winners, and account-size effects</a:t>
            </a:r>
          </a:p>
        </p:txBody>
      </p:sp>
      <p:graphicFrame>
        <p:nvGraphicFramePr>
          <p:cNvPr id="422" name="Table 421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Minimum columns used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Purpose for RQ2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feed_panel.csv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feed_group, selection_reason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Define comparison feed set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rank, post_uri, author_did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Observed ranked exposure by feed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author_did, like_count, repost_count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Post-level engagement controls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author_did, followers_count, posts_count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Account-size baseline (large vs long-tail)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8144bd4a_0_7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68144bd4a_0_7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TextBox 42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RQ2: Conceptual Metrics (Minimal Inputs)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Four concise checks enough for a brief conceptual presentation</a:t>
            </a:r>
          </a:p>
        </p:txBody>
      </p:sp>
      <p:graphicFrame>
        <p:nvGraphicFramePr>
          <p:cNvPr id="428" name="Table 42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Minimal fields kept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 we can compute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author_did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Creator concentration by feed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rank, author_did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Top-rank winner overlap across feeds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author_did, followers_count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Size-decile boost comparison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feed_panel.csv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feed_group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Mainstream vs long-tail contrast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8144bd4a_0_3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RQ3</a:t>
            </a:r>
            <a:endParaRPr/>
          </a:p>
        </p:txBody>
      </p:sp>
      <p:sp>
        <p:nvSpPr>
          <p:cNvPr id="431" name="Google Shape;431;g3c68144bd4a_0_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What attacks are feasible when (a) feed generators are third-party services, and (b) they can be ‘growth-gaming’ by design? How do injected interactions (bots/sybils), collusion, and malicious ranking policies change exposure — and what defenses can labelers/users/platform enforce?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</a:t>
            </a:r>
            <a:r>
              <a:rPr lang="en-US" sz="1600"/>
              <a:t>eed_snapshot_status.csv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errors.csv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8144bd4a_0_5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68144bd4a_0_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RQ3: Exact Data We Will Use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Attack feasibility, ranking manipulation, and enforceable defenses</a:t>
            </a:r>
          </a:p>
        </p:txBody>
      </p:sp>
      <p:graphicFrame>
        <p:nvGraphicFramePr>
          <p:cNvPr id="440" name="Table 43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Minimum columns used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Purpose for RQ3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feed_generators_index.csv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provider_bucket, accepts_interaction, content_mode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Map attack surface by feed-generator design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feed_panel.csv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feed_group, selection_reason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Anchor attack scenarios to real feed groups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rank, post_uri, reason_type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Detect rank shifts under injected interactions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author_did, external_domain, mention_count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Proxy for coordination/collusion patterns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post_labels.csv.gz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label_src, label_val, label_neg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Check moderation coverage on attacked items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feed_snapshot_status.csv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success, http_status, error_type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Operational constraints for practical defenses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8144bd4a_0_7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68144bd4a_0_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RQ3: Conceptual Metrics (Minimal Inputs)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Six compact analysis checks for brief discussion with professor</a:t>
            </a:r>
          </a:p>
        </p:txBody>
      </p:sp>
      <p:graphicFrame>
        <p:nvGraphicFramePr>
          <p:cNvPr id="446" name="Table 445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Minimal fields kept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 we can compute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rank, author_did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Baseline exposure distribution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rank, reason_type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Injected-ranking pattern test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author_did, quote_count, reply_count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Collusion/coordination proxy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post_labels.csv.gz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label_val, label_src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Defense signal coverage rate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feed_generators_index.csv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accepts_interaction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Susceptibility flag by feed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errors.csv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stage, error_type, http_status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Failure-aware defense feasibility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8144bd4a_0_4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RQ4</a:t>
            </a:r>
            <a:endParaRPr/>
          </a:p>
        </p:txBody>
      </p:sp>
      <p:sp>
        <p:nvSpPr>
          <p:cNvPr id="449" name="Google Shape;449;g3c68144bd4a_0_4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does ‘subscribe-to-labelers’ moderation behave in practice across feeds and communities? Where do labelers fail (coverage gaps, underrepresented groups, cross-community abuse), and how can labelers share models/signals without introducing privacy leakage or poisoning risks?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 (especially post_labels_json and author_labels_json)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68144bd4a_0_6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68144bd4a_0_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RQ4: Exact Data We Will Use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Labeler-based moderation coverage and cross-community behavior</a:t>
            </a:r>
          </a:p>
        </p:txBody>
      </p:sp>
      <p:graphicFrame>
        <p:nvGraphicFramePr>
          <p:cNvPr id="458" name="Table 45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Minimum columns used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Purpose for RQ4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post_labels.csv.gz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feed_uri, label_src, label_val, label_neg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Who labels what and with which polarity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author_did, post_labels_json, author_labels_json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Find coverage gaps on posts/authors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viewer_mode, rank, post_uri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Check if labeled content still surfaces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feed_panel.csv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feed_group, provider_bucket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Compare moderation behavior across communities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8144bd4a_0_6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68144bd4a_0_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TextBox 46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RQ4: Conceptual Metrics (Minimal Inputs)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Four compact checks sufficient for current conceptual stage</a:t>
            </a:r>
          </a:p>
        </p:txBody>
      </p:sp>
      <p:graphicFrame>
        <p:nvGraphicFramePr>
          <p:cNvPr id="464" name="Table 46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29000"/>
                <a:gridCol w="2148840"/>
              </a:tblGrid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Minimal fields kept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 we can compute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post_labels.csv.gz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label_src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Labeler coverage rate by source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post_uri, langs_json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Language-based undercoverage checks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author_did, author_labels_json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Author-level moderation consistency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69494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feed_items.csv.gz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feed_uri, post_uri, rank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Exposure gap for labeled vs unlabeled items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300">
                <a:solidFill>
                  <a:srgbClr val="262626"/>
                </a:solidFill>
              </a:rPr>
              <a:t>Data receipt: discovery surfaces (starter packs + popular list)</a:t>
            </a:r>
            <a:endParaRPr sz="1700"/>
          </a:p>
        </p:txBody>
      </p:sp>
      <p:sp>
        <p:nvSpPr>
          <p:cNvPr id="467" name="Google Shape;467;p8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measurable via starter-pack inclusion and popular list ranks.</a:t>
            </a:r>
            <a:endParaRPr/>
          </a:p>
        </p:txBody>
      </p:sp>
      <p:cxnSp>
        <p:nvCxnSpPr>
          <p:cNvPr id="469" name="Google Shape;469;p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0" name="Google Shape;470;p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8.png" id="471" name="Google Shape;4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Starter packs</a:t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starterpacks + starterpack_feeds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Inclusion_count</a:t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slot_count (position-weighted)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Popularity_rank</a:t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Concentration + provider leverage</a:t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502920" y="96012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92" name="Google Shape;492;p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9.png" id="493" name="Google Shape;4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feed_items row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(feed_uri, viewer_mode, rank)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posts row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text + links + langs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post_labels row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H6: risk exposure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auditing / mitigations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labels (schema + global values + prefs)</a:t>
            </a:r>
            <a:endParaRPr sz="2200"/>
          </a:p>
        </p:txBody>
      </p:sp>
      <p:sp>
        <p:nvSpPr>
          <p:cNvPr id="512" name="Google Shape;512;p10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structured safety signals; behavior depends on viewer prefs.</a:t>
            </a:r>
            <a:endParaRPr/>
          </a:p>
        </p:txBody>
      </p:sp>
      <p:cxnSp>
        <p:nvCxnSpPr>
          <p:cNvPr id="513" name="Google Shape;513;p1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14" name="Google Shape;514;p1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0.png" id="515" name="Google Shape;5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Label schema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(src, uri/cid, val, neg, cts)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Global values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protocol-defined strings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Viewer prefs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hide / warn / ignore</a:t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custom labels (definitions + targets)</a:t>
            </a:r>
            <a:endParaRPr sz="2200"/>
          </a:p>
        </p:txBody>
      </p:sp>
      <p:sp>
        <p:nvSpPr>
          <p:cNvPr id="534" name="Google Shape;534;p11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labelers can define custom taxonomies; we preserve raw label_val strings.</a:t>
            </a:r>
            <a:endParaRPr/>
          </a:p>
        </p:txBody>
      </p:sp>
      <p:cxnSp>
        <p:nvCxnSpPr>
          <p:cNvPr id="536" name="Google Shape;536;p1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37" name="Google Shape;537;p1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1.png"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definitions</a:t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blur + severity + defaults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Label targets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account vs profile vs content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Observed values</a:t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examples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200">
                <a:solidFill>
                  <a:srgbClr val="262626"/>
                </a:solidFill>
              </a:rPr>
              <a:t>Data receipt: labelers (declarations + subscriptions + self-labels)</a:t>
            </a:r>
            <a:endParaRPr sz="1600"/>
          </a:p>
        </p:txBody>
      </p:sp>
      <p:sp>
        <p:nvSpPr>
          <p:cNvPr id="557" name="Google Shape;557;p1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come from services; viewers choose which labelers to trust.</a:t>
            </a:r>
            <a:endParaRPr/>
          </a:p>
        </p:txBody>
      </p:sp>
      <p:cxnSp>
        <p:nvCxnSpPr>
          <p:cNvPr id="559" name="Google Shape;559;p1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60" name="Google Shape;560;p1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2.png" id="561" name="Google Shape;5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Declaration</a:t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values + policies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Subscriptions</a:t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viewer-selected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Self-labels</a:t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built-in values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600">
                <a:solidFill>
                  <a:srgbClr val="262626"/>
                </a:solidFill>
              </a:rPr>
              <a:t>Data receipt: moderation decisions (flags + UI contexts)</a:t>
            </a:r>
            <a:endParaRPr sz="2000"/>
          </a:p>
        </p:txBody>
      </p:sp>
      <p:sp>
        <p:nvSpPr>
          <p:cNvPr id="580" name="Google Shape;580;p1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the same label can blur/warn/filter depending on context + prefs.</a:t>
            </a:r>
            <a:endParaRPr/>
          </a:p>
        </p:txBody>
      </p:sp>
      <p:cxnSp>
        <p:nvCxnSpPr>
          <p:cNvPr id="582" name="Google Shape;582;p1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3" name="Google Shape;583;p1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3.png"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moderatePost()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+ prefs → decision</a:t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Output flags</a:t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 / blur / alert / inform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UI contexts</a:t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contentList vs view vs media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603" name="Google Shape;603;p1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Read-only XRPC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+ AppView 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GET-only in this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POST auth only if auth mode is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 posting actions.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89204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7-stage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-&gt; index -&gt; packs -&gt; popular -&gt; enrich -&gt; panel -&gt; snapshot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Reproducibility: state.db, manifest.csv, data_dictionary.csv, validation_report.csv.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611" name="Google Shape;611;p1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Ready measurements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RQ1: measure discovery concentration.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RQ2: map provider leverage.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RQ3: test same winner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RQ4: compare label variability.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846315" y="1417320"/>
            <a:ext cx="40692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What I need from you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1: priority RQs and venue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2: recollect longitudinal, auth mode, or experiments?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40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619" name="Google Shape;619;p16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