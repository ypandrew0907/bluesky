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4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9184"/>
          </a:xfrm>
          <a:prstGeom prst="rect">
            <a:avLst/>
          </a:prstGeom>
        </p:spPr>
      </p:pic>
      <p:pic>
        <p:nvPicPr>
          <p:cNvPr id="5" name="Picture 4" descr="A4_head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4864"/>
            <a:ext cx="3291840" cy="256032"/>
          </a:xfrm>
          <a:prstGeom prst="rect">
            <a:avLst/>
          </a:prstGeom>
        </p:spPr>
      </p:pic>
      <p:pic>
        <p:nvPicPr>
          <p:cNvPr id="6" name="Picture 5" descr="A8_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164592"/>
            <a:ext cx="1325880" cy="1325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82296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4000" b="1">
                <a:solidFill>
                  <a:srgbClr val="F7F9FC"/>
                </a:solidFill>
                <a:latin typeface="Calibri"/>
              </a:rPr>
              <a:t>Algorithmic choice relocates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8138160" cy="6035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0">
                <a:solidFill>
                  <a:srgbClr val="C9D2E3"/>
                </a:solidFill>
                <a:latin typeface="Calibri"/>
              </a:rPr>
              <a:t>Research questions plus data artifacts collected (no results yet).</a:t>
            </a:r>
          </a:p>
        </p:txBody>
      </p:sp>
      <p:pic>
        <p:nvPicPr>
          <p:cNvPr id="9" name="Picture 8" descr="A2_card_tex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304288"/>
            <a:ext cx="10881360" cy="2057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2304288"/>
            <a:ext cx="10881360" cy="20574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10332720" cy="1325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Algorithmic choice does not remove power - it relocates it.</a:t>
            </a:r>
          </a:p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Meeting focus: prioritize RQs and define what to recollect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27632"/>
            <a:ext cx="2468880" cy="566928"/>
          </a:xfrm>
          <a:prstGeom prst="roundRect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NO RESULTS TODAY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3703320"/>
            <a:ext cx="2395728" cy="2011680"/>
          </a:xfrm>
          <a:prstGeom prst="rect">
            <a:avLst/>
          </a:prstGeom>
        </p:spPr>
      </p:pic>
      <p:pic>
        <p:nvPicPr>
          <p:cNvPr id="14" name="Picture 13" descr="S6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457200"/>
            <a:ext cx="1188720" cy="11887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3_divider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236208"/>
            <a:ext cx="10972800" cy="219456"/>
          </a:xfrm>
          <a:prstGeom prst="rect">
            <a:avLst/>
          </a:prstGeom>
        </p:spPr>
      </p:pic>
      <p:pic>
        <p:nvPicPr>
          <p:cNvPr id="6" name="Picture 5" descr="A2_card_tex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773936"/>
            <a:ext cx="11045952" cy="3054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System framing: pluggable services, new chokepoints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86868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modular services relocate concentration.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discovery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feed generators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provider hosting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exposure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3703320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labelers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39572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73168" y="2350008"/>
            <a:ext cx="274320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0608" y="2350008"/>
            <a:ext cx="274319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2804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3912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166360"/>
            <a:ext cx="804672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Discovery surfaces and provider hosting are key chokepoints.</a:t>
            </a:r>
          </a:p>
        </p:txBody>
      </p:sp>
      <p:pic>
        <p:nvPicPr>
          <p:cNvPr id="22" name="Picture 21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3950208"/>
            <a:ext cx="2615184" cy="2029968"/>
          </a:xfrm>
          <a:prstGeom prst="rect">
            <a:avLst/>
          </a:prstGeom>
        </p:spPr>
      </p:pic>
      <p:pic>
        <p:nvPicPr>
          <p:cNvPr id="23" name="Picture 22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feed marketplace (/feeds)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feeds are discoverable + selectable algorithmic timelines.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/feeds directory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Search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Feed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Creator + likes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Trending widget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Defaults 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993392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1975104"/>
            <a:ext cx="4864242" cy="47548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743200"/>
            <a:ext cx="4864242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59798" y="1993392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15830" y="1975104"/>
            <a:ext cx="1882932" cy="1115568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67512" cy="10972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99232"/>
            <a:ext cx="667512" cy="128016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what a feed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a feed page renders an algorithm into a timeline of posts.</a:t>
            </a:r>
          </a:p>
        </p:txBody>
      </p:sp>
      <p:pic>
        <p:nvPicPr>
          <p:cNvPr id="8" name="Picture 7" descr="B2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Feed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Demand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Timeline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Exposure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we measure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Manipulation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810512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491886" cy="56692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66090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633472"/>
            <a:ext cx="5491886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67911" y="474781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729528"/>
            <a:ext cx="2824398" cy="530352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511296" y="2084832"/>
            <a:ext cx="649224" cy="1828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26080"/>
            <a:ext cx="649224" cy="20116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96696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(onboarding bundles)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starter packs bundle people (and sometimes feeds) for fast onboarding.</a:t>
            </a:r>
          </a:p>
        </p:txBody>
      </p:sp>
      <p:pic>
        <p:nvPicPr>
          <p:cNvPr id="8" name="Picture 7" descr="B3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3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Pack title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Join 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1-click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People cards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Measure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82880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805708" cy="804672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743200"/>
            <a:ext cx="5805708" cy="658368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67911" y="362102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584448"/>
            <a:ext cx="5805708" cy="2294823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49224" cy="9144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2615184"/>
            <a:ext cx="649224" cy="45720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2_card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11064240" cy="4553712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28600"/>
            <a:ext cx="1993392" cy="987552"/>
          </a:xfrm>
          <a:prstGeom prst="rect">
            <a:avLst/>
          </a:prstGeom>
        </p:spPr>
      </p:pic>
      <p:pic>
        <p:nvPicPr>
          <p:cNvPr id="6" name="Picture 5" descr="A3_divider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792224"/>
            <a:ext cx="3657600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03504"/>
            <a:ext cx="71323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600" b="1">
                <a:solidFill>
                  <a:srgbClr val="F7F9FC"/>
                </a:solidFill>
                <a:latin typeface="Calibri"/>
              </a:rPr>
              <a:t>Research questions (R1-R5)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security and privacy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R1 Discovery chokepoints? governance.</a:t>
            </a:r>
          </a:p>
        </p:txBody>
      </p:sp>
      <p:pic>
        <p:nvPicPr>
          <p:cNvPr id="10" name="Picture 9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1947672"/>
            <a:ext cx="530352" cy="5303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056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R2 Provider buckets dominate? reliability.</a:t>
            </a:r>
          </a:p>
        </p:txBody>
      </p:sp>
      <p:pic>
        <p:nvPicPr>
          <p:cNvPr id="12" name="Picture 11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1947672"/>
            <a:ext cx="530352" cy="5303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9808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R3 Same winners across feeds? manipulation.</a:t>
            </a:r>
          </a:p>
        </p:txBody>
      </p:sp>
      <p:pic>
        <p:nvPicPr>
          <p:cNvPr id="14" name="Picture 13" descr="S3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" y="2971800"/>
            <a:ext cx="530352" cy="53035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63056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R4 Labels vary by viewer? safety.</a:t>
            </a:r>
          </a:p>
        </p:txBody>
      </p:sp>
      <p:pic>
        <p:nvPicPr>
          <p:cNvPr id="16" name="Picture 15" descr="S4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2971800"/>
            <a:ext cx="530352" cy="53035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49808" y="3922776"/>
            <a:ext cx="10716768" cy="1042415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R5 Future experiment: gaming plus privacy attacks. extra guardrails.</a:t>
            </a:r>
          </a:p>
        </p:txBody>
      </p:sp>
      <p:pic>
        <p:nvPicPr>
          <p:cNvPr id="18" name="Picture 17" descr="S5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59" y="3995928"/>
            <a:ext cx="530352" cy="530352"/>
          </a:xfrm>
          <a:prstGeom prst="rect">
            <a:avLst/>
          </a:prstGeom>
        </p:spPr>
      </p:pic>
      <p:pic>
        <p:nvPicPr>
          <p:cNvPr id="19" name="Picture 18" descr="A8_donu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0384" y="3858768"/>
            <a:ext cx="1335024" cy="133502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133856"/>
            <a:ext cx="11155680" cy="5340096"/>
          </a:xfrm>
          <a:prstGeom prst="rect">
            <a:avLst/>
          </a:prstGeom>
        </p:spPr>
      </p:pic>
      <p:pic>
        <p:nvPicPr>
          <p:cNvPr id="6" name="Picture 5" descr="S6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457200"/>
            <a:ext cx="1097280" cy="1097280"/>
          </a:xfrm>
          <a:prstGeom prst="rect">
            <a:avLst/>
          </a:prstGeom>
        </p:spPr>
      </p:pic>
      <p:pic>
        <p:nvPicPr>
          <p:cNvPr id="7" name="Picture 6" descr="A8_don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54864"/>
            <a:ext cx="1481328" cy="1481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5216"/>
            <a:ext cx="9326880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Data artifacts collected (no results)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inputs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feed_generators_index.csv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starterpack_feeds.csv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discovery_feed_inclusions.csv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popular_feeds.csv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Panel snapshots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feed_items.csv.gz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authors.csv.gz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post_labels.csv.gz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and reproducibility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4297680"/>
            <a:ext cx="11119104" cy="192024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Join spine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 -&gt; feed_items -&gt; posts/authors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 attaches by feed_uri, viewer_mode, post_uri, post_cid.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Result: joinable, reproducible, auditable artifacts.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4334256"/>
            <a:ext cx="2258568" cy="17373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0040"/>
          </a:xfrm>
          <a:prstGeom prst="rect">
            <a:avLst/>
          </a:prstGeom>
        </p:spPr>
      </p:pic>
      <p:pic>
        <p:nvPicPr>
          <p:cNvPr id="5" name="Picture 4" descr="A7_photo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1335024"/>
            <a:ext cx="3840480" cy="4425696"/>
          </a:xfrm>
          <a:prstGeom prst="rect">
            <a:avLst/>
          </a:prstGeom>
        </p:spPr>
      </p:pic>
      <p:pic>
        <p:nvPicPr>
          <p:cNvPr id="6" name="Picture 5" descr="A9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292608"/>
            <a:ext cx="1691640" cy="841248"/>
          </a:xfrm>
          <a:prstGeom prst="rect">
            <a:avLst/>
          </a:prstGeom>
        </p:spPr>
      </p:pic>
      <p:pic>
        <p:nvPicPr>
          <p:cNvPr id="7" name="Picture 6" descr="S4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66928"/>
            <a:ext cx="932688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Collection credibility (one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08176"/>
            <a:ext cx="4754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Read-only XRPC summary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+ AppView reads.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GET-only in this run.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 auth only if auth mode is used.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No posting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08176"/>
            <a:ext cx="5897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7-stage pipeline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-&gt; index -&gt; packs -&gt; popular -&gt; enrich -&gt; panel -&gt; snapshot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Reproducibility: state.db, manifest.csv, data_dictionary.csv, validation_report.csv.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8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219456"/>
            <a:ext cx="1225296" cy="1225296"/>
          </a:xfrm>
          <a:prstGeom prst="rect">
            <a:avLst/>
          </a:prstGeom>
        </p:spPr>
      </p:pic>
      <p:pic>
        <p:nvPicPr>
          <p:cNvPr id="6" name="Picture 5" descr="S5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What this enables next + advisor 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26464"/>
            <a:ext cx="6766560" cy="45720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Ready measurements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RQ1: measure discovery concentration.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RQ2: map provider leverage.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RQ3: test same winner overlap.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RQ4: compare label variability.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44383" y="1792224"/>
            <a:ext cx="3840480" cy="35661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What I need from you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1: priority RQs and venue fit.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2: recollect longitudinal, auth mode, or experiments?</a:t>
            </a:r>
          </a:p>
        </p:txBody>
      </p:sp>
      <p:pic>
        <p:nvPicPr>
          <p:cNvPr id="10" name="Picture 9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3858768"/>
            <a:ext cx="2487168" cy="193852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237744"/>
            <a:ext cx="1627632" cy="841248"/>
          </a:xfrm>
          <a:prstGeom prst="rect">
            <a:avLst/>
          </a:prstGeom>
        </p:spPr>
      </p:pic>
      <p:pic>
        <p:nvPicPr>
          <p:cNvPr id="6" name="Picture 5" descr="S2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API surfaces (names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45262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Surface | Names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| com.atproto.sync.listReposByCollection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AppView | getActorFeeds, getFeedGenerators, getStarterPack, getFeed, getProfiles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PDS/Auth | createSession, refreshSession (auth mode only)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01752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188720"/>
            <a:ext cx="11064240" cy="5212080"/>
          </a:xfrm>
          <a:prstGeom prst="rect">
            <a:avLst/>
          </a:prstGeom>
        </p:spPr>
      </p:pic>
      <p:pic>
        <p:nvPicPr>
          <p:cNvPr id="6" name="Picture 5" descr="S3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folder layout + trust 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54864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Run directory layout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01_state_db/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02_csv_exports/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03_postprocess_metrics/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04_logs/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05_manifest/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06_figures_preview/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07_archive_zip/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572768"/>
            <a:ext cx="50292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stamps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</p:txBody>
      </p:sp>
      <p:pic>
        <p:nvPicPr>
          <p:cNvPr id="10" name="Picture 9" descr="A5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4425696"/>
            <a:ext cx="2249424" cy="175564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