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4200" b="1">
                <a:solidFill>
                  <a:srgbClr val="F7F9FC"/>
                </a:solidFill>
                <a:latin typeface="Calibri"/>
              </a:rPr>
              <a:t>Research questions: audit scope (R1-R5)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640080" y="1069848"/>
            <a:ext cx="10911535" cy="329184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2400" b="0">
                <a:solidFill>
                  <a:srgbClr val="C9D2E3"/>
                </a:solidFill>
                <a:latin typeface="Calibri"/>
              </a:rPr>
              <a:t>Takeaway: bias as measurable exposure + concentration outcomes.</a:t>
            </a:r>
          </a:p>
        </p:txBody>
      </p:sp>
      <p:sp>
        <p:nvSpPr>
          <p:cNvPr id="4" name="RQ_NUM_01"/>
          <p:cNvSpPr/>
          <p:nvPr/>
        </p:nvSpPr>
        <p:spPr>
          <a:xfrm>
            <a:off x="640080" y="1508760"/>
            <a:ext cx="724890" cy="768096"/>
          </a:xfrm>
          <a:prstGeom prst="roundRect">
            <a:avLst/>
          </a:prstGeom>
          <a:solidFill>
            <a:srgbClr val="58B7E6"/>
          </a:solidFill>
          <a:ln w="18288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R1</a:t>
            </a:r>
          </a:p>
        </p:txBody>
      </p:sp>
      <p:sp>
        <p:nvSpPr>
          <p:cNvPr id="5" name="RQ_SLOT_01"/>
          <p:cNvSpPr/>
          <p:nvPr/>
        </p:nvSpPr>
        <p:spPr>
          <a:xfrm>
            <a:off x="1566138" y="1508760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 defaults: concentration in onboarding + /feeds surfaces.</a:t>
            </a:r>
          </a:p>
        </p:txBody>
      </p:sp>
      <p:sp>
        <p:nvSpPr>
          <p:cNvPr id="6" name="RQ_NUM_02"/>
          <p:cNvSpPr/>
          <p:nvPr/>
        </p:nvSpPr>
        <p:spPr>
          <a:xfrm>
            <a:off x="640080" y="2386584"/>
            <a:ext cx="724890" cy="768096"/>
          </a:xfrm>
          <a:prstGeom prst="roundRect">
            <a:avLst/>
          </a:prstGeom>
          <a:solidFill>
            <a:srgbClr val="58B7E6"/>
          </a:solidFill>
          <a:ln w="18288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R2</a:t>
            </a:r>
          </a:p>
        </p:txBody>
      </p:sp>
      <p:sp>
        <p:nvSpPr>
          <p:cNvPr id="7" name="RQ_SLOT_02"/>
          <p:cNvSpPr/>
          <p:nvPr/>
        </p:nvSpPr>
        <p:spPr>
          <a:xfrm>
            <a:off x="1566138" y="2386584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Infrastructure: hosting/provider concentration (domain + service DID).</a:t>
            </a:r>
          </a:p>
        </p:txBody>
      </p:sp>
      <p:sp>
        <p:nvSpPr>
          <p:cNvPr id="8" name="RQ_NUM_03"/>
          <p:cNvSpPr/>
          <p:nvPr/>
        </p:nvSpPr>
        <p:spPr>
          <a:xfrm>
            <a:off x="640080" y="3264408"/>
            <a:ext cx="724890" cy="768096"/>
          </a:xfrm>
          <a:prstGeom prst="roundRect">
            <a:avLst/>
          </a:prstGeom>
          <a:solidFill>
            <a:srgbClr val="58B7E6"/>
          </a:solidFill>
          <a:ln w="18288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R3</a:t>
            </a:r>
          </a:p>
        </p:txBody>
      </p:sp>
      <p:sp>
        <p:nvSpPr>
          <p:cNvPr id="9" name="RQ_SLOT_03"/>
          <p:cNvSpPr/>
          <p:nvPr/>
        </p:nvSpPr>
        <p:spPr>
          <a:xfrm>
            <a:off x="1566138" y="3264408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Exposure: winner-takes-all creators across parallel feed rankings.</a:t>
            </a:r>
          </a:p>
        </p:txBody>
      </p:sp>
      <p:sp>
        <p:nvSpPr>
          <p:cNvPr id="10" name="RQ_NUM_04"/>
          <p:cNvSpPr/>
          <p:nvPr/>
        </p:nvSpPr>
        <p:spPr>
          <a:xfrm>
            <a:off x="640080" y="4142231"/>
            <a:ext cx="724890" cy="768096"/>
          </a:xfrm>
          <a:prstGeom prst="roundRect">
            <a:avLst/>
          </a:prstGeom>
          <a:solidFill>
            <a:srgbClr val="58B7E6"/>
          </a:solidFill>
          <a:ln w="18288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R4</a:t>
            </a:r>
          </a:p>
        </p:txBody>
      </p:sp>
      <p:sp>
        <p:nvSpPr>
          <p:cNvPr id="11" name="RQ_SLOT_04"/>
          <p:cNvSpPr/>
          <p:nvPr/>
        </p:nvSpPr>
        <p:spPr>
          <a:xfrm>
            <a:off x="1566138" y="4142231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Safety: label coverage + disagreement by viewer_mode and labelers.</a:t>
            </a:r>
          </a:p>
        </p:txBody>
      </p:sp>
      <p:sp>
        <p:nvSpPr>
          <p:cNvPr id="12" name="RQ_NUM_05"/>
          <p:cNvSpPr/>
          <p:nvPr/>
        </p:nvSpPr>
        <p:spPr>
          <a:xfrm>
            <a:off x="640080" y="5020056"/>
            <a:ext cx="724890" cy="768096"/>
          </a:xfrm>
          <a:prstGeom prst="roundRect">
            <a:avLst/>
          </a:prstGeom>
          <a:solidFill>
            <a:srgbClr val="58B7E6"/>
          </a:solidFill>
          <a:ln w="18288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R5</a:t>
            </a:r>
          </a:p>
        </p:txBody>
      </p:sp>
      <p:sp>
        <p:nvSpPr>
          <p:cNvPr id="13" name="RQ_SLOT_05"/>
          <p:cNvSpPr/>
          <p:nvPr/>
        </p:nvSpPr>
        <p:spPr>
          <a:xfrm>
            <a:off x="1566138" y="5020056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Risk funnels: discovery-path feeds concentrate labeled risky content.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4200" b="1">
                <a:solidFill>
                  <a:srgbClr val="F7F9FC"/>
                </a:solidFill>
                <a:latin typeface="Calibri"/>
              </a:rPr>
              <a:t>Research questions: papers that define metrics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640080" y="1069848"/>
            <a:ext cx="10911535" cy="329184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2400" b="0">
                <a:solidFill>
                  <a:srgbClr val="C9D2E3"/>
                </a:solidFill>
                <a:latin typeface="Calibri"/>
              </a:rPr>
              <a:t>Takeaway: cite exposure/fair-ranking surveys to justify definitions.</a:t>
            </a:r>
          </a:p>
        </p:txBody>
      </p:sp>
      <p:sp>
        <p:nvSpPr>
          <p:cNvPr id="4" name="RQ_NUM_01"/>
          <p:cNvSpPr/>
          <p:nvPr/>
        </p:nvSpPr>
        <p:spPr>
          <a:xfrm>
            <a:off x="640080" y="1508760"/>
            <a:ext cx="724890" cy="768096"/>
          </a:xfrm>
          <a:prstGeom prst="roundRect">
            <a:avLst/>
          </a:prstGeom>
          <a:solidFill>
            <a:srgbClr val="F4C55D"/>
          </a:solidFill>
          <a:ln w="18288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R1</a:t>
            </a:r>
          </a:p>
        </p:txBody>
      </p:sp>
      <p:sp>
        <p:nvSpPr>
          <p:cNvPr id="5" name="RQ_SLOT_01"/>
          <p:cNvSpPr/>
          <p:nvPr/>
        </p:nvSpPr>
        <p:spPr>
          <a:xfrm>
            <a:off x="1566138" y="1508760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Exposure weights w(r) + position bias (10.1145/3219819.3220088).</a:t>
            </a:r>
          </a:p>
        </p:txBody>
      </p:sp>
      <p:sp>
        <p:nvSpPr>
          <p:cNvPr id="6" name="RQ_NUM_02"/>
          <p:cNvSpPr/>
          <p:nvPr/>
        </p:nvSpPr>
        <p:spPr>
          <a:xfrm>
            <a:off x="640080" y="2386584"/>
            <a:ext cx="724890" cy="768096"/>
          </a:xfrm>
          <a:prstGeom prst="roundRect">
            <a:avLst/>
          </a:prstGeom>
          <a:solidFill>
            <a:srgbClr val="F4C55D"/>
          </a:solidFill>
          <a:ln w="18288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R2</a:t>
            </a:r>
          </a:p>
        </p:txBody>
      </p:sp>
      <p:sp>
        <p:nvSpPr>
          <p:cNvPr id="7" name="RQ_SLOT_02"/>
          <p:cNvSpPr/>
          <p:nvPr/>
        </p:nvSpPr>
        <p:spPr>
          <a:xfrm>
            <a:off x="1566138" y="2386584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Fair ranking survey: metrics + constraints (10.1145/3533379).</a:t>
            </a:r>
          </a:p>
        </p:txBody>
      </p:sp>
      <p:sp>
        <p:nvSpPr>
          <p:cNvPr id="8" name="RQ_NUM_03"/>
          <p:cNvSpPr/>
          <p:nvPr/>
        </p:nvSpPr>
        <p:spPr>
          <a:xfrm>
            <a:off x="640080" y="3264408"/>
            <a:ext cx="724890" cy="768096"/>
          </a:xfrm>
          <a:prstGeom prst="roundRect">
            <a:avLst/>
          </a:prstGeom>
          <a:solidFill>
            <a:srgbClr val="F4C55D"/>
          </a:solidFill>
          <a:ln w="18288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R3</a:t>
            </a:r>
          </a:p>
        </p:txBody>
      </p:sp>
      <p:sp>
        <p:nvSpPr>
          <p:cNvPr id="9" name="RQ_SLOT_03"/>
          <p:cNvSpPr/>
          <p:nvPr/>
        </p:nvSpPr>
        <p:spPr>
          <a:xfrm>
            <a:off x="1566138" y="3264408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Learning-to-rank fairness: evaluation framing (10.1145/3533380).</a:t>
            </a:r>
          </a:p>
        </p:txBody>
      </p:sp>
      <p:sp>
        <p:nvSpPr>
          <p:cNvPr id="10" name="RQ_NUM_04"/>
          <p:cNvSpPr/>
          <p:nvPr/>
        </p:nvSpPr>
        <p:spPr>
          <a:xfrm>
            <a:off x="640080" y="4142231"/>
            <a:ext cx="724890" cy="768096"/>
          </a:xfrm>
          <a:prstGeom prst="roundRect">
            <a:avLst/>
          </a:prstGeom>
          <a:solidFill>
            <a:srgbClr val="F4C55D"/>
          </a:solidFill>
          <a:ln w="18288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R4</a:t>
            </a:r>
          </a:p>
        </p:txBody>
      </p:sp>
      <p:sp>
        <p:nvSpPr>
          <p:cNvPr id="11" name="RQ_SLOT_04"/>
          <p:cNvSpPr/>
          <p:nvPr/>
        </p:nvSpPr>
        <p:spPr>
          <a:xfrm>
            <a:off x="1566138" y="4142231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Fairness in recommendation: stakeholders + pitfalls (10.1145/3610302).</a:t>
            </a:r>
          </a:p>
        </p:txBody>
      </p:sp>
      <p:sp>
        <p:nvSpPr>
          <p:cNvPr id="12" name="RQ_NUM_05"/>
          <p:cNvSpPr/>
          <p:nvPr/>
        </p:nvSpPr>
        <p:spPr>
          <a:xfrm>
            <a:off x="640080" y="5020056"/>
            <a:ext cx="724890" cy="768096"/>
          </a:xfrm>
          <a:prstGeom prst="roundRect">
            <a:avLst/>
          </a:prstGeom>
          <a:solidFill>
            <a:srgbClr val="F4C55D"/>
          </a:solidFill>
          <a:ln w="18288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R5</a:t>
            </a:r>
          </a:p>
        </p:txBody>
      </p:sp>
      <p:sp>
        <p:nvSpPr>
          <p:cNvPr id="13" name="RQ_SLOT_05"/>
          <p:cNvSpPr/>
          <p:nvPr/>
        </p:nvSpPr>
        <p:spPr>
          <a:xfrm>
            <a:off x="1566138" y="5020056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Fairness definitions are political: scope claims (Narayanan FAT* 2018).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4200" b="1">
                <a:solidFill>
                  <a:srgbClr val="F7F9FC"/>
                </a:solidFill>
                <a:latin typeface="Calibri"/>
              </a:rPr>
              <a:t>Research questions: what “bias” means here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640080" y="1069848"/>
            <a:ext cx="10911535" cy="329184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2400" b="0">
                <a:solidFill>
                  <a:srgbClr val="C9D2E3"/>
                </a:solidFill>
                <a:latin typeface="Calibri"/>
              </a:rPr>
              <a:t>Takeaway: separate self-selection from ranking/entrypoint allocation.</a:t>
            </a:r>
          </a:p>
        </p:txBody>
      </p:sp>
      <p:sp>
        <p:nvSpPr>
          <p:cNvPr id="4" name="RQ_NUM_01"/>
          <p:cNvSpPr/>
          <p:nvPr/>
        </p:nvSpPr>
        <p:spPr>
          <a:xfrm>
            <a:off x="640080" y="1508760"/>
            <a:ext cx="724890" cy="768096"/>
          </a:xfrm>
          <a:prstGeom prst="roundRect">
            <a:avLst/>
          </a:prstGeom>
          <a:solidFill>
            <a:srgbClr val="FF7D77"/>
          </a:solidFill>
          <a:ln w="18288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R1</a:t>
            </a:r>
          </a:p>
        </p:txBody>
      </p:sp>
      <p:sp>
        <p:nvSpPr>
          <p:cNvPr id="5" name="RQ_SLOT_01"/>
          <p:cNvSpPr/>
          <p:nvPr/>
        </p:nvSpPr>
        <p:spPr>
          <a:xfrm>
            <a:off x="1566138" y="1508760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Provider/creator bias: different exposure at equal merit (audit outcomes).</a:t>
            </a:r>
          </a:p>
        </p:txBody>
      </p:sp>
      <p:sp>
        <p:nvSpPr>
          <p:cNvPr id="6" name="RQ_NUM_02"/>
          <p:cNvSpPr/>
          <p:nvPr/>
        </p:nvSpPr>
        <p:spPr>
          <a:xfrm>
            <a:off x="640080" y="2386584"/>
            <a:ext cx="724890" cy="768096"/>
          </a:xfrm>
          <a:prstGeom prst="roundRect">
            <a:avLst/>
          </a:prstGeom>
          <a:solidFill>
            <a:srgbClr val="FF7D77"/>
          </a:solidFill>
          <a:ln w="18288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R2</a:t>
            </a:r>
          </a:p>
        </p:txBody>
      </p:sp>
      <p:sp>
        <p:nvSpPr>
          <p:cNvPr id="7" name="RQ_SLOT_02"/>
          <p:cNvSpPr/>
          <p:nvPr/>
        </p:nvSpPr>
        <p:spPr>
          <a:xfrm>
            <a:off x="1566138" y="2386584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Content/opinion bias: topics/frames get different exposure probabilities.</a:t>
            </a:r>
          </a:p>
        </p:txBody>
      </p:sp>
      <p:sp>
        <p:nvSpPr>
          <p:cNvPr id="8" name="RQ_NUM_03"/>
          <p:cNvSpPr/>
          <p:nvPr/>
        </p:nvSpPr>
        <p:spPr>
          <a:xfrm>
            <a:off x="640080" y="3264408"/>
            <a:ext cx="724890" cy="768096"/>
          </a:xfrm>
          <a:prstGeom prst="roundRect">
            <a:avLst/>
          </a:prstGeom>
          <a:solidFill>
            <a:srgbClr val="FF7D77"/>
          </a:solidFill>
          <a:ln w="18288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R3</a:t>
            </a:r>
          </a:p>
        </p:txBody>
      </p:sp>
      <p:sp>
        <p:nvSpPr>
          <p:cNvPr id="9" name="RQ_SLOT_03"/>
          <p:cNvSpPr/>
          <p:nvPr/>
        </p:nvSpPr>
        <p:spPr>
          <a:xfrm>
            <a:off x="1566138" y="3264408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Chronological vs ranked feeds: mechanism differs; test rank-vs-age.</a:t>
            </a:r>
          </a:p>
        </p:txBody>
      </p:sp>
      <p:sp>
        <p:nvSpPr>
          <p:cNvPr id="10" name="RQ_NUM_04"/>
          <p:cNvSpPr/>
          <p:nvPr/>
        </p:nvSpPr>
        <p:spPr>
          <a:xfrm>
            <a:off x="640080" y="4142231"/>
            <a:ext cx="724890" cy="768096"/>
          </a:xfrm>
          <a:prstGeom prst="roundRect">
            <a:avLst/>
          </a:prstGeom>
          <a:solidFill>
            <a:srgbClr val="FF7D77"/>
          </a:solidFill>
          <a:ln w="18288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R4</a:t>
            </a:r>
          </a:p>
        </p:txBody>
      </p:sp>
      <p:sp>
        <p:nvSpPr>
          <p:cNvPr id="11" name="RQ_SLOT_04"/>
          <p:cNvSpPr/>
          <p:nvPr/>
        </p:nvSpPr>
        <p:spPr>
          <a:xfrm>
            <a:off x="1566138" y="4142231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Echo chambers: measure exposure homogeneity; don’t assume “bias”.</a:t>
            </a:r>
          </a:p>
        </p:txBody>
      </p:sp>
      <p:sp>
        <p:nvSpPr>
          <p:cNvPr id="12" name="RQ_NUM_05"/>
          <p:cNvSpPr/>
          <p:nvPr/>
        </p:nvSpPr>
        <p:spPr>
          <a:xfrm>
            <a:off x="640080" y="5020056"/>
            <a:ext cx="724890" cy="768096"/>
          </a:xfrm>
          <a:prstGeom prst="roundRect">
            <a:avLst/>
          </a:prstGeom>
          <a:solidFill>
            <a:srgbClr val="FF7D77"/>
          </a:solidFill>
          <a:ln w="18288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R5</a:t>
            </a:r>
          </a:p>
        </p:txBody>
      </p:sp>
      <p:sp>
        <p:nvSpPr>
          <p:cNvPr id="13" name="RQ_SLOT_05"/>
          <p:cNvSpPr/>
          <p:nvPr/>
        </p:nvSpPr>
        <p:spPr>
          <a:xfrm>
            <a:off x="1566138" y="5020056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Moderation labels: measure coverage/divergence, not ground-truth truth.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4200" b="1">
                <a:solidFill>
                  <a:srgbClr val="F7F9FC"/>
                </a:solidFill>
                <a:latin typeface="Calibri"/>
              </a:rPr>
              <a:t>Research questions: data answers (from REPORT.md)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640080" y="1069848"/>
            <a:ext cx="10911535" cy="329184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2400" b="0">
                <a:solidFill>
                  <a:srgbClr val="C9D2E3"/>
                </a:solidFill>
                <a:latin typeface="Calibri"/>
              </a:rPr>
              <a:t>Takeaway: 29.658 GiB corpus; hourly feed_items=23,760,278 rows.</a:t>
            </a:r>
          </a:p>
        </p:txBody>
      </p:sp>
      <p:sp>
        <p:nvSpPr>
          <p:cNvPr id="4" name="RQ_NUM_01"/>
          <p:cNvSpPr/>
          <p:nvPr/>
        </p:nvSpPr>
        <p:spPr>
          <a:xfrm>
            <a:off x="640080" y="1508760"/>
            <a:ext cx="724890" cy="768096"/>
          </a:xfrm>
          <a:prstGeom prst="roundRect">
            <a:avLst/>
          </a:prstGeom>
          <a:solidFill>
            <a:srgbClr val="54C687"/>
          </a:solidFill>
          <a:ln w="18288">
            <a:solidFill>
              <a:srgbClr val="54C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R1</a:t>
            </a:r>
          </a:p>
        </p:txBody>
      </p:sp>
      <p:sp>
        <p:nvSpPr>
          <p:cNvPr id="5" name="RQ_SLOT_01"/>
          <p:cNvSpPr/>
          <p:nvPr/>
        </p:nvSpPr>
        <p:spPr>
          <a:xfrm>
            <a:off x="1566138" y="1508760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discovery: metadata JSONL + feed_catalog (77,273 rows).</a:t>
            </a:r>
          </a:p>
        </p:txBody>
      </p:sp>
      <p:sp>
        <p:nvSpPr>
          <p:cNvPr id="6" name="RQ_NUM_02"/>
          <p:cNvSpPr/>
          <p:nvPr/>
        </p:nvSpPr>
        <p:spPr>
          <a:xfrm>
            <a:off x="640080" y="2386584"/>
            <a:ext cx="724890" cy="768096"/>
          </a:xfrm>
          <a:prstGeom prst="roundRect">
            <a:avLst/>
          </a:prstGeom>
          <a:solidFill>
            <a:srgbClr val="54C687"/>
          </a:solidFill>
          <a:ln w="18288">
            <a:solidFill>
              <a:srgbClr val="54C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R2</a:t>
            </a:r>
          </a:p>
        </p:txBody>
      </p:sp>
      <p:sp>
        <p:nvSpPr>
          <p:cNvPr id="7" name="RQ_SLOT_02"/>
          <p:cNvSpPr/>
          <p:nvPr/>
        </p:nvSpPr>
        <p:spPr>
          <a:xfrm>
            <a:off x="1566138" y="2386584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hosting: provider_domain/service_did in feed_catalog (77,273 rows).</a:t>
            </a:r>
          </a:p>
        </p:txBody>
      </p:sp>
      <p:sp>
        <p:nvSpPr>
          <p:cNvPr id="8" name="RQ_NUM_03"/>
          <p:cNvSpPr/>
          <p:nvPr/>
        </p:nvSpPr>
        <p:spPr>
          <a:xfrm>
            <a:off x="640080" y="3264408"/>
            <a:ext cx="724890" cy="768096"/>
          </a:xfrm>
          <a:prstGeom prst="roundRect">
            <a:avLst/>
          </a:prstGeom>
          <a:solidFill>
            <a:srgbClr val="54C687"/>
          </a:solidFill>
          <a:ln w="18288">
            <a:solidFill>
              <a:srgbClr val="54C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R3</a:t>
            </a:r>
          </a:p>
        </p:txBody>
      </p:sp>
      <p:sp>
        <p:nvSpPr>
          <p:cNvPr id="9" name="RQ_SLOT_03"/>
          <p:cNvSpPr/>
          <p:nvPr/>
        </p:nvSpPr>
        <p:spPr>
          <a:xfrm>
            <a:off x="1566138" y="3264408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exposure: hourly feed_items (23,760,278 rows; 247 runs).</a:t>
            </a:r>
          </a:p>
        </p:txBody>
      </p:sp>
      <p:sp>
        <p:nvSpPr>
          <p:cNvPr id="10" name="RQ_NUM_04"/>
          <p:cNvSpPr/>
          <p:nvPr/>
        </p:nvSpPr>
        <p:spPr>
          <a:xfrm>
            <a:off x="640080" y="4142231"/>
            <a:ext cx="724890" cy="768096"/>
          </a:xfrm>
          <a:prstGeom prst="roundRect">
            <a:avLst/>
          </a:prstGeom>
          <a:solidFill>
            <a:srgbClr val="54C687"/>
          </a:solidFill>
          <a:ln w="18288">
            <a:solidFill>
              <a:srgbClr val="54C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R4</a:t>
            </a:r>
          </a:p>
        </p:txBody>
      </p:sp>
      <p:sp>
        <p:nvSpPr>
          <p:cNvPr id="11" name="RQ_SLOT_04"/>
          <p:cNvSpPr/>
          <p:nvPr/>
        </p:nvSpPr>
        <p:spPr>
          <a:xfrm>
            <a:off x="1566138" y="4142231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safety: post_labels scanned (1,959,041 rows; 4,128 parts).</a:t>
            </a:r>
          </a:p>
        </p:txBody>
      </p:sp>
      <p:sp>
        <p:nvSpPr>
          <p:cNvPr id="12" name="RQ_NUM_05"/>
          <p:cNvSpPr/>
          <p:nvPr/>
        </p:nvSpPr>
        <p:spPr>
          <a:xfrm>
            <a:off x="640080" y="5020056"/>
            <a:ext cx="724890" cy="768096"/>
          </a:xfrm>
          <a:prstGeom prst="roundRect">
            <a:avLst/>
          </a:prstGeom>
          <a:solidFill>
            <a:srgbClr val="54C687"/>
          </a:solidFill>
          <a:ln w="18288">
            <a:solidFill>
              <a:srgbClr val="54C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R5</a:t>
            </a:r>
          </a:p>
        </p:txBody>
      </p:sp>
      <p:sp>
        <p:nvSpPr>
          <p:cNvPr id="13" name="RQ_SLOT_05"/>
          <p:cNvSpPr/>
          <p:nvPr/>
        </p:nvSpPr>
        <p:spPr>
          <a:xfrm>
            <a:off x="1566138" y="5020056"/>
            <a:ext cx="9985476" cy="76809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robustness: labelerexp post_labels (279,800 rows; 145 runs).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4200" b="1">
                <a:solidFill>
                  <a:srgbClr val="F7F9FC"/>
                </a:solidFill>
                <a:latin typeface="Calibri"/>
              </a:rPr>
              <a:t>Collection credibility: QC + reproducibility</a:t>
            </a:r>
          </a:p>
        </p:txBody>
      </p:sp>
      <p:sp>
        <p:nvSpPr>
          <p:cNvPr id="3" name="CARD_LEFT"/>
          <p:cNvSpPr/>
          <p:nvPr/>
        </p:nvSpPr>
        <p:spPr>
          <a:xfrm>
            <a:off x="640080" y="1289304"/>
            <a:ext cx="5355183" cy="460857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1900" b="0">
                <a:solidFill>
                  <a:srgbClr val="F7F9FC"/>
                </a:solidFill>
                <a:latin typeface="Calibri"/>
              </a:rPr>
              <a:t>Run totals (REPORT.md)
hourly runs: 247
wide runs: 14
labelerexp runs: 145
Flagged hourly anomalies:
2026-02-18/02; 2026-02-22/04; 2026-02-27/22</a:t>
            </a:r>
          </a:p>
        </p:txBody>
      </p:sp>
      <p:sp>
        <p:nvSpPr>
          <p:cNvPr id="4" name="CARD_RIGHT"/>
          <p:cNvSpPr/>
          <p:nvPr/>
        </p:nvSpPr>
        <p:spPr>
          <a:xfrm>
            <a:off x="6196431" y="1289304"/>
            <a:ext cx="5355183" cy="4608576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1900" b="0">
                <a:solidFill>
                  <a:srgbClr val="F7F9FC"/>
                </a:solidFill>
                <a:latin typeface="Calibri"/>
              </a:rPr>
              <a:t>Auditable artifacts
control_state.db size: 783.7 MiB
feed_catalog rows: 77,273
post_registry rows: 2,825,845
Join spine keys (REPORT.md):
run_id; viewer_mode+vantage_id; feed_uri; post_uri(+post_cid); author_did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Data artifacts collected: 2×2 audit table (Slide 6 micro-reveals)</a:t>
            </a:r>
          </a:p>
        </p:txBody>
      </p:sp>
      <p:sp>
        <p:nvSpPr>
          <p:cNvPr id="3" name="_BG_CARD_01"/>
          <p:cNvSpPr/>
          <p:nvPr/>
        </p:nvSpPr>
        <p:spPr>
          <a:xfrm>
            <a:off x="640080" y="1069848"/>
            <a:ext cx="5355183" cy="2633472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1800" b="1">
                <a:solidFill>
                  <a:srgbClr val="C9D2E3"/>
                </a:solidFill>
                <a:latin typeface="Calibri"/>
              </a:rPr>
              <a:t>Inventory (files + bytes)</a:t>
            </a:r>
          </a:p>
        </p:txBody>
      </p:sp>
      <p:sp>
        <p:nvSpPr>
          <p:cNvPr id="4" name="S6_CARD01_R01_LABEL"/>
          <p:cNvSpPr txBox="1"/>
          <p:nvPr/>
        </p:nvSpPr>
        <p:spPr>
          <a:xfrm>
            <a:off x="804672" y="1508760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report_utc</a:t>
            </a:r>
          </a:p>
        </p:txBody>
      </p:sp>
      <p:sp>
        <p:nvSpPr>
          <p:cNvPr id="5" name="S6_CARD01_R01_VALUE"/>
          <p:cNvSpPr txBox="1"/>
          <p:nvPr/>
        </p:nvSpPr>
        <p:spPr>
          <a:xfrm>
            <a:off x="2834640" y="1508760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2026-02-27T22:24:49.950339Z</a:t>
            </a:r>
          </a:p>
        </p:txBody>
      </p:sp>
      <p:sp>
        <p:nvSpPr>
          <p:cNvPr id="6" name="S6_CARD01_R02_LABEL"/>
          <p:cNvSpPr txBox="1"/>
          <p:nvPr/>
        </p:nvSpPr>
        <p:spPr>
          <a:xfrm>
            <a:off x="804672" y="1728216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files</a:t>
            </a:r>
          </a:p>
        </p:txBody>
      </p:sp>
      <p:sp>
        <p:nvSpPr>
          <p:cNvPr id="7" name="S6_CARD01_R02_VALUE"/>
          <p:cNvSpPr txBox="1"/>
          <p:nvPr/>
        </p:nvSpPr>
        <p:spPr>
          <a:xfrm>
            <a:off x="2834640" y="1728216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71,312</a:t>
            </a:r>
          </a:p>
        </p:txBody>
      </p:sp>
      <p:sp>
        <p:nvSpPr>
          <p:cNvPr id="8" name="S6_CARD01_R03_LABEL"/>
          <p:cNvSpPr txBox="1"/>
          <p:nvPr/>
        </p:nvSpPr>
        <p:spPr>
          <a:xfrm>
            <a:off x="804672" y="1947672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size</a:t>
            </a:r>
          </a:p>
        </p:txBody>
      </p:sp>
      <p:sp>
        <p:nvSpPr>
          <p:cNvPr id="9" name="S6_CARD01_R03_VALUE"/>
          <p:cNvSpPr txBox="1"/>
          <p:nvPr/>
        </p:nvSpPr>
        <p:spPr>
          <a:xfrm>
            <a:off x="2834640" y="1947672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29.658 GiB</a:t>
            </a:r>
          </a:p>
        </p:txBody>
      </p:sp>
      <p:sp>
        <p:nvSpPr>
          <p:cNvPr id="10" name="S6_CARD01_R04_LABEL"/>
          <p:cNvSpPr txBox="1"/>
          <p:nvPr/>
        </p:nvSpPr>
        <p:spPr>
          <a:xfrm>
            <a:off x="804672" y="2167128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artifact_files</a:t>
            </a:r>
          </a:p>
        </p:txBody>
      </p:sp>
      <p:sp>
        <p:nvSpPr>
          <p:cNvPr id="11" name="S6_CARD01_R04_VALUE"/>
          <p:cNvSpPr txBox="1"/>
          <p:nvPr/>
        </p:nvSpPr>
        <p:spPr>
          <a:xfrm>
            <a:off x="2834640" y="2167128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18,068</a:t>
            </a:r>
          </a:p>
        </p:txBody>
      </p:sp>
      <p:sp>
        <p:nvSpPr>
          <p:cNvPr id="12" name="S6_CARD01_R05_LABEL"/>
          <p:cNvSpPr txBox="1"/>
          <p:nvPr/>
        </p:nvSpPr>
        <p:spPr>
          <a:xfrm>
            <a:off x="804672" y="2386584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artifact_size</a:t>
            </a:r>
          </a:p>
        </p:txBody>
      </p:sp>
      <p:sp>
        <p:nvSpPr>
          <p:cNvPr id="13" name="S6_CARD01_R05_VALUE"/>
          <p:cNvSpPr txBox="1"/>
          <p:nvPr/>
        </p:nvSpPr>
        <p:spPr>
          <a:xfrm>
            <a:off x="2834640" y="2386584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70.6 MiB</a:t>
            </a:r>
          </a:p>
        </p:txBody>
      </p:sp>
      <p:sp>
        <p:nvSpPr>
          <p:cNvPr id="14" name="S6_CARD01_R06_LABEL"/>
          <p:cNvSpPr txBox="1"/>
          <p:nvPr/>
        </p:nvSpPr>
        <p:spPr>
          <a:xfrm>
            <a:off x="804672" y="2606040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hourly GiB</a:t>
            </a:r>
          </a:p>
        </p:txBody>
      </p:sp>
      <p:sp>
        <p:nvSpPr>
          <p:cNvPr id="15" name="S6_CARD01_R06_VALUE"/>
          <p:cNvSpPr txBox="1"/>
          <p:nvPr/>
        </p:nvSpPr>
        <p:spPr>
          <a:xfrm>
            <a:off x="2834640" y="2606040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14.239</a:t>
            </a:r>
          </a:p>
        </p:txBody>
      </p:sp>
      <p:sp>
        <p:nvSpPr>
          <p:cNvPr id="16" name="S6_CARD01_R07_LABEL"/>
          <p:cNvSpPr txBox="1"/>
          <p:nvPr/>
        </p:nvSpPr>
        <p:spPr>
          <a:xfrm>
            <a:off x="804672" y="2825496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effective_csv GiB</a:t>
            </a:r>
          </a:p>
        </p:txBody>
      </p:sp>
      <p:sp>
        <p:nvSpPr>
          <p:cNvPr id="17" name="S6_CARD01_R07_VALUE"/>
          <p:cNvSpPr txBox="1"/>
          <p:nvPr/>
        </p:nvSpPr>
        <p:spPr>
          <a:xfrm>
            <a:off x="2834640" y="2825496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9.413</a:t>
            </a:r>
          </a:p>
        </p:txBody>
      </p:sp>
      <p:sp>
        <p:nvSpPr>
          <p:cNvPr id="18" name="S6_CARD01_R08_LABEL"/>
          <p:cNvSpPr txBox="1"/>
          <p:nvPr/>
        </p:nvSpPr>
        <p:spPr>
          <a:xfrm>
            <a:off x="804672" y="3044952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exports GiB</a:t>
            </a:r>
          </a:p>
        </p:txBody>
      </p:sp>
      <p:sp>
        <p:nvSpPr>
          <p:cNvPr id="19" name="S6_CARD01_R08_VALUE"/>
          <p:cNvSpPr txBox="1"/>
          <p:nvPr/>
        </p:nvSpPr>
        <p:spPr>
          <a:xfrm>
            <a:off x="2834640" y="3044952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1.977</a:t>
            </a:r>
          </a:p>
        </p:txBody>
      </p:sp>
      <p:sp>
        <p:nvSpPr>
          <p:cNvPr id="20" name="S6_CARD01_R09_LABEL"/>
          <p:cNvSpPr txBox="1"/>
          <p:nvPr/>
        </p:nvSpPr>
        <p:spPr>
          <a:xfrm>
            <a:off x="804672" y="3264408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wide GiB</a:t>
            </a:r>
          </a:p>
        </p:txBody>
      </p:sp>
      <p:sp>
        <p:nvSpPr>
          <p:cNvPr id="21" name="S6_CARD01_R09_VALUE"/>
          <p:cNvSpPr txBox="1"/>
          <p:nvPr/>
        </p:nvSpPr>
        <p:spPr>
          <a:xfrm>
            <a:off x="2834640" y="3264408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1.636</a:t>
            </a:r>
          </a:p>
        </p:txBody>
      </p:sp>
      <p:sp>
        <p:nvSpPr>
          <p:cNvPr id="22" name="S6_CARD01_R10_LABEL"/>
          <p:cNvSpPr txBox="1"/>
          <p:nvPr/>
        </p:nvSpPr>
        <p:spPr>
          <a:xfrm>
            <a:off x="804672" y="3483864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labelerexp GiB</a:t>
            </a:r>
          </a:p>
        </p:txBody>
      </p:sp>
      <p:sp>
        <p:nvSpPr>
          <p:cNvPr id="23" name="S6_CARD01_R10_VALUE"/>
          <p:cNvSpPr txBox="1"/>
          <p:nvPr/>
        </p:nvSpPr>
        <p:spPr>
          <a:xfrm>
            <a:off x="2834640" y="3483864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0.944</a:t>
            </a:r>
          </a:p>
        </p:txBody>
      </p:sp>
      <p:sp>
        <p:nvSpPr>
          <p:cNvPr id="24" name="_BG_CARD_02"/>
          <p:cNvSpPr/>
          <p:nvPr/>
        </p:nvSpPr>
        <p:spPr>
          <a:xfrm>
            <a:off x="6196431" y="1069848"/>
            <a:ext cx="5355183" cy="2633472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1800" b="1">
                <a:solidFill>
                  <a:srgbClr val="C9D2E3"/>
                </a:solidFill>
                <a:latin typeface="Calibri"/>
              </a:rPr>
              <a:t>Run totals (progress.json)</a:t>
            </a:r>
          </a:p>
        </p:txBody>
      </p:sp>
      <p:sp>
        <p:nvSpPr>
          <p:cNvPr id="25" name="S6_CARD02_R01_LABEL"/>
          <p:cNvSpPr txBox="1"/>
          <p:nvPr/>
        </p:nvSpPr>
        <p:spPr>
          <a:xfrm>
            <a:off x="6361023" y="1508760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hourly runs</a:t>
            </a:r>
          </a:p>
        </p:txBody>
      </p:sp>
      <p:sp>
        <p:nvSpPr>
          <p:cNvPr id="26" name="S6_CARD02_R01_VALUE"/>
          <p:cNvSpPr txBox="1"/>
          <p:nvPr/>
        </p:nvSpPr>
        <p:spPr>
          <a:xfrm>
            <a:off x="8390991" y="1508760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247</a:t>
            </a:r>
          </a:p>
        </p:txBody>
      </p:sp>
      <p:sp>
        <p:nvSpPr>
          <p:cNvPr id="27" name="S6_CARD02_R02_LABEL"/>
          <p:cNvSpPr txBox="1"/>
          <p:nvPr/>
        </p:nvSpPr>
        <p:spPr>
          <a:xfrm>
            <a:off x="6361023" y="1728216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hourly feed_items</a:t>
            </a:r>
          </a:p>
        </p:txBody>
      </p:sp>
      <p:sp>
        <p:nvSpPr>
          <p:cNvPr id="28" name="S6_CARD02_R02_VALUE"/>
          <p:cNvSpPr txBox="1"/>
          <p:nvPr/>
        </p:nvSpPr>
        <p:spPr>
          <a:xfrm>
            <a:off x="8390991" y="1728216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23,760,278</a:t>
            </a:r>
          </a:p>
        </p:txBody>
      </p:sp>
      <p:sp>
        <p:nvSpPr>
          <p:cNvPr id="29" name="S6_CARD02_R03_LABEL"/>
          <p:cNvSpPr txBox="1"/>
          <p:nvPr/>
        </p:nvSpPr>
        <p:spPr>
          <a:xfrm>
            <a:off x="6361023" y="1947672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hourly post_labels</a:t>
            </a:r>
          </a:p>
        </p:txBody>
      </p:sp>
      <p:sp>
        <p:nvSpPr>
          <p:cNvPr id="30" name="S6_CARD02_R03_VALUE"/>
          <p:cNvSpPr txBox="1"/>
          <p:nvPr/>
        </p:nvSpPr>
        <p:spPr>
          <a:xfrm>
            <a:off x="8390991" y="1947672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1,806,915</a:t>
            </a:r>
          </a:p>
        </p:txBody>
      </p:sp>
      <p:sp>
        <p:nvSpPr>
          <p:cNvPr id="31" name="S6_CARD02_R04_LABEL"/>
          <p:cNvSpPr txBox="1"/>
          <p:nvPr/>
        </p:nvSpPr>
        <p:spPr>
          <a:xfrm>
            <a:off x="6361023" y="2167128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hourly posts_first_seen</a:t>
            </a:r>
          </a:p>
        </p:txBody>
      </p:sp>
      <p:sp>
        <p:nvSpPr>
          <p:cNvPr id="32" name="S6_CARD02_R04_VALUE"/>
          <p:cNvSpPr txBox="1"/>
          <p:nvPr/>
        </p:nvSpPr>
        <p:spPr>
          <a:xfrm>
            <a:off x="8390991" y="2167128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1,734,752</a:t>
            </a:r>
          </a:p>
        </p:txBody>
      </p:sp>
      <p:sp>
        <p:nvSpPr>
          <p:cNvPr id="33" name="S6_CARD02_R05_LABEL"/>
          <p:cNvSpPr txBox="1"/>
          <p:nvPr/>
        </p:nvSpPr>
        <p:spPr>
          <a:xfrm>
            <a:off x="6361023" y="2386584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wide runs</a:t>
            </a:r>
          </a:p>
        </p:txBody>
      </p:sp>
      <p:sp>
        <p:nvSpPr>
          <p:cNvPr id="34" name="S6_CARD02_R05_VALUE"/>
          <p:cNvSpPr txBox="1"/>
          <p:nvPr/>
        </p:nvSpPr>
        <p:spPr>
          <a:xfrm>
            <a:off x="8390991" y="2386584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14</a:t>
            </a:r>
          </a:p>
        </p:txBody>
      </p:sp>
      <p:sp>
        <p:nvSpPr>
          <p:cNvPr id="35" name="S6_CARD02_R06_LABEL"/>
          <p:cNvSpPr txBox="1"/>
          <p:nvPr/>
        </p:nvSpPr>
        <p:spPr>
          <a:xfrm>
            <a:off x="6361023" y="2606040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wide feed_items</a:t>
            </a:r>
          </a:p>
        </p:txBody>
      </p:sp>
      <p:sp>
        <p:nvSpPr>
          <p:cNvPr id="36" name="S6_CARD02_R06_VALUE"/>
          <p:cNvSpPr txBox="1"/>
          <p:nvPr/>
        </p:nvSpPr>
        <p:spPr>
          <a:xfrm>
            <a:off x="8390991" y="2606040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1,737,632</a:t>
            </a:r>
          </a:p>
        </p:txBody>
      </p:sp>
      <p:sp>
        <p:nvSpPr>
          <p:cNvPr id="37" name="S6_CARD02_R07_LABEL"/>
          <p:cNvSpPr txBox="1"/>
          <p:nvPr/>
        </p:nvSpPr>
        <p:spPr>
          <a:xfrm>
            <a:off x="6361023" y="2825496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wide post_labels</a:t>
            </a:r>
          </a:p>
        </p:txBody>
      </p:sp>
      <p:sp>
        <p:nvSpPr>
          <p:cNvPr id="38" name="S6_CARD02_R07_VALUE"/>
          <p:cNvSpPr txBox="1"/>
          <p:nvPr/>
        </p:nvSpPr>
        <p:spPr>
          <a:xfrm>
            <a:off x="8390991" y="2825496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128,828</a:t>
            </a:r>
          </a:p>
        </p:txBody>
      </p:sp>
      <p:sp>
        <p:nvSpPr>
          <p:cNvPr id="39" name="S6_CARD02_R08_LABEL"/>
          <p:cNvSpPr txBox="1"/>
          <p:nvPr/>
        </p:nvSpPr>
        <p:spPr>
          <a:xfrm>
            <a:off x="6361023" y="3044952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wide posts_first_seen</a:t>
            </a:r>
          </a:p>
        </p:txBody>
      </p:sp>
      <p:sp>
        <p:nvSpPr>
          <p:cNvPr id="40" name="S6_CARD02_R08_VALUE"/>
          <p:cNvSpPr txBox="1"/>
          <p:nvPr/>
        </p:nvSpPr>
        <p:spPr>
          <a:xfrm>
            <a:off x="8390991" y="3044952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955,102</a:t>
            </a:r>
          </a:p>
        </p:txBody>
      </p:sp>
      <p:sp>
        <p:nvSpPr>
          <p:cNvPr id="41" name="S6_CARD02_R09_LABEL"/>
          <p:cNvSpPr txBox="1"/>
          <p:nvPr/>
        </p:nvSpPr>
        <p:spPr>
          <a:xfrm>
            <a:off x="6361023" y="3264408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labelerexp runs</a:t>
            </a:r>
          </a:p>
        </p:txBody>
      </p:sp>
      <p:sp>
        <p:nvSpPr>
          <p:cNvPr id="42" name="S6_CARD02_R09_VALUE"/>
          <p:cNvSpPr txBox="1"/>
          <p:nvPr/>
        </p:nvSpPr>
        <p:spPr>
          <a:xfrm>
            <a:off x="8390991" y="3264408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145</a:t>
            </a:r>
          </a:p>
        </p:txBody>
      </p:sp>
      <p:sp>
        <p:nvSpPr>
          <p:cNvPr id="43" name="S6_CARD02_R10_LABEL"/>
          <p:cNvSpPr txBox="1"/>
          <p:nvPr/>
        </p:nvSpPr>
        <p:spPr>
          <a:xfrm>
            <a:off x="6361023" y="3483864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labelerexp post_labels</a:t>
            </a:r>
          </a:p>
        </p:txBody>
      </p:sp>
      <p:sp>
        <p:nvSpPr>
          <p:cNvPr id="44" name="S6_CARD02_R10_VALUE"/>
          <p:cNvSpPr txBox="1"/>
          <p:nvPr/>
        </p:nvSpPr>
        <p:spPr>
          <a:xfrm>
            <a:off x="8390991" y="3483864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279,800</a:t>
            </a:r>
          </a:p>
        </p:txBody>
      </p:sp>
      <p:sp>
        <p:nvSpPr>
          <p:cNvPr id="45" name="_BG_CARD_03"/>
          <p:cNvSpPr/>
          <p:nvPr/>
        </p:nvSpPr>
        <p:spPr>
          <a:xfrm>
            <a:off x="640080" y="3813048"/>
            <a:ext cx="5355183" cy="2633472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1800" b="1">
                <a:solidFill>
                  <a:srgbClr val="C9D2E3"/>
                </a:solidFill>
                <a:latin typeface="Calibri"/>
              </a:rPr>
              <a:t>Labels (scanned post_labels)</a:t>
            </a:r>
          </a:p>
        </p:txBody>
      </p:sp>
      <p:sp>
        <p:nvSpPr>
          <p:cNvPr id="46" name="S6_CARD03_R01_LABEL"/>
          <p:cNvSpPr txBox="1"/>
          <p:nvPr/>
        </p:nvSpPr>
        <p:spPr>
          <a:xfrm>
            <a:off x="804672" y="4251960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label rows</a:t>
            </a:r>
          </a:p>
        </p:txBody>
      </p:sp>
      <p:sp>
        <p:nvSpPr>
          <p:cNvPr id="47" name="S6_CARD03_R01_VALUE"/>
          <p:cNvSpPr txBox="1"/>
          <p:nvPr/>
        </p:nvSpPr>
        <p:spPr>
          <a:xfrm>
            <a:off x="2834640" y="4251960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1,959,041</a:t>
            </a:r>
          </a:p>
        </p:txBody>
      </p:sp>
      <p:sp>
        <p:nvSpPr>
          <p:cNvPr id="48" name="S6_CARD03_R02_LABEL"/>
          <p:cNvSpPr txBox="1"/>
          <p:nvPr/>
        </p:nvSpPr>
        <p:spPr>
          <a:xfrm>
            <a:off x="804672" y="4471416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CSV parts</a:t>
            </a:r>
          </a:p>
        </p:txBody>
      </p:sp>
      <p:sp>
        <p:nvSpPr>
          <p:cNvPr id="49" name="S6_CARD03_R02_VALUE"/>
          <p:cNvSpPr txBox="1"/>
          <p:nvPr/>
        </p:nvSpPr>
        <p:spPr>
          <a:xfrm>
            <a:off x="2834640" y="4471416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4,128</a:t>
            </a:r>
          </a:p>
        </p:txBody>
      </p:sp>
      <p:sp>
        <p:nvSpPr>
          <p:cNvPr id="50" name="S6_CARD03_R03_LABEL"/>
          <p:cNvSpPr txBox="1"/>
          <p:nvPr/>
        </p:nvSpPr>
        <p:spPr>
          <a:xfrm>
            <a:off x="804672" y="4690872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porn</a:t>
            </a:r>
          </a:p>
        </p:txBody>
      </p:sp>
      <p:sp>
        <p:nvSpPr>
          <p:cNvPr id="51" name="S6_CARD03_R03_VALUE"/>
          <p:cNvSpPr txBox="1"/>
          <p:nvPr/>
        </p:nvSpPr>
        <p:spPr>
          <a:xfrm>
            <a:off x="2834640" y="4690872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1,227,558</a:t>
            </a:r>
          </a:p>
        </p:txBody>
      </p:sp>
      <p:sp>
        <p:nvSpPr>
          <p:cNvPr id="52" name="S6_CARD03_R04_LABEL"/>
          <p:cNvSpPr txBox="1"/>
          <p:nvPr/>
        </p:nvSpPr>
        <p:spPr>
          <a:xfrm>
            <a:off x="804672" y="4910328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sexual</a:t>
            </a:r>
          </a:p>
        </p:txBody>
      </p:sp>
      <p:sp>
        <p:nvSpPr>
          <p:cNvPr id="53" name="S6_CARD03_R04_VALUE"/>
          <p:cNvSpPr txBox="1"/>
          <p:nvPr/>
        </p:nvSpPr>
        <p:spPr>
          <a:xfrm>
            <a:off x="2834640" y="4910328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497,601</a:t>
            </a:r>
          </a:p>
        </p:txBody>
      </p:sp>
      <p:sp>
        <p:nvSpPr>
          <p:cNvPr id="54" name="S6_CARD03_R05_LABEL"/>
          <p:cNvSpPr txBox="1"/>
          <p:nvPr/>
        </p:nvSpPr>
        <p:spPr>
          <a:xfrm>
            <a:off x="804672" y="5129784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nudity</a:t>
            </a:r>
          </a:p>
        </p:txBody>
      </p:sp>
      <p:sp>
        <p:nvSpPr>
          <p:cNvPr id="55" name="S6_CARD03_R05_VALUE"/>
          <p:cNvSpPr txBox="1"/>
          <p:nvPr/>
        </p:nvSpPr>
        <p:spPr>
          <a:xfrm>
            <a:off x="2834640" y="5129784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150,115</a:t>
            </a:r>
          </a:p>
        </p:txBody>
      </p:sp>
      <p:sp>
        <p:nvSpPr>
          <p:cNvPr id="56" name="S6_CARD03_R06_LABEL"/>
          <p:cNvSpPr txBox="1"/>
          <p:nvPr/>
        </p:nvSpPr>
        <p:spPr>
          <a:xfrm>
            <a:off x="804672" y="5349240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graphic-media</a:t>
            </a:r>
          </a:p>
        </p:txBody>
      </p:sp>
      <p:sp>
        <p:nvSpPr>
          <p:cNvPr id="57" name="S6_CARD03_R06_VALUE"/>
          <p:cNvSpPr txBox="1"/>
          <p:nvPr/>
        </p:nvSpPr>
        <p:spPr>
          <a:xfrm>
            <a:off x="2834640" y="5349240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52,665</a:t>
            </a:r>
          </a:p>
        </p:txBody>
      </p:sp>
      <p:sp>
        <p:nvSpPr>
          <p:cNvPr id="58" name="S6_CARD03_R07_LABEL"/>
          <p:cNvSpPr txBox="1"/>
          <p:nvPr/>
        </p:nvSpPr>
        <p:spPr>
          <a:xfrm>
            <a:off x="804672" y="5568696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!no-unauth</a:t>
            </a:r>
          </a:p>
        </p:txBody>
      </p:sp>
      <p:sp>
        <p:nvSpPr>
          <p:cNvPr id="59" name="S6_CARD03_R07_VALUE"/>
          <p:cNvSpPr txBox="1"/>
          <p:nvPr/>
        </p:nvSpPr>
        <p:spPr>
          <a:xfrm>
            <a:off x="2834640" y="5568696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40</a:t>
            </a:r>
          </a:p>
        </p:txBody>
      </p:sp>
      <p:sp>
        <p:nvSpPr>
          <p:cNvPr id="60" name="S6_CARD03_R08_LABEL"/>
          <p:cNvSpPr txBox="1"/>
          <p:nvPr/>
        </p:nvSpPr>
        <p:spPr>
          <a:xfrm>
            <a:off x="804672" y="5788152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spam</a:t>
            </a:r>
          </a:p>
        </p:txBody>
      </p:sp>
      <p:sp>
        <p:nvSpPr>
          <p:cNvPr id="61" name="S6_CARD03_R08_VALUE"/>
          <p:cNvSpPr txBox="1"/>
          <p:nvPr/>
        </p:nvSpPr>
        <p:spPr>
          <a:xfrm>
            <a:off x="2834640" y="5788152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31</a:t>
            </a:r>
          </a:p>
        </p:txBody>
      </p:sp>
      <p:sp>
        <p:nvSpPr>
          <p:cNvPr id="62" name="S6_CARD03_R09_LABEL"/>
          <p:cNvSpPr txBox="1"/>
          <p:nvPr/>
        </p:nvSpPr>
        <p:spPr>
          <a:xfrm>
            <a:off x="804672" y="6007608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top label_src</a:t>
            </a:r>
          </a:p>
        </p:txBody>
      </p:sp>
      <p:sp>
        <p:nvSpPr>
          <p:cNvPr id="63" name="S6_CARD03_R09_VALUE"/>
          <p:cNvSpPr txBox="1"/>
          <p:nvPr/>
        </p:nvSpPr>
        <p:spPr>
          <a:xfrm>
            <a:off x="2834640" y="6007608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did:plc:ar7c4by46qjdydhdevvrndac</a:t>
            </a:r>
          </a:p>
        </p:txBody>
      </p:sp>
      <p:sp>
        <p:nvSpPr>
          <p:cNvPr id="64" name="S6_CARD03_R10_LABEL"/>
          <p:cNvSpPr txBox="1"/>
          <p:nvPr/>
        </p:nvSpPr>
        <p:spPr>
          <a:xfrm>
            <a:off x="804672" y="6227064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top label_src rows</a:t>
            </a:r>
          </a:p>
        </p:txBody>
      </p:sp>
      <p:sp>
        <p:nvSpPr>
          <p:cNvPr id="65" name="S6_CARD03_R10_VALUE"/>
          <p:cNvSpPr txBox="1"/>
          <p:nvPr/>
        </p:nvSpPr>
        <p:spPr>
          <a:xfrm>
            <a:off x="2834640" y="6227064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718,655</a:t>
            </a:r>
          </a:p>
        </p:txBody>
      </p:sp>
      <p:sp>
        <p:nvSpPr>
          <p:cNvPr id="66" name="_BG_CARD_04"/>
          <p:cNvSpPr/>
          <p:nvPr/>
        </p:nvSpPr>
        <p:spPr>
          <a:xfrm>
            <a:off x="6196431" y="3813048"/>
            <a:ext cx="5355183" cy="2633472"/>
          </a:xfrm>
          <a:prstGeom prst="roundRect">
            <a:avLst/>
          </a:prstGeom>
          <a:solidFill>
            <a:srgbClr val="162033"/>
          </a:solidFill>
          <a:ln w="18288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/>
            <a:r>
              <a:rPr sz="1800" b="1">
                <a:solidFill>
                  <a:srgbClr val="C9D2E3"/>
                </a:solidFill>
                <a:latin typeface="Calibri"/>
              </a:rPr>
              <a:t>control_state.db (SQLite)</a:t>
            </a:r>
          </a:p>
        </p:txBody>
      </p:sp>
      <p:sp>
        <p:nvSpPr>
          <p:cNvPr id="67" name="S6_CARD04_R01_LABEL"/>
          <p:cNvSpPr txBox="1"/>
          <p:nvPr/>
        </p:nvSpPr>
        <p:spPr>
          <a:xfrm>
            <a:off x="6361023" y="4251960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db size</a:t>
            </a:r>
          </a:p>
        </p:txBody>
      </p:sp>
      <p:sp>
        <p:nvSpPr>
          <p:cNvPr id="68" name="S6_CARD04_R01_VALUE"/>
          <p:cNvSpPr txBox="1"/>
          <p:nvPr/>
        </p:nvSpPr>
        <p:spPr>
          <a:xfrm>
            <a:off x="8390991" y="4251960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783.7 MiB</a:t>
            </a:r>
          </a:p>
        </p:txBody>
      </p:sp>
      <p:sp>
        <p:nvSpPr>
          <p:cNvPr id="69" name="S6_CARD04_R02_LABEL"/>
          <p:cNvSpPr txBox="1"/>
          <p:nvPr/>
        </p:nvSpPr>
        <p:spPr>
          <a:xfrm>
            <a:off x="6361023" y="4471416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author_registry</a:t>
            </a:r>
          </a:p>
        </p:txBody>
      </p:sp>
      <p:sp>
        <p:nvSpPr>
          <p:cNvPr id="70" name="S6_CARD04_R02_VALUE"/>
          <p:cNvSpPr txBox="1"/>
          <p:nvPr/>
        </p:nvSpPr>
        <p:spPr>
          <a:xfrm>
            <a:off x="8390991" y="4471416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607,741</a:t>
            </a:r>
          </a:p>
        </p:txBody>
      </p:sp>
      <p:sp>
        <p:nvSpPr>
          <p:cNvPr id="71" name="S6_CARD04_R03_LABEL"/>
          <p:cNvSpPr txBox="1"/>
          <p:nvPr/>
        </p:nvSpPr>
        <p:spPr>
          <a:xfrm>
            <a:off x="6361023" y="4690872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feed_catalog</a:t>
            </a:r>
          </a:p>
        </p:txBody>
      </p:sp>
      <p:sp>
        <p:nvSpPr>
          <p:cNvPr id="72" name="S6_CARD04_R03_VALUE"/>
          <p:cNvSpPr txBox="1"/>
          <p:nvPr/>
        </p:nvSpPr>
        <p:spPr>
          <a:xfrm>
            <a:off x="8390991" y="4690872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77,273</a:t>
            </a:r>
          </a:p>
        </p:txBody>
      </p:sp>
      <p:sp>
        <p:nvSpPr>
          <p:cNvPr id="73" name="S6_CARD04_R04_LABEL"/>
          <p:cNvSpPr txBox="1"/>
          <p:nvPr/>
        </p:nvSpPr>
        <p:spPr>
          <a:xfrm>
            <a:off x="6361023" y="4910328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post_registry</a:t>
            </a:r>
          </a:p>
        </p:txBody>
      </p:sp>
      <p:sp>
        <p:nvSpPr>
          <p:cNvPr id="74" name="S6_CARD04_R04_VALUE"/>
          <p:cNvSpPr txBox="1"/>
          <p:nvPr/>
        </p:nvSpPr>
        <p:spPr>
          <a:xfrm>
            <a:off x="8390991" y="4910328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2,825,845</a:t>
            </a:r>
          </a:p>
        </p:txBody>
      </p:sp>
      <p:sp>
        <p:nvSpPr>
          <p:cNvPr id="75" name="S6_CARD04_R05_LABEL"/>
          <p:cNvSpPr txBox="1"/>
          <p:nvPr/>
        </p:nvSpPr>
        <p:spPr>
          <a:xfrm>
            <a:off x="6361023" y="5129784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runs</a:t>
            </a:r>
          </a:p>
        </p:txBody>
      </p:sp>
      <p:sp>
        <p:nvSpPr>
          <p:cNvPr id="76" name="S6_CARD04_R05_VALUE"/>
          <p:cNvSpPr txBox="1"/>
          <p:nvPr/>
        </p:nvSpPr>
        <p:spPr>
          <a:xfrm>
            <a:off x="8390991" y="5129784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392</a:t>
            </a:r>
          </a:p>
        </p:txBody>
      </p:sp>
      <p:sp>
        <p:nvSpPr>
          <p:cNvPr id="77" name="S6_CARD04_R06_LABEL"/>
          <p:cNvSpPr txBox="1"/>
          <p:nvPr/>
        </p:nvSpPr>
        <p:spPr>
          <a:xfrm>
            <a:off x="6361023" y="5349240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wide_sweep_tasks</a:t>
            </a:r>
          </a:p>
        </p:txBody>
      </p:sp>
      <p:sp>
        <p:nvSpPr>
          <p:cNvPr id="78" name="S6_CARD04_R06_VALUE"/>
          <p:cNvSpPr txBox="1"/>
          <p:nvPr/>
        </p:nvSpPr>
        <p:spPr>
          <a:xfrm>
            <a:off x="8390991" y="5349240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152,358</a:t>
            </a:r>
          </a:p>
        </p:txBody>
      </p:sp>
      <p:sp>
        <p:nvSpPr>
          <p:cNvPr id="79" name="S6_CARD04_R07_LABEL"/>
          <p:cNvSpPr txBox="1"/>
          <p:nvPr/>
        </p:nvSpPr>
        <p:spPr>
          <a:xfrm>
            <a:off x="6361023" y="5568696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index_repo_tasks</a:t>
            </a:r>
          </a:p>
        </p:txBody>
      </p:sp>
      <p:sp>
        <p:nvSpPr>
          <p:cNvPr id="80" name="S6_CARD04_R07_VALUE"/>
          <p:cNvSpPr txBox="1"/>
          <p:nvPr/>
        </p:nvSpPr>
        <p:spPr>
          <a:xfrm>
            <a:off x="8390991" y="5568696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16,751</a:t>
            </a:r>
          </a:p>
        </p:txBody>
      </p:sp>
      <p:sp>
        <p:nvSpPr>
          <p:cNvPr id="81" name="S6_CARD04_R08_LABEL"/>
          <p:cNvSpPr txBox="1"/>
          <p:nvPr/>
        </p:nvSpPr>
        <p:spPr>
          <a:xfrm>
            <a:off x="6361023" y="5788152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index_parts</a:t>
            </a:r>
          </a:p>
        </p:txBody>
      </p:sp>
      <p:sp>
        <p:nvSpPr>
          <p:cNvPr id="82" name="S6_CARD04_R08_VALUE"/>
          <p:cNvSpPr txBox="1"/>
          <p:nvPr/>
        </p:nvSpPr>
        <p:spPr>
          <a:xfrm>
            <a:off x="8390991" y="5788152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33,561</a:t>
            </a:r>
          </a:p>
        </p:txBody>
      </p:sp>
      <p:sp>
        <p:nvSpPr>
          <p:cNvPr id="83" name="S6_CARD04_R09_LABEL"/>
          <p:cNvSpPr txBox="1"/>
          <p:nvPr/>
        </p:nvSpPr>
        <p:spPr>
          <a:xfrm>
            <a:off x="6361023" y="6007608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index_global</a:t>
            </a:r>
          </a:p>
        </p:txBody>
      </p:sp>
      <p:sp>
        <p:nvSpPr>
          <p:cNvPr id="84" name="S6_CARD04_R09_VALUE"/>
          <p:cNvSpPr txBox="1"/>
          <p:nvPr/>
        </p:nvSpPr>
        <p:spPr>
          <a:xfrm>
            <a:off x="8390991" y="6007608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1</a:t>
            </a:r>
          </a:p>
        </p:txBody>
      </p:sp>
      <p:sp>
        <p:nvSpPr>
          <p:cNvPr id="85" name="S6_CARD04_R10_LABEL"/>
          <p:cNvSpPr txBox="1"/>
          <p:nvPr/>
        </p:nvSpPr>
        <p:spPr>
          <a:xfrm>
            <a:off x="6361023" y="6227064"/>
            <a:ext cx="1920240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1">
                <a:solidFill>
                  <a:srgbClr val="C9D2E3"/>
                </a:solidFill>
                <a:latin typeface="Calibri"/>
              </a:rPr>
              <a:t>queue_posts</a:t>
            </a:r>
          </a:p>
        </p:txBody>
      </p:sp>
      <p:sp>
        <p:nvSpPr>
          <p:cNvPr id="86" name="S6_CARD04_R10_VALUE"/>
          <p:cNvSpPr txBox="1"/>
          <p:nvPr/>
        </p:nvSpPr>
        <p:spPr>
          <a:xfrm>
            <a:off x="8390991" y="6227064"/>
            <a:ext cx="2996031" cy="219456"/>
          </a:xfrm>
          <a:prstGeom prst="rect">
            <a:avLst/>
          </a:prstGeom>
          <a:noFill/>
        </p:spPr>
        <p:txBody>
          <a:bodyPr wrap="square" anchor="t" lIns="164592" rIns="164592" tIns="91440" bIns="91440">
            <a:spAutoFit/>
          </a:bodyPr>
          <a:lstStyle/>
          <a:p>
            <a:pPr algn="l"/>
            <a:r>
              <a:rPr sz="1600" b="0">
                <a:solidFill>
                  <a:srgbClr val="F7F9FC"/>
                </a:solidFill>
                <a:latin typeface="Calibri"/>
              </a:rPr>
              <a:t>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8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8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8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18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8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8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8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8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18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18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8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18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18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8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18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18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18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18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18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18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18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