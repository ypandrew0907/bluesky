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318" r:id="rId69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317" r:id="rId68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6" r:id="rId67"/>
    <p:sldId id="310" r:id="rId61"/>
    <p:sldId id="311" r:id="rId62"/>
    <p:sldId id="315" r:id="rId66"/>
    <p:sldId id="312" r:id="rId63"/>
    <p:sldId id="313" r:id="rId64"/>
    <p:sldId id="314" r:id="rId6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5F5FA"/>
                </a:solidFill>
                <a:latin typeface="Calibri"/>
              </a:rPr>
              <a:t>Bluesky Data Collection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4B4C8"/>
                </a:solidFill>
                <a:latin typeface="Calibri"/>
              </a:rPr>
              <a:t>From XRPC endpoints → analysis-ready datasets</a:t>
            </a: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640080"/>
            <a:ext cx="7042599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2743200"/>
            <a:ext cx="36576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4389120"/>
            <a:ext cx="43891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Data collection • read-only • step-by-step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What are we trying to capture?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 snapshot of the open feed ecosystem — from discovery → exposure.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74320"/>
            <a:ext cx="2011680" cy="18223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Map the ecosystem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 generators exist, and who hosts them?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Observe discovery surfaces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feeds show up in starter packs and “popular” lists?</a:t>
            </a:r>
          </a:p>
        </p:txBody>
      </p:sp>
      <p:sp>
        <p:nvSpPr>
          <p:cNvPr id="9" name="Oval 8"/>
          <p:cNvSpPr/>
          <p:nvPr/>
        </p:nvSpPr>
        <p:spPr>
          <a:xfrm>
            <a:off x="3520439" y="160020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691640"/>
            <a:ext cx="2560320" cy="2468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Capture ranked exposure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What posts appear at the top of each feed (unauth vs auth)?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https://{host}/xrpc/{method}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Bluesky APIs in one idea: XRPC over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Every API call is an HTTP request to a method ID (an NSID).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>
                <a:solidFill>
                  <a:srgbClr val="F5F5FA"/>
                </a:solidFill>
                <a:latin typeface="Consolas"/>
              </a:rPr>
              <a:t>https://</a:t>
            </a:r>
            <a:r>
              <a:rPr sz="1600" b="1">
                <a:solidFill>
                  <a:srgbClr val="00D4FF"/>
                </a:solidFill>
                <a:latin typeface="Consolas"/>
              </a:rPr>
              <a:t>{host}</a:t>
            </a:r>
            <a:r>
              <a:rPr sz="1600" b="1">
                <a:solidFill>
                  <a:srgbClr val="A855F7"/>
                </a:solidFill>
                <a:latin typeface="Consolas"/>
              </a:rPr>
              <a:t>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{method}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7498079" cy="685800"/>
          </a:xfrm>
          <a:prstGeom prst="roundRect">
            <a:avLst/>
          </a:prstGeom>
          <a:solidFill>
            <a:srgbClr val="191923"/>
          </a:solidFill>
          <a:ln w="12700">
            <a:solidFill>
              <a:srgbClr val="3C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09728" wrap="square"/>
          <a:lstStyle/>
          <a:p>
            <a:pPr algn="l"/>
            <a:r>
              <a:rPr sz="1600" b="1">
                <a:solidFill>
                  <a:srgbClr val="22C55E"/>
                </a:solidFill>
                <a:latin typeface="Consolas"/>
              </a:rPr>
              <a:t>GET</a:t>
            </a:r>
            <a:r>
              <a:rPr sz="1600">
                <a:solidFill>
                  <a:srgbClr val="F5F5FA"/>
                </a:solidFill>
                <a:latin typeface="Consolas"/>
              </a:rPr>
              <a:t> /xrpc/</a:t>
            </a:r>
            <a:r>
              <a:rPr sz="1600" b="1">
                <a:solidFill>
                  <a:srgbClr val="FF5D9E"/>
                </a:solidFill>
                <a:latin typeface="Consolas"/>
              </a:rPr>
              <a:t>app.bsky.feed.getFeed</a:t>
            </a:r>
            <a:r>
              <a:rPr sz="1600">
                <a:solidFill>
                  <a:srgbClr val="F5F5FA"/>
                </a:solidFill>
                <a:latin typeface="Consolas"/>
              </a:rPr>
              <a:t>?feed=at://…&amp;limit=100&amp;</a:t>
            </a:r>
            <a:r>
              <a:rPr sz="1600" b="1">
                <a:solidFill>
                  <a:srgbClr val="00D4FF"/>
                </a:solidFill>
                <a:latin typeface="Consolas"/>
              </a:rPr>
              <a:t>cursor</a:t>
            </a:r>
            <a:r>
              <a:rPr sz="1600">
                <a:solidFill>
                  <a:srgbClr val="F5F5FA"/>
                </a:solidFill>
                <a:latin typeface="Consolas"/>
              </a:rPr>
              <a:t>=…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Queries = GET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Read data (cacheable).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429000"/>
            <a:ext cx="3474720" cy="11887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Procedures = POST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Used for actions like creating a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470916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In this pipeline: reads + session only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34640"/>
            <a:ext cx="2468880" cy="1526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Where requests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Different hosts serve different slices of the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1280160" cy="822960"/>
          </a:xfrm>
          <a:prstGeom prst="roundRect">
            <a:avLst/>
          </a:prstGeom>
          <a:solidFill>
            <a:srgbClr val="1C1C28"/>
          </a:solidFill>
          <a:ln w="19050">
            <a:solidFill>
              <a:srgbClr val="646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Collector</a:t>
            </a:r>
          </a:p>
        </p:txBody>
      </p:sp>
      <p:sp>
        <p:nvSpPr>
          <p:cNvPr id="6" name="Oval 5"/>
          <p:cNvSpPr/>
          <p:nvPr/>
        </p:nvSpPr>
        <p:spPr>
          <a:xfrm>
            <a:off x="2331720" y="1965960"/>
            <a:ext cx="1554480" cy="1554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Bulk enumeration
(actor DIDs)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relay host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11680" y="2697480"/>
            <a:ext cx="1097279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92040" y="1965960"/>
            <a:ext cx="1554480" cy="15544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AppView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Read APIs
(feeds, profiles)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public AppView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11680" y="2697480"/>
            <a:ext cx="36576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2360" y="1965960"/>
            <a:ext cx="1554480" cy="155448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0B0F"/>
                </a:solidFill>
                <a:latin typeface="Calibri"/>
              </a:rPr>
              <a:t>PDS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11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5F5FA"/>
                </a:solidFill>
                <a:latin typeface="Calibri"/>
              </a:rPr>
              <a:t>Session APIs
(auth context)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343400"/>
            <a:ext cx="17373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user PDS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11680" y="2697480"/>
            <a:ext cx="62179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804672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Most of the pipeline is AppView reads; Relay is for discovery; PDS is for 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Collector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Make the data run reproducible, gentle, and easy to resume.</a:t>
            </a:r>
          </a:p>
        </p:txBody>
      </p:sp>
      <p:pic>
        <p:nvPicPr>
          <p:cNvPr id="5" name="Picture 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017520"/>
            <a:ext cx="4114800" cy="312407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69164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Read-only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Only GET reads + session creation.</a:t>
            </a:r>
            <a:br/>
            <a:r>
              <a:t>No likes, no reposts, no writes.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Rate-limited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Client-side pacing so we don’t overwhelm hosts.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457200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Resumable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A single state DB checkpoints progress and avoids duplicates.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34924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663440"/>
            <a:ext cx="502920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clean snapshots you can explain and rerun.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Pipeline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One run turns public APIs into analysis-ready datasets.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3280"/>
            <a:ext cx="9144000" cy="1870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1560" y="2478024"/>
            <a:ext cx="7406640" cy="54864"/>
          </a:xfrm>
          <a:prstGeom prst="rect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Relay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Enumerate
candidate actors</a:t>
            </a:r>
          </a:p>
        </p:txBody>
      </p:sp>
      <p:sp>
        <p:nvSpPr>
          <p:cNvPr id="10" name="Oval 9"/>
          <p:cNvSpPr/>
          <p:nvPr/>
        </p:nvSpPr>
        <p:spPr>
          <a:xfrm>
            <a:off x="20574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Hydrate feed
generators</a:t>
            </a:r>
          </a:p>
        </p:txBody>
      </p:sp>
      <p:sp>
        <p:nvSpPr>
          <p:cNvPr id="13" name="Oval 12"/>
          <p:cNvSpPr/>
          <p:nvPr/>
        </p:nvSpPr>
        <p:spPr>
          <a:xfrm>
            <a:off x="3291840" y="2240280"/>
            <a:ext cx="502920" cy="502920"/>
          </a:xfrm>
          <a:prstGeom prst="ellipse">
            <a:avLst/>
          </a:prstGeom>
          <a:solidFill>
            <a:srgbClr val="F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Extract feeds
from packs</a:t>
            </a:r>
          </a:p>
        </p:txBody>
      </p:sp>
      <p:sp>
        <p:nvSpPr>
          <p:cNvPr id="16" name="Oval 15"/>
          <p:cNvSpPr/>
          <p:nvPr/>
        </p:nvSpPr>
        <p:spPr>
          <a:xfrm>
            <a:off x="4526280" y="22402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popular
feed list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240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59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Batch hydrate
missing metadata</a:t>
            </a:r>
          </a:p>
        </p:txBody>
      </p:sp>
      <p:sp>
        <p:nvSpPr>
          <p:cNvPr id="22" name="Oval 21"/>
          <p:cNvSpPr/>
          <p:nvPr/>
        </p:nvSpPr>
        <p:spPr>
          <a:xfrm>
            <a:off x="699516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Select feeds
to snapshot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B0B0F"/>
                </a:solidFill>
                <a:latin typeface="Calibr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856232"/>
            <a:ext cx="7772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34640"/>
            <a:ext cx="1325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Ranked posts
+ authors + CSV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63440"/>
            <a:ext cx="38404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Next: we’ll zoom into each stage (click…)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1 — Build a feed generator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discover feed generators and store canonical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Relay enumeration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Find actors that publish</a:t>
            </a:r>
            <a:br/>
            <a:r>
              <a:t>feed generator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com.atproto.sync.listReposByCollection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collection = app.bsky.feed.generator
cursor pagination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234440"/>
            <a:ext cx="2011680" cy="5486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5F5FA"/>
                </a:solidFill>
                <a:latin typeface="Consolas"/>
              </a:rPr>
              <a:t>actor DIDs  →  did:plc:…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375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AppView hydration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For each actor, list</a:t>
            </a:r>
            <a:br/>
            <a:r>
              <a:t>its published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383280"/>
            <a:ext cx="23774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app.bsky.feed.getActorFeeds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639312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actor = DID
cursor pagination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072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37744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Feed generator views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Extract key metadata</a:t>
            </a:r>
            <a:br/>
            <a:r>
              <a:t>per feed.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9748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• feed URI (at://…)
• creator DID
• service DID / provider
• display name + description</a:t>
            </a:r>
          </a:p>
        </p:txBody>
      </p:sp>
      <p:sp>
        <p:nvSpPr>
          <p:cNvPr id="16" name="Can 15"/>
          <p:cNvSpPr/>
          <p:nvPr/>
        </p:nvSpPr>
        <p:spPr>
          <a:xfrm>
            <a:off x="6629400" y="6858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Feed generator index
(resumable + deduped)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84831"/>
            <a:ext cx="210312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Input to later stages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2 — Starter packs (discovery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learn which feeds are recommended together, and how often.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4688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Find starter packs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Two ways to get</a:t>
            </a:r>
            <a:br/>
            <a:r>
              <a:t>starter pack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3017520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A: searchStarterPacks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3310128"/>
            <a:ext cx="21945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Option B: relay enumeration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57400"/>
            <a:ext cx="2103120" cy="640080"/>
          </a:xfrm>
          <a:prstGeom prst="roundRect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5F5FA"/>
                </a:solidFill>
                <a:latin typeface="Consolas"/>
              </a:rPr>
              <a:t>starter pack URIs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2240280"/>
            <a:ext cx="320040" cy="22860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715000" y="2240280"/>
            <a:ext cx="50292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874519"/>
            <a:ext cx="2011680" cy="10972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Hydrate pack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Fetch pack details</a:t>
            </a:r>
            <a:br/>
            <a:r>
              <a:t>and nested items.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999232"/>
            <a:ext cx="201168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app.bsky.graph.getStarterPack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23360" y="3611880"/>
            <a:ext cx="640080" cy="27432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3017520" cy="14173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Extract feed URIs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Walk the payload and collect</a:t>
            </a:r>
            <a:br/>
            <a:r>
              <a:t>at://…/app.bsky.feed.generator/…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429000"/>
            <a:ext cx="2011680" cy="1097280"/>
          </a:xfrm>
          <a:prstGeom prst="rect">
            <a:avLst/>
          </a:prstGeom>
          <a:solidFill>
            <a:srgbClr val="191923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at://…/feed.generator/abc
at://…/feed.generator/def
at://…/feed.generator/ghi</a:t>
            </a:r>
          </a:p>
        </p:txBody>
      </p:sp>
      <p:sp>
        <p:nvSpPr>
          <p:cNvPr id="16" name="Can 15"/>
          <p:cNvSpPr/>
          <p:nvPr/>
        </p:nvSpPr>
        <p:spPr>
          <a:xfrm>
            <a:off x="6583680" y="3520440"/>
            <a:ext cx="201168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348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5F5FA"/>
                </a:solidFill>
                <a:latin typeface="Calibri"/>
              </a:rPr>
              <a:t>Starter packs catalog
+ feed inclusion edges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736592"/>
            <a:ext cx="201168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B4B4C8"/>
                </a:solidFill>
                <a:latin typeface="Calibri"/>
              </a:rPr>
              <a:t>Discovery signal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3 — Popular feeds (ranking surface)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the platform’s “popular feed generators” list as a ranked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Call the popular endpoint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a page of popular</a:t>
            </a:r>
            <a:br/>
            <a:r>
              <a:t>feed generator URIs.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app.bsky.unspecced.getPopularFeedGenerators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limit + cursor pagination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06240" y="23317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783080"/>
            <a:ext cx="2743200" cy="210312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l"/>
            <a:r>
              <a:rPr sz="1200">
                <a:solidFill>
                  <a:srgbClr val="F5F5FA"/>
                </a:solidFill>
                <a:latin typeface="Consolas"/>
              </a:rPr>
              <a:t>1  at://…/feed.generator/…
2  at://…/feed.generator/…
3  at://…/feed.generator/…
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886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5FA"/>
                </a:solidFill>
                <a:latin typeface="Calibri"/>
              </a:rPr>
              <a:t>Ranked feed URIs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18120" y="2331720"/>
            <a:ext cx="45720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8229600" y="2057400"/>
            <a:ext cx="82296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971800"/>
            <a:ext cx="1188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Persist
rank +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4 — Enrich feed metadata (batch hydration)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ensure every feed we touch has complete metadata for analysis.</a:t>
            </a:r>
          </a:p>
        </p:txBody>
      </p:sp>
      <p:sp>
        <p:nvSpPr>
          <p:cNvPr id="5" name="Cloud 4"/>
          <p:cNvSpPr/>
          <p:nvPr/>
        </p:nvSpPr>
        <p:spPr>
          <a:xfrm>
            <a:off x="822960" y="1920240"/>
            <a:ext cx="2834640" cy="1554480"/>
          </a:xfrm>
          <a:prstGeom prst="cloud">
            <a:avLst/>
          </a:prstGeom>
          <a:solidFill>
            <a:srgbClr val="1E1E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Touched feeds
(starter packs ∪ popular ∪ panel)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2651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List of feed URIs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39" y="256032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874519"/>
            <a:ext cx="356616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hydrate feeds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Request feed generator views</a:t>
            </a:r>
            <a:br/>
            <a:r>
              <a:t>in batches (e.g., 25 at a time).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356616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app.bsky.feed.getFeedGenerators</a:t>
            </a:r>
          </a:p>
        </p:txBody>
      </p:sp>
      <p:sp>
        <p:nvSpPr>
          <p:cNvPr id="10" name="Can 9"/>
          <p:cNvSpPr/>
          <p:nvPr/>
        </p:nvSpPr>
        <p:spPr>
          <a:xfrm>
            <a:off x="6629400" y="3657600"/>
            <a:ext cx="192024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F5F5FA"/>
                </a:solidFill>
                <a:latin typeface="Calibri"/>
              </a:rPr>
              <a:t>Enriched fields: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959352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4B4C8"/>
                </a:solidFill>
                <a:latin typeface="Calibri"/>
              </a:rPr>
              <a:t>• service DID / provider bucket
• display name / description
• creator DID
(…plus other feed metadata)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5 — Build the feed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choose a fixed set of feeds to snapshot (coverage + diversity).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8229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743200"/>
            <a:ext cx="329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A reproducible list of feeds we snapshot.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Discovery-surfaced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Feeds most included</a:t>
            </a:r>
            <a:br/>
            <a:r>
              <a:t>in starter packs</a:t>
            </a:r>
          </a:p>
        </p:txBody>
      </p:sp>
      <p:sp>
        <p:nvSpPr>
          <p:cNvPr id="8" name="Up Arrow 7"/>
          <p:cNvSpPr/>
          <p:nvPr/>
        </p:nvSpPr>
        <p:spPr>
          <a:xfrm>
            <a:off x="178308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Popular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Top of the</a:t>
            </a:r>
            <a:br/>
            <a:r>
              <a:t>popular list</a:t>
            </a:r>
          </a:p>
        </p:txBody>
      </p:sp>
      <p:sp>
        <p:nvSpPr>
          <p:cNvPr id="10" name="Up Arrow 9"/>
          <p:cNvSpPr/>
          <p:nvPr/>
        </p:nvSpPr>
        <p:spPr>
          <a:xfrm>
            <a:off x="434340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377440" cy="14630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Less-known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Provider-balanced</a:t>
            </a:r>
            <a:br/>
            <a:r>
              <a:t>long tail sample</a:t>
            </a:r>
          </a:p>
        </p:txBody>
      </p:sp>
      <p:sp>
        <p:nvSpPr>
          <p:cNvPr id="12" name="Up Arrow 11"/>
          <p:cNvSpPr/>
          <p:nvPr/>
        </p:nvSpPr>
        <p:spPr>
          <a:xfrm>
            <a:off x="6903720" y="2926080"/>
            <a:ext cx="457200" cy="320040"/>
          </a:xfrm>
          <a:prstGeom prst="up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6949440" y="1783080"/>
            <a:ext cx="1554480" cy="82296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Store the panel with
selection reason + rank.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63440"/>
            <a:ext cx="42062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Panel is fixed before snapshotting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6 — Snapshot feeds (ranked impressions)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capture “what shows up” at the top of each selected feed.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011680" cy="91440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Feed panel</a:t>
            </a:r>
          </a:p>
        </p:txBody>
      </p:sp>
      <p:sp>
        <p:nvSpPr>
          <p:cNvPr id="6" name="Circular Arrow 5"/>
          <p:cNvSpPr/>
          <p:nvPr/>
        </p:nvSpPr>
        <p:spPr>
          <a:xfrm>
            <a:off x="548640" y="1691640"/>
            <a:ext cx="640080" cy="640080"/>
          </a:xfrm>
          <a:prstGeom prst="circular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4B4C8"/>
                </a:solidFill>
                <a:latin typeface="Calibri"/>
              </a:rPr>
              <a:t>For each feed…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28016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unauth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1828800" cy="27432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5F5FA"/>
                </a:solidFill>
                <a:latin typeface="Calibri"/>
              </a:rPr>
              <a:t>viewer: auth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2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4B4C8"/>
                </a:solidFill>
                <a:latin typeface="Calibri"/>
              </a:rPr>
              <a:t>Two snapshots can differ because feeds may personalize.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74519"/>
            <a:ext cx="283464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Fetch ranked items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Call getFeed and</a:t>
            </a:r>
            <a:br/>
            <a:r>
              <a:t>page through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200400"/>
            <a:ext cx="28346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app.bsky.feed.getFeed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56432"/>
            <a:ext cx="2468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B4B4C8"/>
                </a:solidFill>
                <a:latin typeface="Calibri"/>
              </a:rPr>
              <a:t>feed URI + limit + cursor
stop after top K posts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92240" y="242316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rank + post id</a:t>
            </a:r>
            <a:br/>
            <a:r>
              <a:t>+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69748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text, embeds,</a:t>
            </a:r>
            <a:br/>
            <a:r>
              <a:t>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703320"/>
            <a:ext cx="1737360" cy="9144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post/author</a:t>
            </a:r>
            <a:br/>
            <a:r>
              <a:t>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617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Saved into the state DB
per feed + viewer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63440"/>
            <a:ext cx="566928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Result: one cross-sectional snapshot of ranked exposure.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we store from each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Think: impressions (where) + posts (what) + labels (signals).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Impressions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feed URI</a:t>
            </a:r>
            <a:br/>
            <a:r>
              <a:t>viewer mode</a:t>
            </a:r>
            <a:br/>
            <a:r>
              <a:t>rank (1..K)</a:t>
            </a:r>
            <a:br/>
            <a:r>
              <a:t>post URI + CID</a:t>
            </a:r>
            <a:br/>
            <a:r>
              <a:t>collected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Posts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author DID + handle</a:t>
            </a:r>
            <a:br/>
            <a:r>
              <a:t>createdAt, text</a:t>
            </a:r>
            <a:br/>
            <a:r>
              <a:t>reply / quote refs</a:t>
            </a:r>
            <a:br/>
            <a:r>
              <a:t>embeds (images, links)</a:t>
            </a:r>
            <a:br/>
            <a:r>
              <a:t>engagement counts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74519"/>
            <a:ext cx="2651760" cy="2514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800" b="1">
                <a:solidFill>
                  <a:srgbClr val="F5F5FA"/>
                </a:solidFill>
                <a:latin typeface="Calibri"/>
              </a:rPr>
              <a:t>Labels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post labels</a:t>
            </a:r>
            <a:br/>
            <a:r>
              <a:t>author labels</a:t>
            </a:r>
            <a:br/>
            <a:r>
              <a:t>raw JSON preserved</a:t>
            </a:r>
            <a:br/>
            <a:r>
              <a:t>(normalized for analysis)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512064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This is enough to compute fairness / exposure metrics later.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What the collected data lets us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Fairness-style questions about discovery, exposure, and safety signals.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H1  Discovery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a few feeds dominate</a:t>
            </a:r>
            <a:br/>
            <a:r>
              <a:t>starter pack inclusion?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H2  Provider leverage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hosting providers</a:t>
            </a:r>
            <a:br/>
            <a:r>
              <a:t>get the most exposure?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874519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H3  Exposure concentration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concentrated are</a:t>
            </a:r>
            <a:br/>
            <a:r>
              <a:t>ranked impressions?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H4  Feed overlap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How similar are feeds</a:t>
            </a:r>
            <a:br/>
            <a:r>
              <a:t>in what they show?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H5  Exposure vs author size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Do larger authors get</a:t>
            </a:r>
            <a:br/>
            <a:r>
              <a:t>outsized exposure?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429000"/>
            <a:ext cx="2377440" cy="13716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H6  Label risk signals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Which labels appear in</a:t>
            </a:r>
            <a:br/>
            <a:r>
              <a:t>ranked posts, and where?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5852160" cy="320040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B4C8"/>
                </a:solidFill>
                <a:latin typeface="Calibri"/>
              </a:rPr>
              <a:t>These metrics are computed from the same state DB / CSV exports.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Stage 7 — Hydrate author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Goal: add basic context about the authors who appeared in snapshots.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2743200" cy="1280160"/>
          </a:xfrm>
          <a:prstGeom prst="roundRec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Unique author DIDs</a:t>
            </a:r>
          </a:p>
          <a:p>
            <a:pPr>
              <a:defRPr sz="1200">
                <a:solidFill>
                  <a:srgbClr val="B4B4C8"/>
                </a:solidFill>
                <a:latin typeface="Consolas"/>
              </a:defRPr>
            </a:pPr>
            <a:r>
              <a:t>did:plc:…</a:t>
            </a:r>
            <a:br/>
            <a:r>
              <a:t>did:plc:…</a:t>
            </a:r>
            <a:br/>
            <a:r>
              <a:t>…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965960"/>
            <a:ext cx="329184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Batch fetch profiles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Lookup profiles in batches</a:t>
            </a:r>
            <a:br/>
            <a:r>
              <a:t>(e.g., 25 actors at a time).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310128"/>
            <a:ext cx="3291840" cy="256032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4B4C8"/>
                </a:solidFill>
                <a:latin typeface="Calibri"/>
              </a:rPr>
              <a:t>XRPC: app.bsky.actor.getProfiles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514600"/>
            <a:ext cx="64008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 9"/>
          <p:cNvSpPr/>
          <p:nvPr/>
        </p:nvSpPr>
        <p:spPr>
          <a:xfrm>
            <a:off x="8321040" y="2103120"/>
            <a:ext cx="731520" cy="731520"/>
          </a:xfrm>
          <a:prstGeom prst="can">
            <a:avLst/>
          </a:prstGeom>
          <a:solidFill>
            <a:srgbClr val="1E1E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5F5FA"/>
                </a:solidFill>
                <a:latin typeface="Calibri"/>
              </a:rP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8862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B4B4C8"/>
                </a:solidFill>
                <a:latin typeface="Calibri"/>
              </a:rPr>
              <a:t>Store: handle, display name,
followers / follows / posts counts.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At the end of the run, everything is exported for analysis.</a:t>
            </a:r>
          </a:p>
        </p:txBody>
      </p:sp>
      <p:sp>
        <p:nvSpPr>
          <p:cNvPr id="5" name="Can 4"/>
          <p:cNvSpPr/>
          <p:nvPr/>
        </p:nvSpPr>
        <p:spPr>
          <a:xfrm>
            <a:off x="1005840" y="2103120"/>
            <a:ext cx="1828800" cy="914400"/>
          </a:xfrm>
          <a:prstGeom prst="can">
            <a:avLst/>
          </a:prstGeom>
          <a:solidFill>
            <a:srgbClr val="1E1E2D"/>
          </a:solidFill>
          <a:ln w="25400">
            <a:solidFill>
              <a:srgbClr val="F5F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State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4B4C8"/>
                </a:solidFill>
                <a:latin typeface="Calibri"/>
              </a:rPr>
              <a:t>single source of truth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ultidocument 7"/>
          <p:cNvSpPr/>
          <p:nvPr/>
        </p:nvSpPr>
        <p:spPr>
          <a:xfrm>
            <a:off x="3931920" y="1874519"/>
            <a:ext cx="2011680" cy="1371600"/>
          </a:xfrm>
          <a:prstGeom prst="flowChartMultidocument">
            <a:avLst/>
          </a:prstGeom>
          <a:solidFill>
            <a:srgbClr val="19192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5F5FA"/>
                </a:solidFill>
                <a:latin typeface="Calibri"/>
              </a:rPr>
              <a:t>CSV exports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2461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B4B4C8"/>
                </a:solidFill>
                <a:latin typeface="Calibri"/>
              </a:rPr>
              <a:t>posts • impressions • authors
starter packs • popular • 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26480" y="2331720"/>
            <a:ext cx="731520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0" y="1874519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Manifest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File list + hashes</a:t>
            </a:r>
            <a:br/>
            <a:r>
              <a:t>for reproducibility.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2011680" cy="128016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Data dictionary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Column meanings</a:t>
            </a:r>
            <a:br/>
            <a:r>
              <a:t>and types.</a:t>
            </a:r>
          </a:p>
        </p:txBody>
      </p:sp>
      <p:pic>
        <p:nvPicPr>
          <p:cNvPr id="13" name="Picture 12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600"/>
            <a:ext cx="2743200" cy="123585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API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Key endpoints used by the data collection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9235440" cy="320040"/>
          </a:xfrm>
          <a:prstGeom prst="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280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1645920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XRPC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45920"/>
            <a:ext cx="1097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5F5FA"/>
                </a:solidFill>
                <a:latin typeface="Calibri"/>
              </a:rPr>
              <a:t>Pagination / batching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75104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59" y="1975104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com.atproto.sync.listReposByCollection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975104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Relay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975104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75104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267712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32257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Feed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59" y="232257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app.bsky.feed.getActorFeeds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32257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2257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32257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615184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70048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59" y="2670048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app.bsky.graph.searchStarterPacks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670048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670048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670048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01752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59" y="301752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app.bsky.graph.getActorStarterPacks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01752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01752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30175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310128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64992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Starter packs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59" y="3364992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app.bsky.graph.getStarterPack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3364992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364992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364992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657600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712463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Popular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5959" y="3712463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app.bsky.unspecced.getPopularFeedGenerators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712463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3712463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12463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" y="4005072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4059936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Enrich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59" y="4059936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app.bsky.feed.getFeedGenerators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059936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4059936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059936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352544"/>
            <a:ext cx="9235440" cy="347472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407407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Snapshot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959" y="4407407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app.bsky.feed.getFeed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4407407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3720" y="4407407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Optional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4407407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cursor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700016"/>
            <a:ext cx="9235440" cy="347472"/>
          </a:xfrm>
          <a:prstGeom prst="rect">
            <a:avLst/>
          </a:prstGeom>
          <a:solidFill>
            <a:srgbClr val="14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4754880"/>
            <a:ext cx="118871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Authors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65959" y="4754880"/>
            <a:ext cx="37490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F5F5FA"/>
                </a:solidFill>
                <a:latin typeface="Consolas"/>
              </a:rPr>
              <a:t>app.bsky.actor.getProfiles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06440" y="4754880"/>
            <a:ext cx="10058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AppView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3720" y="4754880"/>
            <a:ext cx="640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5F5FA"/>
                </a:solidFill>
                <a:latin typeface="Calibri"/>
              </a:rP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7548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5F5FA"/>
                </a:solidFill>
                <a:latin typeface="Calibri"/>
              </a:rPr>
              <a:t>batch (e.g., 25)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709160"/>
            <a:ext cx="420624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Hosts: Relay for enumeration • AppView for reads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5F5FA"/>
                </a:solidFill>
                <a:latin typeface="Calibri"/>
              </a:rPr>
              <a:t>Appendix — Session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Only used to create / refresh an auth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com.atproto.server.createSession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identifier + app password</a:t>
            </a:r>
            <a:br/>
            <a:r>
              <a:t>→ access JWT + refresh JWT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920240"/>
            <a:ext cx="3566160" cy="164592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37160" bIns="91440"/>
          <a:lstStyle/>
          <a:p>
            <a:pPr algn="l"/>
            <a:r>
              <a:rPr sz="1800" b="1">
                <a:solidFill>
                  <a:srgbClr val="F5F5FA"/>
                </a:solidFill>
                <a:latin typeface="Calibri"/>
              </a:rPr>
              <a:t>com.atproto.server.refreshSession</a:t>
            </a:r>
          </a:p>
          <a:p>
            <a:pPr>
              <a:spcBef>
                <a:spcPts val="600"/>
              </a:spcBef>
              <a:defRPr sz="1400">
                <a:solidFill>
                  <a:srgbClr val="B4B4C8"/>
                </a:solidFill>
                <a:latin typeface="Calibri"/>
              </a:defRPr>
            </a:pPr>
            <a:r>
              <a:t>POST</a:t>
            </a:r>
            <a:br/>
            <a:r>
              <a:t>bearer refresh JWT</a:t>
            </a:r>
            <a:br/>
            <a:r>
              <a:t>→ new access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Host: user PDS (e.g., bsky.social)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3749039"/>
            <a:ext cx="2743200" cy="292608"/>
          </a:xfrm>
          <a:prstGeom prst="roundRect">
            <a:avLst/>
          </a:prstGeom>
          <a:solidFill>
            <a:srgbClr val="1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B4B4C8"/>
                </a:solidFill>
                <a:latin typeface="Calibri"/>
              </a:rPr>
              <a:t>Auth snapshots use the access JWT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3749039"/>
            <a:ext cx="1554480" cy="88805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5F5FA"/>
                </a:solidFill>
                <a:latin typeface="Calibri"/>
              </a:rPr>
              <a:t>Sources &amp;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630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4B4C8"/>
                </a:solidFill>
                <a:latin typeface="Calibri"/>
              </a:rPr>
              <a:t>Docs used for endpoint semantics + request structure: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Bluesky HTTP Reference (docs.bsky.app)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06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AT Protocol HTTP API (XRPC) spec (atproto.com)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5F5FA"/>
                </a:solidFill>
                <a:latin typeface="Calibri"/>
              </a:rPr>
              <a:t>• Visual elements adapted from the provided Slidesgo infographics templates</a:t>
            </a:r>
          </a:p>
        </p:txBody>
      </p:sp>
      <p:pic>
        <p:nvPicPr>
          <p:cNvPr id="8" name="Picture 7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1840"/>
            <a:ext cx="3657600" cy="277695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A"/>
                </a:solidFill>
                <a:latin typeface="Calibri"/>
              </a:defRPr>
            </a:pPr>
            <a:r>
              <a:t>Reproducible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C8"/>
                </a:solidFill>
                <a:latin typeface="Calibri"/>
              </a:defRPr>
            </a:pPr>
            <a:r>
              <a:t>Every export is hashed; every column is documented.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7498079" cy="15544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nifest_excer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55648"/>
            <a:ext cx="6646985" cy="1234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337560"/>
            <a:ext cx="7498079" cy="16002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ta_dictionary_excer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93008"/>
            <a:ext cx="597408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A"/>
                </a:solidFill>
                <a:latin typeface="Calibri"/>
              </a:defRPr>
            </a:pPr>
            <a:r>
              <a:t>One stitched example (keys line 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C8"/>
                </a:solidFill>
                <a:latin typeface="Calibri"/>
              </a:defRPr>
            </a:pPr>
            <a:r>
              <a:t>Panel entry → ranked impression → post metadata → author profile (no post text).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874519" cy="32918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nel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37360"/>
            <a:ext cx="1655063" cy="4137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697480" y="1600200"/>
            <a:ext cx="1874519" cy="32918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press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737360"/>
            <a:ext cx="1655063" cy="4137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600200"/>
            <a:ext cx="1874519" cy="32918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st_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737360"/>
            <a:ext cx="1655063" cy="40194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600200"/>
            <a:ext cx="1874519" cy="329184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uthor_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008" y="1737360"/>
            <a:ext cx="1655063" cy="386181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>
            <a:off x="2532888" y="3108960"/>
            <a:ext cx="146304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590288" y="3108960"/>
            <a:ext cx="146304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6647688" y="3108960"/>
            <a:ext cx="146304" cy="320040"/>
          </a:xfrm>
          <a:prstGeom prst="rightArrow">
            <a:avLst/>
          </a:prstGeom>
          <a:solidFill>
            <a:srgbClr val="46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A"/>
                </a:solidFill>
                <a:latin typeface="Calibri"/>
              </a:defRPr>
            </a:pPr>
            <a:r>
              <a:t>Discovery leaves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C8"/>
                </a:solidFill>
                <a:latin typeface="Calibri"/>
              </a:defRPr>
            </a:pPr>
            <a:r>
              <a:t>Starter packs and popular lists become joinable tables (IDs we reuse later).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703320" cy="34290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F5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A"/>
                </a:solidFill>
                <a:latin typeface="Calibri"/>
              </a:defRPr>
            </a:pPr>
            <a:r>
              <a:t>Starter packs</a:t>
            </a:r>
          </a:p>
        </p:txBody>
      </p:sp>
      <p:pic>
        <p:nvPicPr>
          <p:cNvPr id="7" name="Picture 6" descr="starterpack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11680"/>
            <a:ext cx="3429000" cy="800100"/>
          </a:xfrm>
          <a:prstGeom prst="rect">
            <a:avLst/>
          </a:prstGeom>
        </p:spPr>
      </p:pic>
      <p:pic>
        <p:nvPicPr>
          <p:cNvPr id="8" name="Picture 7" descr="starterpack_inclus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4290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452628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4B4C8"/>
                </a:solidFill>
                <a:latin typeface="Calibri"/>
              </a:defRPr>
            </a:pPr>
            <a:r>
              <a:t>We also aggregate pack inclusions into a feed-level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00200"/>
            <a:ext cx="3703320" cy="342900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73736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A"/>
                </a:solidFill>
                <a:latin typeface="Calibri"/>
              </a:defRPr>
            </a:pPr>
            <a:r>
              <a:t>Popular feeds</a:t>
            </a:r>
          </a:p>
        </p:txBody>
      </p:sp>
      <p:pic>
        <p:nvPicPr>
          <p:cNvPr id="12" name="Picture 11" descr="popular_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011680"/>
            <a:ext cx="3429000" cy="742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0600" y="3337560"/>
            <a:ext cx="3383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4B4C8"/>
                </a:solidFill>
                <a:latin typeface="Calibri"/>
              </a:defRPr>
            </a:pPr>
            <a:r>
              <a:t>Stores a ranked list we can sample from for the panel.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5FA"/>
                </a:solidFill>
                <a:latin typeface="Calibri"/>
              </a:defRPr>
            </a:pPr>
            <a:r>
              <a:t>The run behind this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C8"/>
                </a:solidFill>
                <a:latin typeface="Calibri"/>
              </a:defRPr>
            </a:pPr>
            <a:r>
              <a:t>A single unauth run turns public APIs into analysis-ready datasets.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70332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A"/>
                </a:solidFill>
                <a:latin typeface="Calibri"/>
              </a:defRPr>
            </a:pPr>
            <a:r>
              <a:t>Viewer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4B4C8"/>
                </a:solidFill>
                <a:latin typeface="Calibri"/>
              </a:defRPr>
            </a:pPr>
            <a:r>
              <a:t>auth_mode: unauth</a:t>
            </a:r>
            <a:br/>
            <a:r>
              <a:t>run_id: 88b597ae…edbbd1967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00200"/>
            <a:ext cx="3703320" cy="1325880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75564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A"/>
                </a:solidFill>
                <a:latin typeface="Calibri"/>
              </a:defRPr>
            </a:pPr>
            <a:r>
              <a:t>Anchors (minimal)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05740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5FA"/>
                </a:solidFill>
                <a:latin typeface="Calibri"/>
              </a:defRPr>
            </a:pPr>
            <a:r>
              <a:t>Panel: 6,000 feeds</a:t>
            </a:r>
            <a:br/>
            <a:r>
              <a:t>Captured: ~600k ranked impressions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08960"/>
            <a:ext cx="7498079" cy="1874519"/>
          </a:xfrm>
          <a:prstGeom prst="roundRect">
            <a:avLst/>
          </a:prstGeom>
          <a:solidFill>
            <a:srgbClr val="14141C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5526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5FA"/>
                </a:solidFill>
                <a:latin typeface="Calibri"/>
              </a:defRPr>
            </a:pPr>
            <a:r>
              <a:t>Exports (conceptual)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206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B4B4C8"/>
                </a:solidFill>
                <a:latin typeface="Calibri"/>
              </a:defRPr>
            </a:pPr>
            <a:r>
              <a:t>• Feed generator index</a:t>
            </a:r>
            <a:br/>
            <a:r>
              <a:t>• Starter packs + inclusions</a:t>
            </a:r>
            <a:br/>
            <a:r>
              <a:t>• Popular feed list</a:t>
            </a:r>
            <a:br/>
            <a:r>
              <a:t>• Feed panel</a:t>
            </a:r>
            <a:br/>
            <a:r>
              <a:t>• Ranked impressions</a:t>
            </a:r>
            <a:br/>
            <a:r>
              <a:t>• Posts (metadata)</a:t>
            </a:r>
            <a:br/>
            <a:r>
              <a:t>• Authors (profiles)</a:t>
            </a:r>
          </a:p>
        </p:txBody>
      </p:sp>
      <p:pic>
        <p:nvPicPr>
          <p:cNvPr id="14" name="Picture 13" descr="feed_index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456432"/>
            <a:ext cx="3520440" cy="7627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17720" y="47548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46465A"/>
                </a:solidFill>
                <a:latin typeface="Calibri"/>
              </a:defRPr>
            </a:pPr>
            <a:r>
              <a:t>(Example: one row from the index)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