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Collecting Bluesky Feed Data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68096" y="246888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step-by-step, read-only pipeline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(Endpoints + resumability)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8096" y="3383280"/>
            <a:ext cx="2194560" cy="384048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34472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Cross-sectional snapshot</a:t>
            </a:r>
            <a:endParaRPr lang="en-US" sz="1200" dirty="0"/>
          </a:p>
        </p:txBody>
      </p:sp>
      <p:pic>
        <p:nvPicPr>
          <p:cNvPr id="7" name="Image 0" descr="/mnt/data/assets/brain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2128172"/>
            <a:ext cx="3383280" cy="30588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Focus: how we discover feeds, snapshot ranked results, and export analysis-ready datasets.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2290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ecosystem we’re measuring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2290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building blocks — revealed one-by-one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43439" y="384048"/>
            <a:ext cx="1499616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3439" y="420624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54406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645920"/>
            <a:ext cx="128016" cy="2148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182880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1) Actor (account)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8992" y="22860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Bluesky account (handle + DID).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Actors create posts, feeds, and starter packs.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15000" y="1828800"/>
            <a:ext cx="502920" cy="502920"/>
          </a:xfrm>
          <a:prstGeom prst="ellipse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32120" y="2331720"/>
            <a:ext cx="868680" cy="50292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Everything else in the pipeline is about: discovering feeds → selecting a panel → snapshotting ranked outputs.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2290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ecosystem we’re measuring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2290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building blocks — revealed one-by-one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43439" y="384048"/>
            <a:ext cx="1499616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3439" y="420624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54406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645920"/>
            <a:ext cx="128016" cy="2148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182880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1) Actor (account)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8992" y="22860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Bluesky account (handle + DID).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Actors create posts, feeds, and starter packs.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15000" y="1828800"/>
            <a:ext cx="502920" cy="502920"/>
          </a:xfrm>
          <a:prstGeom prst="ellipse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32120" y="2331720"/>
            <a:ext cx="868680" cy="50292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1645920"/>
            <a:ext cx="49377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46520" y="1645920"/>
            <a:ext cx="128016" cy="21488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02552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2) Feed generator (custom feed)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02552" y="2286000"/>
            <a:ext cx="4526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algorithm that returns a ranked list of posts.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Identified by an AT-URI (at://…/app.bsky.feed.generator/…).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561320" y="1874520"/>
            <a:ext cx="685800" cy="109728"/>
          </a:xfrm>
          <a:prstGeom prst="roundRect">
            <a:avLst/>
          </a:prstGeom>
          <a:solidFill>
            <a:srgbClr val="14B8A6">
              <a:alpha val="8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61320" y="2075688"/>
            <a:ext cx="685800" cy="109728"/>
          </a:xfrm>
          <a:prstGeom prst="roundRect">
            <a:avLst/>
          </a:prstGeom>
          <a:solidFill>
            <a:srgbClr val="14B8A6">
              <a:alpha val="8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61320" y="2276856"/>
            <a:ext cx="685800" cy="109728"/>
          </a:xfrm>
          <a:prstGeom prst="roundRect">
            <a:avLst/>
          </a:prstGeom>
          <a:solidFill>
            <a:srgbClr val="14B8A6">
              <a:alpha val="8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Everything else in the pipeline is about: discovering feeds → selecting a panel → snapshotting ranked outputs.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2290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ecosystem we’re measuring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2290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building blocks — revealed one-by-one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43439" y="384048"/>
            <a:ext cx="1499616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3439" y="420624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54406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645920"/>
            <a:ext cx="128016" cy="2148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182880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1) Actor (account)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8992" y="22860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Bluesky account (handle + DID).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Actors create posts, feeds, and starter packs.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15000" y="1828800"/>
            <a:ext cx="502920" cy="502920"/>
          </a:xfrm>
          <a:prstGeom prst="ellipse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32120" y="2331720"/>
            <a:ext cx="868680" cy="50292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1645920"/>
            <a:ext cx="49377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46520" y="1645920"/>
            <a:ext cx="128016" cy="21488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02552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2) Feed generator (custom feed)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02552" y="2286000"/>
            <a:ext cx="4526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algorithm that returns a ranked list of posts.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Identified by an AT-URI (at://…/app.bsky.feed.generator/…).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561320" y="1874520"/>
            <a:ext cx="685800" cy="109728"/>
          </a:xfrm>
          <a:prstGeom prst="roundRect">
            <a:avLst/>
          </a:prstGeom>
          <a:solidFill>
            <a:srgbClr val="14B8A6">
              <a:alpha val="8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61320" y="2075688"/>
            <a:ext cx="685800" cy="109728"/>
          </a:xfrm>
          <a:prstGeom prst="roundRect">
            <a:avLst/>
          </a:prstGeom>
          <a:solidFill>
            <a:srgbClr val="14B8A6">
              <a:alpha val="8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61320" y="2276856"/>
            <a:ext cx="685800" cy="109728"/>
          </a:xfrm>
          <a:prstGeom prst="roundRect">
            <a:avLst/>
          </a:prstGeom>
          <a:solidFill>
            <a:srgbClr val="14B8A6">
              <a:alpha val="8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977640"/>
            <a:ext cx="54406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3977640"/>
            <a:ext cx="128016" cy="2148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" y="41605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3) Starter pack (discovery surface)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78992" y="461772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curated bundle that can include accounts and feeds.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treat it as a “where people find feeds” signal.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577840" y="4160520"/>
            <a:ext cx="685800" cy="868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24144" y="4069080"/>
            <a:ext cx="685800" cy="868680"/>
          </a:xfrm>
          <a:prstGeom prst="round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Everything else in the pipeline is about: discovering feeds → selecting a panel → snapshotting ranked outputs.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2290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ecosystem we’re measuring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2290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building blocks — revealed one-by-one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43439" y="384048"/>
            <a:ext cx="1499616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3439" y="420624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54406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645920"/>
            <a:ext cx="128016" cy="2148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182880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1) Actor (account)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8992" y="22860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Bluesky account (handle + DID).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Actors create posts, feeds, and starter packs.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15000" y="1828800"/>
            <a:ext cx="502920" cy="502920"/>
          </a:xfrm>
          <a:prstGeom prst="ellipse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32120" y="2331720"/>
            <a:ext cx="868680" cy="50292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1645920"/>
            <a:ext cx="49377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46520" y="1645920"/>
            <a:ext cx="128016" cy="21488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02552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2) Feed generator (custom feed)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02552" y="2286000"/>
            <a:ext cx="4526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algorithm that returns a ranked list of posts.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Identified by an AT-URI (at://…/app.bsky.feed.generator/…).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561320" y="1874520"/>
            <a:ext cx="685800" cy="109728"/>
          </a:xfrm>
          <a:prstGeom prst="roundRect">
            <a:avLst/>
          </a:prstGeom>
          <a:solidFill>
            <a:srgbClr val="14B8A6">
              <a:alpha val="8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61320" y="2075688"/>
            <a:ext cx="685800" cy="109728"/>
          </a:xfrm>
          <a:prstGeom prst="roundRect">
            <a:avLst/>
          </a:prstGeom>
          <a:solidFill>
            <a:srgbClr val="14B8A6">
              <a:alpha val="8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61320" y="2276856"/>
            <a:ext cx="685800" cy="109728"/>
          </a:xfrm>
          <a:prstGeom prst="roundRect">
            <a:avLst/>
          </a:prstGeom>
          <a:solidFill>
            <a:srgbClr val="14B8A6">
              <a:alpha val="8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977640"/>
            <a:ext cx="54406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3977640"/>
            <a:ext cx="128016" cy="2148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" y="41605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3) Starter pack (discovery surface)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78992" y="461772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curated bundle that can include accounts and feeds.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treat it as a “where people find feeds” signal.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577840" y="4160520"/>
            <a:ext cx="685800" cy="868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24144" y="4069080"/>
            <a:ext cx="685800" cy="868680"/>
          </a:xfrm>
          <a:prstGeom prst="round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46520" y="3977640"/>
            <a:ext cx="49377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46520" y="3977640"/>
            <a:ext cx="128016" cy="2148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02552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4) Feed item (a post + rank)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702552" y="4617720"/>
            <a:ext cx="4526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you “view a feed”, you get a ranked list of posts.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ranked list is the core thing we snapshot.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469880" y="4206240"/>
            <a:ext cx="868680" cy="1828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515600" y="423367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469880" y="4507992"/>
            <a:ext cx="868680" cy="1828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15600" y="453542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469880" y="4809744"/>
            <a:ext cx="868680" cy="1828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15600" y="483717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Everything else in the pipeline is about: discovering feeds → selecting a panel → snapshotting ranked outputs.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we talk to Bluesky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XRPC requests = host + method + parameters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11338560" cy="14173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5798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64208" y="2130552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https://public.api.bsky.app/xrpc/app.bsky.feed.getFeed?feed=at://…&amp;limit=50&amp;cursor=…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pattern for every endpoint we call.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627632" y="2057400"/>
            <a:ext cx="2971800" cy="640080"/>
          </a:xfrm>
          <a:prstGeom prst="roundRect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402336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1605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448056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“Which service am I asking?”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AppView (public): views of feeds, posts, profiles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Relay: network index used for enumeration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that we know how requests look, we can map every pipeline stage to a small set of endpoints.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we talk to Bluesky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XRPC requests = host + method + parameters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11338560" cy="14173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5798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64208" y="2130552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https://public.api.bsky.app/xrpc/app.bsky.feed.getFeed?feed=at://…&amp;limit=50&amp;cursor=…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pattern for every endpoint we call.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627632" y="2057400"/>
            <a:ext cx="2971800" cy="640080"/>
          </a:xfrm>
          <a:prstGeom prst="roundRect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402336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1605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448056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“Which service am I asking?”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AppView (public): views of feeds, posts, profiles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Relay: network index used for enumeration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0" y="2057400"/>
            <a:ext cx="3291840" cy="640080"/>
          </a:xfrm>
          <a:prstGeom prst="roundRect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4023360"/>
            <a:ext cx="5760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41605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75120" y="448056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stable API name describing what you fetch.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app.bsky.feed.getFeed = “return a ranked feed view”.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53492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keep slides non-code: method names are the “API surface”.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that we know how requests look, we can map every pipeline stage to a small set of endpoints.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ns0:sld xmlns:ns0="http://schemas.openxmlformats.org/presentationml/2006/main" xmlns:ns1="http://schemas.openxmlformats.org/drawingml/2006/main">
  <ns0:cSld name="Slide 8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146304"/>
          </ns1:xfrm>
          <ns1:prstGeom prst="rect">
            <ns1:avLst/>
          </ns1:prstGeom>
          <ns1:solidFill>
            <ns1:srgbClr val="2563EB"/>
          </ns1:solidFill>
          <ns1:ln w="12700">
            <ns1:solidFill>
              <ns1:srgbClr val="2563EB"/>
            </ns1:solidFill>
            <ns1:prstDash val="solid"/>
          </ns1:ln>
        </ns0:spPr>
      </ns0:sp>
      <ns0:sp>
        <ns0:nvSpPr>
          <ns0:cNvPr id="3" name="Text 1"/>
          <ns0:cNvSpPr/>
          <ns0:nvPr/>
        </ns0:nvSpPr>
        <ns0:spPr>
          <ns1:xfrm>
            <ns1:off x="594360" y="320040"/>
            <ns1:ext cx="9448495" cy="5486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34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How we talk to Bluesky</ns1:t>
            </ns1:r>
            <ns1:endParaRPr lang="en-US" sz="340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603504" y="960120"/>
            <ns1:ext cx="9448495" cy="36576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HTTP XRPC requests = host + method + parameters</ns1:t>
            </ns1:r>
            <ns1:endParaRPr lang="en-US" sz="1600" dirty="0"/>
          </ns1:p>
        </ns0:txBody>
      </ns0:sp>
      <ns0:sp>
        <ns0:nvSpPr>
          <ns0:cNvPr id="5" name="Shape 3"/>
          <ns0:cNvSpPr/>
          <ns0:nvPr/>
        </ns0:nvSpPr>
        <ns0:spPr>
          <ns1:xfrm>
            <ns1:off x="10362895" y="384048"/>
            <ns1:ext cx="1280160" cy="347472"/>
          </ns1:xfrm>
          <ns1:prstGeom prst="roundRect">
            <ns1:avLst/>
          </ns1:prstGeom>
          <ns1:solidFill>
            <ns1:srgbClr val="F3F4F6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6" name="Text 4"/>
          <ns0:cNvSpPr/>
          <ns0:nvPr/>
        </ns0:nvSpPr>
        <ns0:spPr>
          <ns1:xfrm>
            <ns1:off x="10362895" y="420624"/>
            <ns1:ext cx="128016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300" b="1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HTTP</ns1:t>
            </ns1:r>
            <ns1:endParaRPr lang="en-US" sz="1300" dirty="0"/>
          </ns1:p>
        </ns0:txBody>
      </ns0:sp>
      <ns0:sp>
        <ns0:nvSpPr>
          <ns0:cNvPr id="7" name="Shape 5"/>
          <ns0:cNvSpPr/>
          <ns0:nvPr/>
        </ns0:nvSpPr>
        <ns0:spPr>
          <ns1:xfrm>
            <ns1:off x="822960" y="1874520"/>
            <ns1:ext cx="11338560" cy="1417320"/>
          </ns1:xfrm>
          <ns1:prstGeom prst="roundRect">
            <ns1:avLst/>
          </ns1:prstGeom>
          <ns1:solidFill>
            <ns1:srgbClr val="F3F4F6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8" name="Text 6"/>
          <ns0:cNvSpPr/>
          <ns0:nvPr/>
        </ns0:nvSpPr>
        <ns0:spPr>
          <ns1:xfrm>
            <ns1:off x="1051560" y="2157984"/>
            <ns1:ext cx="548640" cy="3200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800" b="1" dirty="0">
                <ns1:solidFill>
                  <ns1:srgbClr val="2563EB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GET</ns1:t>
            </ns1:r>
            <ns1:endParaRPr lang="en-US" sz="1800" dirty="0"/>
          </ns1:p>
        </ns0:txBody>
      </ns0:sp>
      <ns0:sp>
        <ns0:nvSpPr>
          <ns0:cNvPr id="9" name="Text 7"/>
          <ns0:cNvSpPr/>
          <ns0:nvPr/>
        </ns0:nvSpPr>
        <ns0:spPr>
          <ns1:xfrm>
            <ns1:off x="1664208" y="2130552"/>
            <ns1:ext cx="10149840" cy="45720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dirty="0">
                <ns1:solidFill>
                  <ns1:srgbClr val="1F2937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https://public.api.bsky.app/xrpc/app.bsky.feed.getFeed?feed=at://…&amp;limit=50&amp;cursor=…</ns1:t>
            </ns1:r>
            <ns1:endParaRPr lang="en-US" sz="1600" dirty="0"/>
          </ns1:p>
        </ns0:txBody>
      </ns0:sp>
      <ns0:sp>
        <ns0:nvSpPr>
          <ns0:cNvPr id="10" name="Text 8"/>
          <ns0:cNvSpPr/>
          <ns0:nvPr/>
        </ns0:nvSpPr>
        <ns0:spPr>
          <ns1:xfrm>
            <ns1:off x="822960" y="3429000"/>
            <ns1:ext cx="11338560" cy="3200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3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Same pattern for every endpoint we call.</ns1:t>
            </ns1:r>
            <ns1:endParaRPr lang="en-US" sz="1300" dirty="0"/>
          </ns1:p>
        </ns0:txBody>
      </ns0:sp>
      <ns0:sp>
        <ns0:nvSpPr>
          <ns0:cNvPr id="11" name="Shape 9"/>
          <ns0:cNvSpPr/>
          <ns0:nvPr/>
        </ns0:nvSpPr>
        <ns0:spPr>
          <ns1:xfrm>
            <ns1:off x="1627632" y="2057400"/>
            <ns1:ext cx="2971800" cy="640080"/>
          </ns1:xfrm>
          <ns1:prstGeom prst="roundRect">
            <ns1:avLst/>
          </ns1:prstGeom>
          <ns1:solidFill>
            <ns1:srgbClr val="14B8A6">
              <ns1:alpha val="20000"/>
            </ns1:srgbClr>
          </ns1:solidFill>
          <ns1:ln w="12700">
            <ns1:solidFill>
              <ns1:srgbClr val="14B8A6">
                <ns1:alpha val="60000"/>
              </ns1:srgbClr>
            </ns1:solidFill>
            <ns1:prstDash val="solid"/>
          </ns1:ln>
        </ns0:spPr>
      </ns0:sp>
      <ns0:sp>
        <ns0:nvSpPr>
          <ns0:cNvPr id="12" name="Shape 10"/>
          <ns0:cNvSpPr/>
          <ns0:nvPr/>
        </ns0:nvSpPr>
        <ns0:spPr>
          <ns1:xfrm>
            <ns1:off x="822960" y="4023360"/>
            <ns1:ext cx="5394960" cy="201168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13" name="Text 11"/>
          <ns0:cNvSpPr/>
          <ns0:nvPr/>
        </ns0:nvSpPr>
        <ns0:spPr>
          <ns1:xfrm>
            <ns1:off x="1097280" y="4160520"/>
            <ns1:ext cx="493776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Host</ns1:t>
            </ns1:r>
            <ns1:endParaRPr lang="en-US" sz="1600" dirty="0"/>
          </ns1:p>
        </ns0:txBody>
      </ns0:sp>
      <ns0:sp>
        <ns0:nvSpPr>
          <ns0:cNvPr id="14" name="Text 12"/>
          <ns0:cNvSpPr/>
          <ns0:nvPr/>
        </ns0:nvSpPr>
        <ns0:spPr>
          <ns1:xfrm>
            <ns1:off x="1097280" y="4480560"/>
            <ns1:ext cx="4937760" cy="14630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lnSpc>
                <ns1:spcPct val="115000"/>
              </ns1:lnSpc>
              <ns1:buNone/>
            </ns1:pPr>
            <ns1:r>
              <ns1:rPr lang="en-US" sz="13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“Which service am I asking?”</ns1:t>
            </ns1:r>
            <ns1:endParaRPr lang="en-US" sz="1300" dirty="0"/>
          </ns1:p>
          <ns1:p>
            <ns1:pPr indent="0" marL="0">
              <ns1:lnSpc>
                <ns1:spcPct val="115000"/>
              </ns1:lnSpc>
              <ns1:buNone/>
            </ns1:pPr>
            <ns1:endParaRPr lang="en-US" sz="1300" dirty="0"/>
          </ns1:p>
          <ns1:p>
            <ns1:pPr indent="0" marL="0">
              <ns1:lnSpc>
                <ns1:spcPct val="115000"/>
              </ns1:lnSpc>
              <ns1:buNone/>
            </ns1:pPr>
            <ns1:r>
              <ns1:rPr lang="en-US" sz="13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• AppView (public): views of feeds, posts, profiles</ns1:t>
            </ns1:r>
            <ns1:endParaRPr lang="en-US" sz="1300" dirty="0"/>
          </ns1:p>
          <ns1:p>
            <ns1:pPr indent="0" marL="0">
              <ns1:lnSpc>
                <ns1:spcPct val="115000"/>
              </ns1:lnSpc>
              <ns1:buNone/>
            </ns1:pPr>
            <ns1:r>
              <ns1:rPr lang="en-US" sz="13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• Relay: network index used for enumeration</ns1:t>
            </ns1:r>
            <ns1:endParaRPr lang="en-US" sz="1300" dirty="0"/>
          </ns1:p>
        </ns0:txBody>
      </ns0:sp>
      <ns0:sp>
        <ns0:nvSpPr>
          <ns0:cNvPr id="15" name="Shape 13"/>
          <ns0:cNvSpPr/>
          <ns0:nvPr/>
        </ns0:nvSpPr>
        <ns0:spPr>
          <ns1:xfrm>
            <ns1:off x="5486400" y="2057400"/>
            <ns1:ext cx="3291840" cy="640080"/>
          </ns1:xfrm>
          <ns1:prstGeom prst="roundRect">
            <ns1:avLst/>
          </ns1:prstGeom>
          <ns1:solidFill>
            <ns1:srgbClr val="2563EB">
              <ns1:alpha val="15000"/>
            </ns1:srgbClr>
          </ns1:solidFill>
          <ns1:ln w="12700">
            <ns1:solidFill>
              <ns1:srgbClr val="2563EB">
                <ns1:alpha val="55000"/>
              </ns1:srgbClr>
            </ns1:solidFill>
            <ns1:prstDash val="solid"/>
          </ns1:ln>
        </ns0:spPr>
      </ns0:sp>
      <ns0:sp>
        <ns0:nvSpPr>
          <ns0:cNvPr id="16" name="Shape 14"/>
          <ns0:cNvSpPr/>
          <ns0:nvPr/>
        </ns0:nvSpPr>
        <ns0:spPr>
          <ns1:xfrm>
            <ns1:off x="6400800" y="4023360"/>
            <ns1:ext cx="5760720" cy="201168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17" name="Text 15"/>
          <ns0:cNvSpPr/>
          <ns0:nvPr/>
        </ns0:nvSpPr>
        <ns0:spPr>
          <ns1:xfrm>
            <ns1:off x="6675120" y="4160520"/>
            <ns1:ext cx="530352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Method</ns1:t>
            </ns1:r>
            <ns1:endParaRPr lang="en-US" sz="1600" dirty="0"/>
          </ns1:p>
        </ns0:txBody>
      </ns0:sp>
      <ns0:sp>
        <ns0:nvSpPr>
          <ns0:cNvPr id="18" name="Text 16"/>
          <ns0:cNvSpPr/>
          <ns0:nvPr/>
        </ns0:nvSpPr>
        <ns0:spPr>
          <ns1:xfrm>
            <ns1:off x="6675120" y="4480560"/>
            <ns1:ext cx="5303520" cy="82296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3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A stable API name describing what you fetch.</ns1:t>
            </ns1:r>
            <ns1:endParaRPr lang="en-US" sz="1300" dirty="0"/>
          </ns1:p>
          <ns1:p>
            <ns1:pPr indent="0" marL="0">
              <ns1:buNone/>
            </ns1:pPr>
            <ns1:r>
              <ns1:rPr lang="en-US" sz="13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Example: app.bsky.feed.getFeed = “return a ranked feed view”.</ns1:t>
            </ns1:r>
            <ns1:endParaRPr lang="en-US" sz="1300" dirty="0"/>
          </ns1:p>
        </ns0:txBody>
      </ns0:sp>
      <ns0:sp>
        <ns0:nvSpPr>
          <ns0:cNvPr id="19" name="Text 17"/>
          <ns0:cNvSpPr/>
          <ns0:nvPr/>
        </ns0:nvSpPr>
        <ns0:spPr>
          <ns1:xfrm>
            <ns1:off x="6675120" y="5349240"/>
            <ns1:ext cx="5303520" cy="3200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25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We keep slides non-code: method names are the “API surface”.</ns1:t>
            </ns1:r>
            <ns1:endParaRPr lang="en-US" sz="1250" dirty="0"/>
          </ns1:p>
        </ns0:txBody>
      </ns0:sp>
      <ns0:sp>
        <ns0:nvSpPr>
          <ns0:cNvPr id="20" name="Shape 18"/>
          <ns0:cNvSpPr/>
          <ns0:nvPr/>
        </ns0:nvSpPr>
        <ns0:spPr>
          <ns1:xfrm>
            <ns1:off x="8823960" y="2057400"/>
            <ns1:ext cx="3246120" cy="640080"/>
          </ns1:xfrm>
          <ns1:prstGeom prst="roundRect">
            <ns1:avLst/>
          </ns1:prstGeom>
          <ns1:solidFill>
            <ns1:srgbClr val="8B5CF6">
              <ns1:alpha val="12000"/>
            </ns1:srgbClr>
          </ns1:solidFill>
          <ns1:ln w="12700">
            <ns1:solidFill>
              <ns1:srgbClr val="8B5CF6">
                <ns1:alpha val="55000"/>
              </ns1:srgbClr>
            </ns1:solidFill>
            <ns1:prstDash val="solid"/>
          </ns1:ln>
        </ns0:spPr>
      </ns0:sp>
      <ns0:sp>
        <ns0:nvSpPr>
          <ns0:cNvPr id="21" name="Shape 19"/>
          <ns0:cNvSpPr/>
          <ns0:nvPr/>
        </ns0:nvSpPr>
        <ns0:spPr>
          <ns1:xfrm>
            <ns1:off x="822960" y="6172200"/>
            <ns1:ext cx="11338560" cy="50292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22" name="Text 20"/>
          <ns0:cNvSpPr/>
          <ns0:nvPr/>
        </ns0:nvSpPr>
        <ns0:spPr>
          <ns1:xfrm>
            <ns1:off x="1097280" y="6240780"/>
            <ns1:ext cx="1078992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3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Parameters typically control paging + filtering (e.g., feed URI, limit, cursor).</ns1:t>
            </ns1:r>
            <ns1:endParaRPr lang="en-US" sz="1300" dirty="0"/>
          </ns1:p>
        </ns0:txBody>
      </ns0:sp>
      <ns0:sp>
        <ns0:nvSpPr>
          <ns0:cNvPr id="23" name="Text 21"/>
          <ns0:cNvSpPr/>
          <ns0:nvPr/>
        </ns0:nvSpPr>
        <ns0:spPr>
          <ns1:xfrm>
            <ns1:off x="594360" y="6515100"/>
            <ns1:ext cx="11002975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Now that we know how requests look, we can map every pipeline stage to a small set of endpoints.</ns1:t>
            </ns1:r>
            <ns1:endParaRPr lang="en-US" sz="1200" dirty="0"/>
          </ns1:p>
        </ns0:txBody>
      </ns0:sp>
    </ns0:spTree>
  </ns0:cSld>
  <ns0:clrMapOvr>
    <ns1:masterClrMapping/>
  </ns0:clrMapOvr>
</ns0:sld>
</file>

<file path=ppt/slides/slide9.xml><?xml version="1.0" encoding="utf-8"?>
<ns0:sld xmlns:ns0="http://schemas.openxmlformats.org/presentationml/2006/main" xmlns:ns1="http://schemas.openxmlformats.org/drawingml/2006/main">
  <ns0:cSld name="Slide 9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146304"/>
          </ns1:xfrm>
          <ns1:prstGeom prst="rect">
            <ns1:avLst/>
          </ns1:prstGeom>
          <ns1:solidFill>
            <ns1:srgbClr val="2563EB"/>
          </ns1:solidFill>
          <ns1:ln w="12700">
            <ns1:solidFill>
              <ns1:srgbClr val="2563EB"/>
            </ns1:solidFill>
            <ns1:prstDash val="solid"/>
          </ns1:ln>
        </ns0:spPr>
      </ns0:sp>
      <ns0:sp>
        <ns0:nvSpPr>
          <ns0:cNvPr id="3" name="Text 1"/>
          <ns0:cNvSpPr/>
          <ns0:nvPr/>
        </ns0:nvSpPr>
        <ns0:spPr>
          <ns1:xfrm>
            <ns1:off x="594360" y="320040"/>
            <ns1:ext cx="9448495" cy="5486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34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How we talk to Bluesky</ns1:t>
            </ns1:r>
            <ns1:endParaRPr lang="en-US" sz="340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603504" y="960120"/>
            <ns1:ext cx="9448495" cy="36576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HTTP XRPC requests = host + method + parameters</ns1:t>
            </ns1:r>
            <ns1:endParaRPr lang="en-US" sz="1600" dirty="0"/>
          </ns1:p>
        </ns0:txBody>
      </ns0:sp>
      <ns0:sp>
        <ns0:nvSpPr>
          <ns0:cNvPr id="5" name="Shape 3"/>
          <ns0:cNvSpPr/>
          <ns0:nvPr/>
        </ns0:nvSpPr>
        <ns0:spPr>
          <ns1:xfrm>
            <ns1:off x="10362895" y="384048"/>
            <ns1:ext cx="1280160" cy="347472"/>
          </ns1:xfrm>
          <ns1:prstGeom prst="roundRect">
            <ns1:avLst/>
          </ns1:prstGeom>
          <ns1:solidFill>
            <ns1:srgbClr val="F3F4F6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6" name="Text 4"/>
          <ns0:cNvSpPr/>
          <ns0:nvPr/>
        </ns0:nvSpPr>
        <ns0:spPr>
          <ns1:xfrm>
            <ns1:off x="10362895" y="420624"/>
            <ns1:ext cx="128016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300" b="1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HTTP</ns1:t>
            </ns1:r>
            <ns1:endParaRPr lang="en-US" sz="1300" dirty="0"/>
          </ns1:p>
        </ns0:txBody>
      </ns0:sp>
      <ns0:sp>
        <ns0:nvSpPr>
          <ns0:cNvPr id="7" name="Shape 5"/>
          <ns0:cNvSpPr/>
          <ns0:nvPr/>
        </ns0:nvSpPr>
        <ns0:spPr>
          <ns1:xfrm>
            <ns1:off x="822960" y="1874520"/>
            <ns1:ext cx="11338560" cy="1417320"/>
          </ns1:xfrm>
          <ns1:prstGeom prst="roundRect">
            <ns1:avLst/>
          </ns1:prstGeom>
          <ns1:solidFill>
            <ns1:srgbClr val="F3F4F6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8" name="Text 6"/>
          <ns0:cNvSpPr/>
          <ns0:nvPr/>
        </ns0:nvSpPr>
        <ns0:spPr>
          <ns1:xfrm>
            <ns1:off x="1051560" y="2157984"/>
            <ns1:ext cx="548640" cy="3200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800" b="1" dirty="0">
                <ns1:solidFill>
                  <ns1:srgbClr val="2563EB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GET</ns1:t>
            </ns1:r>
            <ns1:endParaRPr lang="en-US" sz="1800" dirty="0"/>
          </ns1:p>
        </ns0:txBody>
      </ns0:sp>
      <ns0:sp>
        <ns0:nvSpPr>
          <ns0:cNvPr id="9" name="Text 7"/>
          <ns0:cNvSpPr/>
          <ns0:nvPr/>
        </ns0:nvSpPr>
        <ns0:spPr>
          <ns1:xfrm>
            <ns1:off x="1664208" y="2130552"/>
            <ns1:ext cx="10149840" cy="45720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dirty="0">
                <ns1:solidFill>
                  <ns1:srgbClr val="1F2937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https://public.api.bsky.app/xrpc/app.bsky.feed.getFeed?feed=at://…&amp;limit=50&amp;cursor=…</ns1:t>
            </ns1:r>
            <ns1:endParaRPr lang="en-US" sz="1600" dirty="0"/>
          </ns1:p>
        </ns0:txBody>
      </ns0:sp>
      <ns0:sp>
        <ns0:nvSpPr>
          <ns0:cNvPr id="10" name="Text 8"/>
          <ns0:cNvSpPr/>
          <ns0:nvPr/>
        </ns0:nvSpPr>
        <ns0:spPr>
          <ns1:xfrm>
            <ns1:off x="822960" y="3429000"/>
            <ns1:ext cx="11338560" cy="3200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3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Same pattern for every endpoint we call.</ns1:t>
            </ns1:r>
            <ns1:endParaRPr lang="en-US" sz="1300" dirty="0"/>
          </ns1:p>
        </ns0:txBody>
      </ns0:sp>
      <ns0:sp>
        <ns0:nvSpPr>
          <ns0:cNvPr id="11" name="Shape 9"/>
          <ns0:cNvSpPr/>
          <ns0:nvPr/>
        </ns0:nvSpPr>
        <ns0:spPr>
          <ns1:xfrm>
            <ns1:off x="1627632" y="2057400"/>
            <ns1:ext cx="2971800" cy="640080"/>
          </ns1:xfrm>
          <ns1:prstGeom prst="roundRect">
            <ns1:avLst/>
          </ns1:prstGeom>
          <ns1:solidFill>
            <ns1:srgbClr val="14B8A6">
              <ns1:alpha val="20000"/>
            </ns1:srgbClr>
          </ns1:solidFill>
          <ns1:ln w="12700">
            <ns1:solidFill>
              <ns1:srgbClr val="14B8A6">
                <ns1:alpha val="60000"/>
              </ns1:srgbClr>
            </ns1:solidFill>
            <ns1:prstDash val="solid"/>
          </ns1:ln>
        </ns0:spPr>
      </ns0:sp>
      <ns0:sp>
        <ns0:nvSpPr>
          <ns0:cNvPr id="12" name="Shape 10"/>
          <ns0:cNvSpPr/>
          <ns0:nvPr/>
        </ns0:nvSpPr>
        <ns0:spPr>
          <ns1:xfrm>
            <ns1:off x="822960" y="4023360"/>
            <ns1:ext cx="5394960" cy="201168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13" name="Text 11"/>
          <ns0:cNvSpPr/>
          <ns0:nvPr/>
        </ns0:nvSpPr>
        <ns0:spPr>
          <ns1:xfrm>
            <ns1:off x="1097280" y="4160520"/>
            <ns1:ext cx="493776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Host</ns1:t>
            </ns1:r>
            <ns1:endParaRPr lang="en-US" sz="1600" dirty="0"/>
          </ns1:p>
        </ns0:txBody>
      </ns0:sp>
      <ns0:sp>
        <ns0:nvSpPr>
          <ns0:cNvPr id="14" name="Text 12"/>
          <ns0:cNvSpPr/>
          <ns0:nvPr/>
        </ns0:nvSpPr>
        <ns0:spPr>
          <ns1:xfrm>
            <ns1:off x="1097280" y="4480560"/>
            <ns1:ext cx="4937760" cy="14630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lnSpc>
                <ns1:spcPct val="115000"/>
              </ns1:lnSpc>
              <ns1:buNone/>
            </ns1:pPr>
            <ns1:r>
              <ns1:rPr lang="en-US" sz="13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“Which service am I asking?”</ns1:t>
            </ns1:r>
            <ns1:endParaRPr lang="en-US" sz="1300" dirty="0"/>
          </ns1:p>
          <ns1:p>
            <ns1:pPr indent="0" marL="0">
              <ns1:lnSpc>
                <ns1:spcPct val="115000"/>
              </ns1:lnSpc>
              <ns1:buNone/>
            </ns1:pPr>
            <ns1:endParaRPr lang="en-US" sz="1300" dirty="0"/>
          </ns1:p>
          <ns1:p>
            <ns1:pPr indent="0" marL="0">
              <ns1:lnSpc>
                <ns1:spcPct val="115000"/>
              </ns1:lnSpc>
              <ns1:buNone/>
            </ns1:pPr>
            <ns1:r>
              <ns1:rPr lang="en-US" sz="13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• AppView (public): views of feeds, posts, profiles</ns1:t>
            </ns1:r>
            <ns1:endParaRPr lang="en-US" sz="1300" dirty="0"/>
          </ns1:p>
          <ns1:p>
            <ns1:pPr indent="0" marL="0">
              <ns1:lnSpc>
                <ns1:spcPct val="115000"/>
              </ns1:lnSpc>
              <ns1:buNone/>
            </ns1:pPr>
            <ns1:r>
              <ns1:rPr lang="en-US" sz="13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• Relay: network index used for enumeration</ns1:t>
            </ns1:r>
            <ns1:endParaRPr lang="en-US" sz="1300" dirty="0"/>
          </ns1:p>
        </ns0:txBody>
      </ns0:sp>
      <ns0:sp>
        <ns0:nvSpPr>
          <ns0:cNvPr id="15" name="Shape 13"/>
          <ns0:cNvSpPr/>
          <ns0:nvPr/>
        </ns0:nvSpPr>
        <ns0:spPr>
          <ns1:xfrm>
            <ns1:off x="5486400" y="2057400"/>
            <ns1:ext cx="3291840" cy="640080"/>
          </ns1:xfrm>
          <ns1:prstGeom prst="roundRect">
            <ns1:avLst/>
          </ns1:prstGeom>
          <ns1:solidFill>
            <ns1:srgbClr val="2563EB">
              <ns1:alpha val="15000"/>
            </ns1:srgbClr>
          </ns1:solidFill>
          <ns1:ln w="12700">
            <ns1:solidFill>
              <ns1:srgbClr val="2563EB">
                <ns1:alpha val="55000"/>
              </ns1:srgbClr>
            </ns1:solidFill>
            <ns1:prstDash val="solid"/>
          </ns1:ln>
        </ns0:spPr>
      </ns0:sp>
      <ns0:sp>
        <ns0:nvSpPr>
          <ns0:cNvPr id="16" name="Shape 14"/>
          <ns0:cNvSpPr/>
          <ns0:nvPr/>
        </ns0:nvSpPr>
        <ns0:spPr>
          <ns1:xfrm>
            <ns1:off x="6400800" y="4023360"/>
            <ns1:ext cx="5760720" cy="201168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17" name="Text 15"/>
          <ns0:cNvSpPr/>
          <ns0:nvPr/>
        </ns0:nvSpPr>
        <ns0:spPr>
          <ns1:xfrm>
            <ns1:off x="6675120" y="4160520"/>
            <ns1:ext cx="530352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Method</ns1:t>
            </ns1:r>
            <ns1:endParaRPr lang="en-US" sz="1600" dirty="0"/>
          </ns1:p>
        </ns0:txBody>
      </ns0:sp>
      <ns0:sp>
        <ns0:nvSpPr>
          <ns0:cNvPr id="18" name="Text 16"/>
          <ns0:cNvSpPr/>
          <ns0:nvPr/>
        </ns0:nvSpPr>
        <ns0:spPr>
          <ns1:xfrm>
            <ns1:off x="6675120" y="4480560"/>
            <ns1:ext cx="5303520" cy="82296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3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A stable API name describing what you fetch.</ns1:t>
            </ns1:r>
            <ns1:endParaRPr lang="en-US" sz="1300" dirty="0"/>
          </ns1:p>
          <ns1:p>
            <ns1:pPr indent="0" marL="0">
              <ns1:buNone/>
            </ns1:pPr>
            <ns1:r>
              <ns1:rPr lang="en-US" sz="13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Example: app.bsky.feed.getFeed = “return a ranked feed view”.</ns1:t>
            </ns1:r>
            <ns1:endParaRPr lang="en-US" sz="1300" dirty="0"/>
          </ns1:p>
        </ns0:txBody>
      </ns0:sp>
      <ns0:sp>
        <ns0:nvSpPr>
          <ns0:cNvPr id="19" name="Text 17"/>
          <ns0:cNvSpPr/>
          <ns0:nvPr/>
        </ns0:nvSpPr>
        <ns0:spPr>
          <ns1:xfrm>
            <ns1:off x="6675120" y="5349240"/>
            <ns1:ext cx="5303520" cy="3200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25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We keep slides non-code: method names are the “API surface”.</ns1:t>
            </ns1:r>
            <ns1:endParaRPr lang="en-US" sz="1250" dirty="0"/>
          </ns1:p>
        </ns0:txBody>
      </ns0:sp>
      <ns0:sp>
        <ns0:nvSpPr>
          <ns0:cNvPr id="20" name="Shape 18"/>
          <ns0:cNvSpPr/>
          <ns0:nvPr/>
        </ns0:nvSpPr>
        <ns0:spPr>
          <ns1:xfrm>
            <ns1:off x="8823960" y="2057400"/>
            <ns1:ext cx="3246120" cy="640080"/>
          </ns1:xfrm>
          <ns1:prstGeom prst="roundRect">
            <ns1:avLst/>
          </ns1:prstGeom>
          <ns1:solidFill>
            <ns1:srgbClr val="8B5CF6">
              <ns1:alpha val="12000"/>
            </ns1:srgbClr>
          </ns1:solidFill>
          <ns1:ln w="12700">
            <ns1:solidFill>
              <ns1:srgbClr val="8B5CF6">
                <ns1:alpha val="55000"/>
              </ns1:srgbClr>
            </ns1:solidFill>
            <ns1:prstDash val="solid"/>
          </ns1:ln>
        </ns0:spPr>
      </ns0:sp>
      <ns0:sp>
        <ns0:nvSpPr>
          <ns0:cNvPr id="21" name="Shape 19"/>
          <ns0:cNvSpPr/>
          <ns0:nvPr/>
        </ns0:nvSpPr>
        <ns0:spPr>
          <ns1:xfrm>
            <ns1:off x="822960" y="6172200"/>
            <ns1:ext cx="11338560" cy="50292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22" name="Text 20"/>
          <ns0:cNvSpPr/>
          <ns0:nvPr/>
        </ns0:nvSpPr>
        <ns0:spPr>
          <ns1:xfrm>
            <ns1:off x="1097280" y="6240780"/>
            <ns1:ext cx="1078992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3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Parameters typically control paging + filtering (e.g., feed URI, limit, cursor).</ns1:t>
            </ns1:r>
            <ns1:endParaRPr lang="en-US" sz="1300" dirty="0"/>
          </ns1:p>
        </ns0:txBody>
      </ns0:sp>
      <ns0:sp>
        <ns0:nvSpPr>
          <ns0:cNvPr id="23" name="Shape 21"/>
          <ns0:cNvSpPr/>
          <ns0:nvPr/>
        </ns0:nvSpPr>
        <ns0:spPr>
          <ns1:xfrm>
            <ns1:off x="822960" y="1691640"/>
            <ns1:ext cx="3749040" cy="384048"/>
          </ns1:xfrm>
          <ns1:prstGeom prst="roundRect">
            <ns1:avLst/>
          </ns1:prstGeom>
          <ns1:solidFill>
            <ns1:srgbClr val="8B5CF6">
              <ns1:alpha val="15000"/>
            </ns1:srgbClr>
          </ns1:solidFill>
          <ns1:ln w="12700">
            <ns1:solidFill>
              <ns1:srgbClr val="8B5CF6">
                <ns1:alpha val="55000"/>
              </ns1:srgbClr>
            </ns1:solidFill>
            <ns1:prstDash val="solid"/>
          </ns1:ln>
        </ns0:spPr>
      </ns0:sp>
      <ns0:sp>
        <ns0:nvSpPr>
          <ns0:cNvPr id="24" name="Text 22"/>
          <ns0:cNvSpPr/>
          <ns0:nvPr/>
        </ns0:nvSpPr>
        <ns0:spPr>
          <ns1:xfrm>
            <ns1:off x="960120" y="1764792"/>
            <ns1:ext cx="36576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200" b="1" dirty="0">
                <ns1:solidFill>
                  <ns1:srgbClr val="1F2937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Optional auth header</ns1:t>
            </ns1:r>
            <ns1:endParaRPr lang="en-US" sz="1200" dirty="0"/>
          </ns1:p>
        </ns0:txBody>
      </ns0:sp>
      <ns0:sp>
        <ns0:nvSpPr>
          <ns0:cNvPr id="25" name="Shape 23"/>
          <ns0:cNvSpPr/>
          <ns0:nvPr/>
        </ns0:nvSpPr>
        <ns0:spPr>
          <ns1:xfrm>
            <ns1:off x="4754880" y="1691640"/>
            <ns1:ext cx="7406640" cy="384048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26" name="Text 24"/>
          <ns0:cNvSpPr/>
          <ns0:nvPr/>
        </ns0:nvSpPr>
        <ns0:spPr>
          <ns1:xfrm>
            <ns1:off x="4937760" y="1764792"/>
            <ns1:ext cx="713232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250" dirty="0">
                <ns1:solidFill>
                  <ns1:srgbClr val="6B7280"/>
                </ns1:solidFill>
                <ns1:latin typeface="Consolas" pitchFamily="34" charset="0"/>
                <ns1:ea typeface="Consolas" pitchFamily="34" charset="-122"/>
                <ns1:cs typeface="Consolas" pitchFamily="34" charset="-120"/>
              </ns1:rPr>
              <ns1:t>Authorization: Bearer &lt;session JWT&gt;  (only for viewer_mode = auth)</ns1:t>
            </ns1:r>
            <ns1:endParaRPr lang="en-US" sz="1250" dirty="0"/>
          </ns1:p>
        </ns0:txBody>
      </ns0:sp>
      <ns0:sp>
        <ns0:nvSpPr>
          <ns0:cNvPr id="27" name="Text 25"/>
          <ns0:cNvSpPr/>
          <ns0:nvPr/>
        </ns0:nvSpPr>
        <ns0:spPr>
          <ns1:xfrm>
            <ns1:off x="594360" y="6515100"/>
            <ns1:ext cx="11002975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Now that we know how requests look, we can map every pipeline stage to a small set of endpoints.</ns1:t>
            </ns1:r>
            <ns1:endParaRPr lang="en-US" sz="1200" dirty="0"/>
          </ns1:p>
        </ns0:txBody>
      </ns0:sp>
    </ns0:spTree>
  </ns0:cSld>
  <ns0:clrMapOvr>
    <ns1:masterClrMapping/>
  </ns0:clrMapOvr>
</ns0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3570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our data comes from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357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network services + an optional authenticated viewer context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271455" y="384048"/>
            <a:ext cx="137160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71455" y="4206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+ 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95848" y="1508760"/>
            <a:ext cx="0" cy="475488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08760"/>
            <a:ext cx="4050792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54480"/>
            <a:ext cx="4050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Relay (network index)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9659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it’s good for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2267712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Quickly enumerate accounts that contain specific record types.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use it to discover: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063240"/>
            <a:ext cx="5212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1821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Feed generator creators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3493008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com.atproto.sync.listReposByCollection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 = app.bsky.feed.generator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434840"/>
            <a:ext cx="5212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5537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 pack creators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4864608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com.atproto.sync.listReposByCollection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 = app.bsky.graph.starterpack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every case, we only read data (GET). Authentication is used only to view feeds as a logged-in user.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3570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our data comes from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357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network services + an optional authenticated viewer context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271455" y="384048"/>
            <a:ext cx="137160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71455" y="4206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+ 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95848" y="1508760"/>
            <a:ext cx="0" cy="475488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08760"/>
            <a:ext cx="4050792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54480"/>
            <a:ext cx="4050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Relay (network index)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9659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it’s good for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2267712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Quickly enumerate accounts that contain specific record types.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use it to discover: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063240"/>
            <a:ext cx="5212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1821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Feed generator creators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3493008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com.atproto.sync.listReposByCollection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 = app.bsky.feed.generator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434840"/>
            <a:ext cx="5212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5537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 pack creators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4864608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com.atproto.sync.listReposByCollection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 = app.bsky.graph.starterpack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46520" y="1508760"/>
            <a:ext cx="3886200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155448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AppView (public API)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1965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it’s good for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46520" y="226771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Hydrated views: feeds, starter packs, posts, and profiles.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use it to: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46520" y="3063240"/>
            <a:ext cx="493776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3246120"/>
            <a:ext cx="457200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app.bsky.feed.getActorFeeds  → list feeds created by an actor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app.bsky.graph.getStarterPack / getActorStarterPacks  → unpack discovery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app.bsky.unspecced.getPopularFeedGenerators  → popular ranking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app.bsky.feed.getFeedGenerators  → metadata hydration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app.bsky.feed.getFeed  → the ranked feed snapshot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app.bsky.actor.getProfiles  → author stats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675120" y="55595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host: https://public.api.bsky.app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every case, we only read data (GET). Authentication is used only to view feeds as a logged-in user.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ns0:sld xmlns:ns0="http://schemas.openxmlformats.org/presentationml/2006/main" xmlns:ns1="http://schemas.openxmlformats.org/drawingml/2006/main">
  <ns0:cSld name="Slide 12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146304"/>
          </ns1:xfrm>
          <ns1:prstGeom prst="rect">
            <ns1:avLst/>
          </ns1:prstGeom>
          <ns1:solidFill>
            <ns1:srgbClr val="2563EB"/>
          </ns1:solidFill>
          <ns1:ln w="12700">
            <ns1:solidFill>
              <ns1:srgbClr val="2563EB"/>
            </ns1:solidFill>
            <ns1:prstDash val="solid"/>
          </ns1:ln>
        </ns0:spPr>
      </ns0:sp>
      <ns0:sp>
        <ns0:nvSpPr>
          <ns0:cNvPr id="3" name="Text 1"/>
          <ns0:cNvSpPr/>
          <ns0:nvPr/>
        </ns0:nvSpPr>
        <ns0:spPr>
          <ns1:xfrm>
            <ns1:off x="594360" y="320040"/>
            <ns1:ext cx="9357055" cy="5486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34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Where our data comes from</ns1:t>
            </ns1:r>
            <ns1:endParaRPr lang="en-US" sz="340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603504" y="960120"/>
            <ns1:ext cx="9357055" cy="36576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Two network services + an optional authenticated viewer context</ns1:t>
            </ns1:r>
            <ns1:endParaRPr lang="en-US" sz="1600" dirty="0"/>
          </ns1:p>
        </ns0:txBody>
      </ns0:sp>
      <ns0:sp>
        <ns0:nvSpPr>
          <ns0:cNvPr id="5" name="Shape 3"/>
          <ns0:cNvSpPr/>
          <ns0:nvPr/>
        </ns0:nvSpPr>
        <ns0:spPr>
          <ns1:xfrm>
            <ns1:off x="10271455" y="384048"/>
            <ns1:ext cx="1371600" cy="347472"/>
          </ns1:xfrm>
          <ns1:prstGeom prst="roundRect">
            <ns1:avLst/>
          </ns1:prstGeom>
          <ns1:solidFill>
            <ns1:srgbClr val="F3F4F6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6" name="Text 4"/>
          <ns0:cNvSpPr/>
          <ns0:nvPr/>
        </ns0:nvSpPr>
        <ns0:spPr>
          <ns1:xfrm>
            <ns1:off x="10271455" y="420624"/>
            <ns1:ext cx="13716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300" b="1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A + B</ns1:t>
            </ns1:r>
            <ns1:endParaRPr lang="en-US" sz="1300" dirty="0"/>
          </ns1:p>
        </ns0:txBody>
      </ns0:sp>
      <ns0:sp>
        <ns0:nvSpPr>
          <ns0:cNvPr id="7" name="Shape 5"/>
          <ns0:cNvSpPr/>
          <ns0:nvPr/>
        </ns0:nvSpPr>
        <ns0:spPr>
          <ns1:xfrm>
            <ns1:off x="6095848" y="1508760"/>
            <ns1:ext cx="0" cy="4754880"/>
          </ns1:xfrm>
          <ns1:prstGeom prst="line">
            <ns1:avLst/>
          </ns1:prstGeom>
          <ns1:noFill/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8" name="Shape 6"/>
          <ns0:cNvSpPr/>
          <ns0:nvPr/>
        </ns0:nvSpPr>
        <ns0:spPr>
          <ns1:xfrm>
            <ns1:off x="822960" y="1508760"/>
            <ns1:ext cx="4050792" cy="329184"/>
          </ns1:xfrm>
          <ns1:prstGeom prst="roundRect">
            <ns1:avLst/>
          </ns1:prstGeom>
          <ns1:solidFill>
            <ns1:srgbClr val="2563EB"/>
          </ns1:solidFill>
          <ns1:ln w="12700">
            <ns1:solidFill>
              <ns1:srgbClr val="2563EB"/>
            </ns1:solidFill>
            <ns1:prstDash val="solid"/>
          </ns1:ln>
        </ns0:spPr>
      </ns0:sp>
      <ns0:sp>
        <ns0:nvSpPr>
          <ns0:cNvPr id="9" name="Text 7"/>
          <ns0:cNvSpPr/>
          <ns0:nvPr/>
        </ns0:nvSpPr>
        <ns0:spPr>
          <ns1:xfrm>
            <ns1:off x="822960" y="1554480"/>
            <ns1:ext cx="4050792" cy="256032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FFFFFF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Relay (network index)</ns1:t>
            </ns1:r>
            <ns1:endParaRPr lang="en-US" sz="1200" dirty="0"/>
          </ns1:p>
        </ns0:txBody>
      </ns0:sp>
      <ns0:sp>
        <ns0:nvSpPr>
          <ns0:cNvPr id="10" name="Text 8"/>
          <ns0:cNvSpPr/>
          <ns0:nvPr/>
        </ns0:nvSpPr>
        <ns0:spPr>
          <ns1:xfrm>
            <ns1:off x="822960" y="1965960"/>
            <ns1:ext cx="521208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8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What it’s good for</ns1:t>
            </ns1:r>
            <ns1:endParaRPr lang="en-US" sz="1800" dirty="0"/>
          </ns1:p>
        </ns0:txBody>
      </ns0:sp>
      <ns0:sp>
        <ns0:nvSpPr>
          <ns0:cNvPr id="11" name="Text 9"/>
          <ns0:cNvSpPr/>
          <ns0:nvPr/>
        </ns0:nvSpPr>
        <ns0:spPr>
          <ns1:xfrm>
            <ns1:off x="822960" y="2267712"/>
            <ns1:ext cx="5212080" cy="7315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4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Quickly enumerate accounts that contain specific record types.</ns1:t>
            </ns1:r>
            <ns1:endParaRPr lang="en-US" sz="1400" dirty="0"/>
          </ns1:p>
          <ns1:p>
            <ns1:pPr indent="0" marL="0">
              <ns1:buNone/>
            </ns1:pPr>
            <ns1:r>
              <ns1:rPr lang="en-US" sz="14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We use it to discover:</ns1:t>
            </ns1:r>
            <ns1:endParaRPr lang="en-US" sz="1400" dirty="0"/>
          </ns1:p>
        </ns0:txBody>
      </ns0:sp>
      <ns0:sp>
        <ns0:nvSpPr>
          <ns0:cNvPr id="12" name="Shape 10"/>
          <ns0:cNvSpPr/>
          <ns0:nvPr/>
        </ns0:nvSpPr>
        <ns0:spPr>
          <ns1:xfrm>
            <ns1:off x="822960" y="3063240"/>
            <ns1:ext cx="5212080" cy="123444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13" name="Text 11"/>
          <ns0:cNvSpPr/>
          <ns0:nvPr/>
        </ns0:nvSpPr>
        <ns0:spPr>
          <ns1:xfrm>
            <ns1:off x="1051560" y="3182112"/>
            <ns1:ext cx="475488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Feed generator creators</ns1:t>
            </ns1:r>
            <ns1:endParaRPr lang="en-US" sz="1600" dirty="0"/>
          </ns1:p>
        </ns0:txBody>
      </ns0:sp>
      <ns0:sp>
        <ns0:nvSpPr>
          <ns0:cNvPr id="14" name="Text 12"/>
          <ns0:cNvSpPr/>
          <ns0:nvPr/>
        </ns0:nvSpPr>
        <ns0:spPr>
          <ns1:xfrm>
            <ns1:off x="1051560" y="3493008"/>
            <ns1:ext cx="4754880" cy="64008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25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com.atproto.sync.listReposByCollection</ns1:t>
            </ns1:r>
            <ns1:endParaRPr lang="en-US" sz="1250" dirty="0"/>
          </ns1:p>
          <ns1:p>
            <ns1:pPr indent="0" marL="0">
              <ns1:buNone/>
            </ns1:pPr>
            <ns1:r>
              <ns1:rPr lang="en-US" sz="125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collection = app.bsky.feed.generator</ns1:t>
            </ns1:r>
            <ns1:endParaRPr lang="en-US" sz="1250" dirty="0"/>
          </ns1:p>
        </ns0:txBody>
      </ns0:sp>
      <ns0:sp>
        <ns0:nvSpPr>
          <ns0:cNvPr id="15" name="Shape 13"/>
          <ns0:cNvSpPr/>
          <ns0:nvPr/>
        </ns0:nvSpPr>
        <ns0:spPr>
          <ns1:xfrm>
            <ns1:off x="822960" y="4434840"/>
            <ns1:ext cx="5212080" cy="123444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16" name="Text 14"/>
          <ns0:cNvSpPr/>
          <ns0:nvPr/>
        </ns0:nvSpPr>
        <ns0:spPr>
          <ns1:xfrm>
            <ns1:off x="1051560" y="4553712"/>
            <ns1:ext cx="475488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Starter pack creators</ns1:t>
            </ns1:r>
            <ns1:endParaRPr lang="en-US" sz="1600" dirty="0"/>
          </ns1:p>
        </ns0:txBody>
      </ns0:sp>
      <ns0:sp>
        <ns0:nvSpPr>
          <ns0:cNvPr id="17" name="Text 15"/>
          <ns0:cNvSpPr/>
          <ns0:nvPr/>
        </ns0:nvSpPr>
        <ns0:spPr>
          <ns1:xfrm>
            <ns1:off x="1051560" y="4864608"/>
            <ns1:ext cx="4754880" cy="64008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25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com.atproto.sync.listReposByCollection</ns1:t>
            </ns1:r>
            <ns1:endParaRPr lang="en-US" sz="1250" dirty="0"/>
          </ns1:p>
          <ns1:p>
            <ns1:pPr indent="0" marL="0">
              <ns1:buNone/>
            </ns1:pPr>
            <ns1:r>
              <ns1:rPr lang="en-US" sz="125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collection = app.bsky.graph.starterpack</ns1:t>
            </ns1:r>
            <ns1:endParaRPr lang="en-US" sz="1250" dirty="0"/>
          </ns1:p>
        </ns0:txBody>
      </ns0:sp>
      <ns0:sp>
        <ns0:nvSpPr>
          <ns0:cNvPr id="18" name="Shape 16"/>
          <ns0:cNvSpPr/>
          <ns0:nvPr/>
        </ns0:nvSpPr>
        <ns0:spPr>
          <ns1:xfrm>
            <ns1:off x="6446520" y="1508760"/>
            <ns1:ext cx="3886200" cy="329184"/>
          </ns1:xfrm>
          <ns1:prstGeom prst="roundRect">
            <ns1:avLst/>
          </ns1:prstGeom>
          <ns1:solidFill>
            <ns1:srgbClr val="14B8A6"/>
          </ns1:solidFill>
          <ns1:ln w="12700">
            <ns1:solidFill>
              <ns1:srgbClr val="14B8A6"/>
            </ns1:solidFill>
            <ns1:prstDash val="solid"/>
          </ns1:ln>
        </ns0:spPr>
      </ns0:sp>
      <ns0:sp>
        <ns0:nvSpPr>
          <ns0:cNvPr id="19" name="Text 17"/>
          <ns0:cNvSpPr/>
          <ns0:nvPr/>
        </ns0:nvSpPr>
        <ns0:spPr>
          <ns1:xfrm>
            <ns1:off x="6446520" y="1554480"/>
            <ns1:ext cx="3886200" cy="256032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FFFFFF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AppView (public API)</ns1:t>
            </ns1:r>
            <ns1:endParaRPr lang="en-US" sz="1200" dirty="0"/>
          </ns1:p>
        </ns0:txBody>
      </ns0:sp>
      <ns0:sp>
        <ns0:nvSpPr>
          <ns0:cNvPr id="20" name="Text 18"/>
          <ns0:cNvSpPr/>
          <ns0:nvPr/>
        </ns0:nvSpPr>
        <ns0:spPr>
          <ns1:xfrm>
            <ns1:off x="6446520" y="1965960"/>
            <ns1:ext cx="493776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8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What it’s good for</ns1:t>
            </ns1:r>
            <ns1:endParaRPr lang="en-US" sz="1800" dirty="0"/>
          </ns1:p>
        </ns0:txBody>
      </ns0:sp>
      <ns0:sp>
        <ns0:nvSpPr>
          <ns0:cNvPr id="21" name="Text 19"/>
          <ns0:cNvSpPr/>
          <ns0:nvPr/>
        </ns0:nvSpPr>
        <ns0:spPr>
          <ns1:xfrm>
            <ns1:off x="6446520" y="2267712"/>
            <ns1:ext cx="4937760" cy="7315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4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Hydrated views: feeds, starter packs, posts, and profiles.</ns1:t>
            </ns1:r>
            <ns1:endParaRPr lang="en-US" sz="1400" dirty="0"/>
          </ns1:p>
          <ns1:p>
            <ns1:pPr indent="0" marL="0">
              <ns1:buNone/>
            </ns1:pPr>
            <ns1:r>
              <ns1:rPr lang="en-US" sz="14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We use it to:</ns1:t>
            </ns1:r>
            <ns1:endParaRPr lang="en-US" sz="1400" dirty="0"/>
          </ns1:p>
        </ns0:txBody>
      </ns0:sp>
      <ns0:sp>
        <ns0:nvSpPr>
          <ns0:cNvPr id="22" name="Shape 20"/>
          <ns0:cNvSpPr/>
          <ns0:nvPr/>
        </ns0:nvSpPr>
        <ns0:spPr>
          <ns1:xfrm>
            <ns1:off x="6446520" y="3063240"/>
            <ns1:ext cx="4937760" cy="260604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23" name="Text 21"/>
          <ns0:cNvSpPr/>
          <ns0:nvPr/>
        </ns0:nvSpPr>
        <ns0:spPr>
          <ns1:xfrm>
            <ns1:off x="6675120" y="3246120"/>
            <ns1:ext cx="4572000" cy="224028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lnSpc>
                <ns1:spcPct val="120000"/>
              </ns1:lnSpc>
              <ns1:buNone/>
            </ns1:pPr>
            <ns1:r>
              <ns1:rPr lang="en-US" sz="1250" dirty="0">
                <ns1:solidFill>
                  <ns1:srgbClr val="1F2937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• app.bsky.feed.getActorFeeds  → list feeds created by an actor</ns1:t>
            </ns1:r>
            <ns1:endParaRPr lang="en-US" sz="1250" dirty="0"/>
          </ns1:p>
          <ns1:p>
            <ns1:pPr indent="0" marL="0">
              <ns1:lnSpc>
                <ns1:spcPct val="120000"/>
              </ns1:lnSpc>
              <ns1:buNone/>
            </ns1:pPr>
            <ns1:r>
              <ns1:rPr lang="en-US" sz="1250" dirty="0">
                <ns1:solidFill>
                  <ns1:srgbClr val="1F2937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• app.bsky.graph.getStarterPack / getActorStarterPacks  → unpack discovery</ns1:t>
            </ns1:r>
            <ns1:endParaRPr lang="en-US" sz="1250" dirty="0"/>
          </ns1:p>
          <ns1:p>
            <ns1:pPr indent="0" marL="0">
              <ns1:lnSpc>
                <ns1:spcPct val="120000"/>
              </ns1:lnSpc>
              <ns1:buNone/>
            </ns1:pPr>
            <ns1:r>
              <ns1:rPr lang="en-US" sz="1250" dirty="0">
                <ns1:solidFill>
                  <ns1:srgbClr val="1F2937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• app.bsky.unspecced.getPopularFeedGenerators  → popular ranking</ns1:t>
            </ns1:r>
            <ns1:endParaRPr lang="en-US" sz="1250" dirty="0"/>
          </ns1:p>
          <ns1:p>
            <ns1:pPr indent="0" marL="0">
              <ns1:lnSpc>
                <ns1:spcPct val="120000"/>
              </ns1:lnSpc>
              <ns1:buNone/>
            </ns1:pPr>
            <ns1:r>
              <ns1:rPr lang="en-US" sz="1250" dirty="0">
                <ns1:solidFill>
                  <ns1:srgbClr val="1F2937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• app.bsky.feed.getFeedGenerators  → metadata hydration</ns1:t>
            </ns1:r>
            <ns1:endParaRPr lang="en-US" sz="1250" dirty="0"/>
          </ns1:p>
          <ns1:p>
            <ns1:pPr indent="0" marL="0">
              <ns1:lnSpc>
                <ns1:spcPct val="120000"/>
              </ns1:lnSpc>
              <ns1:buNone/>
            </ns1:pPr>
            <ns1:r>
              <ns1:rPr lang="en-US" sz="1250" dirty="0">
                <ns1:solidFill>
                  <ns1:srgbClr val="1F2937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• app.bsky.feed.getFeed  → the ranked feed snapshot</ns1:t>
            </ns1:r>
            <ns1:endParaRPr lang="en-US" sz="1250" dirty="0"/>
          </ns1:p>
          <ns1:p>
            <ns1:pPr indent="0" marL="0">
              <ns1:lnSpc>
                <ns1:spcPct val="120000"/>
              </ns1:lnSpc>
              <ns1:buNone/>
            </ns1:pPr>
            <ns1:r>
              <ns1:rPr lang="en-US" sz="1250" dirty="0">
                <ns1:solidFill>
                  <ns1:srgbClr val="1F2937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• app.bsky.actor.getProfiles  → author stats</ns1:t>
            </ns1:r>
            <ns1:endParaRPr lang="en-US" sz="1250" dirty="0"/>
          </ns1:p>
        </ns0:txBody>
      </ns0:sp>
      <ns0:sp>
        <ns0:nvSpPr>
          <ns0:cNvPr id="24" name="Text 22"/>
          <ns0:cNvSpPr/>
          <ns0:nvPr/>
        </ns0:nvSpPr>
        <ns0:spPr>
          <ns1:xfrm>
            <ns1:off x="6675120" y="5559552"/>
            <ns1:ext cx="45720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Public host: https://public.api.bsky.app</ns1:t>
            </ns1:r>
            <ns1:endParaRPr lang="en-US" sz="1200" dirty="0"/>
          </ns1:p>
        </ns0:txBody>
      </ns0:sp>
      <ns0:sp>
        <ns0:nvSpPr>
          <ns0:cNvPr id="25" name="Shape 23"/>
          <ns0:cNvSpPr/>
          <ns0:nvPr/>
        </ns0:nvSpPr>
        <ns0:spPr>
          <ns1:xfrm>
            <ns1:off x="6446520" y="5989320"/>
            <ns1:ext cx="6355080" cy="329184"/>
          </ns1:xfrm>
          <ns1:prstGeom prst="roundRect">
            <ns1:avLst/>
          </ns1:prstGeom>
          <ns1:solidFill>
            <ns1:srgbClr val="8B5CF6"/>
          </ns1:solidFill>
          <ns1:ln w="12700">
            <ns1:solidFill>
              <ns1:srgbClr val="8B5CF6"/>
            </ns1:solidFill>
            <ns1:prstDash val="solid"/>
          </ns1:ln>
        </ns0:spPr>
      </ns0:sp>
      <ns0:sp>
        <ns0:nvSpPr>
          <ns0:cNvPr id="26" name="Text 24"/>
          <ns0:cNvSpPr/>
          <ns0:nvPr/>
        </ns0:nvSpPr>
        <ns0:spPr>
          <ns1:xfrm>
            <ns1:off x="6446520" y="6035040"/>
            <ns1:ext cx="6355080" cy="256032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FFFFFF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Optional: authenticated viewer mode</ns1:t>
            </ns1:r>
            <ns1:endParaRPr lang="en-US" sz="1200" dirty="0"/>
          </ns1:p>
        </ns0:txBody>
      </ns0:sp>
      <ns0:sp>
        <ns0:nvSpPr>
          <ns0:cNvPr id="27" name="Text 25"/>
          <ns0:cNvSpPr/>
          <ns0:nvPr/>
        </ns0:nvSpPr>
        <ns0:spPr>
          <ns1:xfrm>
            <ns1:off x="822960" y="5989320"/>
            <ns1:ext cx="5212080" cy="3200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Why we do this</ns1:t>
            </ns1:r>
            <ns1:endParaRPr lang="en-US" sz="1600" dirty="0"/>
          </ns1:p>
        </ns0:txBody>
      </ns0:sp>
      <ns0:sp>
        <ns0:nvSpPr>
          <ns0:cNvPr id="28" name="Text 26"/>
          <ns0:cNvSpPr/>
          <ns0:nvPr/>
        </ns0:nvSpPr>
        <ns0:spPr>
          <ns1:xfrm>
            <ns1:off x="822960" y="6309360"/>
            <ns1:ext cx="5212080" cy="3200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25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Some feeds personalize ranking for a logged-in viewer.</ns1:t>
            </ns1:r>
            <ns1:endParaRPr lang="en-US" sz="1250" dirty="0"/>
          </ns1:p>
          <ns1:p>
            <ns1:pPr indent="0" marL="0">
              <ns1:buNone/>
            </ns1:pPr>
            <ns1:r>
              <ns1:rPr lang="en-US" sz="125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We snapshot feeds twice: unauth + auth (when available).</ns1:t>
            </ns1:r>
            <ns1:endParaRPr lang="en-US" sz="1250" dirty="0"/>
          </ns1:p>
        </ns0:txBody>
      </ns0:sp>
      <ns0:sp>
        <ns0:nvSpPr>
          <ns0:cNvPr id="29" name="Text 27"/>
          <ns0:cNvSpPr/>
          <ns0:nvPr/>
        </ns0:nvSpPr>
        <ns0:spPr>
          <ns1:xfrm>
            <ns1:off x="594360" y="6629400"/>
            <ns1:ext cx="11002975" cy="22860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In every case, we only read data (GET). Authentication is used only to view feeds as a logged-in user.</ns1:t>
            </ns1:r>
            <ns1:endParaRPr lang="en-US" sz="1200" dirty="0"/>
          </ns1:p>
        </ns0:txBody>
      </ns0:sp>
    </ns0:spTree>
  </ns0:cSld>
  <ns0:clrMapOvr>
    <ns1:masterClrMapping/>
  </ns0:clrMapOvr>
</ns0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dataset captures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“one-time photograph” of how feeds rank posts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1300" dirty="0"/>
          </a:p>
        </p:txBody>
      </p:sp>
      <p:pic>
        <p:nvPicPr>
          <p:cNvPr id="7" name="Image 0" descr="/mnt/data/assets/brain_icon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8961120" y="1740492"/>
            <a:ext cx="2926080" cy="264549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1920240"/>
            <a:ext cx="96012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15568" y="208483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920240" y="18745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build a fixed panel of feeds, then take a ranked snapshot of each feed.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920240" y="237744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Think: “what does this feed show right now?”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idea: the “ranked list of posts” is our primary observation unit.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dataset captures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“one-time photograph” of how feeds rank posts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1300" dirty="0"/>
          </a:p>
        </p:txBody>
      </p:sp>
      <p:pic>
        <p:nvPicPr>
          <p:cNvPr id="7" name="Image 0" descr="/mnt/data/assets/brain_icon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8961120" y="1740492"/>
            <a:ext cx="2926080" cy="264549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1920240"/>
            <a:ext cx="96012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15568" y="208483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920240" y="18745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build a fixed panel of feeds, then take a ranked snapshot of each feed.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920240" y="237744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Think: “what does this feed show right now?”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22960" y="2971800"/>
            <a:ext cx="50749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97280" y="3090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Viewer mode A: unauthenticated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97280" y="34015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Calls the public AppView API (no login).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22960" y="4434840"/>
            <a:ext cx="50749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97280" y="45537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Viewer mode B: authenticated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97280" y="4864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a login session to view feeds as a user.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idea: the “ranked list of posts” is our primary observation unit.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dataset captures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“one-time photograph” of how feeds rank posts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1300" dirty="0"/>
          </a:p>
        </p:txBody>
      </p:sp>
      <p:pic>
        <p:nvPicPr>
          <p:cNvPr id="7" name="Image 0" descr="/mnt/data/assets/brain_icon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8961120" y="1740492"/>
            <a:ext cx="2926080" cy="264549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1920240"/>
            <a:ext cx="96012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15568" y="208483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920240" y="18745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build a fixed panel of feeds, then take a ranked snapshot of each feed.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920240" y="237744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Think: “what does this feed show right now?”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22960" y="2971800"/>
            <a:ext cx="50749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97280" y="3090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Viewer mode A: unauthenticated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97280" y="34015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Calls the public AppView API (no login).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22960" y="4434840"/>
            <a:ext cx="50749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97280" y="45537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Viewer mode B: authenticated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97280" y="4864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a login session to view feeds as a user.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126480" y="2971800"/>
            <a:ext cx="5989320" cy="2743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0" y="30906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every feed snapshot we store…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6446520" y="3575304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75120" y="352044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Ranked impressions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675120" y="3758184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 → (rank, post URI, reason)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446520" y="4169664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75120" y="411480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 metadata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675120" y="4352544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text, embeds, counts, timestamps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446520" y="4764024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75120" y="470916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Author profiles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675120" y="4946904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followers / posts counts, display name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446520" y="5358384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675120" y="530352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Labels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675120" y="5541264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moderation labels attached to posts or authors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idea: the “ranked list of posts” is our primary observation unit.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3570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overview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357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feeds → pick a panel → snapshot rankings → export datasets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271455" y="384048"/>
            <a:ext cx="137160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71455" y="4206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0744200" cy="3291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to reveal each stage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2286000"/>
            <a:ext cx="758952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Index feed generators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global feed catalog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we’ll walk through each stage with the exact API calls and what gets stored.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3570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overview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357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feeds → pick a panel → snapshot rankings → export datasets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271455" y="384048"/>
            <a:ext cx="137160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71455" y="4206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0744200" cy="3291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to reveal each stage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2286000"/>
            <a:ext cx="758952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Index feed generators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global feed catalog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0" y="2770632"/>
            <a:ext cx="22860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033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86200" y="2286000"/>
            <a:ext cx="758952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862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Discover via starter packs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862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Feeds people see while onboarding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we’ll walk through each stage with the exact API calls and what gets stored.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3570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overview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357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feeds → pick a panel → snapshot rankings → export datasets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271455" y="384048"/>
            <a:ext cx="137160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71455" y="4206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0744200" cy="3291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to reveal each stage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2286000"/>
            <a:ext cx="758952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Index feed generators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global feed catalog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0" y="2770632"/>
            <a:ext cx="22860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033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86200" y="2286000"/>
            <a:ext cx="758952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862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Discover via starter packs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862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Feeds people see while onboarding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2770632"/>
            <a:ext cx="18288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465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29400" y="2286000"/>
            <a:ext cx="758952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94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Collect popular feeds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294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ranked “top feeds” list</a:t>
            </a:r>
            <a:endParaRPr lang="en-US" sz="1200" dirty="0"/>
          </a:p>
        </p:txBody>
      </p:sp>
      <p:pic>
        <p:nvPicPr>
          <p:cNvPr id="26" name="Image 0" descr="/mnt/data/assets/stock_arrow_co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069" y="2194560"/>
            <a:ext cx="678543" cy="77724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we’ll walk through each stage with the exact API calls and what gets stored.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3570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overview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357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feeds → pick a panel → snapshot rankings → export datasets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271455" y="384048"/>
            <a:ext cx="137160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71455" y="4206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0744200" cy="3291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to reveal each stage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2286000"/>
            <a:ext cx="758952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Index feed generators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global feed catalog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0" y="2770632"/>
            <a:ext cx="22860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033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86200" y="2286000"/>
            <a:ext cx="758952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862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Discover via starter packs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862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Feeds people see while onboarding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2770632"/>
            <a:ext cx="18288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465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29400" y="2286000"/>
            <a:ext cx="758952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94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Collect popular feeds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294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ranked “top feeds” list</a:t>
            </a:r>
            <a:endParaRPr lang="en-US" sz="1200" dirty="0"/>
          </a:p>
        </p:txBody>
      </p:sp>
      <p:pic>
        <p:nvPicPr>
          <p:cNvPr id="26" name="Image 0" descr="/mnt/data/assets/stock_arrow_co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069" y="2194560"/>
            <a:ext cx="678543" cy="77724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9006840" y="2770632"/>
            <a:ext cx="18288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9189720" y="2148840"/>
            <a:ext cx="228600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372600" y="2286000"/>
            <a:ext cx="758952" cy="329184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3726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372600" y="26517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Hydrate feed metadata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9372600" y="299008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Fill gaps for “touched” feeds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we’ll walk through each stage with the exact API calls and what gets stored.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3570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overview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357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feeds → pick a panel → snapshot rankings → export datasets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271455" y="384048"/>
            <a:ext cx="137160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71455" y="4206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0744200" cy="3291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to reveal each stage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2286000"/>
            <a:ext cx="758952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Index feed generators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global feed catalog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0" y="2770632"/>
            <a:ext cx="22860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033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86200" y="2286000"/>
            <a:ext cx="758952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862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Discover via starter packs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862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Feeds people see while onboarding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2770632"/>
            <a:ext cx="18288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465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29400" y="2286000"/>
            <a:ext cx="758952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94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Collect popular feeds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294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ranked “top feeds” list</a:t>
            </a:r>
            <a:endParaRPr lang="en-US" sz="1200" dirty="0"/>
          </a:p>
        </p:txBody>
      </p:sp>
      <p:pic>
        <p:nvPicPr>
          <p:cNvPr id="26" name="Image 0" descr="/mnt/data/assets/stock_arrow_co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069" y="2194560"/>
            <a:ext cx="678543" cy="77724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9006840" y="2770632"/>
            <a:ext cx="18288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9189720" y="2148840"/>
            <a:ext cx="228600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372600" y="2286000"/>
            <a:ext cx="758952" cy="329184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3726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372600" y="26517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Hydrate feed metadata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9372600" y="299008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Fill gaps for “touched” feeds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960120" y="3703320"/>
            <a:ext cx="333756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143000" y="3840480"/>
            <a:ext cx="758952" cy="329184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143000" y="388620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143000" y="42062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the feed panel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1143000" y="454456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+ popular + less-known</a:t>
            </a:r>
            <a:endParaRPr lang="en-US" sz="1200" dirty="0"/>
          </a:p>
        </p:txBody>
      </p:sp>
      <p:pic>
        <p:nvPicPr>
          <p:cNvPr id="38" name="Image 1" descr="/mnt/data/assets/funnel_graphic_clean.png">    </p:cNvPr>
          <p:cNvPicPr>
            <a:picLocks noChangeAspect="1"/>
          </p:cNvPicPr>
          <p:nvPr/>
        </p:nvPicPr>
        <p:blipFill>
          <a:blip r:embed="rId2"/>
          <a:srcRect l="0" r="73352" t="20000" b="20000"/>
          <a:stretch/>
        </p:blipFill>
        <p:spPr>
          <a:xfrm>
            <a:off x="3291840" y="3840480"/>
            <a:ext cx="914400" cy="96012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we’ll walk through each stage with the exact API calls and what gets stored.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3570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overview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357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feeds → pick a panel → snapshot rankings → export datasets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271455" y="384048"/>
            <a:ext cx="137160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71455" y="4206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0744200" cy="3291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to reveal each stage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2286000"/>
            <a:ext cx="758952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Index feed generators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global feed catalog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0" y="2770632"/>
            <a:ext cx="22860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033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86200" y="2286000"/>
            <a:ext cx="758952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862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Discover via starter packs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862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Feeds people see while onboarding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2770632"/>
            <a:ext cx="18288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465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29400" y="2286000"/>
            <a:ext cx="758952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94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Collect popular feeds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294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ranked “top feeds” list</a:t>
            </a:r>
            <a:endParaRPr lang="en-US" sz="1200" dirty="0"/>
          </a:p>
        </p:txBody>
      </p:sp>
      <p:pic>
        <p:nvPicPr>
          <p:cNvPr id="26" name="Image 0" descr="/mnt/data/assets/stock_arrow_co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069" y="2194560"/>
            <a:ext cx="678543" cy="77724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9006840" y="2770632"/>
            <a:ext cx="18288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9189720" y="2148840"/>
            <a:ext cx="228600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372600" y="2286000"/>
            <a:ext cx="758952" cy="329184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3726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372600" y="26517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Hydrate feed metadata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9372600" y="299008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Fill gaps for “touched” feeds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960120" y="3703320"/>
            <a:ext cx="333756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143000" y="3840480"/>
            <a:ext cx="758952" cy="329184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143000" y="388620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143000" y="42062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the feed panel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1143000" y="454456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+ popular + less-known</a:t>
            </a:r>
            <a:endParaRPr lang="en-US" sz="1200" dirty="0"/>
          </a:p>
        </p:txBody>
      </p:sp>
      <p:pic>
        <p:nvPicPr>
          <p:cNvPr id="38" name="Image 1" descr="/mnt/data/assets/funnel_graphic_clean.png">    </p:cNvPr>
          <p:cNvPicPr>
            <a:picLocks noChangeAspect="1"/>
          </p:cNvPicPr>
          <p:nvPr/>
        </p:nvPicPr>
        <p:blipFill>
          <a:blip r:embed="rId2"/>
          <a:srcRect l="0" r="73352" t="20000" b="20000"/>
          <a:stretch/>
        </p:blipFill>
        <p:spPr>
          <a:xfrm>
            <a:off x="3291840" y="3840480"/>
            <a:ext cx="914400" cy="960120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4343400" y="4325112"/>
            <a:ext cx="18288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40" name="Shape 36"/>
          <p:cNvSpPr/>
          <p:nvPr/>
        </p:nvSpPr>
        <p:spPr>
          <a:xfrm>
            <a:off x="4526280" y="3703320"/>
            <a:ext cx="333756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4709160" y="3840480"/>
            <a:ext cx="758952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709160" y="388620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Text 39"/>
          <p:cNvSpPr/>
          <p:nvPr/>
        </p:nvSpPr>
        <p:spPr>
          <a:xfrm>
            <a:off x="4709160" y="42062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Snapshot each feed</a:t>
            </a:r>
            <a:endParaRPr lang="en-US" sz="1400" dirty="0"/>
          </a:p>
        </p:txBody>
      </p:sp>
      <p:sp>
        <p:nvSpPr>
          <p:cNvPr id="44" name="Text 40"/>
          <p:cNvSpPr/>
          <p:nvPr/>
        </p:nvSpPr>
        <p:spPr>
          <a:xfrm>
            <a:off x="4709160" y="454456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Ranked posts (unauth + auth)</a:t>
            </a:r>
            <a:endParaRPr lang="en-US" sz="1200" dirty="0"/>
          </a:p>
        </p:txBody>
      </p:sp>
      <p:sp>
        <p:nvSpPr>
          <p:cNvPr id="45" name="Text 41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we’ll walk through each stage with the exact API calls and what gets stored.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3570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overview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357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feeds → pick a panel → snapshot rankings → export datasets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271455" y="384048"/>
            <a:ext cx="137160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71455" y="4206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0744200" cy="3291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to reveal each stage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2286000"/>
            <a:ext cx="758952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Index feed generators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global feed catalog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0" y="2770632"/>
            <a:ext cx="22860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033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86200" y="2286000"/>
            <a:ext cx="758952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862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Discover via starter packs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862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Feeds people see while onboarding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2770632"/>
            <a:ext cx="18288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46520" y="2148840"/>
            <a:ext cx="246888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29400" y="2286000"/>
            <a:ext cx="758952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9400" y="2651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Collect popular feeds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29400" y="2990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ranked “top feeds” list</a:t>
            </a:r>
            <a:endParaRPr lang="en-US" sz="1200" dirty="0"/>
          </a:p>
        </p:txBody>
      </p:sp>
      <p:pic>
        <p:nvPicPr>
          <p:cNvPr id="26" name="Image 0" descr="/mnt/data/assets/stock_arrow_co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069" y="2194560"/>
            <a:ext cx="678543" cy="77724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9006840" y="2770632"/>
            <a:ext cx="18288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9189720" y="2148840"/>
            <a:ext cx="228600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372600" y="2286000"/>
            <a:ext cx="758952" cy="329184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372600" y="23317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372600" y="26517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Hydrate feed metadata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9372600" y="299008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Fill gaps for “touched” feeds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960120" y="3703320"/>
            <a:ext cx="333756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143000" y="3840480"/>
            <a:ext cx="758952" cy="329184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143000" y="388620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143000" y="42062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the feed panel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1143000" y="454456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+ popular + less-known</a:t>
            </a:r>
            <a:endParaRPr lang="en-US" sz="1200" dirty="0"/>
          </a:p>
        </p:txBody>
      </p:sp>
      <p:pic>
        <p:nvPicPr>
          <p:cNvPr id="38" name="Image 1" descr="/mnt/data/assets/funnel_graphic_clean.png">    </p:cNvPr>
          <p:cNvPicPr>
            <a:picLocks noChangeAspect="1"/>
          </p:cNvPicPr>
          <p:nvPr/>
        </p:nvPicPr>
        <p:blipFill>
          <a:blip r:embed="rId2"/>
          <a:srcRect l="0" r="73352" t="20000" b="20000"/>
          <a:stretch/>
        </p:blipFill>
        <p:spPr>
          <a:xfrm>
            <a:off x="3291840" y="3840480"/>
            <a:ext cx="914400" cy="960120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4343400" y="4325112"/>
            <a:ext cx="18288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40" name="Shape 36"/>
          <p:cNvSpPr/>
          <p:nvPr/>
        </p:nvSpPr>
        <p:spPr>
          <a:xfrm>
            <a:off x="4526280" y="3703320"/>
            <a:ext cx="333756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4709160" y="3840480"/>
            <a:ext cx="758952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709160" y="388620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Text 39"/>
          <p:cNvSpPr/>
          <p:nvPr/>
        </p:nvSpPr>
        <p:spPr>
          <a:xfrm>
            <a:off x="4709160" y="42062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Snapshot each feed</a:t>
            </a:r>
            <a:endParaRPr lang="en-US" sz="1400" dirty="0"/>
          </a:p>
        </p:txBody>
      </p:sp>
      <p:sp>
        <p:nvSpPr>
          <p:cNvPr id="44" name="Text 40"/>
          <p:cNvSpPr/>
          <p:nvPr/>
        </p:nvSpPr>
        <p:spPr>
          <a:xfrm>
            <a:off x="4709160" y="454456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Ranked posts (unauth + auth)</a:t>
            </a:r>
            <a:endParaRPr lang="en-US" sz="1200" dirty="0"/>
          </a:p>
        </p:txBody>
      </p:sp>
      <p:sp>
        <p:nvSpPr>
          <p:cNvPr id="45" name="Shape 41"/>
          <p:cNvSpPr/>
          <p:nvPr/>
        </p:nvSpPr>
        <p:spPr>
          <a:xfrm>
            <a:off x="7909560" y="4325112"/>
            <a:ext cx="182880" cy="0"/>
          </a:xfrm>
          <a:prstGeom prst="line">
            <a:avLst/>
          </a:prstGeom>
          <a:noFill/>
          <a:ln w="381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46" name="Shape 42"/>
          <p:cNvSpPr/>
          <p:nvPr/>
        </p:nvSpPr>
        <p:spPr>
          <a:xfrm>
            <a:off x="8092440" y="3703320"/>
            <a:ext cx="333756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8275320" y="3840480"/>
            <a:ext cx="758952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8275320" y="388620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200" dirty="0"/>
          </a:p>
        </p:txBody>
      </p:sp>
      <p:sp>
        <p:nvSpPr>
          <p:cNvPr id="49" name="Text 45"/>
          <p:cNvSpPr/>
          <p:nvPr/>
        </p:nvSpPr>
        <p:spPr>
          <a:xfrm>
            <a:off x="8275320" y="42062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Hydrate authors + export</a:t>
            </a:r>
            <a:endParaRPr lang="en-US" sz="1400" dirty="0"/>
          </a:p>
        </p:txBody>
      </p:sp>
      <p:sp>
        <p:nvSpPr>
          <p:cNvPr id="50" name="Text 46"/>
          <p:cNvSpPr/>
          <p:nvPr/>
        </p:nvSpPr>
        <p:spPr>
          <a:xfrm>
            <a:off x="8275320" y="454456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Profiles + CSV datasets</a:t>
            </a:r>
            <a:endParaRPr lang="en-US" sz="1200" dirty="0"/>
          </a:p>
        </p:txBody>
      </p:sp>
      <p:sp>
        <p:nvSpPr>
          <p:cNvPr id="51" name="Text 47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we’ll walk through each stage with the exact API calls and what gets stored.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1 — Index feed generators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build a global catalog of custom feeds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1417320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916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05740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128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Relay: “who has feed-generator records?”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57860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enumerate accounts that contain records of type: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app.bsky.feed.generator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here on, we only work with feed URIs and hydrated “views” from AppView.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1 — Index feed generators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build a global catalog of custom feeds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1417320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916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05740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128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Relay: “who has feed-generator records?”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57860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enumerate accounts that contain records of type: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app.bsky.feed.generator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2761488"/>
            <a:ext cx="128016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635240" y="1874520"/>
            <a:ext cx="4526280" cy="2011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9560" y="20116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calls (read-only)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09560" y="2331720"/>
            <a:ext cx="4160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com.atproto.sync.listReposByCollection</a:t>
            </a:r>
            <a:endParaRPr lang="en-US" sz="12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collection = app.bsky.feed.generator</a:t>
            </a:r>
            <a:endParaRPr lang="en-US" sz="12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app.bsky.feed.getActorFeeds (per actor)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here on, we only work with feed URIs and hydrated “views” from AppView.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1 — Index feed generators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build a global catalog of custom feeds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1417320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916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05740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128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Relay: “who has feed-generator records?”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57860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enumerate accounts that contain records of type: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app.bsky.feed.generator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2761488"/>
            <a:ext cx="128016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635240" y="1874520"/>
            <a:ext cx="4526280" cy="2011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9560" y="20116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calls (read-only)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09560" y="2331720"/>
            <a:ext cx="4160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com.atproto.sync.listReposByCollection</a:t>
            </a:r>
            <a:endParaRPr lang="en-US" sz="12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collection = app.bsky.feed.generator</a:t>
            </a:r>
            <a:endParaRPr lang="en-US" sz="12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app.bsky.feed.getActorFeeds (per actor)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822960" y="3886200"/>
            <a:ext cx="1581912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93192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4297680"/>
            <a:ext cx="1133856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4348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Feed Generator Catalog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97280" y="4828032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row per feed generator (URI + metadata).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becomes the backbone for all later stages.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646920" y="4572000"/>
            <a:ext cx="2194560" cy="14173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29800" y="4736592"/>
            <a:ext cx="1783080" cy="109728"/>
          </a:xfrm>
          <a:prstGeom prst="roundRect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29800" y="5010912"/>
            <a:ext cx="1783080" cy="109728"/>
          </a:xfrm>
          <a:prstGeom prst="roundRect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29800" y="5285232"/>
            <a:ext cx="1783080" cy="109728"/>
          </a:xfrm>
          <a:prstGeom prst="roundRect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29800" y="5559552"/>
            <a:ext cx="1783080" cy="109728"/>
          </a:xfrm>
          <a:prstGeom prst="roundRect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29800" y="58338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at://…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here on, we only work with feed URIs and hydrated “views” from AppView.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2 — Discover feeds via starter packs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capture “feeds surfaced to users” during discovery/onboarding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2734056" cy="329184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91640"/>
            <a:ext cx="2734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Starter packs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057400"/>
            <a:ext cx="53949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194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starter pack is a curated bundle.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542032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Packs can include accounts and (sometimes) custom feeds.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treat every included feed as a “discovery surfaced” signal.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0" y="2148840"/>
            <a:ext cx="548640" cy="7315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79008" y="2057400"/>
            <a:ext cx="548640" cy="731520"/>
          </a:xfrm>
          <a:prstGeom prst="round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we have two candidate pools: (a) global catalog, (b) discovery-surfaced feeds.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2 — Discover feeds via starter packs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capture “feeds surfaced to users” during discovery/onboarding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2734056" cy="329184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91640"/>
            <a:ext cx="2734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Starter packs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057400"/>
            <a:ext cx="53949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194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starter pack is a curated bundle.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542032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Packs can include accounts and (sometimes) custom feeds.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treat every included feed as a “discovery surfaced” signal.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0" y="2148840"/>
            <a:ext cx="548640" cy="7315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79008" y="2057400"/>
            <a:ext cx="548640" cy="731520"/>
          </a:xfrm>
          <a:prstGeom prst="round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3063240"/>
            <a:ext cx="1097280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543800" y="1965960"/>
            <a:ext cx="4617720" cy="23774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8120" y="2103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calls (read-only)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18120" y="2423160"/>
            <a:ext cx="4297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Relay: listReposByCollection</a:t>
            </a:r>
            <a:endParaRPr lang="en-US" sz="126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collection = app.bsky.graph.starterpack</a:t>
            </a:r>
            <a:endParaRPr lang="en-US" sz="126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AppView: getActorStarterPacks (per actor)</a:t>
            </a:r>
            <a:endParaRPr lang="en-US" sz="126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AppView: getStarterPack (per pack)</a:t>
            </a:r>
            <a:endParaRPr lang="en-US" sz="1260" dirty="0"/>
          </a:p>
        </p:txBody>
      </p:sp>
      <p:sp>
        <p:nvSpPr>
          <p:cNvPr id="18" name="Text 16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we have two candidate pools: (a) global catalog, (b) discovery-surfaced feeds.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2 — Discover feeds via starter packs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capture “feeds surfaced to users” during discovery/onboarding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2734056" cy="329184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91640"/>
            <a:ext cx="2734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Starter packs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057400"/>
            <a:ext cx="53949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194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starter pack is a curated bundle.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542032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Packs can include accounts and (sometimes) custom feeds.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treat every included feed as a “discovery surfaced” signal.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0" y="2148840"/>
            <a:ext cx="548640" cy="7315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79008" y="2057400"/>
            <a:ext cx="548640" cy="731520"/>
          </a:xfrm>
          <a:prstGeom prst="roundRect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3063240"/>
            <a:ext cx="1097280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543800" y="1965960"/>
            <a:ext cx="4617720" cy="23774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8120" y="2103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calls (read-only)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18120" y="2423160"/>
            <a:ext cx="4297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Relay: listReposByCollection</a:t>
            </a:r>
            <a:endParaRPr lang="en-US" sz="126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collection = app.bsky.graph.starterpack</a:t>
            </a:r>
            <a:endParaRPr lang="en-US" sz="126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AppView: getActorStarterPacks (per actor)</a:t>
            </a:r>
            <a:endParaRPr lang="en-US" sz="126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AppView: getStarterPack (per pack)</a:t>
            </a:r>
            <a:endParaRPr lang="en-US" sz="1260" dirty="0"/>
          </a:p>
        </p:txBody>
      </p:sp>
      <p:sp>
        <p:nvSpPr>
          <p:cNvPr id="18" name="Shape 16"/>
          <p:cNvSpPr/>
          <p:nvPr/>
        </p:nvSpPr>
        <p:spPr>
          <a:xfrm>
            <a:off x="822960" y="4526280"/>
            <a:ext cx="1581912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5720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4937760"/>
            <a:ext cx="1133856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5074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Discovery-surfac​ed feeds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97280" y="546811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list of feed URIs that appear inside starter packs, plus an inclusion count.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(Used later to prioritize discovery exposure.)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509760" y="5230368"/>
            <a:ext cx="2377440" cy="8229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9760" y="532180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inclusion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we have two candidate pools: (a) global catalog, (b) discovery-surfaced feeds.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3 — Collect popular feeds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capture a “top feeds” ranking from AppView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3/7</a:t>
            </a:r>
            <a:endParaRPr lang="en-US" sz="1300" dirty="0"/>
          </a:p>
        </p:txBody>
      </p:sp>
      <p:pic>
        <p:nvPicPr>
          <p:cNvPr id="7" name="Image 0" descr="/mnt/data/assets/stock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1792739"/>
            <a:ext cx="3017520" cy="327252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1691640"/>
            <a:ext cx="141732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7373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2103120"/>
            <a:ext cx="72237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226771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AppView provides a ranked list of popular feed generators.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97280" y="263347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page through it until we reach our target size.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we have three signals: (1) global catalog, (2) discovery surfaced, (3) popularity ranking.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3 — Collect popular feeds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capture a “top feeds” ranking from AppView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3/7</a:t>
            </a:r>
            <a:endParaRPr lang="en-US" sz="1300" dirty="0"/>
          </a:p>
        </p:txBody>
      </p:sp>
      <p:pic>
        <p:nvPicPr>
          <p:cNvPr id="7" name="Image 0" descr="/mnt/data/assets/stock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1792739"/>
            <a:ext cx="3017520" cy="327252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1691640"/>
            <a:ext cx="141732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7373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2103120"/>
            <a:ext cx="72237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226771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AppView provides a ranked list of popular feed generators.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97280" y="263347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page through it until we reach our target size.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480560" y="3703320"/>
            <a:ext cx="123444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822960" y="3611880"/>
            <a:ext cx="3657600" cy="21031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97280" y="3749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call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97280" y="404164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app.bsky.unspecced.getPopularFeedGenerators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097280" y="4663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Returns: (feed URI, metadata) in ranked order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806440" y="3611880"/>
            <a:ext cx="635508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80760" y="374904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Output: Popular feed list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080760" y="4160520"/>
            <a:ext cx="5806440" cy="13258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72200" y="427024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92240" y="4315968"/>
            <a:ext cx="5212080" cy="109728"/>
          </a:xfrm>
          <a:prstGeom prst="round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72200" y="456285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492240" y="4608576"/>
            <a:ext cx="5212080" cy="109728"/>
          </a:xfrm>
          <a:prstGeom prst="round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72200" y="4855464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492240" y="4901184"/>
            <a:ext cx="5212080" cy="109728"/>
          </a:xfrm>
          <a:prstGeom prst="round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72200" y="514807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492240" y="5193792"/>
            <a:ext cx="5212080" cy="109728"/>
          </a:xfrm>
          <a:prstGeom prst="round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we have three signals: (1) global catalog, (2) discovery surfaced, (3) popularity ranking.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4 — Hydrate feed metadata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make sure every “touched” feed has complete metadata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2734056" cy="329184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37360"/>
            <a:ext cx="2734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Touched feeds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677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only hydrate feeds we actually use.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633472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Touched = feeds from starter packs ∪ popular list ∪ current panel.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577840" y="3246120"/>
            <a:ext cx="502920" cy="502920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06440" y="3246120"/>
            <a:ext cx="502920" cy="502920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96712" y="3044952"/>
            <a:ext cx="502920" cy="50292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stage keeps the pipeline bounded: we hydrate only the feeds that matter for our snapshot.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4 — Hydrate feed metadata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make sure every “touched” feed has complete metadata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2734056" cy="329184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37360"/>
            <a:ext cx="2734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Touched feeds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677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only hydrate feeds we actually use.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633472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Touched = feeds from starter packs ∪ popular list ∪ current panel.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577840" y="3246120"/>
            <a:ext cx="502920" cy="502920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06440" y="3246120"/>
            <a:ext cx="502920" cy="502920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96712" y="3044952"/>
            <a:ext cx="502920" cy="50292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3017520"/>
            <a:ext cx="1097280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543800" y="1965960"/>
            <a:ext cx="4617720" cy="2148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2103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call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818120" y="239572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app.bsky.feed.getFeedGenerators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7818120" y="2724912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Fetches metadata in batches: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name, description, creator, service DID, etc.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stage keeps the pipeline bounded: we hydrate only the feeds that matter for our snapshot.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4 — Hydrate feed metadata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make sure every “touched” feed has complete metadata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2734056" cy="329184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37360"/>
            <a:ext cx="2734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Touched feeds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677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only hydrate feeds we actually use.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633472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Touched = feeds from starter packs ∪ popular list ∪ current panel.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577840" y="3246120"/>
            <a:ext cx="502920" cy="502920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06440" y="3246120"/>
            <a:ext cx="502920" cy="502920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96712" y="3044952"/>
            <a:ext cx="502920" cy="50292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3017520"/>
            <a:ext cx="1097280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543800" y="1965960"/>
            <a:ext cx="4617720" cy="2148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2103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call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818120" y="239572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app.bsky.feed.getFeedGenerators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7818120" y="2724912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Fetches metadata in batches: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name, description, creator, service DID, etc.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822960" y="4434840"/>
            <a:ext cx="1581912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48056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4846320"/>
            <a:ext cx="1133856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498348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Enriched feed catalog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97280" y="5349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each feed has the metadata we need for sampling and reporting (e.g., provider / service identity).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stage keeps the pipeline bounded: we hydrate only the feeds that matter for our snapshot.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5 — Build the feed panel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choose a fixed set of feeds we will snapshot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5/7</a:t>
            </a:r>
            <a:endParaRPr lang="en-US" sz="1300" dirty="0"/>
          </a:p>
        </p:txBody>
      </p:sp>
      <p:pic>
        <p:nvPicPr>
          <p:cNvPr id="7" name="Image 0" descr="/mnt/data/assets/funnel_graphic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9209" y="1965960"/>
            <a:ext cx="7843101" cy="3657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1920240"/>
            <a:ext cx="10744200" cy="374904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600200"/>
            <a:ext cx="33832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17190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Candidate pools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14400" y="2240280"/>
            <a:ext cx="3557016" cy="329184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2286000"/>
            <a:ext cx="3557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surfaced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14400" y="2697480"/>
            <a:ext cx="30632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274320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Popular ranking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14400" y="3154680"/>
            <a:ext cx="2075688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3200400"/>
            <a:ext cx="2075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tail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panel is intentionally fixed before snapshotting so later steps are comparable and reproducible.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5 — Build the feed panel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choose a fixed set of feeds we will snapshot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5/7</a:t>
            </a:r>
            <a:endParaRPr lang="en-US" sz="1300" dirty="0"/>
          </a:p>
        </p:txBody>
      </p:sp>
      <p:pic>
        <p:nvPicPr>
          <p:cNvPr id="7" name="Image 0" descr="/mnt/data/assets/funnel_graphic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9209" y="1965960"/>
            <a:ext cx="7843101" cy="3657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1920240"/>
            <a:ext cx="10744200" cy="374904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600200"/>
            <a:ext cx="33832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17190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Candidate pools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14400" y="2240280"/>
            <a:ext cx="3557016" cy="329184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2286000"/>
            <a:ext cx="3557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surfaced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14400" y="2697480"/>
            <a:ext cx="30632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274320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Popular ranking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14400" y="3154680"/>
            <a:ext cx="2075688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3200400"/>
            <a:ext cx="2075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tail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772400" y="1600200"/>
            <a:ext cx="43434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01000" y="171907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Selection rules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001000" y="2057400"/>
            <a:ext cx="3977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Discovery: top by starter-pack inclusion count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Popular: top by popularity rank (excluding discovery)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Less-known: provider-balanced sampling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panel is intentionally fixed before snapshotting so later steps are comparable and reproducible.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5 — Build the feed panel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choose a fixed set of feeds we will snapshot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5/7</a:t>
            </a:r>
            <a:endParaRPr lang="en-US" sz="1300" dirty="0"/>
          </a:p>
        </p:txBody>
      </p:sp>
      <p:pic>
        <p:nvPicPr>
          <p:cNvPr id="7" name="Image 0" descr="/mnt/data/assets/funnel_graphic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9209" y="1965960"/>
            <a:ext cx="7843101" cy="3657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1920240"/>
            <a:ext cx="10744200" cy="374904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600200"/>
            <a:ext cx="33832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17190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Candidate pools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14400" y="2240280"/>
            <a:ext cx="3557016" cy="329184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2286000"/>
            <a:ext cx="3557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surfaced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14400" y="2697480"/>
            <a:ext cx="30632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274320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Popular ranking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14400" y="3154680"/>
            <a:ext cx="2075688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3200400"/>
            <a:ext cx="2075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tail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772400" y="1600200"/>
            <a:ext cx="43434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01000" y="171907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Selection rules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001000" y="2057400"/>
            <a:ext cx="3977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Discovery: top by starter-pack inclusion count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Popular: top by popularity rank (excluding discovery)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Less-known: provider-balanced sampling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9281160" y="3977640"/>
            <a:ext cx="274320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464040" y="4114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Feed panel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9464040" y="4480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fixed set of feeds we snapshot.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9464040" y="4983480"/>
            <a:ext cx="2075688" cy="329184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464040" y="5029200"/>
            <a:ext cx="2075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panel.csv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panel is intentionally fixed before snapshotting so later steps are comparable and reproducible.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6 — Snapshot each feed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fetch a ranked list of posts for each feed (unauth + auth)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5038344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37360"/>
            <a:ext cx="5038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each feed in the panel…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53035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677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Input: feed URI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97280" y="2606040"/>
            <a:ext cx="4754880" cy="5486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76148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at://&lt;did&gt;/app.bsky.feed.generator/&lt;rkey&gt;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snapshot is tied to (feed URI, viewer mode, timestamp). That’s what makes comparisons meaningful.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ns0:sld xmlns:ns0="http://schemas.openxmlformats.org/presentationml/2006/main" xmlns:ns1="http://schemas.openxmlformats.org/drawingml/2006/main">
  <ns0:cSld name="Slide 38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146304"/>
          </ns1:xfrm>
          <ns1:prstGeom prst="rect">
            <ns1:avLst/>
          </ns1:prstGeom>
          <ns1:solidFill>
            <ns1:srgbClr val="2563EB"/>
          </ns1:solidFill>
          <ns1:ln w="12700">
            <ns1:solidFill>
              <ns1:srgbClr val="2563EB"/>
            </ns1:solidFill>
            <ns1:prstDash val="solid"/>
          </ns1:ln>
        </ns0:spPr>
      </ns0:sp>
      <ns0:sp>
        <ns0:nvSpPr>
          <ns0:cNvPr id="3" name="Text 1"/>
          <ns0:cNvSpPr/>
          <ns0:nvPr/>
        </ns0:nvSpPr>
        <ns0:spPr>
          <ns1:xfrm>
            <ns1:off x="594360" y="320040"/>
            <ns1:ext cx="9448495" cy="5486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34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Stage 6 — Snapshot each feed</ns1:t>
            </ns1:r>
            <ns1:endParaRPr lang="en-US" sz="340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603504" y="960120"/>
            <ns1:ext cx="9448495" cy="36576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Goal: fetch a ranked list of posts for each feed (unauth + auth)</ns1:t>
            </ns1:r>
            <ns1:endParaRPr lang="en-US" sz="1600" dirty="0"/>
          </ns1:p>
        </ns0:txBody>
      </ns0:sp>
      <ns0:sp>
        <ns0:nvSpPr>
          <ns0:cNvPr id="5" name="Shape 3"/>
          <ns0:cNvSpPr/>
          <ns0:nvPr/>
        </ns0:nvSpPr>
        <ns0:spPr>
          <ns1:xfrm>
            <ns1:off x="10362895" y="384048"/>
            <ns1:ext cx="1280160" cy="347472"/>
          </ns1:xfrm>
          <ns1:prstGeom prst="roundRect">
            <ns1:avLst/>
          </ns1:prstGeom>
          <ns1:solidFill>
            <ns1:srgbClr val="F3F4F6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6" name="Text 4"/>
          <ns0:cNvSpPr/>
          <ns0:nvPr/>
        </ns0:nvSpPr>
        <ns0:spPr>
          <ns1:xfrm>
            <ns1:off x="10362895" y="420624"/>
            <ns1:ext cx="128016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300" b="1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6/7</ns1:t>
            </ns1:r>
            <ns1:endParaRPr lang="en-US" sz="1300" dirty="0"/>
          </ns1:p>
        </ns0:txBody>
      </ns0:sp>
      <ns0:sp>
        <ns0:nvSpPr>
          <ns0:cNvPr id="7" name="Shape 5"/>
          <ns0:cNvSpPr/>
          <ns0:nvPr/>
        </ns0:nvSpPr>
        <ns0:spPr>
          <ns1:xfrm>
            <ns1:off x="822960" y="1691640"/>
            <ns1:ext cx="5038344" cy="329184"/>
          </ns1:xfrm>
          <ns1:prstGeom prst="roundRect">
            <ns1:avLst/>
          </ns1:prstGeom>
          <ns1:solidFill>
            <ns1:srgbClr val="2563EB"/>
          </ns1:solidFill>
          <ns1:ln w="12700">
            <ns1:solidFill>
              <ns1:srgbClr val="2563EB"/>
            </ns1:solidFill>
            <ns1:prstDash val="solid"/>
          </ns1:ln>
        </ns0:spPr>
      </ns0:sp>
      <ns0:sp>
        <ns0:nvSpPr>
          <ns0:cNvPr id="8" name="Text 6"/>
          <ns0:cNvSpPr/>
          <ns0:nvPr/>
        </ns0:nvSpPr>
        <ns0:spPr>
          <ns1:xfrm>
            <ns1:off x="822960" y="1737360"/>
            <ns1:ext cx="5038344" cy="256032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FFFFFF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For each feed in the panel…</ns1:t>
            </ns1:r>
            <ns1:endParaRPr lang="en-US" sz="1200" dirty="0"/>
          </ns1:p>
        </ns0:txBody>
      </ns0:sp>
      <ns0:sp>
        <ns0:nvSpPr>
          <ns0:cNvPr id="9" name="Shape 7"/>
          <ns0:cNvSpPr/>
          <ns0:nvPr/>
        </ns0:nvSpPr>
        <ns0:spPr>
          <ns1:xfrm>
            <ns1:off x="822960" y="2103120"/>
            <ns1:ext cx="5303520" cy="141732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10" name="Text 8"/>
          <ns0:cNvSpPr/>
          <ns0:nvPr/>
        </ns0:nvSpPr>
        <ns0:spPr>
          <ns1:xfrm>
            <ns1:off x="1097280" y="2267712"/>
            <ns1:ext cx="475488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Input: feed URI</ns1:t>
            </ns1:r>
            <ns1:endParaRPr lang="en-US" sz="1600" dirty="0"/>
          </ns1:p>
        </ns0:txBody>
      </ns0:sp>
      <ns0:sp>
        <ns0:nvSpPr>
          <ns0:cNvPr id="11" name="Shape 9"/>
          <ns0:cNvSpPr/>
          <ns0:nvPr/>
        </ns0:nvSpPr>
        <ns0:spPr>
          <ns1:xfrm>
            <ns1:off x="1097280" y="2606040"/>
            <ns1:ext cx="4754880" cy="548640"/>
          </ns1:xfrm>
          <ns1:prstGeom prst="roundRect">
            <ns1:avLst/>
          </ns1:prstGeom>
          <ns1:solidFill>
            <ns1:srgbClr val="F3F4F6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12" name="Text 10"/>
          <ns0:cNvSpPr/>
          <ns0:nvPr/>
        </ns0:nvSpPr>
        <ns0:spPr>
          <ns1:xfrm>
            <ns1:off x="1234440" y="2761488"/>
            <ns1:ext cx="448056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300" dirty="0">
                <ns1:solidFill>
                  <ns1:srgbClr val="1F2937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at://&lt;did&gt;/app.bsky.feed.generator/&lt;rkey&gt;</ns1:t>
            </ns1:r>
            <ns1:endParaRPr lang="en-US" sz="1300" dirty="0"/>
          </ns1:p>
        </ns0:txBody>
      </ns0:sp>
      <ns0:sp>
        <ns0:nvSpPr>
          <ns0:cNvPr id="13" name="Shape 11"/>
          <ns0:cNvSpPr/>
          <ns0:nvPr/>
        </ns0:nvSpPr>
        <ns0:spPr>
          <ns1:xfrm>
            <ns1:off x="6263640" y="2816352"/>
            <ns1:ext cx="1097280" cy="0"/>
          </ns1:xfrm>
          <ns1:prstGeom prst="line">
            <ns1:avLst/>
          </ns1:prstGeom>
          <ns1:noFill/>
          <ns1:ln w="38100">
            <ns1:solidFill>
              <ns1:srgbClr val="2563EB"/>
            </ns1:solidFill>
            <ns1:prstDash val="solid"/>
            <ns1:tailEnd type="triangle"/>
          </ns1:ln>
        </ns0:spPr>
      </ns0:sp>
      <ns0:sp>
        <ns0:nvSpPr>
          <ns0:cNvPr id="14" name="Shape 12"/>
          <ns0:cNvSpPr/>
          <ns0:nvPr/>
        </ns0:nvSpPr>
        <ns0:spPr>
          <ns1:xfrm>
            <ns1:off x="7452360" y="2103120"/>
            <ns1:ext cx="4709160" cy="141732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15" name="Text 13"/>
          <ns0:cNvSpPr/>
          <ns0:nvPr/>
        </ns0:nvSpPr>
        <ns0:spPr>
          <ns1:xfrm>
            <ns1:off x="7726680" y="2267712"/>
            <ns1:ext cx="429768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Viewer modes</ns1:t>
            </ns1:r>
            <ns1:endParaRPr lang="en-US" sz="1600" dirty="0"/>
          </ns1:p>
        </ns0:txBody>
      </ns0:sp>
      <ns0:sp>
        <ns0:nvSpPr>
          <ns0:cNvPr id="16" name="Shape 14"/>
          <ns0:cNvSpPr/>
          <ns0:nvPr/>
        </ns0:nvSpPr>
        <ns0:spPr>
          <ns1:xfrm>
            <ns1:off x="7726680" y="2606040"/>
            <ns1:ext cx="1581912" cy="329184"/>
          </ns1:xfrm>
          <ns1:prstGeom prst="roundRect">
            <ns1:avLst/>
          </ns1:prstGeom>
          <ns1:solidFill>
            <ns1:srgbClr val="14B8A6"/>
          </ns1:solidFill>
          <ns1:ln w="12700">
            <ns1:solidFill>
              <ns1:srgbClr val="14B8A6"/>
            </ns1:solidFill>
            <ns1:prstDash val="solid"/>
          </ns1:ln>
        </ns0:spPr>
      </ns0:sp>
      <ns0:sp>
        <ns0:nvSpPr>
          <ns0:cNvPr id="17" name="Text 15"/>
          <ns0:cNvSpPr/>
          <ns0:nvPr/>
        </ns0:nvSpPr>
        <ns0:spPr>
          <ns1:xfrm>
            <ns1:off x="7726680" y="2651760"/>
            <ns1:ext cx="1581912" cy="256032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FFFFFF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unauth</ns1:t>
            </ns1:r>
            <ns1:endParaRPr lang="en-US" sz="1200" dirty="0"/>
          </ns1:p>
        </ns0:txBody>
      </ns0:sp>
      <ns0:sp>
        <ns0:nvSpPr>
          <ns0:cNvPr id="18" name="Shape 16"/>
          <ns0:cNvSpPr/>
          <ns0:nvPr/>
        </ns0:nvSpPr>
        <ns0:spPr>
          <ns1:xfrm>
            <ns1:off x="9308592" y="2606040"/>
            <ns1:ext cx="1252728" cy="329184"/>
          </ns1:xfrm>
          <ns1:prstGeom prst="roundRect">
            <ns1:avLst/>
          </ns1:prstGeom>
          <ns1:solidFill>
            <ns1:srgbClr val="8B5CF6"/>
          </ns1:solidFill>
          <ns1:ln w="12700">
            <ns1:solidFill>
              <ns1:srgbClr val="8B5CF6"/>
            </ns1:solidFill>
            <ns1:prstDash val="solid"/>
          </ns1:ln>
        </ns0:spPr>
      </ns0:sp>
      <ns0:sp>
        <ns0:nvSpPr>
          <ns0:cNvPr id="19" name="Text 17"/>
          <ns0:cNvSpPr/>
          <ns0:nvPr/>
        </ns0:nvSpPr>
        <ns0:spPr>
          <ns1:xfrm>
            <ns1:off x="9308592" y="2651760"/>
            <ns1:ext cx="1252728" cy="256032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FFFFFF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auth</ns1:t>
            </ns1:r>
            <ns1:endParaRPr lang="en-US" sz="1200" dirty="0"/>
          </ns1:p>
        </ns0:txBody>
      </ns0:sp>
      <ns0:sp>
        <ns0:nvSpPr>
          <ns0:cNvPr id="20" name="Text 18"/>
          <ns0:cNvSpPr/>
          <ns0:nvPr/>
        </ns0:nvSpPr>
        <ns0:spPr>
          <ns1:xfrm>
            <ns1:off x="7726680" y="2999232"/>
            <ns1:ext cx="429768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25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Two snapshots per feed (when auth is available).</ns1:t>
            </ns1:r>
            <ns1:endParaRPr lang="en-US" sz="1250" dirty="0"/>
          </ns1:p>
        </ns0:txBody>
      </ns0:sp>
      <ns0:sp>
        <ns0:nvSpPr>
          <ns0:cNvPr id="21" name="Text 19"/>
          <ns0:cNvSpPr/>
          <ns0:nvPr/>
        </ns0:nvSpPr>
        <ns0:spPr>
          <ns1:xfrm>
            <ns1:off x="594360" y="6446520"/>
            <ns1:ext cx="11002975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The snapshot is tied to (feed URI, viewer mode, timestamp). That’s what makes comparisons meaningful.</ns1:t>
            </ns1:r>
            <ns1:endParaRPr lang="en-US" sz="1200" dirty="0"/>
          </ns1:p>
        </ns0:txBody>
      </ns0:sp>
    </ns0:spTree>
  </ns0:cSld>
  <ns0:clrMapOvr>
    <ns1:masterClrMapping/>
  </ns0:clrMapOvr>
</ns0:sld>
</file>

<file path=ppt/slides/slide39.xml><?xml version="1.0" encoding="utf-8"?>
<ns0:sld xmlns:ns0="http://schemas.openxmlformats.org/presentationml/2006/main" xmlns:ns1="http://schemas.openxmlformats.org/drawingml/2006/main">
  <ns0:cSld name="Slide 39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146304"/>
          </ns1:xfrm>
          <ns1:prstGeom prst="rect">
            <ns1:avLst/>
          </ns1:prstGeom>
          <ns1:solidFill>
            <ns1:srgbClr val="2563EB"/>
          </ns1:solidFill>
          <ns1:ln w="12700">
            <ns1:solidFill>
              <ns1:srgbClr val="2563EB"/>
            </ns1:solidFill>
            <ns1:prstDash val="solid"/>
          </ns1:ln>
        </ns0:spPr>
      </ns0:sp>
      <ns0:sp>
        <ns0:nvSpPr>
          <ns0:cNvPr id="3" name="Text 1"/>
          <ns0:cNvSpPr/>
          <ns0:nvPr/>
        </ns0:nvSpPr>
        <ns0:spPr>
          <ns1:xfrm>
            <ns1:off x="594360" y="320040"/>
            <ns1:ext cx="9448495" cy="5486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34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Stage 6 — Snapshot each feed</ns1:t>
            </ns1:r>
            <ns1:endParaRPr lang="en-US" sz="340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603504" y="960120"/>
            <ns1:ext cx="9448495" cy="36576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Goal: fetch a ranked list of posts for each feed (unauth + auth)</ns1:t>
            </ns1:r>
            <ns1:endParaRPr lang="en-US" sz="1600" dirty="0"/>
          </ns1:p>
        </ns0:txBody>
      </ns0:sp>
      <ns0:sp>
        <ns0:nvSpPr>
          <ns0:cNvPr id="5" name="Shape 3"/>
          <ns0:cNvSpPr/>
          <ns0:nvPr/>
        </ns0:nvSpPr>
        <ns0:spPr>
          <ns1:xfrm>
            <ns1:off x="10362895" y="384048"/>
            <ns1:ext cx="1280160" cy="347472"/>
          </ns1:xfrm>
          <ns1:prstGeom prst="roundRect">
            <ns1:avLst/>
          </ns1:prstGeom>
          <ns1:solidFill>
            <ns1:srgbClr val="F3F4F6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6" name="Text 4"/>
          <ns0:cNvSpPr/>
          <ns0:nvPr/>
        </ns0:nvSpPr>
        <ns0:spPr>
          <ns1:xfrm>
            <ns1:off x="10362895" y="420624"/>
            <ns1:ext cx="128016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300" b="1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6/7</ns1:t>
            </ns1:r>
            <ns1:endParaRPr lang="en-US" sz="1300" dirty="0"/>
          </ns1:p>
        </ns0:txBody>
      </ns0:sp>
      <ns0:sp>
        <ns0:nvSpPr>
          <ns0:cNvPr id="7" name="Shape 5"/>
          <ns0:cNvSpPr/>
          <ns0:nvPr/>
        </ns0:nvSpPr>
        <ns0:spPr>
          <ns1:xfrm>
            <ns1:off x="822960" y="1691640"/>
            <ns1:ext cx="5038344" cy="329184"/>
          </ns1:xfrm>
          <ns1:prstGeom prst="roundRect">
            <ns1:avLst/>
          </ns1:prstGeom>
          <ns1:solidFill>
            <ns1:srgbClr val="2563EB"/>
          </ns1:solidFill>
          <ns1:ln w="12700">
            <ns1:solidFill>
              <ns1:srgbClr val="2563EB"/>
            </ns1:solidFill>
            <ns1:prstDash val="solid"/>
          </ns1:ln>
        </ns0:spPr>
      </ns0:sp>
      <ns0:sp>
        <ns0:nvSpPr>
          <ns0:cNvPr id="8" name="Text 6"/>
          <ns0:cNvSpPr/>
          <ns0:nvPr/>
        </ns0:nvSpPr>
        <ns0:spPr>
          <ns1:xfrm>
            <ns1:off x="822960" y="1737360"/>
            <ns1:ext cx="5038344" cy="256032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FFFFFF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For each feed in the panel…</ns1:t>
            </ns1:r>
            <ns1:endParaRPr lang="en-US" sz="1200" dirty="0"/>
          </ns1:p>
        </ns0:txBody>
      </ns0:sp>
      <ns0:sp>
        <ns0:nvSpPr>
          <ns0:cNvPr id="9" name="Shape 7"/>
          <ns0:cNvSpPr/>
          <ns0:nvPr/>
        </ns0:nvSpPr>
        <ns0:spPr>
          <ns1:xfrm>
            <ns1:off x="822960" y="2103120"/>
            <ns1:ext cx="5303520" cy="141732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10" name="Text 8"/>
          <ns0:cNvSpPr/>
          <ns0:nvPr/>
        </ns0:nvSpPr>
        <ns0:spPr>
          <ns1:xfrm>
            <ns1:off x="1097280" y="2267712"/>
            <ns1:ext cx="475488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Input: feed URI</ns1:t>
            </ns1:r>
            <ns1:endParaRPr lang="en-US" sz="1600" dirty="0"/>
          </ns1:p>
        </ns0:txBody>
      </ns0:sp>
      <ns0:sp>
        <ns0:nvSpPr>
          <ns0:cNvPr id="11" name="Shape 9"/>
          <ns0:cNvSpPr/>
          <ns0:nvPr/>
        </ns0:nvSpPr>
        <ns0:spPr>
          <ns1:xfrm>
            <ns1:off x="1097280" y="2606040"/>
            <ns1:ext cx="4754880" cy="548640"/>
          </ns1:xfrm>
          <ns1:prstGeom prst="roundRect">
            <ns1:avLst/>
          </ns1:prstGeom>
          <ns1:solidFill>
            <ns1:srgbClr val="F3F4F6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12" name="Text 10"/>
          <ns0:cNvSpPr/>
          <ns0:nvPr/>
        </ns0:nvSpPr>
        <ns0:spPr>
          <ns1:xfrm>
            <ns1:off x="1234440" y="2761488"/>
            <ns1:ext cx="448056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300" dirty="0">
                <ns1:solidFill>
                  <ns1:srgbClr val="1F2937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at://&lt;did&gt;/app.bsky.feed.generator/&lt;rkey&gt;</ns1:t>
            </ns1:r>
            <ns1:endParaRPr lang="en-US" sz="1300" dirty="0"/>
          </ns1:p>
        </ns0:txBody>
      </ns0:sp>
      <ns0:sp>
        <ns0:nvSpPr>
          <ns0:cNvPr id="13" name="Shape 11"/>
          <ns0:cNvSpPr/>
          <ns0:nvPr/>
        </ns0:nvSpPr>
        <ns0:spPr>
          <ns1:xfrm>
            <ns1:off x="6263640" y="2816352"/>
            <ns1:ext cx="1097280" cy="0"/>
          </ns1:xfrm>
          <ns1:prstGeom prst="line">
            <ns1:avLst/>
          </ns1:prstGeom>
          <ns1:noFill/>
          <ns1:ln w="38100">
            <ns1:solidFill>
              <ns1:srgbClr val="2563EB"/>
            </ns1:solidFill>
            <ns1:prstDash val="solid"/>
            <ns1:tailEnd type="triangle"/>
          </ns1:ln>
        </ns0:spPr>
      </ns0:sp>
      <ns0:sp>
        <ns0:nvSpPr>
          <ns0:cNvPr id="14" name="Shape 12"/>
          <ns0:cNvSpPr/>
          <ns0:nvPr/>
        </ns0:nvSpPr>
        <ns0:spPr>
          <ns1:xfrm>
            <ns1:off x="7452360" y="2103120"/>
            <ns1:ext cx="4709160" cy="141732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15" name="Text 13"/>
          <ns0:cNvSpPr/>
          <ns0:nvPr/>
        </ns0:nvSpPr>
        <ns0:spPr>
          <ns1:xfrm>
            <ns1:off x="7726680" y="2267712"/>
            <ns1:ext cx="429768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Viewer modes</ns1:t>
            </ns1:r>
            <ns1:endParaRPr lang="en-US" sz="1600" dirty="0"/>
          </ns1:p>
        </ns0:txBody>
      </ns0:sp>
      <ns0:sp>
        <ns0:nvSpPr>
          <ns0:cNvPr id="16" name="Shape 14"/>
          <ns0:cNvSpPr/>
          <ns0:nvPr/>
        </ns0:nvSpPr>
        <ns0:spPr>
          <ns1:xfrm>
            <ns1:off x="7726680" y="2606040"/>
            <ns1:ext cx="1581912" cy="329184"/>
          </ns1:xfrm>
          <ns1:prstGeom prst="roundRect">
            <ns1:avLst/>
          </ns1:prstGeom>
          <ns1:solidFill>
            <ns1:srgbClr val="14B8A6"/>
          </ns1:solidFill>
          <ns1:ln w="12700">
            <ns1:solidFill>
              <ns1:srgbClr val="14B8A6"/>
            </ns1:solidFill>
            <ns1:prstDash val="solid"/>
          </ns1:ln>
        </ns0:spPr>
      </ns0:sp>
      <ns0:sp>
        <ns0:nvSpPr>
          <ns0:cNvPr id="17" name="Text 15"/>
          <ns0:cNvSpPr/>
          <ns0:nvPr/>
        </ns0:nvSpPr>
        <ns0:spPr>
          <ns1:xfrm>
            <ns1:off x="7726680" y="2651760"/>
            <ns1:ext cx="1581912" cy="256032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FFFFFF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unauth</ns1:t>
            </ns1:r>
            <ns1:endParaRPr lang="en-US" sz="1200" dirty="0"/>
          </ns1:p>
        </ns0:txBody>
      </ns0:sp>
      <ns0:sp>
        <ns0:nvSpPr>
          <ns0:cNvPr id="18" name="Shape 16"/>
          <ns0:cNvSpPr/>
          <ns0:nvPr/>
        </ns0:nvSpPr>
        <ns0:spPr>
          <ns1:xfrm>
            <ns1:off x="9308592" y="2606040"/>
            <ns1:ext cx="1252728" cy="329184"/>
          </ns1:xfrm>
          <ns1:prstGeom prst="roundRect">
            <ns1:avLst/>
          </ns1:prstGeom>
          <ns1:solidFill>
            <ns1:srgbClr val="8B5CF6"/>
          </ns1:solidFill>
          <ns1:ln w="12700">
            <ns1:solidFill>
              <ns1:srgbClr val="8B5CF6"/>
            </ns1:solidFill>
            <ns1:prstDash val="solid"/>
          </ns1:ln>
        </ns0:spPr>
      </ns0:sp>
      <ns0:sp>
        <ns0:nvSpPr>
          <ns0:cNvPr id="19" name="Text 17"/>
          <ns0:cNvSpPr/>
          <ns0:nvPr/>
        </ns0:nvSpPr>
        <ns0:spPr>
          <ns1:xfrm>
            <ns1:off x="9308592" y="2651760"/>
            <ns1:ext cx="1252728" cy="256032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FFFFFF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auth</ns1:t>
            </ns1:r>
            <ns1:endParaRPr lang="en-US" sz="1200" dirty="0"/>
          </ns1:p>
        </ns0:txBody>
      </ns0:sp>
      <ns0:sp>
        <ns0:nvSpPr>
          <ns0:cNvPr id="20" name="Text 18"/>
          <ns0:cNvSpPr/>
          <ns0:nvPr/>
        </ns0:nvSpPr>
        <ns0:spPr>
          <ns1:xfrm>
            <ns1:off x="7726680" y="2999232"/>
            <ns1:ext cx="429768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25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Two snapshots per feed (when auth is available).</ns1:t>
            </ns1:r>
            <ns1:endParaRPr lang="en-US" sz="1250" dirty="0"/>
          </ns1:p>
        </ns0:txBody>
      </ns0:sp>
      <ns0:sp>
        <ns0:nvSpPr>
          <ns0:cNvPr id="21" name="Shape 19"/>
          <ns0:cNvSpPr/>
          <ns0:nvPr/>
        </ns0:nvSpPr>
        <ns0:spPr>
          <ns1:xfrm>
            <ns1:off x="822960" y="3794760"/>
            <ns1:ext cx="11338560" cy="1143000"/>
          </ns1:xfrm>
          <ns1:prstGeom prst="roundRect">
            <ns1:avLst/>
          </ns1:prstGeom>
          <ns1:solidFill>
            <ns1:srgbClr val="F3F4F6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22" name="Text 20"/>
          <ns0:cNvSpPr/>
          <ns0:nvPr/>
        </ns0:nvSpPr>
        <ns0:spPr>
          <ns1:xfrm>
            <ns1:off x="1097280" y="3913632"/>
            <ns1:ext cx="36576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API call (AppView)</ns1:t>
            </ns1:r>
            <ns1:endParaRPr lang="en-US" sz="1600" dirty="0"/>
          </ns1:p>
        </ns0:txBody>
      </ns0:sp>
      <ns0:sp>
        <ns0:nvSpPr>
          <ns0:cNvPr id="23" name="Text 21"/>
          <ns0:cNvSpPr/>
          <ns0:nvPr/>
        </ns0:nvSpPr>
        <ns0:spPr>
          <ns1:xfrm>
            <ns1:off x="1097280" y="4224528"/>
            <ns1:ext cx="36576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300" dirty="0">
                <ns1:solidFill>
                  <ns1:srgbClr val="1F2937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app.bsky.feed.getFeed</ns1:t>
            </ns1:r>
            <ns1:endParaRPr lang="en-US" sz="1300" dirty="0"/>
          </ns1:p>
        </ns0:txBody>
      </ns0:sp>
      <ns0:sp>
        <ns0:nvSpPr>
          <ns0:cNvPr id="24" name="Text 22"/>
          <ns0:cNvSpPr/>
          <ns0:nvPr/>
        </ns0:nvSpPr>
        <ns0:spPr>
          <ns1:xfrm>
            <ns1:off x="4846320" y="4078224"/>
            <ns1:ext cx="7132320" cy="45720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3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Parameters: feed, limit, cursor (paged until we collect N posts)</ns1:t>
            </ns1:r>
            <ns1:endParaRPr lang="en-US" sz="1300" dirty="0"/>
          </ns1:p>
        </ns0:txBody>
      </ns0:sp>
      <ns0:sp>
        <ns0:nvSpPr>
          <ns0:cNvPr id="25" name="Text 23"/>
          <ns0:cNvSpPr/>
          <ns0:nvPr/>
        </ns0:nvSpPr>
        <ns0:spPr>
          <ns1:xfrm>
            <ns1:off x="594360" y="6446520"/>
            <ns1:ext cx="11002975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The snapshot is tied to (feed URI, viewer mode, timestamp). That’s what makes comparisons meaningful.</ns1:t>
            </ns1:r>
            <ns1:endParaRPr lang="en-US" sz="1200" dirty="0"/>
          </ns1:p>
        </ns0:txBody>
      </ns0:sp>
    </ns0:spTree>
  </ns0:cSld>
  <ns0:clrMapOvr>
    <ns1:masterClrMapping/>
  </ns0:clrMapOvr>
</ns0:sld>
</file>

<file path=ppt/slides/slide40.xml><?xml version="1.0" encoding="utf-8"?>
<ns0:sld xmlns:ns0="http://schemas.openxmlformats.org/presentationml/2006/main" xmlns:ns1="http://schemas.openxmlformats.org/drawingml/2006/main">
  <ns0:cSld name="Slide 40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146304"/>
          </ns1:xfrm>
          <ns1:prstGeom prst="rect">
            <ns1:avLst/>
          </ns1:prstGeom>
          <ns1:solidFill>
            <ns1:srgbClr val="2563EB"/>
          </ns1:solidFill>
          <ns1:ln w="12700">
            <ns1:solidFill>
              <ns1:srgbClr val="2563EB"/>
            </ns1:solidFill>
            <ns1:prstDash val="solid"/>
          </ns1:ln>
        </ns0:spPr>
      </ns0:sp>
      <ns0:sp>
        <ns0:nvSpPr>
          <ns0:cNvPr id="3" name="Text 1"/>
          <ns0:cNvSpPr/>
          <ns0:nvPr/>
        </ns0:nvSpPr>
        <ns0:spPr>
          <ns1:xfrm>
            <ns1:off x="594360" y="320040"/>
            <ns1:ext cx="9448495" cy="5486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34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Stage 6 — Snapshot each feed</ns1:t>
            </ns1:r>
            <ns1:endParaRPr lang="en-US" sz="3400" dirty="0"/>
          </ns1:p>
        </ns0:txBody>
      </ns0:sp>
      <ns0:sp>
        <ns0:nvSpPr>
          <ns0:cNvPr id="4" name="Text 2"/>
          <ns0:cNvSpPr/>
          <ns0:nvPr/>
        </ns0:nvSpPr>
        <ns0:spPr>
          <ns1:xfrm>
            <ns1:off x="603504" y="960120"/>
            <ns1:ext cx="9448495" cy="36576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Goal: fetch a ranked list of posts for each feed (unauth + auth)</ns1:t>
            </ns1:r>
            <ns1:endParaRPr lang="en-US" sz="1600" dirty="0"/>
          </ns1:p>
        </ns0:txBody>
      </ns0:sp>
      <ns0:sp>
        <ns0:nvSpPr>
          <ns0:cNvPr id="5" name="Shape 3"/>
          <ns0:cNvSpPr/>
          <ns0:nvPr/>
        </ns0:nvSpPr>
        <ns0:spPr>
          <ns1:xfrm>
            <ns1:off x="10362895" y="384048"/>
            <ns1:ext cx="1280160" cy="347472"/>
          </ns1:xfrm>
          <ns1:prstGeom prst="roundRect">
            <ns1:avLst/>
          </ns1:prstGeom>
          <ns1:solidFill>
            <ns1:srgbClr val="F3F4F6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6" name="Text 4"/>
          <ns0:cNvSpPr/>
          <ns0:nvPr/>
        </ns0:nvSpPr>
        <ns0:spPr>
          <ns1:xfrm>
            <ns1:off x="10362895" y="420624"/>
            <ns1:ext cx="128016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300" b="1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6/7</ns1:t>
            </ns1:r>
            <ns1:endParaRPr lang="en-US" sz="1300" dirty="0"/>
          </ns1:p>
        </ns0:txBody>
      </ns0:sp>
      <ns0:sp>
        <ns0:nvSpPr>
          <ns0:cNvPr id="7" name="Shape 5"/>
          <ns0:cNvSpPr/>
          <ns0:nvPr/>
        </ns0:nvSpPr>
        <ns0:spPr>
          <ns1:xfrm>
            <ns1:off x="822960" y="1691640"/>
            <ns1:ext cx="5038344" cy="329184"/>
          </ns1:xfrm>
          <ns1:prstGeom prst="roundRect">
            <ns1:avLst/>
          </ns1:prstGeom>
          <ns1:solidFill>
            <ns1:srgbClr val="2563EB"/>
          </ns1:solidFill>
          <ns1:ln w="12700">
            <ns1:solidFill>
              <ns1:srgbClr val="2563EB"/>
            </ns1:solidFill>
            <ns1:prstDash val="solid"/>
          </ns1:ln>
        </ns0:spPr>
      </ns0:sp>
      <ns0:sp>
        <ns0:nvSpPr>
          <ns0:cNvPr id="8" name="Text 6"/>
          <ns0:cNvSpPr/>
          <ns0:nvPr/>
        </ns0:nvSpPr>
        <ns0:spPr>
          <ns1:xfrm>
            <ns1:off x="822960" y="1737360"/>
            <ns1:ext cx="5038344" cy="256032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FFFFFF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For each feed in the panel…</ns1:t>
            </ns1:r>
            <ns1:endParaRPr lang="en-US" sz="1200" dirty="0"/>
          </ns1:p>
        </ns0:txBody>
      </ns0:sp>
      <ns0:sp>
        <ns0:nvSpPr>
          <ns0:cNvPr id="9" name="Shape 7"/>
          <ns0:cNvSpPr/>
          <ns0:nvPr/>
        </ns0:nvSpPr>
        <ns0:spPr>
          <ns1:xfrm>
            <ns1:off x="822960" y="2103120"/>
            <ns1:ext cx="5303520" cy="141732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10" name="Text 8"/>
          <ns0:cNvSpPr/>
          <ns0:nvPr/>
        </ns0:nvSpPr>
        <ns0:spPr>
          <ns1:xfrm>
            <ns1:off x="1097280" y="2267712"/>
            <ns1:ext cx="475488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Input: feed URI</ns1:t>
            </ns1:r>
            <ns1:endParaRPr lang="en-US" sz="1600" dirty="0"/>
          </ns1:p>
        </ns0:txBody>
      </ns0:sp>
      <ns0:sp>
        <ns0:nvSpPr>
          <ns0:cNvPr id="11" name="Shape 9"/>
          <ns0:cNvSpPr/>
          <ns0:nvPr/>
        </ns0:nvSpPr>
        <ns0:spPr>
          <ns1:xfrm>
            <ns1:off x="1097280" y="2606040"/>
            <ns1:ext cx="4754880" cy="548640"/>
          </ns1:xfrm>
          <ns1:prstGeom prst="roundRect">
            <ns1:avLst/>
          </ns1:prstGeom>
          <ns1:solidFill>
            <ns1:srgbClr val="F3F4F6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12" name="Text 10"/>
          <ns0:cNvSpPr/>
          <ns0:nvPr/>
        </ns0:nvSpPr>
        <ns0:spPr>
          <ns1:xfrm>
            <ns1:off x="1234440" y="2761488"/>
            <ns1:ext cx="448056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300" dirty="0">
                <ns1:solidFill>
                  <ns1:srgbClr val="1F2937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at://&lt;did&gt;/app.bsky.feed.generator/&lt;rkey&gt;</ns1:t>
            </ns1:r>
            <ns1:endParaRPr lang="en-US" sz="1300" dirty="0"/>
          </ns1:p>
        </ns0:txBody>
      </ns0:sp>
      <ns0:sp>
        <ns0:nvSpPr>
          <ns0:cNvPr id="13" name="Shape 11"/>
          <ns0:cNvSpPr/>
          <ns0:nvPr/>
        </ns0:nvSpPr>
        <ns0:spPr>
          <ns1:xfrm>
            <ns1:off x="6263640" y="2816352"/>
            <ns1:ext cx="1097280" cy="0"/>
          </ns1:xfrm>
          <ns1:prstGeom prst="line">
            <ns1:avLst/>
          </ns1:prstGeom>
          <ns1:noFill/>
          <ns1:ln w="38100">
            <ns1:solidFill>
              <ns1:srgbClr val="2563EB"/>
            </ns1:solidFill>
            <ns1:prstDash val="solid"/>
            <ns1:tailEnd type="triangle"/>
          </ns1:ln>
        </ns0:spPr>
      </ns0:sp>
      <ns0:sp>
        <ns0:nvSpPr>
          <ns0:cNvPr id="14" name="Shape 12"/>
          <ns0:cNvSpPr/>
          <ns0:nvPr/>
        </ns0:nvSpPr>
        <ns0:spPr>
          <ns1:xfrm>
            <ns1:off x="7452360" y="2103120"/>
            <ns1:ext cx="4709160" cy="141732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15" name="Text 13"/>
          <ns0:cNvSpPr/>
          <ns0:nvPr/>
        </ns0:nvSpPr>
        <ns0:spPr>
          <ns1:xfrm>
            <ns1:off x="7726680" y="2267712"/>
            <ns1:ext cx="429768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Viewer modes</ns1:t>
            </ns1:r>
            <ns1:endParaRPr lang="en-US" sz="1600" dirty="0"/>
          </ns1:p>
        </ns0:txBody>
      </ns0:sp>
      <ns0:sp>
        <ns0:nvSpPr>
          <ns0:cNvPr id="16" name="Shape 14"/>
          <ns0:cNvSpPr/>
          <ns0:nvPr/>
        </ns0:nvSpPr>
        <ns0:spPr>
          <ns1:xfrm>
            <ns1:off x="7726680" y="2606040"/>
            <ns1:ext cx="1581912" cy="329184"/>
          </ns1:xfrm>
          <ns1:prstGeom prst="roundRect">
            <ns1:avLst/>
          </ns1:prstGeom>
          <ns1:solidFill>
            <ns1:srgbClr val="14B8A6"/>
          </ns1:solidFill>
          <ns1:ln w="12700">
            <ns1:solidFill>
              <ns1:srgbClr val="14B8A6"/>
            </ns1:solidFill>
            <ns1:prstDash val="solid"/>
          </ns1:ln>
        </ns0:spPr>
      </ns0:sp>
      <ns0:sp>
        <ns0:nvSpPr>
          <ns0:cNvPr id="17" name="Text 15"/>
          <ns0:cNvSpPr/>
          <ns0:nvPr/>
        </ns0:nvSpPr>
        <ns0:spPr>
          <ns1:xfrm>
            <ns1:off x="7726680" y="2651760"/>
            <ns1:ext cx="1581912" cy="256032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FFFFFF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unauth</ns1:t>
            </ns1:r>
            <ns1:endParaRPr lang="en-US" sz="1200" dirty="0"/>
          </ns1:p>
        </ns0:txBody>
      </ns0:sp>
      <ns0:sp>
        <ns0:nvSpPr>
          <ns0:cNvPr id="18" name="Shape 16"/>
          <ns0:cNvSpPr/>
          <ns0:nvPr/>
        </ns0:nvSpPr>
        <ns0:spPr>
          <ns1:xfrm>
            <ns1:off x="9308592" y="2606040"/>
            <ns1:ext cx="1252728" cy="329184"/>
          </ns1:xfrm>
          <ns1:prstGeom prst="roundRect">
            <ns1:avLst/>
          </ns1:prstGeom>
          <ns1:solidFill>
            <ns1:srgbClr val="8B5CF6"/>
          </ns1:solidFill>
          <ns1:ln w="12700">
            <ns1:solidFill>
              <ns1:srgbClr val="8B5CF6"/>
            </ns1:solidFill>
            <ns1:prstDash val="solid"/>
          </ns1:ln>
        </ns0:spPr>
      </ns0:sp>
      <ns0:sp>
        <ns0:nvSpPr>
          <ns0:cNvPr id="19" name="Text 17"/>
          <ns0:cNvSpPr/>
          <ns0:nvPr/>
        </ns0:nvSpPr>
        <ns0:spPr>
          <ns1:xfrm>
            <ns1:off x="9308592" y="2651760"/>
            <ns1:ext cx="1252728" cy="256032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FFFFFF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auth</ns1:t>
            </ns1:r>
            <ns1:endParaRPr lang="en-US" sz="1200" dirty="0"/>
          </ns1:p>
        </ns0:txBody>
      </ns0:sp>
      <ns0:sp>
        <ns0:nvSpPr>
          <ns0:cNvPr id="20" name="Text 18"/>
          <ns0:cNvSpPr/>
          <ns0:nvPr/>
        </ns0:nvSpPr>
        <ns0:spPr>
          <ns1:xfrm>
            <ns1:off x="7726680" y="2999232"/>
            <ns1:ext cx="429768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25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Two snapshots per feed (when auth is available).</ns1:t>
            </ns1:r>
            <ns1:endParaRPr lang="en-US" sz="1250" dirty="0"/>
          </ns1:p>
        </ns0:txBody>
      </ns0:sp>
      <ns0:sp>
        <ns0:nvSpPr>
          <ns0:cNvPr id="21" name="Shape 19"/>
          <ns0:cNvSpPr/>
          <ns0:nvPr/>
        </ns0:nvSpPr>
        <ns0:spPr>
          <ns1:xfrm>
            <ns1:off x="822960" y="3794760"/>
            <ns1:ext cx="11338560" cy="1143000"/>
          </ns1:xfrm>
          <ns1:prstGeom prst="roundRect">
            <ns1:avLst/>
          </ns1:prstGeom>
          <ns1:solidFill>
            <ns1:srgbClr val="F3F4F6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22" name="Text 20"/>
          <ns0:cNvSpPr/>
          <ns0:nvPr/>
        </ns0:nvSpPr>
        <ns0:spPr>
          <ns1:xfrm>
            <ns1:off x="1097280" y="3913632"/>
            <ns1:ext cx="36576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600" b="1" dirty="0">
                <ns1:solidFill>
                  <ns1:srgbClr val="1F2937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API call (AppView)</ns1:t>
            </ns1:r>
            <ns1:endParaRPr lang="en-US" sz="1600" dirty="0"/>
          </ns1:p>
        </ns0:txBody>
      </ns0:sp>
      <ns0:sp>
        <ns0:nvSpPr>
          <ns0:cNvPr id="23" name="Text 21"/>
          <ns0:cNvSpPr/>
          <ns0:nvPr/>
        </ns0:nvSpPr>
        <ns0:spPr>
          <ns1:xfrm>
            <ns1:off x="1097280" y="4224528"/>
            <ns1:ext cx="36576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300" dirty="0">
                <ns1:solidFill>
                  <ns1:srgbClr val="1F2937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app.bsky.feed.getFeed</ns1:t>
            </ns1:r>
            <ns1:endParaRPr lang="en-US" sz="1300" dirty="0"/>
          </ns1:p>
        </ns0:txBody>
      </ns0:sp>
      <ns0:sp>
        <ns0:nvSpPr>
          <ns0:cNvPr id="24" name="Text 22"/>
          <ns0:cNvSpPr/>
          <ns0:nvPr/>
        </ns0:nvSpPr>
        <ns0:spPr>
          <ns1:xfrm>
            <ns1:off x="4846320" y="4078224"/>
            <ns1:ext cx="7132320" cy="45720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3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Parameters: feed, limit, cursor (paged until we collect N posts)</ns1:t>
            </ns1:r>
            <ns1:endParaRPr lang="en-US" sz="1300" dirty="0"/>
          </ns1:p>
        </ns0:txBody>
      </ns0:sp>
      <ns0:sp>
        <ns0:nvSpPr>
          <ns0:cNvPr id="25" name="Shape 23"/>
          <ns0:cNvSpPr/>
          <ns0:nvPr/>
        </ns0:nvSpPr>
        <ns0:spPr>
          <ns1:xfrm>
            <ns1:off x="822960" y="5074920"/>
            <ns1:ext cx="4873752" cy="329184"/>
          </ns1:xfrm>
          <ns1:prstGeom prst="roundRect">
            <ns1:avLst/>
          </ns1:prstGeom>
          <ns1:solidFill>
            <ns1:srgbClr val="22C55E"/>
          </ns1:solidFill>
          <ns1:ln w="12700">
            <ns1:solidFill>
              <ns1:srgbClr val="22C55E"/>
            </ns1:solidFill>
            <ns1:prstDash val="solid"/>
          </ns1:ln>
        </ns0:spPr>
      </ns0:sp>
      <ns0:sp>
        <ns0:nvSpPr>
          <ns0:cNvPr id="26" name="Text 24"/>
          <ns0:cNvSpPr/>
          <ns0:nvPr/>
        </ns0:nvSpPr>
        <ns0:spPr>
          <ns1:xfrm>
            <ns1:off x="822960" y="5120640"/>
            <ns1:ext cx="4873752" cy="256032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200" b="1" dirty="0">
                <ns1:solidFill>
                  <ns1:srgbClr val="FFFFFF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Output: ranked impressions</ns1:t>
            </ns1:r>
            <ns1:endParaRPr lang="en-US" sz="1200" dirty="0"/>
          </ns1:p>
        </ns0:txBody>
      </ns0:sp>
      <ns0:sp>
        <ns0:nvSpPr>
          <ns0:cNvPr id="27" name="Shape 25"/>
          <ns0:cNvSpPr/>
          <ns0:nvPr/>
        </ns0:nvSpPr>
        <ns0:spPr>
          <ns1:xfrm>
            <ns1:off x="822960" y="5486400"/>
            <ns1:ext cx="11338560" cy="960120"/>
          </ns1:xfrm>
          <ns1:prstGeom prst="roundRect">
            <ns1:avLst/>
          </ns1:prstGeom>
          <ns1:solidFill>
            <ns1:srgbClr val="FFFFFF"/>
          </ns1:solidFill>
          <ns1:ln w="25400">
            <ns1:solidFill>
              <ns1:srgbClr val="22C55E"/>
            </ns1:solidFill>
            <ns1:prstDash val="solid"/>
          </ns1:ln>
        </ns0:spPr>
      </ns0:sp>
      <ns0:sp>
        <ns0:nvSpPr>
          <ns0:cNvPr id="28" name="Shape 26"/>
          <ns0:cNvSpPr/>
          <ns0:nvPr/>
        </ns0:nvSpPr>
        <ns0:spPr>
          <ns1:xfrm>
            <ns1:off x="1097280" y="5669280"/>
            <ns1:ext cx="2011680" cy="731520"/>
          </ns1:xfrm>
          <ns1:prstGeom prst="roundRect">
            <ns1:avLst/>
          </ns1:prstGeom>
          <ns1:solidFill>
            <ns1:srgbClr val="F3F4F6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29" name="Text 27"/>
          <ns0:cNvSpPr/>
          <ns0:nvPr/>
        </ns0:nvSpPr>
        <ns0:spPr>
          <ns1:xfrm>
            <ns1:off x="1234440" y="5742432"/>
            <ns1:ext cx="548640" cy="22860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400" b="1" dirty="0">
                <ns1:solidFill>
                  <ns1:srgbClr val="6B7280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#1</ns1:t>
            </ns1:r>
            <ns1:endParaRPr lang="en-US" sz="1400" dirty="0"/>
          </ns1:p>
        </ns0:txBody>
      </ns0:sp>
      <ns0:sp>
        <ns0:nvSpPr>
          <ns0:cNvPr id="30" name="Shape 28"/>
          <ns0:cNvSpPr/>
          <ns0:nvPr/>
        </ns0:nvSpPr>
        <ns0:spPr>
          <ns1:xfrm>
            <ns1:off x="1645920" y="5779008"/>
            <ns1:ext cx="1325880" cy="109728"/>
          </ns1:xfrm>
          <ns1:prstGeom prst="roundRect">
            <ns1:avLst/>
          </ns1:prstGeom>
          <ns1:solidFill>
            <ns1:srgbClr val="2563EB">
              <ns1:alpha val="85000"/>
            </ns1:srgbClr>
          </ns1:solidFill>
          <ns1:ln w="12700">
            <ns1:solidFill>
              <ns1:srgbClr val="2563EB">
                <ns1:alpha val="65000"/>
              </ns1:srgbClr>
            </ns1:solidFill>
            <ns1:prstDash val="solid"/>
          </ns1:ln>
        </ns0:spPr>
      </ns0:sp>
      <ns0:sp>
        <ns0:nvSpPr>
          <ns0:cNvPr id="31" name="Text 29"/>
          <ns0:cNvSpPr/>
          <ns0:nvPr/>
        </ns0:nvSpPr>
        <ns0:spPr>
          <ns1:xfrm>
            <ns1:off x="1645920" y="5925312"/>
            <ns1:ext cx="1325880" cy="201168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15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post URI</ns1:t>
            </ns1:r>
            <ns1:endParaRPr lang="en-US" sz="1150" dirty="0"/>
          </ns1:p>
        </ns0:txBody>
      </ns0:sp>
      <ns0:sp>
        <ns0:nvSpPr>
          <ns0:cNvPr id="32" name="Shape 30"/>
          <ns0:cNvSpPr/>
          <ns0:nvPr/>
        </ns0:nvSpPr>
        <ns0:spPr>
          <ns1:xfrm>
            <ns1:off x="3246120" y="5669280"/>
            <ns1:ext cx="2011680" cy="731520"/>
          </ns1:xfrm>
          <ns1:prstGeom prst="roundRect">
            <ns1:avLst/>
          </ns1:prstGeom>
          <ns1:solidFill>
            <ns1:srgbClr val="F3F4F6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33" name="Text 31"/>
          <ns0:cNvSpPr/>
          <ns0:nvPr/>
        </ns0:nvSpPr>
        <ns0:spPr>
          <ns1:xfrm>
            <ns1:off x="3383280" y="5742432"/>
            <ns1:ext cx="548640" cy="22860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400" b="1" dirty="0">
                <ns1:solidFill>
                  <ns1:srgbClr val="6B7280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#2</ns1:t>
            </ns1:r>
            <ns1:endParaRPr lang="en-US" sz="1400" dirty="0"/>
          </ns1:p>
        </ns0:txBody>
      </ns0:sp>
      <ns0:sp>
        <ns0:nvSpPr>
          <ns0:cNvPr id="34" name="Shape 32"/>
          <ns0:cNvSpPr/>
          <ns0:nvPr/>
        </ns0:nvSpPr>
        <ns0:spPr>
          <ns1:xfrm>
            <ns1:off x="3794760" y="5779008"/>
            <ns1:ext cx="1325880" cy="109728"/>
          </ns1:xfrm>
          <ns1:prstGeom prst="roundRect">
            <ns1:avLst/>
          </ns1:prstGeom>
          <ns1:solidFill>
            <ns1:srgbClr val="2563EB">
              <ns1:alpha val="85000"/>
            </ns1:srgbClr>
          </ns1:solidFill>
          <ns1:ln w="12700">
            <ns1:solidFill>
              <ns1:srgbClr val="2563EB">
                <ns1:alpha val="65000"/>
              </ns1:srgbClr>
            </ns1:solidFill>
            <ns1:prstDash val="solid"/>
          </ns1:ln>
        </ns0:spPr>
      </ns0:sp>
      <ns0:sp>
        <ns0:nvSpPr>
          <ns0:cNvPr id="35" name="Text 33"/>
          <ns0:cNvSpPr/>
          <ns0:nvPr/>
        </ns0:nvSpPr>
        <ns0:spPr>
          <ns1:xfrm>
            <ns1:off x="3794760" y="5925312"/>
            <ns1:ext cx="1325880" cy="201168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15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post URI</ns1:t>
            </ns1:r>
            <ns1:endParaRPr lang="en-US" sz="1150" dirty="0"/>
          </ns1:p>
        </ns0:txBody>
      </ns0:sp>
      <ns0:sp>
        <ns0:nvSpPr>
          <ns0:cNvPr id="36" name="Shape 34"/>
          <ns0:cNvSpPr/>
          <ns0:nvPr/>
        </ns0:nvSpPr>
        <ns0:spPr>
          <ns1:xfrm>
            <ns1:off x="5394960" y="5669280"/>
            <ns1:ext cx="2011680" cy="731520"/>
          </ns1:xfrm>
          <ns1:prstGeom prst="roundRect">
            <ns1:avLst/>
          </ns1:prstGeom>
          <ns1:solidFill>
            <ns1:srgbClr val="F3F4F6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37" name="Text 35"/>
          <ns0:cNvSpPr/>
          <ns0:nvPr/>
        </ns0:nvSpPr>
        <ns0:spPr>
          <ns1:xfrm>
            <ns1:off x="5532120" y="5742432"/>
            <ns1:ext cx="548640" cy="22860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400" b="1" dirty="0">
                <ns1:solidFill>
                  <ns1:srgbClr val="6B7280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#3</ns1:t>
            </ns1:r>
            <ns1:endParaRPr lang="en-US" sz="1400" dirty="0"/>
          </ns1:p>
        </ns0:txBody>
      </ns0:sp>
      <ns0:sp>
        <ns0:nvSpPr>
          <ns0:cNvPr id="38" name="Shape 36"/>
          <ns0:cNvSpPr/>
          <ns0:nvPr/>
        </ns0:nvSpPr>
        <ns0:spPr>
          <ns1:xfrm>
            <ns1:off x="5943600" y="5779008"/>
            <ns1:ext cx="1325880" cy="109728"/>
          </ns1:xfrm>
          <ns1:prstGeom prst="roundRect">
            <ns1:avLst/>
          </ns1:prstGeom>
          <ns1:solidFill>
            <ns1:srgbClr val="2563EB">
              <ns1:alpha val="85000"/>
            </ns1:srgbClr>
          </ns1:solidFill>
          <ns1:ln w="12700">
            <ns1:solidFill>
              <ns1:srgbClr val="2563EB">
                <ns1:alpha val="65000"/>
              </ns1:srgbClr>
            </ns1:solidFill>
            <ns1:prstDash val="solid"/>
          </ns1:ln>
        </ns0:spPr>
      </ns0:sp>
      <ns0:sp>
        <ns0:nvSpPr>
          <ns0:cNvPr id="39" name="Text 37"/>
          <ns0:cNvSpPr/>
          <ns0:nvPr/>
        </ns0:nvSpPr>
        <ns0:spPr>
          <ns1:xfrm>
            <ns1:off x="5943600" y="5925312"/>
            <ns1:ext cx="1325880" cy="201168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15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post URI</ns1:t>
            </ns1:r>
            <ns1:endParaRPr lang="en-US" sz="1150" dirty="0"/>
          </ns1:p>
        </ns0:txBody>
      </ns0:sp>
      <ns0:sp>
        <ns0:nvSpPr>
          <ns0:cNvPr id="40" name="Shape 38"/>
          <ns0:cNvSpPr/>
          <ns0:nvPr/>
        </ns0:nvSpPr>
        <ns0:spPr>
          <ns1:xfrm>
            <ns1:off x="7543800" y="5669280"/>
            <ns1:ext cx="2011680" cy="731520"/>
          </ns1:xfrm>
          <ns1:prstGeom prst="roundRect">
            <ns1:avLst/>
          </ns1:prstGeom>
          <ns1:solidFill>
            <ns1:srgbClr val="F3F4F6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41" name="Text 39"/>
          <ns0:cNvSpPr/>
          <ns0:nvPr/>
        </ns0:nvSpPr>
        <ns0:spPr>
          <ns1:xfrm>
            <ns1:off x="7680960" y="5742432"/>
            <ns1:ext cx="548640" cy="22860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400" b="1" dirty="0">
                <ns1:solidFill>
                  <ns1:srgbClr val="6B7280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#4</ns1:t>
            </ns1:r>
            <ns1:endParaRPr lang="en-US" sz="1400" dirty="0"/>
          </ns1:p>
        </ns0:txBody>
      </ns0:sp>
      <ns0:sp>
        <ns0:nvSpPr>
          <ns0:cNvPr id="42" name="Shape 40"/>
          <ns0:cNvSpPr/>
          <ns0:nvPr/>
        </ns0:nvSpPr>
        <ns0:spPr>
          <ns1:xfrm>
            <ns1:off x="8092440" y="5779008"/>
            <ns1:ext cx="1325880" cy="109728"/>
          </ns1:xfrm>
          <ns1:prstGeom prst="roundRect">
            <ns1:avLst/>
          </ns1:prstGeom>
          <ns1:solidFill>
            <ns1:srgbClr val="2563EB">
              <ns1:alpha val="85000"/>
            </ns1:srgbClr>
          </ns1:solidFill>
          <ns1:ln w="12700">
            <ns1:solidFill>
              <ns1:srgbClr val="2563EB">
                <ns1:alpha val="65000"/>
              </ns1:srgbClr>
            </ns1:solidFill>
            <ns1:prstDash val="solid"/>
          </ns1:ln>
        </ns0:spPr>
      </ns0:sp>
      <ns0:sp>
        <ns0:nvSpPr>
          <ns0:cNvPr id="43" name="Text 41"/>
          <ns0:cNvSpPr/>
          <ns0:nvPr/>
        </ns0:nvSpPr>
        <ns0:spPr>
          <ns1:xfrm>
            <ns1:off x="8092440" y="5925312"/>
            <ns1:ext cx="1325880" cy="201168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15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post URI</ns1:t>
            </ns1:r>
            <ns1:endParaRPr lang="en-US" sz="1150" dirty="0"/>
          </ns1:p>
        </ns0:txBody>
      </ns0:sp>
      <ns0:sp>
        <ns0:nvSpPr>
          <ns0:cNvPr id="44" name="Shape 42"/>
          <ns0:cNvSpPr/>
          <ns0:nvPr/>
        </ns0:nvSpPr>
        <ns0:spPr>
          <ns1:xfrm>
            <ns1:off x="9692640" y="5669280"/>
            <ns1:ext cx="2011680" cy="731520"/>
          </ns1:xfrm>
          <ns1:prstGeom prst="roundRect">
            <ns1:avLst/>
          </ns1:prstGeom>
          <ns1:solidFill>
            <ns1:srgbClr val="F3F4F6"/>
          </ns1:solidFill>
          <ns1:ln w="12700">
            <ns1:solidFill>
              <ns1:srgbClr val="D1D5DB"/>
            </ns1:solidFill>
            <ns1:prstDash val="solid"/>
          </ns1:ln>
        </ns0:spPr>
      </ns0:sp>
      <ns0:sp>
        <ns0:nvSpPr>
          <ns0:cNvPr id="45" name="Text 43"/>
          <ns0:cNvSpPr/>
          <ns0:nvPr/>
        </ns0:nvSpPr>
        <ns0:spPr>
          <ns1:xfrm>
            <ns1:off x="9829800" y="5742432"/>
            <ns1:ext cx="548640" cy="22860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400" b="1" dirty="0">
                <ns1:solidFill>
                  <ns1:srgbClr val="6B7280"/>
                </ns1:solidFill>
                <ns1:latin typeface="Aptos Display" pitchFamily="34" charset="0"/>
                <ns1:ea typeface="Aptos Display" pitchFamily="34" charset="-122"/>
                <ns1:cs typeface="Aptos Display" pitchFamily="34" charset="-120"/>
              </ns1:rPr>
              <ns1:t>#5</ns1:t>
            </ns1:r>
            <ns1:endParaRPr lang="en-US" sz="1400" dirty="0"/>
          </ns1:p>
        </ns0:txBody>
      </ns0:sp>
      <ns0:sp>
        <ns0:nvSpPr>
          <ns0:cNvPr id="46" name="Shape 44"/>
          <ns0:cNvSpPr/>
          <ns0:nvPr/>
        </ns0:nvSpPr>
        <ns0:spPr>
          <ns1:xfrm>
            <ns1:off x="10241280" y="5779008"/>
            <ns1:ext cx="1325880" cy="109728"/>
          </ns1:xfrm>
          <ns1:prstGeom prst="roundRect">
            <ns1:avLst/>
          </ns1:prstGeom>
          <ns1:solidFill>
            <ns1:srgbClr val="2563EB">
              <ns1:alpha val="85000"/>
            </ns1:srgbClr>
          </ns1:solidFill>
          <ns1:ln w="12700">
            <ns1:solidFill>
              <ns1:srgbClr val="2563EB">
                <ns1:alpha val="65000"/>
              </ns1:srgbClr>
            </ns1:solidFill>
            <ns1:prstDash val="solid"/>
          </ns1:ln>
        </ns0:spPr>
      </ns0:sp>
      <ns0:sp>
        <ns0:nvSpPr>
          <ns0:cNvPr id="47" name="Text 45"/>
          <ns0:cNvSpPr/>
          <ns0:nvPr/>
        </ns0:nvSpPr>
        <ns0:spPr>
          <ns1:xfrm>
            <ns1:off x="10241280" y="5925312"/>
            <ns1:ext cx="1325880" cy="201168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15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post URI</ns1:t>
            </ns1:r>
            <ns1:endParaRPr lang="en-US" sz="1150" dirty="0"/>
          </ns1:p>
        </ns0:txBody>
      </ns0:sp>
      <ns0:sp>
        <ns0:nvSpPr>
          <ns0:cNvPr id="48" name="Text 46"/>
          <ns0:cNvSpPr/>
          <ns0:nvPr/>
        </ns0:nvSpPr>
        <ns0:spPr>
          <ns1:xfrm>
            <ns1:off x="594360" y="6446520"/>
            <ns1:ext cx="11002975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6B7280"/>
                </ns1:solidFill>
                <ns1:latin typeface="Aptos" pitchFamily="34" charset="0"/>
                <ns1:ea typeface="Aptos" pitchFamily="34" charset="-122"/>
                <ns1:cs typeface="Aptos" pitchFamily="34" charset="-120"/>
              </ns1:rPr>
              <ns1:t>The snapshot is tied to (feed URI, viewer mode, timestamp). That’s what makes comparisons meaningful.</ns1:t>
            </ns1:r>
            <ns1:endParaRPr lang="en-US" sz="1200" dirty="0"/>
          </ns1:p>
        </ns0:txBody>
      </ns0:sp>
    </ns0:spTree>
  </ns0:cSld>
  <ns0:clrMapOvr>
    <ns1:masterClrMapping/>
  </ns0:clrMapOvr>
</ns0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6 — What we store from each snapshot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normalize one feed response into a few analysis-friendly tables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37033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874520"/>
            <a:ext cx="128016" cy="4160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0574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Impressions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8992" y="2514600"/>
            <a:ext cx="3291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row per ranked item: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 URI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viewer mode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post URI + CID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(optional) reason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structure keeps analysis simple: impressions tie everything together, posts/authors/labels are reusable dimensions.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6 — What we store from each snapshot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normalize one feed response into a few analysis-friendly tables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37033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874520"/>
            <a:ext cx="128016" cy="4160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0574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Impressions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8992" y="2514600"/>
            <a:ext cx="3291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row per ranked item: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 URI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viewer mode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post URI + CID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(optional) reason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26280" y="1874520"/>
            <a:ext cx="37033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1874520"/>
            <a:ext cx="128016" cy="41605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20574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82312" y="2514600"/>
            <a:ext cx="3291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row per unique post: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text + timestamps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embeds (links/images)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engagement counts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language + facets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structure keeps analysis simple: impressions tie everything together, posts/authors/labels are reusable dimensions.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6 — What we store from each snapshot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normalize one feed response into a few analysis-friendly tables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37033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874520"/>
            <a:ext cx="128016" cy="4160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0574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Impressions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8992" y="2514600"/>
            <a:ext cx="3291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row per ranked item: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 URI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viewer mode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post URI + CID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(optional) reason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26280" y="1874520"/>
            <a:ext cx="37033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1874520"/>
            <a:ext cx="128016" cy="41605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20574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82312" y="2514600"/>
            <a:ext cx="3291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row per unique post: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text + timestamps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embeds (links/images)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engagement counts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language + facets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0" y="1874520"/>
            <a:ext cx="3886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0" y="1874520"/>
            <a:ext cx="128016" cy="2011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85632" y="20574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Labels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85632" y="2514600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Normalized label facts: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label source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negation flag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URI (if any)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structure keeps analysis simple: impressions tie everything together, posts/authors/labels are reusable dimensions.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6 — What we store from each snapshot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normalize one feed response into a few analysis-friendly tables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37033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874520"/>
            <a:ext cx="128016" cy="4160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0574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Impressions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8992" y="2514600"/>
            <a:ext cx="3291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row per ranked item: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 URI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viewer mode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post URI + CID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(optional) reason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26280" y="1874520"/>
            <a:ext cx="37033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1874520"/>
            <a:ext cx="128016" cy="41605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20574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82312" y="2514600"/>
            <a:ext cx="3291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row per unique post: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text + timestamps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embeds (links/images)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engagement counts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language + facets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0" y="1874520"/>
            <a:ext cx="3886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0" y="1874520"/>
            <a:ext cx="128016" cy="2011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85632" y="20574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Labels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85632" y="2514600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Normalized label facts: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label source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negation flag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URI (if any)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0" y="4023360"/>
            <a:ext cx="3886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0" y="4023360"/>
            <a:ext cx="128016" cy="20116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85632" y="42062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Snapshot status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485632" y="4663440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 (feed, viewer mode):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collected_at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item count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success flag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structure keeps analysis simple: impressions tie everything together, posts/authors/labels are reusable dimensions.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7 — Hydrate author profiles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fetch lightweight profile stats for authors seen in our snapshots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1417320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373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677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All unique authors from feed snapshots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63347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extract author DIDs from impressions, then hydrate profiles in batches.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329184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08760" y="329184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20240" y="329184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370332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08760" y="370332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this point, the snapshot is complete: feeds → ranked posts → authors → labels.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7 — Hydrate author profiles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fetch lightweight profile stats for authors seen in our snapshots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1417320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373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677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All unique authors from feed snapshots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63347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extract author DIDs from impressions, then hydrate profiles in batches.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329184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08760" y="329184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20240" y="329184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370332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08760" y="370332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3017520"/>
            <a:ext cx="109728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543800" y="1965960"/>
            <a:ext cx="4617720" cy="2148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18120" y="2103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call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818120" y="239572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app.bsky.actor.getProfiles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7818120" y="2724912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fetch: handle, display name, follower counts, post counts…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this point, the snapshot is complete: feeds → ranked posts → authors → labels.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7 — Hydrate author profiles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fetch lightweight profile stats for authors seen in our snapshots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1417320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373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2677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All unique authors from feed snapshots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63347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extract author DIDs from impressions, then hydrate profiles in batches.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329184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08760" y="329184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20240" y="329184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370332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08760" y="3703320"/>
            <a:ext cx="292608" cy="292608"/>
          </a:xfrm>
          <a:prstGeom prst="ellipse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3017520"/>
            <a:ext cx="109728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543800" y="1965960"/>
            <a:ext cx="4617720" cy="2148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18120" y="2103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call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818120" y="239572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app.bsky.actor.getProfiles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7818120" y="2724912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fetch: handle, display name, follower counts, post counts…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822960" y="4434840"/>
            <a:ext cx="1581912" cy="329184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48056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4846320"/>
            <a:ext cx="1133856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498348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Author table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97280" y="5349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every impression can be joined to author stats for analysis.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this point, the snapshot is complete: feeds → ranked posts → authors → labels.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Resumability + outputs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canonical state DB, deterministic exports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pic>
        <p:nvPicPr>
          <p:cNvPr id="7" name="Image 0" descr="/mnt/data/assets/brain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1960323"/>
            <a:ext cx="2743200" cy="248015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1691640"/>
            <a:ext cx="3557016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737360"/>
            <a:ext cx="3557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state database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2103120"/>
            <a:ext cx="8046720" cy="1737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226771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SQLite is the single source of truth for the entire run.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97280" y="2633472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stores: discovered feeds, the panel, every snapshot, posts, labels, and authors — so a run can resume safely.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097280" y="3401568"/>
            <a:ext cx="205740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61872" y="349300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463040" y="34655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Cursor checkpoints</a:t>
            </a:r>
            <a:endParaRPr lang="en-US" sz="1180" dirty="0"/>
          </a:p>
        </p:txBody>
      </p:sp>
      <p:sp>
        <p:nvSpPr>
          <p:cNvPr id="16" name="Shape 13"/>
          <p:cNvSpPr/>
          <p:nvPr/>
        </p:nvSpPr>
        <p:spPr>
          <a:xfrm>
            <a:off x="3703320" y="3401568"/>
            <a:ext cx="205740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867912" y="3493008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069080" y="34655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 markers</a:t>
            </a:r>
            <a:endParaRPr lang="en-US" sz="1180" dirty="0"/>
          </a:p>
        </p:txBody>
      </p:sp>
      <p:sp>
        <p:nvSpPr>
          <p:cNvPr id="19" name="Shape 16"/>
          <p:cNvSpPr/>
          <p:nvPr/>
        </p:nvSpPr>
        <p:spPr>
          <a:xfrm>
            <a:off x="5897880" y="3401568"/>
            <a:ext cx="205740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62472" y="3493008"/>
            <a:ext cx="146304" cy="14630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63640" y="34655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Idempotent writes</a:t>
            </a:r>
            <a:endParaRPr lang="en-US" sz="1180" dirty="0"/>
          </a:p>
        </p:txBody>
      </p:sp>
      <p:sp>
        <p:nvSpPr>
          <p:cNvPr id="22" name="Shape 19"/>
          <p:cNvSpPr/>
          <p:nvPr/>
        </p:nvSpPr>
        <p:spPr>
          <a:xfrm>
            <a:off x="7909560" y="2487168"/>
            <a:ext cx="685800" cy="868680"/>
          </a:xfrm>
          <a:prstGeom prst="can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reminder: the deck focuses on collection mechanics; analysis comes later using the exported tables.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Resumability + outputs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canonical state DB, deterministic exports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pic>
        <p:nvPicPr>
          <p:cNvPr id="7" name="Image 0" descr="/mnt/data/assets/brain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1960323"/>
            <a:ext cx="2743200" cy="248015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1691640"/>
            <a:ext cx="3557016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737360"/>
            <a:ext cx="3557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state database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2103120"/>
            <a:ext cx="8046720" cy="1737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226771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SQLite is the single source of truth for the entire run.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97280" y="2633472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stores: discovered feeds, the panel, every snapshot, posts, labels, and authors — so a run can resume safely.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097280" y="3401568"/>
            <a:ext cx="205740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61872" y="349300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463040" y="34655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Cursor checkpoints</a:t>
            </a:r>
            <a:endParaRPr lang="en-US" sz="1180" dirty="0"/>
          </a:p>
        </p:txBody>
      </p:sp>
      <p:sp>
        <p:nvSpPr>
          <p:cNvPr id="16" name="Shape 13"/>
          <p:cNvSpPr/>
          <p:nvPr/>
        </p:nvSpPr>
        <p:spPr>
          <a:xfrm>
            <a:off x="3703320" y="3401568"/>
            <a:ext cx="205740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867912" y="3493008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069080" y="34655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 markers</a:t>
            </a:r>
            <a:endParaRPr lang="en-US" sz="1180" dirty="0"/>
          </a:p>
        </p:txBody>
      </p:sp>
      <p:sp>
        <p:nvSpPr>
          <p:cNvPr id="19" name="Shape 16"/>
          <p:cNvSpPr/>
          <p:nvPr/>
        </p:nvSpPr>
        <p:spPr>
          <a:xfrm>
            <a:off x="5897880" y="3401568"/>
            <a:ext cx="205740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62472" y="3493008"/>
            <a:ext cx="146304" cy="14630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63640" y="34655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Idempotent writes</a:t>
            </a:r>
            <a:endParaRPr lang="en-US" sz="1180" dirty="0"/>
          </a:p>
        </p:txBody>
      </p:sp>
      <p:sp>
        <p:nvSpPr>
          <p:cNvPr id="22" name="Shape 19"/>
          <p:cNvSpPr/>
          <p:nvPr/>
        </p:nvSpPr>
        <p:spPr>
          <a:xfrm>
            <a:off x="7909560" y="2487168"/>
            <a:ext cx="685800" cy="868680"/>
          </a:xfrm>
          <a:prstGeom prst="can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2960" y="4069080"/>
            <a:ext cx="1746504" cy="329184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2960" y="4114800"/>
            <a:ext cx="1746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22960" y="4480560"/>
            <a:ext cx="11338560" cy="1828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97280" y="4617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Analysis-ready CSVs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097280" y="4983480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 catalog</a:t>
            </a:r>
            <a:endParaRPr lang="en-US" sz="12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starter pack → feed inclusions</a:t>
            </a:r>
            <a:endParaRPr lang="en-US" sz="12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popular feed ranking</a:t>
            </a:r>
            <a:endParaRPr lang="en-US" sz="12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 panel</a:t>
            </a:r>
            <a:endParaRPr lang="en-US" sz="12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 snapshots (impressions + posts + labels)</a:t>
            </a:r>
            <a:endParaRPr lang="en-US" sz="12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authors</a:t>
            </a:r>
            <a:endParaRPr lang="en-US" sz="1280" dirty="0"/>
          </a:p>
        </p:txBody>
      </p:sp>
      <p:sp>
        <p:nvSpPr>
          <p:cNvPr id="28" name="Shape 25"/>
          <p:cNvSpPr/>
          <p:nvPr/>
        </p:nvSpPr>
        <p:spPr>
          <a:xfrm>
            <a:off x="7863840" y="4754880"/>
            <a:ext cx="4114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001000" y="4892040"/>
            <a:ext cx="1097280" cy="320040"/>
          </a:xfrm>
          <a:prstGeom prst="roundRect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183880" y="492861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csv/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275320" y="5257800"/>
            <a:ext cx="347472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439912" y="5349240"/>
            <a:ext cx="347472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604504" y="5440680"/>
            <a:ext cx="347472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366760" y="58064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… + manifest + data dictionary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reminder: the deck focuses on collection mechanics; analysis comes later using the exported tables.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Resumability + outputs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3504" y="9601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canonical state DB, deterministic exports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362895" y="384048"/>
            <a:ext cx="1280160" cy="34747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62895" y="420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pic>
        <p:nvPicPr>
          <p:cNvPr id="7" name="Image 0" descr="/mnt/data/assets/brain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1960323"/>
            <a:ext cx="2743200" cy="248015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1691640"/>
            <a:ext cx="3557016" cy="32918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737360"/>
            <a:ext cx="3557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state database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2103120"/>
            <a:ext cx="8046720" cy="1737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226771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SQLite is the single source of truth for the entire run.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97280" y="2633472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stores: discovered feeds, the panel, every snapshot, posts, labels, and authors — so a run can resume safely.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097280" y="3401568"/>
            <a:ext cx="205740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61872" y="349300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463040" y="34655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Cursor checkpoints</a:t>
            </a:r>
            <a:endParaRPr lang="en-US" sz="1180" dirty="0"/>
          </a:p>
        </p:txBody>
      </p:sp>
      <p:sp>
        <p:nvSpPr>
          <p:cNvPr id="16" name="Shape 13"/>
          <p:cNvSpPr/>
          <p:nvPr/>
        </p:nvSpPr>
        <p:spPr>
          <a:xfrm>
            <a:off x="3703320" y="3401568"/>
            <a:ext cx="205740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867912" y="3493008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069080" y="34655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 markers</a:t>
            </a:r>
            <a:endParaRPr lang="en-US" sz="1180" dirty="0"/>
          </a:p>
        </p:txBody>
      </p:sp>
      <p:sp>
        <p:nvSpPr>
          <p:cNvPr id="19" name="Shape 16"/>
          <p:cNvSpPr/>
          <p:nvPr/>
        </p:nvSpPr>
        <p:spPr>
          <a:xfrm>
            <a:off x="5897880" y="3401568"/>
            <a:ext cx="205740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62472" y="3493008"/>
            <a:ext cx="146304" cy="14630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63640" y="34655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Idempotent writes</a:t>
            </a:r>
            <a:endParaRPr lang="en-US" sz="1180" dirty="0"/>
          </a:p>
        </p:txBody>
      </p:sp>
      <p:sp>
        <p:nvSpPr>
          <p:cNvPr id="22" name="Shape 19"/>
          <p:cNvSpPr/>
          <p:nvPr/>
        </p:nvSpPr>
        <p:spPr>
          <a:xfrm>
            <a:off x="7909560" y="2487168"/>
            <a:ext cx="685800" cy="868680"/>
          </a:xfrm>
          <a:prstGeom prst="can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2960" y="4069080"/>
            <a:ext cx="1746504" cy="329184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2960" y="4114800"/>
            <a:ext cx="1746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22960" y="4480560"/>
            <a:ext cx="11338560" cy="1828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97280" y="4617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Analysis-ready CSVs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097280" y="4983480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 catalog</a:t>
            </a:r>
            <a:endParaRPr lang="en-US" sz="12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starter pack → feed inclusions</a:t>
            </a:r>
            <a:endParaRPr lang="en-US" sz="12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popular feed ranking</a:t>
            </a:r>
            <a:endParaRPr lang="en-US" sz="12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 panel</a:t>
            </a:r>
            <a:endParaRPr lang="en-US" sz="12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 snapshots (impressions + posts + labels)</a:t>
            </a:r>
            <a:endParaRPr lang="en-US" sz="12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authors</a:t>
            </a:r>
            <a:endParaRPr lang="en-US" sz="1280" dirty="0"/>
          </a:p>
        </p:txBody>
      </p:sp>
      <p:sp>
        <p:nvSpPr>
          <p:cNvPr id="28" name="Shape 25"/>
          <p:cNvSpPr/>
          <p:nvPr/>
        </p:nvSpPr>
        <p:spPr>
          <a:xfrm>
            <a:off x="7863840" y="4754880"/>
            <a:ext cx="4114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001000" y="4892040"/>
            <a:ext cx="1097280" cy="320040"/>
          </a:xfrm>
          <a:prstGeom prst="roundRect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183880" y="492861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csv/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275320" y="5257800"/>
            <a:ext cx="347472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439912" y="5349240"/>
            <a:ext cx="347472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604504" y="5440680"/>
            <a:ext cx="347472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366760" y="58064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… + manifest + data dictionary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8412480" y="1783080"/>
            <a:ext cx="3749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641080" y="19019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8641080" y="221284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snapshot is reproducible, auditable, and easy to analyze.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reminder: the deck focuses on collection mechanics; analysis comes later using the exported tables.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Wrap-up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21792" y="11430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open APIs → to a clean, resumable snapshot dataset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352044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1488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sources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51560" y="2487168"/>
            <a:ext cx="30632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697480"/>
            <a:ext cx="30632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Relay (index) + AppView (hydrated views)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optional authenticated viewer mode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34840" y="1920240"/>
            <a:ext cx="352044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21488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663440" y="2487168"/>
            <a:ext cx="30632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697480"/>
            <a:ext cx="30632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feeds → pick a panel → snapshot rankings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hydrate authors → export tables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46720" y="1920240"/>
            <a:ext cx="352044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75320" y="21488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Deliverables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75320" y="2487168"/>
            <a:ext cx="30632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2697480"/>
            <a:ext cx="30632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Impressions + posts + labels + authors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(with stable CSV schemas)</a:t>
            </a:r>
            <a:endParaRPr lang="en-US" sz="1350" dirty="0"/>
          </a:p>
        </p:txBody>
      </p:sp>
      <p:pic>
        <p:nvPicPr>
          <p:cNvPr id="17" name="Image 0" descr="/mnt/data/assets/brain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381418"/>
            <a:ext cx="1280160" cy="115740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94360" y="644652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Q&amp;A-ready: each stage maps cleanly to a small set of public HTTP endpoints.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2026-02-03T19:39:58Z</dcterms:created>
  <dcterms:modified xsi:type="dcterms:W3CDTF">2026-02-03T19:39:58Z</dcterms:modified>
</cp:coreProperties>
</file>