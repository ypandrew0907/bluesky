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Collecting Bluesky Feed Data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68096" y="24688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step-by-step, read-only pipeline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(Endpoints + resumability)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" y="3383280"/>
            <a:ext cx="2194560" cy="38404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447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Cross-sectional snapshot</a:t>
            </a:r>
            <a:endParaRPr lang="en-US" sz="12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28172"/>
            <a:ext cx="3383280" cy="3058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how we discover feeds, snapshot ranked results, and export analysis-ready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97764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977640"/>
            <a:ext cx="128016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Feed item (a post + rank)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02552" y="46177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“view a feed”, you get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ranked list is the core thing we snapshot.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469880" y="4206240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4233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9880" y="4507992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15600" y="45354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69880" y="4809744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48371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6400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API name describing what you fetch.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app.bsky.feed.getFeed = “return a ranked feed view”.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slides non-code: method names are the “API surface”.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ns0:sld xmlns:ns0="http://schemas.openxmlformats.org/presentationml/2006/main" xmlns:ns1="http://schemas.openxmlformats.org/drawingml/2006/main">
  <ns0:cSld name="Slide 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How we talk to Bluesky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 XRPC requests = host + method + parameters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874520"/>
            <ns1:ext cx="11338560" cy="14173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51560" y="2157984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563E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GET</ns1:t>
            </ns1:r>
            <ns1:endParaRPr lang="en-US" sz="18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664208" y="2130552"/>
            <ns1:ext cx="1014984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1F2937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https://public.api.bsky.app/xrpc/app.bsky.feed.getFeed?feed=at://…&amp;limit=50&amp;cursor=…</ns1:t>
            </ns1:r>
            <ns1:endParaRPr lang="en-US" sz="16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3429000"/>
            <ns1:ext cx="1133856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Same pattern for every endpoint we call.</ns1:t>
            </ns1:r>
            <ns1:endParaRPr lang="en-US" sz="13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627632" y="2057400"/>
            <ns1:ext cx="2971800" cy="640080"/>
          </ns1:xfrm>
          <ns1:prstGeom prst="roundRect">
            <ns1:avLst/>
          </ns1:prstGeom>
          <ns1:solidFill>
            <ns1:srgbClr val="14B8A6">
              <ns1:alpha val="20000"/>
            </ns1:srgbClr>
          </ns1:solidFill>
          <ns1:ln w="12700">
            <ns1:solidFill>
              <ns1:srgbClr val="14B8A6">
                <ns1:alpha val="60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822960" y="4023360"/>
            <ns1:ext cx="539496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97280" y="416052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Host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97280" y="4480560"/>
            <ns1:ext cx="4937760" cy="1463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“Which service am I asking?”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AppView (public): views of feeds, posts, profiles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Relay: network index used for enumeration</ns1:t>
            </ns1:r>
            <ns1:endParaRPr lang="en-US" sz="13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5486400" y="2057400"/>
            <ns1:ext cx="3291840" cy="640080"/>
          </ns1:xfrm>
          <ns1:prstGeom prst="roundRect">
            <ns1:avLst/>
          </ns1:prstGeom>
          <ns1:solidFill>
            <ns1:srgbClr val="2563EB">
              <ns1:alpha val="15000"/>
            </ns1:srgbClr>
          </ns1:solidFill>
          <ns1:ln w="12700">
            <ns1:solidFill>
              <ns1:srgbClr val="2563EB">
                <ns1:alpha val="55000"/>
              </ns1:srgbClr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6400800" y="4023360"/>
            <ns1:ext cx="576072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6675120" y="4160520"/>
            <ns1:ext cx="53035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Method</ns1:t>
            </ns1:r>
            <ns1:endParaRPr lang="en-US" sz="16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6675120" y="4480560"/>
            <ns1:ext cx="5303520" cy="8229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stable API name describing what you fetch.</ns1:t>
            </ns1:r>
            <ns1:endParaRPr lang="en-US" sz="1300" dirty="0"/>
          </ns1:p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Example: app.bsky.feed.getFeed = “return a ranked feed view”.</ns1:t>
            </ns1:r>
            <ns1:endParaRPr lang="en-US" sz="13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6675120" y="5349240"/>
            <ns1:ext cx="530352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keep slides non-code: method names are the “API surface”.</ns1:t>
            </ns1:r>
            <ns1:endParaRPr lang="en-US" sz="12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8823960" y="2057400"/>
            <ns1:ext cx="3246120" cy="640080"/>
          </ns1:xfrm>
          <ns1:prstGeom prst="roundRect">
            <ns1:avLst/>
          </ns1:prstGeom>
          <ns1:solidFill>
            <ns1:srgbClr val="8B5CF6">
              <ns1:alpha val="12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822960" y="6172200"/>
            <ns1:ext cx="11338560" cy="6272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6240780"/>
            <ns1:ext cx="107899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 typically control paging + filtering (e.g., feed URI, limit, cursor).</ns1:t>
            </ns1:r>
            <ns1:endParaRPr lang="en-US" sz="13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594360" y="651510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Now that we know how requests look, we can map every pipeline stage to a small set of endpoints.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How we talk to Bluesky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 XRPC requests = host + method + parameters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874520"/>
            <ns1:ext cx="11338560" cy="14173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51560" y="2157984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563E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GET</ns1:t>
            </ns1:r>
            <ns1:endParaRPr lang="en-US" sz="18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664208" y="2130552"/>
            <ns1:ext cx="1014984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1F2937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https://public.api.bsky.app/xrpc/app.bsky.feed.getFeed?feed=at://…&amp;limit=50&amp;cursor=…</ns1:t>
            </ns1:r>
            <ns1:endParaRPr lang="en-US" sz="16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3429000"/>
            <ns1:ext cx="1133856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Same pattern for every endpoint we call.</ns1:t>
            </ns1:r>
            <ns1:endParaRPr lang="en-US" sz="13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627632" y="2057400"/>
            <ns1:ext cx="2971800" cy="640080"/>
          </ns1:xfrm>
          <ns1:prstGeom prst="roundRect">
            <ns1:avLst/>
          </ns1:prstGeom>
          <ns1:solidFill>
            <ns1:srgbClr val="14B8A6">
              <ns1:alpha val="20000"/>
            </ns1:srgbClr>
          </ns1:solidFill>
          <ns1:ln w="12700">
            <ns1:solidFill>
              <ns1:srgbClr val="14B8A6">
                <ns1:alpha val="60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822960" y="4023360"/>
            <ns1:ext cx="539496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97280" y="416052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Host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97280" y="4480560"/>
            <ns1:ext cx="4937760" cy="1463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“Which service am I asking?”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AppView (public): views of feeds, posts, profiles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Relay: network index used for enumeration</ns1:t>
            </ns1:r>
            <ns1:endParaRPr lang="en-US" sz="13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5486400" y="2057400"/>
            <ns1:ext cx="3291840" cy="640080"/>
          </ns1:xfrm>
          <ns1:prstGeom prst="roundRect">
            <ns1:avLst/>
          </ns1:prstGeom>
          <ns1:solidFill>
            <ns1:srgbClr val="2563EB">
              <ns1:alpha val="15000"/>
            </ns1:srgbClr>
          </ns1:solidFill>
          <ns1:ln w="12700">
            <ns1:solidFill>
              <ns1:srgbClr val="2563EB">
                <ns1:alpha val="55000"/>
              </ns1:srgbClr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6400800" y="4023360"/>
            <ns1:ext cx="576072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6675120" y="4160520"/>
            <ns1:ext cx="53035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Method</ns1:t>
            </ns1:r>
            <ns1:endParaRPr lang="en-US" sz="16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6675120" y="4480560"/>
            <ns1:ext cx="5303520" cy="8229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stable API name describing what you fetch.</ns1:t>
            </ns1:r>
            <ns1:endParaRPr lang="en-US" sz="1300" dirty="0"/>
          </ns1:p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Example: app.bsky.feed.getFeed = “return a ranked feed view”.</ns1:t>
            </ns1:r>
            <ns1:endParaRPr lang="en-US" sz="13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6675120" y="5349240"/>
            <ns1:ext cx="530352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keep slides non-code: method names are the “API surface”.</ns1:t>
            </ns1:r>
            <ns1:endParaRPr lang="en-US" sz="12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8823960" y="2057400"/>
            <ns1:ext cx="3246120" cy="640080"/>
          </ns1:xfrm>
          <ns1:prstGeom prst="roundRect">
            <ns1:avLst/>
          </ns1:prstGeom>
          <ns1:solidFill>
            <ns1:srgbClr val="8B5CF6">
              <ns1:alpha val="12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822960" y="6172200"/>
            <ns1:ext cx="11338560" cy="6272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6240780"/>
            <ns1:ext cx="107899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 typically control paging + filtering (e.g., feed URI, limit, cursor).</ns1:t>
            </ns1:r>
            <ns1:endParaRPr lang="en-US" sz="13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822960" y="1691640"/>
            <ns1:ext cx="3749040" cy="384048"/>
          </ns1:xfrm>
          <ns1:prstGeom prst="roundRect">
            <ns1:avLst/>
          </ns1:prstGeom>
          <ns1:solidFill>
            <ns1:srgbClr val="8B5CF6">
              <ns1:alpha val="15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4" name="Text 22"/>
          <ns0:cNvSpPr/>
          <ns0:nvPr/>
        </ns0:nvSpPr>
        <ns0:spPr>
          <ns1:xfrm>
            <ns1:off x="960120" y="176479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Optional auth header</ns1:t>
            </ns1:r>
            <ns1:endParaRPr lang="en-US" sz="12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4754880" y="1691640"/>
            <ns1:ext cx="7406640" cy="3840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4937760" y="1764792"/>
            <ns1:ext cx="71323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Authorization: Bearer &lt;session JWT&gt;  (only for viewer_mode = auth)</ns1:t>
            </ns1:r>
            <ns1:endParaRPr lang="en-US" sz="125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594360" y="651510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Now that we know how requests look, we can map every pipeline stage to a small set of endpoints.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388620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AppView (public 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Hydrated views: feeds, starter packs, posts, and profiles.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063240"/>
            <a:ext cx="4937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246120"/>
            <a:ext cx="4572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app.bsky.feed.getActorFeeds  → list feeds created by an actor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app.bsky.graph.getStarterPack / getActorStarterPacks  → unpack discovery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app.bsky.unspecced.getPopularFeedGenerators  → popular ranking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app.bsky.feed.getFeedGenerators  → metadata hydration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  → the ranked feed snapshot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app.bsky.actor.getProfiles  → author stats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host: https://public.api.bsky.app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35705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Where our data comes from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35705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network services + an optional authenticated viewer context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271455" y="384048"/>
            <ns1:ext cx="137160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271455" y="420624"/>
            <ns1:ext cx="1371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+ B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6095848" y="1508760"/>
            <ns1:ext cx="0" cy="4754880"/>
          </ns1:xfrm>
          <ns1:prstGeom prst="line">
            <ns1:avLst/>
          </ns1:prstGeom>
          <ns1:noFill/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822960" y="1508760"/>
            <ns1:ext cx="4050792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9" name="Text 7"/>
          <ns0:cNvSpPr/>
          <ns0:nvPr/>
        </ns0:nvSpPr>
        <ns0:spPr>
          <ns1:xfrm>
            <ns1:off x="822960" y="1554480"/>
            <ns1:ext cx="405079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Relay (network index)</ns1:t>
            </ns1:r>
            <ns1:endParaRPr lang="en-US" sz="12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1965960"/>
            <ns1:ext cx="52120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What it’s good for</ns1:t>
            </ns1:r>
            <ns1:endParaRPr lang="en-US" sz="18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822960" y="2267712"/>
            <ns1:ext cx="5212080" cy="7315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Quickly enumerate accounts that contain specific record types.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use it to discover:</ns1:t>
            </ns1:r>
            <ns1:endParaRPr lang="en-US" sz="14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822960" y="3063240"/>
            <ns1:ext cx="5212080" cy="12344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51560" y="31821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Feed generator creators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51560" y="3493008"/>
            <ns1:ext cx="475488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com.atproto.sync.listReposByCollection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collection = app.bsky.feed.generator</ns1:t>
            </ns1:r>
            <ns1:endParaRPr lang="en-US" sz="12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22960" y="4434840"/>
            <ns1:ext cx="5212080" cy="12344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1051560" y="4553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Starter pack creators</ns1:t>
            </ns1:r>
            <ns1:endParaRPr lang="en-US" sz="160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1051560" y="4864608"/>
            <ns1:ext cx="475488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com.atproto.sync.listReposByCollection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collection = app.bsky.graph.starterpack</ns1:t>
            </ns1:r>
            <ns1:endParaRPr lang="en-US" sz="125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446520" y="1508760"/>
            <ns1:ext cx="3886200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6446520" y="1554480"/>
            <ns1:ext cx="3886200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AppView (public API)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6446520" y="196596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What it’s good for</ns1:t>
            </ns1:r>
            <ns1:endParaRPr lang="en-US" sz="18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6446520" y="2267712"/>
            <ns1:ext cx="4937760" cy="7315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Hydrated views: feeds, starter packs, posts, and profiles.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use it to:</ns1:t>
            </ns1:r>
            <ns1:endParaRPr lang="en-US" sz="14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6446520" y="3063240"/>
            <ns1:ext cx="4937760" cy="26060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6675120" y="3246120"/>
            <ns1:ext cx="4572000" cy="22402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app.bsky.feed.getActorFeeds  → list feeds created by an actor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app.bsky.graph.getStarterPack / getActorStarterPacks  → unpack discovery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app.bsky.unspecced.getPopularFeedGenerators  → popular ranking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app.bsky.feed.getFeedGenerators  → metadata hydration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app.bsky.feed.getFeed  → the ranked feed snapshot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app.bsky.actor.getProfiles  → author stats</ns1:t>
            </ns1:r>
            <ns1:endParaRPr lang="en-US" sz="125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6675120" y="5559552"/>
            <ns1:ext cx="45720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Public host: https://public.api.bsky.app</ns1:t>
            </ns1:r>
            <ns1:endParaRPr lang="en-US" sz="12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6446520" y="5989320"/>
            <ns1:ext cx="6355080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6446520" y="6035040"/>
            <ns1:ext cx="6355080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Optional: authenticated viewer mode</ns1:t>
            </ns1:r>
            <ns1:endParaRPr lang="en-US" sz="12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822960" y="5989320"/>
            <ns1:ext cx="521208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Why we do this</ns1:t>
            </ns1:r>
            <ns1:endParaRPr lang="en-US" sz="1600" dirty="0"/>
          </ns1:p>
        </ns0:txBody>
      </ns0:sp>
      <ns0:sp>
        <ns0:nvSpPr>
          <ns0:cNvPr id="28" name="Text 26"/>
          <ns0:cNvSpPr/>
          <ns0:nvPr/>
        </ns0:nvSpPr>
        <ns0:spPr>
          <ns1:xfrm>
            <ns1:off x="822960" y="6309360"/>
            <ns1:ext cx="521208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Some feeds personalize ranking for a logged-in viewer.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snapshot feeds twice: unauth + auth (when available).</ns1:t>
            </ns1:r>
            <ns1:endParaRPr lang="en-US" sz="12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594360" y="6629400"/>
            <ns1:ext cx="11002975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In every case, we only read data (GET). Authentication is used only to view feeds as a logged-in user.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2971800"/>
            <a:ext cx="5989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every feed snapshot we store…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46520" y="357530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Ranked impressions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375818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→ (rank, post URI, reason)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46520" y="416966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metadata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675120" y="435254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embeds, counts, timestamps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46520" y="47640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4709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profiles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75120" y="494690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followers / posts counts, display name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46520" y="535838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5303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75120" y="554126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labels attached to posts or authors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790956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09244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275320" y="384048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27532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827532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authors + export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827532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+ CSV datasets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113385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Catalog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feed generator (URI + metadata).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becomes the backbone for all later stages.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4572000"/>
            <a:ext cx="2194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473659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501091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528523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555955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5833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113385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Discovery-surfac​ed feeds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681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feed URIs that appear inside starter packs, plus an inclusion count.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(Used later to prioritize discovery exposure.)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5230368"/>
            <a:ext cx="23774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5321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3703320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" y="3611880"/>
            <a:ext cx="36576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40416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app.bsky.unspecced.getPopularFeedGenerators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Returns: (feed URI, metadata) in ranked order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06440" y="3611880"/>
            <a:ext cx="6355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Output: Popular feed list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80760" y="4160520"/>
            <a:ext cx="5806440" cy="1325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4270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4315968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45628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4608576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48554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92240" y="4901184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51480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92240" y="5193792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Enriched feed catalog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each feed has the metadata we need for sampling and reporting (e.g., provider / service identity).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81160" y="3977640"/>
            <a:ext cx="27432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640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panel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4640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fixed set of feeds we snapshot.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464040" y="4983480"/>
            <a:ext cx="2075688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64040" y="50292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panel.csv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ns0:sld xmlns:ns0="http://schemas.openxmlformats.org/presentationml/2006/main" xmlns:ns1="http://schemas.openxmlformats.org/drawingml/2006/main">
  <ns0:cSld name="Slide 3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39.xml><?xml version="1.0" encoding="utf-8"?>
<ns0:sld xmlns:ns0="http://schemas.openxmlformats.org/presentationml/2006/main" xmlns:ns1="http://schemas.openxmlformats.org/drawingml/2006/main">
  <ns0:cSld name="Slide 3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2960" y="3794760"/>
            <ns1:ext cx="11338560" cy="114300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391363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API call (AppView)</ns1:t>
            </ns1:r>
            <ns1:endParaRPr lang="en-US" sz="16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97280" y="4224528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app.bsky.feed.getFeed</ns1:t>
            </ns1:r>
            <ns1:endParaRPr lang="en-US" sz="13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4846320" y="4078224"/>
            <ns1:ext cx="713232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Parameters: feed, limit, cursor (paged until we collect N posts)</ns1:t>
            </ns1:r>
            <ns1:endParaRPr lang="en-US" sz="1300" dirty="0"/>
          </ns1:p>
        </ns0:txBody>
      </ns0:sp>
      <ns0:sp>
        <ns0:nvSpPr>
          <ns0:cNvPr id="25" name="Text 23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40.xml><?xml version="1.0" encoding="utf-8"?>
<ns0:sld xmlns:ns0="http://schemas.openxmlformats.org/presentationml/2006/main" xmlns:ns1="http://schemas.openxmlformats.org/drawingml/2006/main">
  <ns0:cSld name="Slide 4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2960" y="3794760"/>
            <ns1:ext cx="11338560" cy="114300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391363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API call (AppView)</ns1:t>
            </ns1:r>
            <ns1:endParaRPr lang="en-US" sz="16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97280" y="4224528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app.bsky.feed.getFeed</ns1:t>
            </ns1:r>
            <ns1:endParaRPr lang="en-US" sz="13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4846320" y="4078224"/>
            <ns1:ext cx="713232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Parameters: feed, limit, cursor (paged until we collect N posts)</ns1:t>
            </ns1:r>
            <ns1:endParaRPr lang="en-US" sz="13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822960" y="5074920"/>
            <ns1:ext cx="4873752" cy="329184"/>
          </ns1:xfrm>
          <ns1:prstGeom prst="roundRect">
            <ns1:avLst/>
          </ns1:prstGeom>
          <ns1:solidFill>
            <ns1:srgbClr val="22C55E"/>
          </ns1:solidFill>
          <ns1:ln w="12700">
            <ns1:solidFill>
              <ns1:srgbClr val="22C55E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822960" y="5120640"/>
            <ns1:ext cx="487375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Output: ranked impressions</ns1:t>
            </ns1:r>
            <ns1:endParaRPr lang="en-US" sz="12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822960" y="5486400"/>
            <ns1:ext cx="11338560" cy="960120"/>
          </ns1:xfrm>
          <ns1:prstGeom prst="roundRect">
            <ns1:avLst/>
          </ns1:prstGeom>
          <ns1:solidFill>
            <ns1:srgbClr val="FFFFFF"/>
          </ns1:solidFill>
          <ns1:ln w="25400">
            <ns1:solidFill>
              <ns1:srgbClr val="22C55E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109728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123444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#1</ns1:t>
            </ns1:r>
            <ns1:endParaRPr lang="en-US" sz="14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164592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1645920" y="598103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324612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33" name="Text 31"/>
          <ns0:cNvSpPr/>
          <ns0:nvPr/>
        </ns0:nvSpPr>
        <ns0:spPr>
          <ns1:xfrm>
            <ns1:off x="338328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#2</ns1:t>
            </ns1:r>
            <ns1:endParaRPr lang="en-US" sz="14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379476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5" name="Text 33"/>
          <ns0:cNvSpPr/>
          <ns0:nvPr/>
        </ns0:nvSpPr>
        <ns0:spPr>
          <ns1:xfrm>
            <ns1:off x="3794760" y="598103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539496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553212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#3</ns1:t>
            </ns1:r>
            <ns1:endParaRPr lang="en-US" sz="140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594360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9" name="Text 37"/>
          <ns0:cNvSpPr/>
          <ns0:nvPr/>
        </ns0:nvSpPr>
        <ns0:spPr>
          <ns1:xfrm>
            <ns1:off x="5943600" y="598103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0" name="Shape 38"/>
          <ns0:cNvSpPr/>
          <ns0:nvPr/>
        </ns0:nvSpPr>
        <ns0:spPr>
          <ns1:xfrm>
            <ns1:off x="754380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41" name="Text 39"/>
          <ns0:cNvSpPr/>
          <ns0:nvPr/>
        </ns0:nvSpPr>
        <ns0:spPr>
          <ns1:xfrm>
            <ns1:off x="768096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#4</ns1:t>
            </ns1:r>
            <ns1:endParaRPr lang="en-US" sz="14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809244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43" name="Text 41"/>
          <ns0:cNvSpPr/>
          <ns0:nvPr/>
        </ns0:nvSpPr>
        <ns0:spPr>
          <ns1:xfrm>
            <ns1:off x="8092440" y="598103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4" name="Shape 42"/>
          <ns0:cNvSpPr/>
          <ns0:nvPr/>
        </ns0:nvSpPr>
        <ns0:spPr>
          <ns1:xfrm>
            <ns1:off x="969264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45" name="Text 43"/>
          <ns0:cNvSpPr/>
          <ns0:nvPr/>
        </ns0:nvSpPr>
        <ns0:spPr>
          <ns1:xfrm>
            <ns1:off x="982980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#5</ns1:t>
            </ns1:r>
            <ns1:endParaRPr lang="en-US" sz="140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1024128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47" name="Text 45"/>
          <ns0:cNvSpPr/>
          <ns0:nvPr/>
        </ns0:nvSpPr>
        <ns0:spPr>
          <ns1:xfrm>
            <ns1:off x="10241280" y="598103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8" name="Text 46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4023360"/>
            <a:ext cx="128016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206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status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85632" y="46634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(feed, viewer mode):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collected_at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item 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flag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table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every impression can be joined to author stats for analysis.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412480" y="1783080"/>
            <a:ext cx="3749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4108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41080" y="2212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snapshot is reproducible, auditable, and easy to analyze.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open APIs → to a clean, resumable snapshot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487168"/>
            <a:ext cx="3063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(index) + AppView (hydrated views)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optional authenticated viewer mode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487168"/>
            <a:ext cx="3063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hydrate authors → export tables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75320" y="2487168"/>
            <a:ext cx="3063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 + posts + labels + authors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(with stable CSV schemas)</a:t>
            </a:r>
            <a:endParaRPr lang="en-US" sz="1350" dirty="0"/>
          </a:p>
        </p:txBody>
      </p:sp>
      <p:pic>
        <p:nvPicPr>
          <p:cNvPr id="1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1418"/>
            <a:ext cx="1280160" cy="115740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Q&amp;A-ready: each stage maps cleanly to a small set of public HTTP endpoints.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2026-02-03T19:39:58Z</dcterms:created>
  <dcterms:modified xsi:type="dcterms:W3CDTF">2026-02-03T19:39:58Z</dcterms:modified>
</cp:coreProperties>
</file>