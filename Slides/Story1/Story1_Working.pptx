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5"/>
    <p:sldId id="269" r:id="rId15"/>
    <p:sldId id="273" r:id="rId19"/>
    <p:sldId id="274" r:id="rId25"/>
    <p:sldId id="275" r:id="rId26"/>
    <p:sldId id="276" r:id="rId27"/>
    <p:sldId id="258" r:id="rId4"/>
    <p:sldId id="268" r:id="rId14"/>
    <p:sldId id="270" r:id="rId1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0" r:id="rId6"/>
    <p:sldId id="277" r:id="rId28"/>
    <p:sldId id="278" r:id="rId29"/>
    <p:sldId id="271" r:id="rId17"/>
    <p:sldId id="279" r:id="rId30"/>
    <p:sldId id="280" r:id="rId31"/>
    <p:sldId id="281" r:id="rId32"/>
    <p:sldId id="272" r:id="rId18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9.xml"/><Relationship Id="rId5" Type="http://schemas.openxmlformats.org/officeDocument/2006/relationships/slide" Target="slides/slide3.xml"/><Relationship Id="rId6" Type="http://schemas.openxmlformats.org/officeDocument/2006/relationships/slide" Target="slides/slide19.xml"/><Relationship Id="rId7" Type="http://schemas.openxmlformats.org/officeDocument/2006/relationships/slide" Target="slides/slide12.xml"/><Relationship Id="rId8" Type="http://schemas.openxmlformats.org/officeDocument/2006/relationships/slide" Target="slides/slide13.xml"/><Relationship Id="rId9" Type="http://schemas.openxmlformats.org/officeDocument/2006/relationships/slide" Target="slides/slide14.xml"/><Relationship Id="rId10" Type="http://schemas.openxmlformats.org/officeDocument/2006/relationships/slide" Target="slides/slide15.xml"/><Relationship Id="rId11" Type="http://schemas.openxmlformats.org/officeDocument/2006/relationships/slide" Target="slides/slide16.xml"/><Relationship Id="rId12" Type="http://schemas.openxmlformats.org/officeDocument/2006/relationships/slide" Target="slides/slide17.xml"/><Relationship Id="rId13" Type="http://schemas.openxmlformats.org/officeDocument/2006/relationships/slide" Target="slides/slide18.xml"/><Relationship Id="rId14" Type="http://schemas.openxmlformats.org/officeDocument/2006/relationships/slide" Target="slides/slide10.xml"/><Relationship Id="rId15" Type="http://schemas.openxmlformats.org/officeDocument/2006/relationships/slide" Target="slides/slide4.xml"/><Relationship Id="rId16" Type="http://schemas.openxmlformats.org/officeDocument/2006/relationships/slide" Target="slides/slide11.xml"/><Relationship Id="rId17" Type="http://schemas.openxmlformats.org/officeDocument/2006/relationships/slide" Target="slides/slide22.xml"/><Relationship Id="rId18" Type="http://schemas.openxmlformats.org/officeDocument/2006/relationships/slide" Target="slides/slide26.xml"/><Relationship Id="rId19" Type="http://schemas.openxmlformats.org/officeDocument/2006/relationships/slide" Target="slides/slide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Relationship Id="rId7" Type="http://schemas.openxmlformats.org/officeDocument/2006/relationships/image" Target="../media/image1.png"/><Relationship Id="rId8" Type="http://schemas.openxmlformats.org/officeDocument/2006/relationships/image" Target="../media/image5.png"/><Relationship Id="rId9" Type="http://schemas.openxmlformats.org/officeDocument/2006/relationships/image" Target="../media/image7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Relationship Id="rId6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Relationship Id="rId6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" name="Picture 32" descr="icon_king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720" y="3657600"/>
            <a:ext cx="2743200" cy="2743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Algorithmic Choice in Bluesky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Responsible ranking + security in an open feed ecosystem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Measured: discovery → panel → 600,651 ranked impressions (Feb 1-2, 2026)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queen_or_rook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720" y="3657600"/>
            <a:ext cx="2743200" cy="2743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Algorithmic choice ≠ decentralized power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Feeds + labelers turn ranking/moderation into a marketplace.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Discovery + hosting create chokepoints + new attack surfaces.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Thesis: pluralism shifts power to discovery + infrastructure.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Picture 183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85" name="Picture 184" descr="icon_chessboard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4297680" cy="42976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Bluesky’s open feed ecosystem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Ranking + moderation become third-party services (a marketplace).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2011680" cy="1097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6E6E6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30906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Client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9184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 + popular lists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generators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03504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Third-party ranking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326880" y="2377440"/>
            <a:ext cx="2011680" cy="2011680"/>
          </a:xfrm>
          <a:prstGeom prst="ellipse">
            <a:avLst/>
          </a:prstGeom>
          <a:solidFill>
            <a:srgbClr val="000000">
              <a:alpha val="18000"/>
            </a:srgbClr>
          </a:solidFill>
          <a:ln w="12700">
            <a:solidFill>
              <a:srgbClr val="FF5D9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0" y="29718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Labelers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05256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Safety labels + actions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9436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641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Chokepoints emerge where users find feeds + who hosts them.  [ICWSM’24 10.1609/icwsm.v18i1.31293]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2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42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3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82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 descr="bg_blueprint_over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is measurable (not anecdotes)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 + popular feeds are explicit lists that seed attention.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5778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20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 (onboarding bundles)</a:t>
            </a:r>
            <a:endParaRPr lang="en-US" sz="2200" dirty="0"/>
          </a:p>
        </p:txBody>
      </p:sp>
      <p:pic>
        <p:nvPicPr>
          <p:cNvPr id="6" name="Image 0" descr="/tmp/bsky_pptx_receipts_20260201/starterpack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5029200" cy="1173480"/>
          </a:xfrm>
          <a:prstGeom prst="rect">
            <a:avLst/>
          </a:prstGeom>
        </p:spPr>
      </p:pic>
      <p:pic>
        <p:nvPicPr>
          <p:cNvPr id="7" name="Image 1" descr="/tmp/bsky_pptx_receipts_20260201/starterpack_inclusion_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688080"/>
            <a:ext cx="502920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1783080"/>
            <a:ext cx="475488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6858000" y="19202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 feeds (in-app list)</a:t>
            </a:r>
            <a:endParaRPr lang="en-US" sz="2200" dirty="0"/>
          </a:p>
        </p:txBody>
      </p:sp>
      <p:pic>
        <p:nvPicPr>
          <p:cNvPr id="10" name="Image 2" descr="/tmp/bsky_pptx_receipts_20260201/popular_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331720"/>
            <a:ext cx="4206240" cy="9113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These surfaces seed attention → panel sampling.  [ICWSM’25 10.1609/icwsm.v19i1.35810]</a:t>
            </a:r>
            <a:endParaRPr lang="en-US" sz="1600" dirty="0"/>
          </a:p>
        </p:txBody>
      </p:sp>
      <p:pic>
        <p:nvPicPr>
          <p:cNvPr id="94" name="Picture 93" descr="icon_pa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011680"/>
            <a:ext cx="502920" cy="502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Picture 197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we measured (H1-H6)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→ provider leverage → exposure → overlap → rich-get-richer → safety labels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H1  Discovery concentration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a few feeds dominate starter-pack inclusion?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1772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H2  Provider leverage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Which providers get outsized discovery?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0" y="192024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83880" y="21031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H3  Exposure concentration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83880" y="25146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How concentrated is exposure?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H4  Feed overlap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feeds show the same posts?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429000"/>
            <a:ext cx="3337560" cy="1280160"/>
          </a:xfrm>
          <a:prstGeom prst="rect">
            <a:avLst/>
          </a:prstGeom>
          <a:solidFill>
            <a:srgbClr val="000000">
              <a:alpha val="20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17720" y="3611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H5  Exposure vs author size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40233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Do larger authors get outsized exposure?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63093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H6 Risk exposure variability (labels)</a:t>
            </a:r>
            <a:endParaRPr lang="en-US" sz="1800" dirty="0"/>
          </a:p>
        </p:txBody>
      </p:sp>
      <p:pic>
        <p:nvPicPr>
          <p:cNvPr id="199" name="Picture 198" descr="icon_pa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2103120"/>
            <a:ext cx="457200" cy="457200"/>
          </a:xfrm>
          <a:prstGeom prst="rect">
            <a:avLst/>
          </a:prstGeom>
        </p:spPr>
      </p:pic>
      <p:pic>
        <p:nvPicPr>
          <p:cNvPr id="200" name="Picture 199" descr="icon_rook_or_bish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103120"/>
            <a:ext cx="457200" cy="457200"/>
          </a:xfrm>
          <a:prstGeom prst="rect">
            <a:avLst/>
          </a:prstGeom>
        </p:spPr>
      </p:pic>
      <p:pic>
        <p:nvPicPr>
          <p:cNvPr id="201" name="Picture 200" descr="icon_kn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0" y="2103120"/>
            <a:ext cx="457200" cy="457200"/>
          </a:xfrm>
          <a:prstGeom prst="rect">
            <a:avLst/>
          </a:prstGeom>
        </p:spPr>
      </p:pic>
      <p:pic>
        <p:nvPicPr>
          <p:cNvPr id="202" name="Picture 201" descr="icon_chess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611880"/>
            <a:ext cx="457200" cy="457200"/>
          </a:xfrm>
          <a:prstGeom prst="rect">
            <a:avLst/>
          </a:prstGeom>
        </p:spPr>
      </p:pic>
      <p:pic>
        <p:nvPicPr>
          <p:cNvPr id="203" name="Picture 202" descr="icon_queen_or_r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3611880"/>
            <a:ext cx="457200" cy="457200"/>
          </a:xfrm>
          <a:prstGeom prst="rect">
            <a:avLst/>
          </a:prstGeom>
        </p:spPr>
      </p:pic>
      <p:pic>
        <p:nvPicPr>
          <p:cNvPr id="204" name="Picture 203" descr="icon_king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92840" y="6355080"/>
            <a:ext cx="411480" cy="411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47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92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37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282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pawn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20" y="3749039"/>
            <a:ext cx="2743200" cy="2743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Problem: responsible ranking meets open markets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Users choose algorithms - but discovery chooses defaults.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Responsible ranking needs: security, fairness, safety, accountability.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knight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20" y="3749039"/>
            <a:ext cx="2743200" cy="2743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Threat model: marketplace adversaries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Malicious feeds/rankers can steer exposure or surface explicit content.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Growth gaming + label gaps enable evasion, bias, and targeting.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[NDSS’21 10.14722/ndss.2021.24525; USENIX Sec’23 10.5555/3620237.3620333]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chessboard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20" y="3749039"/>
            <a:ext cx="2743200" cy="2743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Our contributions (S&amp;P tone)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Threat model for ranking+moderation marketplaces.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Reproducible measurement + evidence + mitigations (H1-H6).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Picture 387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9" name="Picture 388" descr="icon_rook_or_bishop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160" y="3840480"/>
            <a:ext cx="2560320" cy="25603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Methods credibility (read-only snapshot)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→ fixed panel → ranked impressions → joinable tables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8872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Relay scan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Enumerate candidate actors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9476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 index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9476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Hydrate feed generators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792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0080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5D9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Starter packs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Extract discovery signals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23960" y="1828800"/>
            <a:ext cx="2377440" cy="1371600"/>
          </a:xfrm>
          <a:prstGeom prst="rect">
            <a:avLst/>
          </a:prstGeom>
          <a:solidFill>
            <a:srgbClr val="000000">
              <a:alpha val="18000"/>
            </a:srgbClr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06840" y="1965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46920" y="1965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006840" y="2450592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 ranking surface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noFill/>
          <a:xfrm>
            <a:off x="1188720" y="3657600"/>
            <a:ext cx="3108960" cy="1371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noFill/>
          <a:xfrm>
            <a:off x="1371600" y="3794760"/>
            <a:ext cx="548640" cy="41148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noFill/>
          <a:xfrm>
            <a:off x="2011680" y="3794760"/>
            <a:ext cx="2103120" cy="41148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noFill/>
          <a:xfrm>
            <a:off x="1371600" y="4279392"/>
            <a:ext cx="2743200" cy="658368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noFill/>
          <a:xfrm>
            <a:off x="4526280" y="3657600"/>
            <a:ext cx="3108960" cy="1371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noFill/>
          <a:xfrm>
            <a:off x="4709160" y="3794760"/>
            <a:ext cx="548640" cy="41148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noFill/>
          <a:xfrm>
            <a:off x="5349240" y="3794760"/>
            <a:ext cx="2103120" cy="41148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noFill/>
          <a:xfrm>
            <a:off x="4709160" y="4279392"/>
            <a:ext cx="2743200" cy="658368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noFill/>
          <a:xfrm>
            <a:off x="7863840" y="3657600"/>
            <a:ext cx="3108960" cy="1371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noFill/>
          <a:xfrm>
            <a:off x="8046720" y="3794760"/>
            <a:ext cx="548640" cy="41148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noFill/>
          <a:xfrm>
            <a:off x="8686800" y="3794760"/>
            <a:ext cx="2103120" cy="41148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noFill/>
          <a:xfrm>
            <a:off x="8046720" y="4279392"/>
            <a:ext cx="2743200" cy="658368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40614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01218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618220" y="233172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→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noFill/>
          <a:xfrm>
            <a:off x="4320540" y="4160520"/>
            <a:ext cx="18288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noFill/>
          <a:xfrm>
            <a:off x="7658100" y="4160520"/>
            <a:ext cx="18288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noFill/>
          <a:xfrm>
            <a:off x="10698480" y="3246120"/>
            <a:ext cx="365760" cy="3657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822960" y="63093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Read-only XRPC to Relay/AppView (only POST is session auth/refresh).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8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3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3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3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3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107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530"/>
                            </p:stCondLst>
                            <p:childTnLst>
                              <p:par>
                                <p:cTn id="2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93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3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39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79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3250"/>
                            </p:stCondLst>
                            <p:childTnLst>
                              <p:par>
                                <p:cTn id="2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365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3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11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4510"/>
                            </p:stCondLst>
                            <p:childTnLst>
                              <p:par>
                                <p:cTn id="32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4970"/>
                            </p:stCondLst>
                            <p:childTnLst>
                              <p:par>
                                <p:cTn id="3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537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3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830"/>
                            </p:stCondLst>
                            <p:childTnLst>
                              <p:par>
                                <p:cTn id="3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6230"/>
                            </p:stCondLst>
                            <p:childTnLst>
                              <p:par>
                                <p:cTn id="37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3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201" descr="bg_blueprint_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3" name="Picture 202" descr="icon_chessboard_w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160" y="3840480"/>
            <a:ext cx="2560320" cy="25603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The run behind this story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39496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 settings (minimal)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viewer: unauth (public AppView)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window: 2026-02-01T09:04:54Z → 2026-02-02T08:23:24Z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9806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run_id: 88b597ae…bd1967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46320" cy="173736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Anchors (2 numbers)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21488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Panel size: 6,000 feeds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66560" y="2651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Captured: 600,651 ranked impressions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10515600" cy="23317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Every stage leaves a trace (exports)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generator index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4348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Starter packs + inclusions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47548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Popular feed list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50749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panel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Ranked impressions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7150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Posts (metadata) + authors</a:t>
            </a:r>
            <a:endParaRPr lang="en-US" sz="1600" dirty="0"/>
          </a:p>
        </p:txBody>
      </p:sp>
      <p:pic>
        <p:nvPicPr>
          <p:cNvPr id="20" name="Image 0" descr="/tmp/bsky_pptx_receipts_20260201/feed_index_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886200"/>
            <a:ext cx="4389120" cy="95097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2084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Keys line up: feed_uri / post_cid / author_did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Picture 140" descr="bg_blueprint_overla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Adversary playbook: 4 ways markets get gamed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Market incentives create predictable attack patterns.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 tIns="502920" lIns="320040"/>
          <a:lstStyle/>
          <a:p>
            <a:pPr indent="0" marL="0">
              <a:buNone/>
            </a:pPr>
            <a:r>
              <a:t>Capture/poison starter packs + popular lists.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17920" y="18288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 tIns="502920" lIns="320040"/>
          <a:lstStyle/>
          <a:p>
            <a:pPr indent="0" marL="0">
              <a:buNone/>
            </a:pPr>
            <a:r>
              <a:t>Sybil + engagement pumps to climb ranks.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 tIns="502920" lIns="320040"/>
          <a:lstStyle/>
          <a:p>
            <a:pPr indent="0" marL="0">
              <a:buNone/>
            </a:pPr>
            <a:r>
              <a:t>3rd-party policies steer exposure by design.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7920" y="4343400"/>
            <a:ext cx="5120640" cy="224028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 tIns="502920" lIns="320040"/>
          <a:lstStyle/>
          <a:p>
            <a:pPr indent="0" marL="0">
              <a:buNone/>
            </a:pPr>
            <a:r>
              <a:t>Coverage gaps + inconsistent semantics.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Discovery poisoning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Growth gaming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Malicious rankers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4480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Label gaps/evasion</a:t>
            </a:r>
            <a:endParaRPr lang="en-US" sz="1800" dirty="0"/>
          </a:p>
        </p:txBody>
      </p:sp>
      <p:pic>
        <p:nvPicPr>
          <p:cNvPr id="12" name="Image 0" descr="/tmp/bsky_pptx_receipts_20260201/panel_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" y="2331720"/>
            <a:ext cx="4663440" cy="1165860"/>
          </a:xfrm>
          <a:prstGeom prst="rect">
            <a:avLst/>
          </a:prstGeom>
        </p:spPr>
      </p:pic>
      <p:pic>
        <p:nvPicPr>
          <p:cNvPr id="13" name="Image 1" descr="/tmp/bsky_pptx_receipts_20260201/impression_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331720"/>
            <a:ext cx="4663440" cy="1165860"/>
          </a:xfrm>
          <a:prstGeom prst="rect">
            <a:avLst/>
          </a:prstGeom>
        </p:spPr>
      </p:pic>
      <p:pic>
        <p:nvPicPr>
          <p:cNvPr id="14" name="Image 2" descr="/tmp/bsky_pptx_receipts_20260201/post_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1560" y="4846320"/>
            <a:ext cx="4663440" cy="1132550"/>
          </a:xfrm>
          <a:prstGeom prst="rect">
            <a:avLst/>
          </a:prstGeom>
        </p:spPr>
      </p:pic>
      <p:pic>
        <p:nvPicPr>
          <p:cNvPr id="15" name="Image 3" descr="/tmp/bsky_pptx_receipts_20260201/author_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4846320"/>
            <a:ext cx="4663440" cy="10881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noFill/>
          <a:xfrm>
            <a:off x="3429000" y="3977640"/>
            <a:ext cx="457200" cy="3657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3400" dirty="0"/>
          </a:p>
        </p:txBody>
      </p:sp>
      <p:sp>
        <p:nvSpPr>
          <p:cNvPr id="17" name="Text 11"/>
          <p:cNvSpPr/>
          <p:nvPr/>
        </p:nvSpPr>
        <p:spPr>
          <a:noFill/>
          <a:xfrm>
            <a:off x="8823960" y="3977640"/>
            <a:ext cx="457200" cy="3657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3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H1 - Discovery slots are concentrated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Top 1% share of starter-pack slots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691640"/>
            <a:ext cx="3246120" cy="4114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5D9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61%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noFill/>
          <a:xfrm>
            <a:off x="8046720" y="306324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noFill/>
          <a:xfrm>
            <a:off x="8046720" y="3319272"/>
            <a:ext cx="3063240" cy="8229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Defaults become gatekeepers → cheaper discovery capture.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noFill/>
          <a:xfrm>
            <a:off x="8046720" y="434340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noFill/>
          <a:xfrm>
            <a:off x="8046720" y="4599432"/>
            <a:ext cx="3063240" cy="12344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[ICWSM’25 10.1609/icwsm.v19i1.35810]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H2 - Discovery creates provider leverage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Max leverage: discovery share vs hosting footprint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691640"/>
            <a:ext cx="3246120" cy="4114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×801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noFill/>
          <a:xfrm>
            <a:off x="8046720" y="306324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noFill/>
          <a:xfrm>
            <a:off x="8046720" y="3319272"/>
            <a:ext cx="3063240" cy="8229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Hosting chokepoints become targets → ecosystem-wide risk.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noFill/>
          <a:xfrm>
            <a:off x="8046720" y="434340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noFill/>
          <a:xfrm>
            <a:off x="8046720" y="4599432"/>
            <a:ext cx="3063240" cy="12344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H3 - Exposure is concentrated among authors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Top 10% of authors get this share of impressions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691640"/>
            <a:ext cx="3246120" cy="4114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A855F7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53%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noFill/>
          <a:xfrm>
            <a:off x="8046720" y="306324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noFill/>
          <a:xfrm>
            <a:off x="8046720" y="3319272"/>
            <a:ext cx="3063240" cy="8229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Concentrated exposure lowers manipulation/targeting cost.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noFill/>
          <a:xfrm>
            <a:off x="8046720" y="434340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D9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noFill/>
          <a:xfrm>
            <a:off x="8046720" y="4599432"/>
            <a:ext cx="3063240" cy="12344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H4 - Many feeds show the same posts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Share of impressions for posts in ≥2 feeds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691640"/>
            <a:ext cx="3246120" cy="4114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59E0B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27%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noFill/>
          <a:xfrm>
            <a:off x="8046720" y="306324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noFill/>
          <a:xfrm>
            <a:off x="8046720" y="3319272"/>
            <a:ext cx="3063240" cy="8229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Overlap amplifies winners → pluralism without diversity.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noFill/>
          <a:xfrm>
            <a:off x="8046720" y="434340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noFill/>
          <a:xfrm>
            <a:off x="8046720" y="4599432"/>
            <a:ext cx="3063240" cy="12344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H5 - Bigger accounts get outsized exposure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Top follower decile gets this share of impressions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691640"/>
            <a:ext cx="3246120" cy="4114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2C55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21%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noFill/>
          <a:xfrm>
            <a:off x="8046720" y="306324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noFill/>
          <a:xfrm>
            <a:off x="8046720" y="3319272"/>
            <a:ext cx="3063240" cy="8229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Popularity bias reappears → unfair + gameable outcomes.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noFill/>
          <a:xfrm>
            <a:off x="8046720" y="434340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noFill/>
          <a:xfrm>
            <a:off x="8046720" y="4599432"/>
            <a:ext cx="3063240" cy="12344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[KDD’21 10.1145/3447548.3467376]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H6 - Safety label exposure varies by feed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Feeds (≥100 impressions) with any adult labels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31520" cy="73152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955280" y="1691640"/>
            <a:ext cx="3246120" cy="41148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5D9E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39%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noFill/>
          <a:xfrm>
            <a:off x="8046720" y="306324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noFill/>
          <a:xfrm>
            <a:off x="8046720" y="3319272"/>
            <a:ext cx="3063240" cy="82296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Safety boundaries depend on feed choice → uneven risk.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noFill/>
          <a:xfrm>
            <a:off x="8046720" y="4343400"/>
            <a:ext cx="3063240" cy="22860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noFill/>
          <a:xfrm>
            <a:off x="8046720" y="4599432"/>
            <a:ext cx="3063240" cy="12344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[NAACL’22 10.18653/v1/2022.naacl-main.431]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2" name="Picture 131" descr="icon_rook_or_bishop_w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0160" y="3749039"/>
            <a:ext cx="2560320" cy="25603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Security implications: a new attack surface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818120" y="1554480"/>
            <a:ext cx="3520440" cy="4389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Concentrated discovery reduces attack cost.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0" y="18288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0" y="208483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3rd-party rankers can be adversarial → marketplace-wide audit + guardrails.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30632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0" y="3319272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noFill/>
          <a:xfrm>
            <a:off x="914400" y="2788920"/>
            <a:ext cx="64922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0" y="434340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/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599432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626364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[NDSS’21 10.14722/ndss.2021.24525; CCS’21 10.1145/3460120.3484770]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1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2" name="Picture 131" descr="icon_satellite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8720" y="3749039"/>
            <a:ext cx="2651760" cy="26517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Privacy: third-party services can profile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Request patterns + outputs can reveal preferences and identity.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1430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5840" y="21214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GET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737360" y="2121408"/>
            <a:ext cx="9326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https://…/xrpc/app.bsky.feed.getFeed?feed=at://…&amp;cursor=…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5486400" cy="23774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a service sees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IP + timing + feed URI (and viewer DID if auth)
• repeated queries + outputs reveal preferences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3337560"/>
            <a:ext cx="4800600" cy="23774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12280" y="34747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12280" y="388620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profiling / tracking + output leakage
• cross-service linkage risk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63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[CCS’21 10.1145/3460120.3484770]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8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2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42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fragile_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960" y="3566160"/>
            <a:ext cx="2926080" cy="29260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Implication: decentralized moderation is fragile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Label semantics are subjective → disagreement across labelers.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Feed choice can bypass/amplify safety boundaries (coverage gaps + bias).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[NAACL’22 10.18653/v1/2022.naacl-main.431; Findings ACL’22 10.18653/v1/2022.findings-acl.176]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pawn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0160" y="3749039"/>
            <a:ext cx="2560320" cy="25603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Mitigation: discovery transparency + diversification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Publish logs for starter packs + popular lists.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Diversify defaults + detect manipulation (growth + overlap spikes).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Picture 246" descr="bg_blueprin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48" name="Picture 247" descr="icon_chessboard_w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160" y="3749039"/>
            <a:ext cx="2560320" cy="25603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Mitigation: auditable feed marketplace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Logs + reproducible snapshots enable accountability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7498080" cy="19202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Add audit hooks around discovery, ranking, and labelers.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Expose stable identities + policies so clients can warn and researchers can audit.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Transparency logs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118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118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Audit APIs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154680"/>
            <a:ext cx="2194560" cy="457200"/>
          </a:xfrm>
          <a:prstGeom prst="rect">
            <a:avLst/>
          </a:prstGeom>
          <a:solidFill>
            <a:srgbClr val="000000">
              <a:alpha val="22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26480" y="322783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Reproducible snapshots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49640" y="1828800"/>
            <a:ext cx="2788920" cy="146304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FF5D9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778240" y="1965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78240" y="23317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Choice only helps if users can compare risk, diversity, and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10515600" cy="205740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22C55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What to disclose (minimal)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52628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provider identity + hosting footprint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782312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discovery surfaces (who promoted what)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038344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ranking output summaries (exposure / overlap)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5294376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labeler policies + coverage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550408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incident response + takedown hooks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806440"/>
            <a:ext cx="9966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2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4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3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3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4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4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brain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599" y="3749039"/>
            <a:ext cx="2468880" cy="246888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Mitigation: “feed nutrition labels” (user-facing)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Show provider, overlap, and exposure concentration at a glance.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Show label exposure + applied labelers (warnings/filters/defaults).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satellite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20" y="3749039"/>
            <a:ext cx="2651760" cy="265176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Mitigation: labeler interoperability + secure sharing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Standardize vocabularies + transparency for labeler policies.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Secure/private sharing + multi-labeler consensus to resist poisoning.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[IEEE S&amp;P’22 10.1109/SP46214.2022.9833647]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 descr="bg_blueprint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9" name="Picture 58" descr="icon_chessboard_w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8720" y="3657600"/>
            <a:ext cx="2743200" cy="27432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Algorithmic choice shifts power to discovery + infrastructure.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• Open markets create new adversarial surfaces + inequalities.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noFill/>
          <a:xfrm>
            <a:off x="914400" y="2468880"/>
            <a:ext cx="10607040" cy="320040"/>
          </a:xfrm>
          <a:prstGeom prst="rect">
            <a:avLst/>
          </a:prstGeom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/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70" descr="bg_blueprint_over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3152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References (venue-filtered, 2021-2025)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B8AA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CCS / IEEE S&amp;P / NDSS / USENIX Sec / WWW / CSCW / ICWSM / ACL / KDD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1206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156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Decentralization + discovery</a:t>
            </a:r>
            <a:endParaRPr lang="en-US" sz="2000" dirty="0"/>
          </a:p>
        </p:txBody>
      </p:sp>
      <p:pic>
        <p:nvPicPr>
          <p:cNvPr id="6" name="Image 0" descr="/tmp/bsky_pptx_receipts_20260201/manifest_excerp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2423160"/>
            <a:ext cx="466344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0" y="1828800"/>
            <a:ext cx="5120640" cy="4389120"/>
          </a:xfrm>
          <a:prstGeom prst="rect">
            <a:avLst/>
          </a:prstGeom>
          <a:solidFill>
            <a:srgbClr val="000000">
              <a:alpha val="15000"/>
            </a:srgbClr>
          </a:solidFill>
          <a:ln>
            <a:solidFill>
              <a:srgbClr val="A855F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46520" y="1965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halkboard SE" pitchFamily="34" charset="0"/>
                <a:ea typeface="Chalkboard SE" pitchFamily="34" charset="-122"/>
                <a:cs typeface="Chalkboard SE" pitchFamily="34" charset="-120"/>
              </a:rPr>
              <a:t>Ranking + security + labels</a:t>
            </a:r>
            <a:endParaRPr lang="en-US" sz="2000" dirty="0"/>
          </a:p>
        </p:txBody>
      </p:sp>
      <p:pic>
        <p:nvPicPr>
          <p:cNvPr id="9" name="Image 1" descr="/tmp/bsky_pptx_receipts_20260201/data_dictionary_excerp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2423160"/>
            <a:ext cx="4663440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5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halkboard S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halkboard S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BlueSky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Collecting Bluesky feed data (blackboard animated)</dc:title>
  <dc:subject>Bluesky data collection pipeline</dc:subject>
  <dc:creator>BlueSky</dc:creator>
  <cp:lastModifiedBy>BlueSky</cp:lastModifiedBy>
  <cp:revision>1</cp:revision>
  <dcterms:created xsi:type="dcterms:W3CDTF">2026-02-04T07:23:47Z</dcterms:created>
  <dcterms:modified xsi:type="dcterms:W3CDTF">2026-02-04T07:23:47Z</dcterms:modified>
</cp:coreProperties>
</file>