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5F5FA"/>
                </a:solidFill>
                <a:latin typeface="Calibri"/>
              </a:rPr>
              <a:t>Bluesky Data Collection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4B4C8"/>
                </a:solidFill>
                <a:latin typeface="Calibri"/>
              </a:rPr>
              <a:t>From XRPC endpoints → analysis‑ready datasets</a:t>
            </a:r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640080"/>
            <a:ext cx="7042599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2743200"/>
            <a:ext cx="36576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4389120"/>
            <a:ext cx="438912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Data collection • read‑only • step‑by‑step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Observe discovery surfaces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feeds show up in starter packs and “popular” lists?</a:t>
            </a:r>
          </a:p>
        </p:txBody>
      </p:sp>
      <p:sp>
        <p:nvSpPr>
          <p:cNvPr id="9" name="Oval 8"/>
          <p:cNvSpPr/>
          <p:nvPr/>
        </p:nvSpPr>
        <p:spPr>
          <a:xfrm>
            <a:off x="3520439" y="160020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Observe discovery surfaces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feeds show up in starter packs and “popular” lists?</a:t>
            </a:r>
          </a:p>
        </p:txBody>
      </p:sp>
      <p:sp>
        <p:nvSpPr>
          <p:cNvPr id="9" name="Oval 8"/>
          <p:cNvSpPr/>
          <p:nvPr/>
        </p:nvSpPr>
        <p:spPr>
          <a:xfrm>
            <a:off x="3520439" y="160020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Capture ranked exposure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What posts appear at the top of each feed (unauth vs auth)?</a:t>
            </a:r>
          </a:p>
        </p:txBody>
      </p:sp>
      <p:sp>
        <p:nvSpPr>
          <p:cNvPr id="11" name="Oval 10"/>
          <p:cNvSpPr/>
          <p:nvPr/>
        </p:nvSpPr>
        <p:spPr>
          <a:xfrm>
            <a:off x="6492240" y="1600200"/>
            <a:ext cx="457200" cy="45720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https://{host}/xrpc/{method}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</a:t>
            </a:r>
            <a:r>
              <a:rPr sz="1600" b="1">
                <a:solidFill>
                  <a:srgbClr val="00D4FF"/>
                </a:solidFill>
                <a:latin typeface="Consolas"/>
              </a:rPr>
              <a:t>{host}</a:t>
            </a:r>
            <a:r>
              <a:rPr sz="1600" b="1">
                <a:solidFill>
                  <a:srgbClr val="A855F7"/>
                </a:solidFill>
                <a:latin typeface="Consolas"/>
              </a:rPr>
              <a:t>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{method}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 b="1">
                <a:solidFill>
                  <a:srgbClr val="22C55E"/>
                </a:solidFill>
                <a:latin typeface="Consolas"/>
              </a:rPr>
              <a:t>GET</a:t>
            </a:r>
            <a:r>
              <a:rPr sz="1600">
                <a:solidFill>
                  <a:srgbClr val="F5F5FA"/>
                </a:solidFill>
                <a:latin typeface="Consolas"/>
              </a:rPr>
              <a:t> 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app.bsky.feed.getFeed</a:t>
            </a:r>
            <a:r>
              <a:rPr sz="1600">
                <a:solidFill>
                  <a:srgbClr val="F5F5FA"/>
                </a:solidFill>
                <a:latin typeface="Consolas"/>
              </a:rPr>
              <a:t>?feed=at://…&amp;limit=100&amp;</a:t>
            </a:r>
            <a:r>
              <a:rPr sz="1600" b="1">
                <a:solidFill>
                  <a:srgbClr val="00D4FF"/>
                </a:solidFill>
                <a:latin typeface="Consolas"/>
              </a:rPr>
              <a:t>cursor</a:t>
            </a:r>
            <a:r>
              <a:rPr sz="1600">
                <a:solidFill>
                  <a:srgbClr val="F5F5FA"/>
                </a:solidFill>
                <a:latin typeface="Consolas"/>
              </a:rPr>
              <a:t>=…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</a:t>
            </a:r>
            <a:r>
              <a:rPr sz="1600" b="1">
                <a:solidFill>
                  <a:srgbClr val="00D4FF"/>
                </a:solidFill>
                <a:latin typeface="Consolas"/>
              </a:rPr>
              <a:t>{host}</a:t>
            </a:r>
            <a:r>
              <a:rPr sz="1600" b="1">
                <a:solidFill>
                  <a:srgbClr val="A855F7"/>
                </a:solidFill>
                <a:latin typeface="Consolas"/>
              </a:rPr>
              <a:t>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{method}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 b="1">
                <a:solidFill>
                  <a:srgbClr val="22C55E"/>
                </a:solidFill>
                <a:latin typeface="Consolas"/>
              </a:rPr>
              <a:t>GET</a:t>
            </a:r>
            <a:r>
              <a:rPr sz="1600">
                <a:solidFill>
                  <a:srgbClr val="F5F5FA"/>
                </a:solidFill>
                <a:latin typeface="Consolas"/>
              </a:rPr>
              <a:t> 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app.bsky.feed.getFeed</a:t>
            </a:r>
            <a:r>
              <a:rPr sz="1600">
                <a:solidFill>
                  <a:srgbClr val="F5F5FA"/>
                </a:solidFill>
                <a:latin typeface="Consolas"/>
              </a:rPr>
              <a:t>?feed=at://…&amp;limit=100&amp;</a:t>
            </a:r>
            <a:r>
              <a:rPr sz="1600" b="1">
                <a:solidFill>
                  <a:srgbClr val="00D4FF"/>
                </a:solidFill>
                <a:latin typeface="Consolas"/>
              </a:rPr>
              <a:t>cursor</a:t>
            </a:r>
            <a:r>
              <a:rPr sz="1600">
                <a:solidFill>
                  <a:srgbClr val="F5F5FA"/>
                </a:solidFill>
                <a:latin typeface="Consolas"/>
              </a:rPr>
              <a:t>=…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29000"/>
            <a:ext cx="3474720" cy="11887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Queries = GET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Read data (cacheable).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429000"/>
            <a:ext cx="3474720" cy="11887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Procedures = POST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Used for actions like creating a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4709160"/>
            <a:ext cx="38404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In this pipeline: reads + session only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34640"/>
            <a:ext cx="2468880" cy="1526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1965960"/>
            <a:ext cx="1554480" cy="15544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AppView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Read APIs
(feeds, profiles)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public AppView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11680" y="2697480"/>
            <a:ext cx="36576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1965960"/>
            <a:ext cx="1554480" cy="15544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AppView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Read APIs
(feeds, profiles)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public AppView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11680" y="2697480"/>
            <a:ext cx="36576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52360" y="1965960"/>
            <a:ext cx="1554480" cy="155448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PDS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Session APIs
(auth context)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user PDS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011680" y="2697480"/>
            <a:ext cx="62179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804672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Most of the pipeline is AppView reads; Relay is for discovery; PDS is for auth.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Read‑only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Read‑only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Rate‑limited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Client‑side pacing so we don’t overwhelm hosts.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Read‑only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Rate‑limited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Client‑side pacing so we don’t overwhelm hosts.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6636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Resumable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A single state DB checkpoints progress and avoids duplicates.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534924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63440"/>
            <a:ext cx="502920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Result: clean snapshots you can explain and rerun.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analysis‑ready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analysis‑ready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analysis‑ready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analysis‑ready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analysis‑ready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analysis‑ready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Select feeds
to snapshot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analysis‑ready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Select feeds
to snapshot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posts
+ authors + 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663440"/>
            <a:ext cx="38404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Next: we’ll zoom into each stage (click…)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072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Feed generator views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Extract key metadata</a:t>
            </a:r>
            <a:br/>
            <a:r>
              <a:t>per feed.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697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• feed URI (at://…)
• creator DID
• service DID / provider
• display name + description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072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Feed generator views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Extract key metadata</a:t>
            </a:r>
            <a:br/>
            <a:r>
              <a:t>per feed.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697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• feed URI (at://…)
• creator DID
• service DID / provider
• display name + description</a:t>
            </a:r>
          </a:p>
        </p:txBody>
      </p:sp>
      <p:sp>
        <p:nvSpPr>
          <p:cNvPr id="16" name="Can 15"/>
          <p:cNvSpPr/>
          <p:nvPr/>
        </p:nvSpPr>
        <p:spPr>
          <a:xfrm>
            <a:off x="6629400" y="685800"/>
            <a:ext cx="192024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002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5F5FA"/>
                </a:solidFill>
                <a:latin typeface="Calibri"/>
              </a:rPr>
              <a:t>Feed generator index
(resumable + deduped)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84831"/>
            <a:ext cx="210312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4B4C8"/>
                </a:solidFill>
                <a:latin typeface="Calibri"/>
              </a:rPr>
              <a:t>Input to later stages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3611880"/>
            <a:ext cx="64008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301752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Extract feed URIs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Walk the payload and collect</a:t>
            </a:r>
            <a:br/>
            <a:r>
              <a:t>at://…/app.bsky.feed.generator/…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429000"/>
            <a:ext cx="2011680" cy="1097280"/>
          </a:xfrm>
          <a:prstGeom prst="rect">
            <a:avLst/>
          </a:prstGeom>
          <a:solidFill>
            <a:srgbClr val="191923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at://…/feed.generator/abc
at://…/feed.generator/def
at://…/feed.generator/ghi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3611880"/>
            <a:ext cx="64008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301752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Extract feed URIs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Walk the payload and collect</a:t>
            </a:r>
            <a:br/>
            <a:r>
              <a:t>at://…/app.bsky.feed.generator/…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429000"/>
            <a:ext cx="2011680" cy="1097280"/>
          </a:xfrm>
          <a:prstGeom prst="rect">
            <a:avLst/>
          </a:prstGeom>
          <a:solidFill>
            <a:srgbClr val="191923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at://…/feed.generator/abc
at://…/feed.generator/def
at://…/feed.generator/ghi</a:t>
            </a:r>
          </a:p>
        </p:txBody>
      </p:sp>
      <p:sp>
        <p:nvSpPr>
          <p:cNvPr id="16" name="Can 15"/>
          <p:cNvSpPr/>
          <p:nvPr/>
        </p:nvSpPr>
        <p:spPr>
          <a:xfrm>
            <a:off x="6583680" y="3520440"/>
            <a:ext cx="201168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348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5F5FA"/>
                </a:solidFill>
                <a:latin typeface="Calibri"/>
              </a:rPr>
              <a:t>Starter packs catalog
+ feed inclusion edges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736592"/>
            <a:ext cx="201168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4B4C8"/>
                </a:solidFill>
                <a:latin typeface="Calibri"/>
              </a:rPr>
              <a:t>Discovery signal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1783080"/>
            <a:ext cx="2743200" cy="210312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l"/>
            <a:r>
              <a:rPr sz="1200">
                <a:solidFill>
                  <a:srgbClr val="F5F5FA"/>
                </a:solidFill>
                <a:latin typeface="Consolas"/>
              </a:rPr>
              <a:t>1  at://…/feed.generator/…
2  at://…/feed.generator/…
3  at://…/feed.generator/…
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886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5F5FA"/>
                </a:solidFill>
                <a:latin typeface="Calibri"/>
              </a:rPr>
              <a:t>Ranked feed URIs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1783080"/>
            <a:ext cx="2743200" cy="210312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l"/>
            <a:r>
              <a:rPr sz="1200">
                <a:solidFill>
                  <a:srgbClr val="F5F5FA"/>
                </a:solidFill>
                <a:latin typeface="Consolas"/>
              </a:rPr>
              <a:t>1  at://…/feed.generator/…
2  at://…/feed.generator/…
3  at://…/feed.generator/…
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886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5F5FA"/>
                </a:solidFill>
                <a:latin typeface="Calibri"/>
              </a:rPr>
              <a:t>Ranked feed URIs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8120" y="2331720"/>
            <a:ext cx="4572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n 11"/>
          <p:cNvSpPr/>
          <p:nvPr/>
        </p:nvSpPr>
        <p:spPr>
          <a:xfrm>
            <a:off x="8229600" y="2057400"/>
            <a:ext cx="822960" cy="82296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7180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Persist
rank + time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874519"/>
            <a:ext cx="356616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hydrate feeds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feed generator views</a:t>
            </a:r>
            <a:br/>
            <a:r>
              <a:t>in batches (e.g., 25 at a time).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246120"/>
            <a:ext cx="35661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app.bsky.feed.getFeedGenerators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874519"/>
            <a:ext cx="356616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hydrate feeds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feed generator views</a:t>
            </a:r>
            <a:br/>
            <a:r>
              <a:t>in batches (e.g., 25 at a time).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246120"/>
            <a:ext cx="35661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app.bsky.feed.getFeedGenerators</a:t>
            </a:r>
          </a:p>
        </p:txBody>
      </p:sp>
      <p:sp>
        <p:nvSpPr>
          <p:cNvPr id="10" name="Can 9"/>
          <p:cNvSpPr/>
          <p:nvPr/>
        </p:nvSpPr>
        <p:spPr>
          <a:xfrm>
            <a:off x="6629400" y="3657600"/>
            <a:ext cx="192024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033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5FA"/>
                </a:solidFill>
                <a:latin typeface="Calibri"/>
              </a:rPr>
              <a:t>Enriched fields: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59352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4B4C8"/>
                </a:solidFill>
                <a:latin typeface="Calibri"/>
              </a:rPr>
              <a:t>• service DID / provider bucket
• display name / description
• creator DID
(…plus other feed metadata)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Discovery‑surfaced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Feeds most included</a:t>
            </a:r>
            <a:br/>
            <a:r>
              <a:t>in starter packs</a:t>
            </a:r>
          </a:p>
        </p:txBody>
      </p:sp>
      <p:sp>
        <p:nvSpPr>
          <p:cNvPr id="8" name="Up Arrow 7"/>
          <p:cNvSpPr/>
          <p:nvPr/>
        </p:nvSpPr>
        <p:spPr>
          <a:xfrm>
            <a:off x="178308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Popular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Top of the</a:t>
            </a:r>
            <a:br/>
            <a:r>
              <a:t>popular list</a:t>
            </a:r>
          </a:p>
        </p:txBody>
      </p:sp>
      <p:sp>
        <p:nvSpPr>
          <p:cNvPr id="10" name="Up Arrow 9"/>
          <p:cNvSpPr/>
          <p:nvPr/>
        </p:nvSpPr>
        <p:spPr>
          <a:xfrm>
            <a:off x="434340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Less‑known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Provider‑balanced</a:t>
            </a:r>
            <a:br/>
            <a:r>
              <a:t>long tail sample</a:t>
            </a:r>
          </a:p>
        </p:txBody>
      </p:sp>
      <p:sp>
        <p:nvSpPr>
          <p:cNvPr id="12" name="Up Arrow 11"/>
          <p:cNvSpPr/>
          <p:nvPr/>
        </p:nvSpPr>
        <p:spPr>
          <a:xfrm>
            <a:off x="690372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Discovery‑surfaced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Feeds most included</a:t>
            </a:r>
            <a:br/>
            <a:r>
              <a:t>in starter packs</a:t>
            </a:r>
          </a:p>
        </p:txBody>
      </p:sp>
      <p:sp>
        <p:nvSpPr>
          <p:cNvPr id="8" name="Up Arrow 7"/>
          <p:cNvSpPr/>
          <p:nvPr/>
        </p:nvSpPr>
        <p:spPr>
          <a:xfrm>
            <a:off x="178308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Popular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Top of the</a:t>
            </a:r>
            <a:br/>
            <a:r>
              <a:t>popular list</a:t>
            </a:r>
          </a:p>
        </p:txBody>
      </p:sp>
      <p:sp>
        <p:nvSpPr>
          <p:cNvPr id="10" name="Up Arrow 9"/>
          <p:cNvSpPr/>
          <p:nvPr/>
        </p:nvSpPr>
        <p:spPr>
          <a:xfrm>
            <a:off x="434340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Less‑known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Provider‑balanced</a:t>
            </a:r>
            <a:br/>
            <a:r>
              <a:t>long tail sample</a:t>
            </a:r>
          </a:p>
        </p:txBody>
      </p:sp>
      <p:sp>
        <p:nvSpPr>
          <p:cNvPr id="12" name="Up Arrow 11"/>
          <p:cNvSpPr/>
          <p:nvPr/>
        </p:nvSpPr>
        <p:spPr>
          <a:xfrm>
            <a:off x="690372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 12"/>
          <p:cNvSpPr/>
          <p:nvPr/>
        </p:nvSpPr>
        <p:spPr>
          <a:xfrm>
            <a:off x="6949440" y="1783080"/>
            <a:ext cx="1554480" cy="82296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974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Store the panel with
selection reason + rank.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63440"/>
            <a:ext cx="420624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Panel is fixed before snapshotting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169164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rank + post id</a:t>
            </a:r>
            <a:br/>
            <a:r>
              <a:t>+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69748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text, embeds,</a:t>
            </a:r>
            <a:br/>
            <a:r>
              <a:t>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70332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post/author</a:t>
            </a:r>
            <a:br/>
            <a:r>
              <a:t>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6177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Saved into the state DB
per feed + viewer mode.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169164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rank + post id</a:t>
            </a:r>
            <a:br/>
            <a:r>
              <a:t>+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69748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text, embeds,</a:t>
            </a:r>
            <a:br/>
            <a:r>
              <a:t>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70332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post/author</a:t>
            </a:r>
            <a:br/>
            <a:r>
              <a:t>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6177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Saved into the state DB
per feed + viewer mode.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663440"/>
            <a:ext cx="56692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Result: one cross‑sectional snapshot of ranked exposure.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author DID + handle</a:t>
            </a:r>
            <a:br/>
            <a:r>
              <a:t>createdAt, text</a:t>
            </a:r>
            <a:br/>
            <a:r>
              <a:t>reply / quote refs</a:t>
            </a:r>
            <a:br/>
            <a:r>
              <a:t>embeds (images, links)</a:t>
            </a:r>
            <a:br/>
            <a:r>
              <a:t>engagement counts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author DID + handle</a:t>
            </a:r>
            <a:br/>
            <a:r>
              <a:t>createdAt, text</a:t>
            </a:r>
            <a:br/>
            <a:r>
              <a:t>reply / quote refs</a:t>
            </a:r>
            <a:br/>
            <a:r>
              <a:t>embeds (images, links)</a:t>
            </a:r>
            <a:br/>
            <a:r>
              <a:t>engagement 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post labels</a:t>
            </a:r>
            <a:br/>
            <a:r>
              <a:t>author labels</a:t>
            </a:r>
            <a:br/>
            <a:r>
              <a:t>raw JSON preserved</a:t>
            </a:r>
            <a:br/>
            <a:r>
              <a:t>(normalized for analysis)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512064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This is enough to compute fairness / exposure metrics later.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Fairness‑style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Fairness‑style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Fairness‑style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Fairness‑style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Fairness‑style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H5  Exposure vs author size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larger authors get</a:t>
            </a:r>
            <a:br/>
            <a:r>
              <a:t>outsized exposure?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Fairness‑style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H5  Exposure vs author size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larger authors get</a:t>
            </a:r>
            <a:br/>
            <a:r>
              <a:t>outsized exposure?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H6  Label risk signals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labels appear in</a:t>
            </a:r>
            <a:br/>
            <a:r>
              <a:t>ranked posts, and where?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585216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These metrics are computed from the same state DB / CSV exports.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965960"/>
            <a:ext cx="329184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fetch profiles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Lookup profiles in batches</a:t>
            </a:r>
            <a:br/>
            <a:r>
              <a:t>(e.g., 25 actors at a time).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310128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app.bsky.actor.getProfiles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965960"/>
            <a:ext cx="329184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fetch profiles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Lookup profiles in batches</a:t>
            </a:r>
            <a:br/>
            <a:r>
              <a:t>(e.g., 25 actors at a time).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310128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app.bsky.actor.getProfiles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n 9"/>
          <p:cNvSpPr/>
          <p:nvPr/>
        </p:nvSpPr>
        <p:spPr>
          <a:xfrm>
            <a:off x="8321040" y="2103120"/>
            <a:ext cx="731520" cy="73152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5FA"/>
                </a:solidFill>
                <a:latin typeface="Calibri"/>
              </a:rPr>
              <a:t>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8862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Store: handle, display name,
followers / follows / posts counts.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At the end of the run, everything is exported for analysis.</a:t>
            </a:r>
          </a:p>
        </p:txBody>
      </p:sp>
      <p:sp>
        <p:nvSpPr>
          <p:cNvPr id="5" name="Can 4"/>
          <p:cNvSpPr/>
          <p:nvPr/>
        </p:nvSpPr>
        <p:spPr>
          <a:xfrm>
            <a:off x="1005840" y="2103120"/>
            <a:ext cx="182880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single source of truth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ultidocument 7"/>
          <p:cNvSpPr/>
          <p:nvPr/>
        </p:nvSpPr>
        <p:spPr>
          <a:xfrm>
            <a:off x="3931920" y="1874519"/>
            <a:ext cx="2011680" cy="1371600"/>
          </a:xfrm>
          <a:prstGeom prst="flowChartMultidocumen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CSV exports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46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posts • impressions • authors
starter packs • popular • …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At the end of the run, everything is exported for analysis.</a:t>
            </a:r>
          </a:p>
        </p:txBody>
      </p:sp>
      <p:sp>
        <p:nvSpPr>
          <p:cNvPr id="5" name="Can 4"/>
          <p:cNvSpPr/>
          <p:nvPr/>
        </p:nvSpPr>
        <p:spPr>
          <a:xfrm>
            <a:off x="1005840" y="2103120"/>
            <a:ext cx="182880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single source of truth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ultidocument 7"/>
          <p:cNvSpPr/>
          <p:nvPr/>
        </p:nvSpPr>
        <p:spPr>
          <a:xfrm>
            <a:off x="3931920" y="1874519"/>
            <a:ext cx="2011680" cy="1371600"/>
          </a:xfrm>
          <a:prstGeom prst="flowChartMultidocumen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CSV exports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46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posts • impressions • authors
starter packs • popular • 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2648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0" y="1874519"/>
            <a:ext cx="201168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Manifest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File list + hashes</a:t>
            </a:r>
            <a:br/>
            <a:r>
              <a:t>for reproducibility.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201168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Data dictionary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Column meanings</a:t>
            </a:r>
            <a:br/>
            <a:r>
              <a:t>and types.</a:t>
            </a:r>
          </a:p>
        </p:txBody>
      </p:sp>
      <p:pic>
        <p:nvPicPr>
          <p:cNvPr id="13" name="Picture 1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600"/>
            <a:ext cx="2743200" cy="123585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Appendix — API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Key endpoints used by the data collection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9235440" cy="320040"/>
          </a:xfrm>
          <a:prstGeom prst="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39" y="164592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XRPC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4592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Pagination / batching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75104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59" y="1975104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com.atproto.sync.listReposByCollection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975104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Relay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975104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975104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67712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22576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59" y="2322576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app.bsky.feed.getActorFeeds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322576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322576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322576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15184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70048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59" y="2670048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app.bsky.graph.searchStarterPacks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670048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670048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67004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962656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017520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59" y="3017520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app.bsky.graph.getActorStarterPacks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017520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017520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30175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310128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364992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59" y="3364992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app.bsky.graph.getStarterPack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364992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364992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364992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657600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712463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59" y="3712463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app.bsky.unspecced.getPopularFeedGenerators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712463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712463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712463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005072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059936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59" y="4059936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app.bsky.feed.getFeedGenerators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4059936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4059936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Optional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059936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batch (e.g., 25)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352544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407407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Snapshot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5959" y="4407407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app.bsky.feed.getFeed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4407407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4407407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Optional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4407407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4700016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4754880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Authors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65959" y="4754880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app.bsky.actor.getProfiles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06440" y="4754880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3720" y="4754880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754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batch (e.g., 25)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4709160"/>
            <a:ext cx="4206240" cy="292608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B4C8"/>
                </a:solidFill>
                <a:latin typeface="Calibri"/>
              </a:rPr>
              <a:t>Hosts: Relay for enumeration • AppView for reads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Appendix — Session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Only used to create / refresh an auth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3566160" cy="16459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com.atproto.server.createSession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</a:t>
            </a:r>
            <a:br/>
            <a:r>
              <a:t>identifier + app password</a:t>
            </a:r>
            <a:br/>
            <a:r>
              <a:t>→ access JWT + refresh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920240"/>
            <a:ext cx="3566160" cy="16459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com.atproto.server.refreshSession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</a:t>
            </a:r>
            <a:br/>
            <a:r>
              <a:t>bearer refresh JWT</a:t>
            </a:r>
            <a:br/>
            <a:r>
              <a:t>→ new access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2743200" cy="292608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B4C8"/>
                </a:solidFill>
                <a:latin typeface="Calibri"/>
              </a:rPr>
              <a:t>Host: user PDS (e.g., bsky.social)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749039"/>
            <a:ext cx="2743200" cy="292608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B4C8"/>
                </a:solidFill>
                <a:latin typeface="Calibri"/>
              </a:rPr>
              <a:t>Auth snapshots use the access JWT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749039"/>
            <a:ext cx="1554480" cy="88805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Sources &amp;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Docs used for endpoint semantics + request structure: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Bluesky HTTP Reference (docs.bsky.app)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AT Protocol HTTP API (XRPC) spec (atproto.com)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Visual elements adapted from the provided Slidesgo infographics templates</a:t>
            </a:r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91840"/>
            <a:ext cx="3657600" cy="27769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